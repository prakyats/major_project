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embeddedFontLst>
    <p:embeddedFont>
      <p:font typeface="Balthazar" panose="020B0604020202020204" charset="0"/>
      <p:regular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Lobster" panose="00000500000000000000" pitchFamily="2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02">
          <p15:clr>
            <a:srgbClr val="A4A3A4"/>
          </p15:clr>
        </p15:guide>
        <p15:guide id="2" pos="2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6">
          <p15:clr>
            <a:srgbClr val="A4A3A4"/>
          </p15:clr>
        </p15:guide>
        <p15:guide id="2" pos="21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8EE20A-88A6-4723-80EF-92F8BEF2DCB8}">
  <a:tblStyle styleId="{8D8EE20A-88A6-4723-80EF-92F8BEF2DC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7"/>
          </a:solidFill>
        </a:fill>
      </a:tcStyle>
    </a:wholeTbl>
    <a:band1H>
      <a:tcTxStyle b="off" i="off"/>
      <a:tcStyle>
        <a:tcBdr/>
        <a:fill>
          <a:solidFill>
            <a:srgbClr val="CCCBC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CBC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02"/>
      </p:cViewPr>
      <p:guideLst>
        <p:guide orient="horz" pos="2202"/>
        <p:guide pos="29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36"/>
        <p:guide pos="21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a847483f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f6a847483f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ad0d8d0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g3f6ad0d8d0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6ad0d8d0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g3f6ad0d8d0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Cambria"/>
              <a:buNone/>
              <a:defRPr sz="6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C8B8A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C8B8A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C8B8A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C8B8A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5pPr>
            <a:lvl6pPr lvl="5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6pPr>
            <a:lvl7pPr lvl="6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7pPr>
            <a:lvl8pPr lvl="7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8pPr>
            <a:lvl9pPr lvl="8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C8B8A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  <a:defRPr sz="36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C8B8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C8B8A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C8B8A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B8A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457200" y="1536192"/>
            <a:ext cx="3657600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4419600" y="1536192"/>
            <a:ext cx="3657600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365760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4419600" y="1535113"/>
            <a:ext cx="3657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4419600" y="2174875"/>
            <a:ext cx="365760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mbria"/>
              <a:buNone/>
              <a:defRPr sz="2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304799" y="6096000"/>
            <a:ext cx="777240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304800" y="381000"/>
            <a:ext cx="7772400" cy="494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mbria"/>
              <a:buNone/>
              <a:defRPr sz="22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0" y="0"/>
            <a:ext cx="8458200" cy="5486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301752" y="6096000"/>
            <a:ext cx="777240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1866900" y="190500"/>
            <a:ext cx="48006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4579938" y="2324101"/>
            <a:ext cx="5851525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5000">
              <a:schemeClr val="lt1"/>
            </a:gs>
            <a:gs pos="100000">
              <a:srgbClr val="D8D8D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  <a:defRPr sz="46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 rot="-5400000">
            <a:off x="7586910" y="4048760"/>
            <a:ext cx="236728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dt" idx="10"/>
          </p:nvPr>
        </p:nvSpPr>
        <p:spPr>
          <a:xfrm rot="-5400000">
            <a:off x="7551351" y="1645920"/>
            <a:ext cx="243839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427325" y="1624300"/>
            <a:ext cx="7837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lang="en-US" sz="2900" b="1" dirty="0"/>
              <a:t>AI-Based Wood Quality Assessment</a:t>
            </a:r>
            <a:endParaRPr sz="2900" b="1"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230560" y="4714190"/>
            <a:ext cx="3905400" cy="214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47625" tIns="47625" rIns="47625" bIns="47625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8C8B8A"/>
                </a:solidFill>
                <a:latin typeface="Calibri"/>
                <a:ea typeface="Calibri"/>
                <a:cs typeface="Calibri"/>
                <a:sym typeface="Calibri"/>
              </a:rPr>
              <a:t>GURUGUBELLI GAYATRI           -    1DS23CB014</a:t>
            </a:r>
            <a:endParaRPr sz="1500" b="0">
              <a:solidFill>
                <a:srgbClr val="8C8B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8C8B8A"/>
                </a:solidFill>
                <a:latin typeface="Calibri"/>
                <a:ea typeface="Calibri"/>
                <a:cs typeface="Calibri"/>
                <a:sym typeface="Calibri"/>
              </a:rPr>
              <a:t>PRAKYAT PRAMOD SHETTY     -    1DS23CB033</a:t>
            </a:r>
            <a:endParaRPr sz="1500" b="0">
              <a:solidFill>
                <a:srgbClr val="8C8B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8C8B8A"/>
                </a:solidFill>
                <a:latin typeface="Calibri"/>
                <a:ea typeface="Calibri"/>
                <a:cs typeface="Calibri"/>
                <a:sym typeface="Calibri"/>
              </a:rPr>
              <a:t>SAIPRASAD RAO                      </a:t>
            </a:r>
            <a:r>
              <a:rPr lang="en-US" sz="1500"/>
              <a:t> </a:t>
            </a:r>
            <a:r>
              <a:rPr lang="en-US" sz="1500" b="0">
                <a:solidFill>
                  <a:srgbClr val="8C8B8A"/>
                </a:solidFill>
                <a:latin typeface="Calibri"/>
                <a:ea typeface="Calibri"/>
                <a:cs typeface="Calibri"/>
                <a:sym typeface="Calibri"/>
              </a:rPr>
              <a:t> -    1DS23CB041</a:t>
            </a:r>
            <a:endParaRPr sz="1500" b="0">
              <a:solidFill>
                <a:srgbClr val="8C8B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8C8B8A"/>
                </a:solidFill>
                <a:latin typeface="Calibri"/>
                <a:ea typeface="Calibri"/>
                <a:cs typeface="Calibri"/>
                <a:sym typeface="Calibri"/>
              </a:rPr>
              <a:t>YASTI ANIL KOTAK                     -    1DS23CB063</a:t>
            </a:r>
            <a:endParaRPr sz="1500" b="0">
              <a:solidFill>
                <a:srgbClr val="8C8B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700" cy="396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203785" y="4368800"/>
            <a:ext cx="4179300" cy="22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Aparna H D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CSBS,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Dayananda Sagar College Of Engineering, Bengaluru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75775" y="2688293"/>
            <a:ext cx="7740900" cy="719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7th Semester Major Project: 50% Completion Presentation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Date: 16</a:t>
            </a:r>
            <a:r>
              <a:rPr lang="en-US" sz="16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 September 2026</a:t>
            </a:r>
          </a:p>
        </p:txBody>
      </p:sp>
      <p:sp>
        <p:nvSpPr>
          <p:cNvPr id="95" name="Google Shape;95;p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265322" y="114282"/>
            <a:ext cx="7155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DAYANANDA SAGAR COLLEGE OF ENGINEERING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Autonomous Institute Affiliated to VTU, Approved by AICTE &amp; UGC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Accredited by National Assessment and Accreditation Council (NAAC) with ‘A’ Grade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Business Systems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190980" y="1377538"/>
            <a:ext cx="88224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algn="bl" rotWithShape="0">
              <a:srgbClr val="000000">
                <a:alpha val="60000"/>
              </a:srgbClr>
            </a:outerShdw>
          </a:effectLst>
        </p:spPr>
      </p:cxnSp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03" name="Google Shape;103;p13" descr="logo.jpe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38" y="109220"/>
            <a:ext cx="1207135" cy="1210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323851" y="0"/>
            <a:ext cx="7977001" cy="72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34B"/>
              </a:buClr>
              <a:buSzPts val="2800"/>
              <a:buFont typeface="Times New Roman"/>
              <a:buNone/>
            </a:pPr>
            <a:r>
              <a:rPr lang="en-US" sz="2800" b="1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OF THE PRESENTATION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>
            <a:off x="323851" y="729579"/>
            <a:ext cx="8560155" cy="585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Objectives and Status at 50%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Methodology (as implemented)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Dataset and Board-level Split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System Design and Implementation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Results: Training Runs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Plan of Action: Progress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Results: Held-out Test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Model Comparison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Demonstration Application and Remaining Work</a:t>
            </a:r>
          </a:p>
          <a:p>
            <a:pPr marL="457200" lvl="0" indent="-3302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110" name="Google Shape;110;p14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334847" y="141515"/>
            <a:ext cx="7977001" cy="72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34B"/>
              </a:buClr>
              <a:buSzPts val="2800"/>
              <a:buFont typeface="Times New Roman"/>
              <a:buNone/>
            </a:pPr>
            <a:r>
              <a:rPr lang="en-US" sz="2800" b="1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121" name="Google Shape;121;p15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2" name="Google Shape;1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266597" y="38360"/>
            <a:ext cx="8113500" cy="56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Surface defects such as knots, cracks, resin pockets and pith lines reduce the usable portion of sawn timber; manual grading is slow, subjective and inconsistent at scale.</a:t>
            </a:r>
          </a:p>
          <a:p>
            <a:pPr marL="457200" lvl="0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The project builds an AI-based computer-vision system that detects, classifies and </a:t>
            </a:r>
            <a:r>
              <a:rPr lang="en-US" sz="1500" dirty="0" err="1">
                <a:latin typeface="Times New Roman"/>
                <a:ea typeface="Times New Roman"/>
                <a:cs typeface="Times New Roman"/>
                <a:sym typeface="Times New Roman"/>
              </a:rPr>
              <a:t>localises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visible defects on board images as the basis for automated quality assessment and usable-area estimation.</a:t>
            </a:r>
          </a:p>
          <a:p>
            <a:pPr marL="457200" lvl="0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In the first half we prepared a leakage-free dataset of 4,000 industrial line-scan images (8 defect classes) split by physical board, and trained YOLO11m and YOLO11s under identical, logged settings on Kaggle GPUs.</a:t>
            </a:r>
          </a:p>
          <a:p>
            <a:pPr marL="457200" lvl="0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On 12 boards never seen in training, both models reach 63 to 65 mAP50 and 33 to 34 mAP50-95, above 85 mAP50 on the main knot classes, at 30 to 86 frames per second on a Tesla T4.</a:t>
            </a:r>
          </a:p>
          <a:p>
            <a:pPr marL="457200" lvl="0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A demonstration web application with bounding boxes, defect heatmaps, per-class statistics and JSON reports is ready; recoverability estimation, image enhancement and architectural experiments form the second half.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322730" y="232193"/>
            <a:ext cx="34021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49500" y="849225"/>
            <a:ext cx="8178000" cy="57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>
                <a:latin typeface="Times New Roman"/>
                <a:ea typeface="Times New Roman"/>
                <a:cs typeface="Times New Roman"/>
                <a:sym typeface="Times New Roman"/>
              </a:rPr>
              <a:t>Manual inspection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of timber depends on human graders; fatigue and inter-inspector variation make results inconsistent, and throughput limits line speed.</a:t>
            </a:r>
          </a:p>
          <a:p>
            <a:pPr marL="457200" lvl="0" indent="-330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>
                <a:latin typeface="Times New Roman"/>
                <a:ea typeface="Times New Roman"/>
                <a:cs typeface="Times New Roman"/>
                <a:sym typeface="Times New Roman"/>
              </a:rPr>
              <a:t>Defects differ in severity: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 live knot is cosmetic, a dead or missing knot weakens the board, a crack may make a section unusable. Grading needs the defect type and its location, not a yes/no answer.</a:t>
            </a:r>
          </a:p>
          <a:p>
            <a:pPr marL="457200" lvl="0" indent="-330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>
                <a:latin typeface="Times New Roman"/>
                <a:ea typeface="Times New Roman"/>
                <a:cs typeface="Times New Roman"/>
                <a:sym typeface="Times New Roman"/>
              </a:rPr>
              <a:t>One-stage detectors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of the YOLO family find and classify small objects in real time, which suits a conveyor-mounted line-scan camera.</a:t>
            </a:r>
          </a:p>
          <a:p>
            <a:pPr marL="457200" lvl="0" indent="-3302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>
                <a:latin typeface="Times New Roman"/>
                <a:ea typeface="Times New Roman"/>
                <a:cs typeface="Times New Roman"/>
                <a:sym typeface="Times New Roman"/>
              </a:rPr>
              <a:t>Our system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returns every visible defect with class, position, size and confidence, summarises defect coverage per board, and is designed to feed a recoverability estimate in the second half.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32875" y="-18871"/>
            <a:ext cx="77175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15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15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132863" y="532309"/>
          <a:ext cx="8133725" cy="6246710"/>
        </p:xfrm>
        <a:graphic>
          <a:graphicData uri="http://schemas.openxmlformats.org/drawingml/2006/table">
            <a:tbl>
              <a:tblPr firstRow="1" bandRow="1">
                <a:noFill/>
                <a:tableStyleId>{8D8EE20A-88A6-4723-80EF-92F8BEF2DCB8}</a:tableStyleId>
              </a:tblPr>
              <a:tblGrid>
                <a:gridCol w="135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0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 of the Paper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Algorithm/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 used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Drawbacks/Issues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2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Y. Fang, Y. Ma, S. Gao &amp; J. Chen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Recent Advances in Wood Surface Defect Inspection using Deep Learning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Recent Advances in Wood Surface Defect Inspection using Deep Learning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review; supports automated wood-defect inspection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datasets, poor generalisation &amp; real-time deployment challenges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Zheng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IEL-YOLO: A Low-Light Robust Wood Defect Detection Method Based on YOLOv11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Enhancement + YOLOv11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Improves defect visibility in low-light conditions; handles complex wood textures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Generalisation challenges; no multimodal integration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Qu, Y. Pang &amp; Z. Wang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WD-SEG: A Deep Learning Framework for Delicate and Accurate Wood Defect Segmentation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AFN + TFN + ICO + Deep Learning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Accurate defect segmentation; handles low contrast and reduces background interference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Noise sensitivity, feature ambiguity &amp; real-time deployment challenges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Wang &amp; S. Tang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Novel IWPT-VMD Denoising Method for Enhancing Air-Coupled Ultrasonic Detection of Wood Defects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IWPT + VMD + Ultrasonic Signal Processing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Reduces noise and improves signal quality and defect detection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ultrasonic signals; limited AI integration and no multimodal fusion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700" cy="396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32875" y="-18871"/>
            <a:ext cx="77175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15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153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graphicFrame>
        <p:nvGraphicFramePr>
          <p:cNvPr id="164" name="Google Shape;164;p18"/>
          <p:cNvGraphicFramePr/>
          <p:nvPr/>
        </p:nvGraphicFramePr>
        <p:xfrm>
          <a:off x="132863" y="532309"/>
          <a:ext cx="8133725" cy="6182375"/>
        </p:xfrm>
        <a:graphic>
          <a:graphicData uri="http://schemas.openxmlformats.org/drawingml/2006/table">
            <a:tbl>
              <a:tblPr firstRow="1" bandRow="1">
                <a:noFill/>
                <a:tableStyleId>{8D8EE20A-88A6-4723-80EF-92F8BEF2DCB8}</a:tableStyleId>
              </a:tblPr>
              <a:tblGrid>
                <a:gridCol w="135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0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 of the Paper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Algorithm/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 used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Drawbacks/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C. S. Erasmus, D. Drew &amp; M. J. Booysen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Low-Cost Wireless Dendrometer and Digital Twin for Precision Forestry Applications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+ LoRaWAN + Digital Twin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Low-cost, scalable system enabling continuous monitoring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wood-quality assessment; no harvest optimisation; limited data fusion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N. Perry et al.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Towards Precision Forestry: A Systematic Review of Optimisation Methods for Individual-Tree Decisions in Forest Management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Heuristics, Mathematical Programming &amp; Machine Learning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optimal forest-management decisions across different objectives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real-world implementation; disturbance risks not fully integrated; limited multi-scale planning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E. Z. Başkent, A. Bončina &amp; J. G. Borges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Review and Conceptual Framework for a New Era of Forest Management Planning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Digital Twin, Monitoring, Simulation &amp; Forecasting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adaptive forest planning and integrates monitoring with forecasting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ML implementation; no harvesting optimisation; no timber-quality assessment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Tan, H. Zhang, J. Yang, Y. Liu, D. Zheng &amp; X. Liu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ForestryBERT: Continual Learning Adapted to Forestry Text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 + NLP + Continual Learning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domain-specific forestry knowledge management and adapts to continuously growing forestry text data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Catastrophic forgetting; limited application to wood-quality assessment; no defect-detection component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662852" y="266533"/>
            <a:ext cx="76809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26802" y="1312978"/>
            <a:ext cx="7543800" cy="276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Manual wood quality inspection is time-consuming and subjective, and existing AI approaches mostly stop at detecting defects without a leakage-free evaluation or a path to usable-area estimation.</a:t>
            </a:r>
          </a:p>
          <a:p>
            <a:pPr marL="285750" lvl="0" indent="-285750" algn="just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The project aims to develop an AI-based computer-vision system that detects, classifies and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localises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visible surface defects on timber boards, evaluates the detector on boards it has never seen, and uses the detections to estimate the recoverable portion of each 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259127" y="28389"/>
            <a:ext cx="8625745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OBJECTIVES AND STATUS AT 50%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59127" y="868680"/>
            <a:ext cx="78870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1 (done, enhancement pending): 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a well-annotated dataset: 4,000 line-scan board images, 8 classes, 9,053 boxes after cleaning, split by physical board with zero overlap.</a:t>
            </a:r>
          </a:p>
          <a:p>
            <a:pPr marL="457200" lvl="0" indent="-330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2 (done): 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a deep-learning framework for detecting and </a:t>
            </a:r>
            <a:r>
              <a:rPr lang="en-US" sz="1500" dirty="0" err="1">
                <a:latin typeface="Times New Roman"/>
                <a:ea typeface="Times New Roman"/>
                <a:cs typeface="Times New Roman"/>
                <a:sym typeface="Times New Roman"/>
              </a:rPr>
              <a:t>localising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defects: reproducible preparation, training and evaluation scripts; YOLO11m and YOLO11s trained and evaluated on held-out boards.</a:t>
            </a:r>
          </a:p>
          <a:p>
            <a:pPr marL="457200" lvl="0" indent="-330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3 (started): 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recoverable-area estimation: per-defect area and per-board defect coverage are computed in the application; the grading rule is second-half work.</a:t>
            </a:r>
          </a:p>
          <a:p>
            <a:pPr marL="457200" lvl="0" indent="-330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4 (done for two models): 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comparison with precision, recall, F1, mAP50, mAP50-95 and inference time at identical data and settings.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/>
        </p:nvSpPr>
        <p:spPr>
          <a:xfrm>
            <a:off x="395693" y="131296"/>
            <a:ext cx="83151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1473500" y="5973314"/>
            <a:ext cx="5957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Methodology with completion status at the 50% review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Picture 200" descr="methodology_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00" y="841980"/>
            <a:ext cx="5496476" cy="49438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395693" y="131296"/>
            <a:ext cx="83151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3572" y="735150"/>
            <a:ext cx="8199000" cy="6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1400" b="1">
                <a:latin typeface="Times New Roman"/>
                <a:ea typeface="Times New Roman"/>
                <a:cs typeface="Times New Roman"/>
                <a:sym typeface="Times New Roman"/>
              </a:rPr>
              <a:t>Dataset preparation.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Public industrial line-scan dataset; label cleaning; class mapping verified; group-stratified split by board id (52 / 17 / 12 boards).</a:t>
            </a:r>
          </a:p>
          <a:p>
            <a:pPr marL="457200" lvl="0" indent="-3302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1400" b="1">
                <a:latin typeface="Times New Roman"/>
                <a:ea typeface="Times New Roman"/>
                <a:cs typeface="Times New Roman"/>
                <a:sym typeface="Times New Roman"/>
              </a:rPr>
              <a:t>Input handling.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Boards are 2800 x 1024 (2.73:1); training and inference at 1024 px with rectangular batches (1024 x 384 effective) keep thin defects resolvable.</a:t>
            </a:r>
          </a:p>
          <a:p>
            <a:pPr marL="457200" lvl="0" indent="-3302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1400" b="1">
                <a:latin typeface="Times New Roman"/>
                <a:ea typeface="Times New Roman"/>
                <a:cs typeface="Times New Roman"/>
                <a:sym typeface="Times New Roman"/>
              </a:rPr>
              <a:t>Detection.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Ultralytics YOLO11 fine-tuned from COCO: YOLO11m as proposed model, YOLO11s trained with the identical recipe as baseline.</a:t>
            </a:r>
          </a:p>
          <a:p>
            <a:pPr marL="457200" lvl="0" indent="-3302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1400" b="1">
                <a:latin typeface="Times New Roman"/>
                <a:ea typeface="Times New Roman"/>
                <a:cs typeface="Times New Roman"/>
                <a:sym typeface="Times New Roman"/>
              </a:rPr>
              <a:t>Grain-aware augmentation.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Horizontal flip, mild translation, scale and colour jitter; no rotation or vertical flip; no random erasing of small regions.</a:t>
            </a:r>
          </a:p>
          <a:p>
            <a:pPr marL="457200" lvl="0" indent="-3302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1400" b="1">
                <a:latin typeface="Times New Roman"/>
                <a:ea typeface="Times New Roman"/>
                <a:cs typeface="Times New Roman"/>
                <a:sym typeface="Times New Roman"/>
              </a:rPr>
              <a:t>Evaluation protocol.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Model selection on validation boards only; test boards evaluated exactly once per model: P, R, F1, mAP50, mAP50-95, ms per image.</a:t>
            </a:r>
          </a:p>
          <a:p>
            <a:pPr marL="457200" lvl="0" indent="-3302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1400" b="1">
                <a:latin typeface="Times New Roman"/>
                <a:ea typeface="Times New Roman"/>
                <a:cs typeface="Times New Roman"/>
                <a:sym typeface="Times New Roman"/>
              </a:rPr>
              <a:t>Defect analysis and application.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Per-defect class, box, size and confidence; per-class counts and area; defect coverage; heatmap; JSON report; web application.</a:t>
            </a:r>
          </a:p>
        </p:txBody>
      </p:sp>
      <p:sp>
        <p:nvSpPr>
          <p:cNvPr id="209" name="Google Shape;209;p22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/>
        </p:nvSpPr>
        <p:spPr>
          <a:xfrm>
            <a:off x="341431" y="11871"/>
            <a:ext cx="8315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DATASET AND BOARD-LEVEL SPLIT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28600" y="685800"/>
            <a:ext cx="8046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Kodytek, Bodzas and Bilik (2022), F1000Research 10:581; 4,000-image Kaggle subset, 2800 x 1024 line-scan strips, YOLO boxes, CC BY 4.0.</a:t>
            </a:r>
          </a:p>
          <a:p>
            <a:pPr marL="457200" lvl="0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Content: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9,053 boxes after removing 158 zero-size labels; 388 background images (9.7%); 81 physical boards; 8 classes: Quartzity, Live_Knot, Marrow, Resin, Dead_Knot, Knot_with_crack, Knot_missing, Crack.</a:t>
            </a:r>
          </a:p>
          <a:p>
            <a:pPr marL="457200" lvl="0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Why split by board: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consecutive images come from the same board and share grain and lighting; a per-image split would leak boards into the test set. Zero overlap is asserted by the preparation script.</a:t>
            </a:r>
          </a:p>
        </p:txBody>
      </p:sp>
      <p:graphicFrame>
        <p:nvGraphicFramePr>
          <p:cNvPr id="226" name="Table 225"/>
          <p:cNvGraphicFramePr>
            <a:graphicFrameLocks noGrp="1"/>
          </p:cNvGraphicFramePr>
          <p:nvPr/>
        </p:nvGraphicFramePr>
        <p:xfrm>
          <a:off x="228600" y="2880360"/>
          <a:ext cx="7818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Split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Boards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Images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Backgr.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Quartzity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Live_Knot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Marrow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Resin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Dead_Knot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Knot_w_crack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Knot_missing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Crack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Times New Roman"/>
                        </a:rPr>
                        <a:t>train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52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2817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272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125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2899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94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489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2071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377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78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306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Times New Roman"/>
                        </a:rPr>
                        <a:t>val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17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714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71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713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64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88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482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98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111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Times New Roman"/>
                        </a:rPr>
                        <a:t>test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12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469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45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406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46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69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343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24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95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7" name="TextBox 226"/>
          <p:cNvSpPr txBox="1"/>
          <p:nvPr/>
        </p:nvSpPr>
        <p:spPr>
          <a:xfrm>
            <a:off x="228600" y="457200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Class imbalance: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Live_Knot 44% and Dead_Knot 32% of boxes; Knot_missing 1.3%, Quartzity 1.9%, Marrow 2.2%. Test has only 10 Quartzity and 24 Knot_missing boxes, so those per-class figures are indicative only.</a:t>
            </a:r>
          </a:p>
          <a:p>
            <a:pPr marL="457200" lvl="0" indent="-330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Every class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is present in all three splits; file names carry a seeded hash prefix so that rectangular batches still mix boards.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/>
        </p:nvSpPr>
        <p:spPr>
          <a:xfrm>
            <a:off x="135690" y="234748"/>
            <a:ext cx="8315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32" name="Google Shape;23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314790" y="1132100"/>
            <a:ext cx="8217000" cy="49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1. Data / input layer (done):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board images, cleaned labels, board-level train / val / test sets on Kaggle.</a:t>
            </a:r>
          </a:p>
          <a:p>
            <a:pPr marL="457200" lvl="0" indent="-33020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2. Input processing (partly):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1024-px rectangular input and grain-aware augmentation in place; CLAHE / denoising / brightness experiments planned.</a:t>
            </a:r>
          </a:p>
          <a:p>
            <a:pPr marL="457200" lvl="0" indent="-33020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3. Detection model (done):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YOLO11m (20.0 M parameters) and YOLO11s (9.4 M) fine-tuned from COCO with one logged recipe; architectural additions (CWB-style modules) planned.</a:t>
            </a:r>
          </a:p>
          <a:p>
            <a:pPr marL="457200" lvl="0" indent="-33020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4. Defect analysis (done):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class, position, size, confidence per defect; per-class counts and area; defect coverage per board.</a:t>
            </a:r>
          </a:p>
          <a:p>
            <a:pPr marL="457200" lvl="0" indent="-33020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5. Recoverability estimation (planned):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grading rule from coverage, defect type and position; validation against expert-graded boards.</a:t>
            </a:r>
          </a:p>
          <a:p>
            <a:pPr marL="457200" lvl="0" indent="-33020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6. Training and evaluation (done):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P, R, F1, mAP50, mAP50-95, ms per image; single-shot test on 12 unseen boards; YOLO11m vs YOLO11s.</a:t>
            </a:r>
          </a:p>
          <a:p>
            <a:pPr marL="457200" lvl="0" indent="-33020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 b="1">
                <a:latin typeface="Times New Roman"/>
                <a:ea typeface="Times New Roman"/>
                <a:cs typeface="Times New Roman"/>
                <a:sym typeface="Times New Roman"/>
              </a:rPr>
              <a:t>7. Application (done):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web interface with boxes, heatmap, per-class table, JSON report; deployable on Hugging Face Spaces.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700" cy="396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43" name="Google Shape;24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135690" y="234748"/>
            <a:ext cx="8315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CONFIGURATION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0" name="Table 249"/>
          <p:cNvGraphicFramePr>
            <a:graphicFrameLocks noGrp="1"/>
          </p:cNvGraphicFramePr>
          <p:nvPr/>
        </p:nvGraphicFramePr>
        <p:xfrm>
          <a:off x="274320" y="914400"/>
          <a:ext cx="7955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Setting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Value (identical for YOLO11m and YOLO11s)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Pretrained weights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COCO yolo11m.pt (20.0 M params, 68 GFLOPs) / yolo11s.pt (9.4 M, 21 GFLOPs)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Input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imgsz 1024, rectangular batches (effective 1024 x 384)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Optimiser / schedule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AdamW, lr0 0.001, lrf 0.01, cosine, 3 warm-up epochs, weight decay 5e-4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Batch / epochs / patience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32 / 100 / 40 (early stopping on validation)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Loss gains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cls 1.0, box 7.5, dfl 1.5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Augmentation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hsv 0.01 / 0.3 / 0.2, translate 0.08, scale 0.3, fliplr 0.5, degrees 0, flipud 0, mosaic 0, erasing 0.05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Reproducibility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seed 42, deterministic; configuration and results logged per run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Model selection / test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best.pt by validation fitness; test split evaluated once per model (conf 0.001, NMS IoU 0.6)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1" name="TextBox 250"/>
          <p:cNvSpPr txBox="1"/>
          <p:nvPr/>
        </p:nvSpPr>
        <p:spPr>
          <a:xfrm>
            <a:off x="274320" y="4434840"/>
            <a:ext cx="7955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Compute: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Kaggle, one NVIDIA Tesla T4 (15 GB). Multi-GPU was rejected because the framework disables rectangular batching under DDP. YOLO11m: about 2.6 GPU-hours per 100 epochs; YOLO11s: 1.4. Total used: 6.8 of 30 weekly hours.</a:t>
            </a:r>
          </a:p>
          <a:p>
            <a:pPr marL="457200" lvl="0" indent="-330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Software: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Python 3.12, PyTorch 2.10, Ultralytics 8.4.142, OpenCV, Gradio. Scripts: prepare_dataset.py, train_yolo11m.py, evaluate.py, app.py; decision log in NOTES.md; all results version-controlled.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914400" y="5973482"/>
            <a:ext cx="7315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System design as implemented at the 50%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259" name="Google Shape;25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Picture 261" descr="system_design_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625" y="413281"/>
            <a:ext cx="6005525" cy="52902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/>
        </p:nvSpPr>
        <p:spPr>
          <a:xfrm>
            <a:off x="395693" y="131296"/>
            <a:ext cx="83151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TRAINING RUNS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68" name="Google Shape;26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graphicFrame>
        <p:nvGraphicFramePr>
          <p:cNvPr id="273" name="Table 272"/>
          <p:cNvGraphicFramePr>
            <a:graphicFrameLocks noGrp="1"/>
          </p:cNvGraphicFramePr>
          <p:nvPr/>
        </p:nvGraphicFramePr>
        <p:xfrm>
          <a:off x="274320" y="777240"/>
          <a:ext cx="7955280" cy="1335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Run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Settings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Epochs / GPU time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Best epoch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Val mAP50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Val mAP50-95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YOLO11m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batch 16, lr0 0.002, patience 25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89 (early stop) / 2.54 h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62.6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33.7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YOLO11m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batch 32, lr0 0.001, patience 40 (adopted)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100 / 2.64 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73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65.7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36.2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YOLO11s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as run 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90 (early stop) / 1.43 h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50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65.3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36.0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74" name="Picture 273" descr="resul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354580"/>
            <a:ext cx="5120640" cy="2560320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5486400" y="22402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Run 1 showed an unstable validation curve (10-15 point drops in mAP50).</a:t>
            </a:r>
          </a:p>
          <a:p>
            <a:pPr marL="457200" lvl="0" indent="-330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Batch 32 with lr0 0.001 and longer patience removed the instability and improved every class on validation; adopted for both models.</a:t>
            </a:r>
          </a:p>
          <a:p>
            <a:pPr marL="457200" lvl="0" indent="-330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Decision made on validation only; the test split was not touched.</a:t>
            </a:r>
          </a:p>
          <a:p>
            <a:pPr marL="457200" lvl="0" indent="-330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About 100 s per epoch on one T4.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74320" y="50749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Fig. Training and validation curves, YOLO11m (adopted run 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/>
        </p:nvSpPr>
        <p:spPr>
          <a:xfrm>
            <a:off x="395693" y="131296"/>
            <a:ext cx="83151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OF ACTION: PROGRESS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8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80" name="Google Shape;28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-1109559" y="4006279"/>
            <a:ext cx="8857645" cy="142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Picture 285" descr="plan_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1400326"/>
            <a:ext cx="7955279" cy="3508708"/>
          </a:xfrm>
          <a:prstGeom prst="rect">
            <a:avLst/>
          </a:prstGeom>
        </p:spPr>
      </p:pic>
      <p:sp>
        <p:nvSpPr>
          <p:cNvPr id="287" name="TextBox 286"/>
          <p:cNvSpPr txBox="1"/>
          <p:nvPr/>
        </p:nvSpPr>
        <p:spPr>
          <a:xfrm>
            <a:off x="320040" y="553212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Completed: planning, dataset and preprocessing, defect detection (both models, held-out evaluation), demo application. Planned: enhancement and architecture experiments, recoverability estimation, final evaluation and report.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/>
        </p:nvSpPr>
        <p:spPr>
          <a:xfrm>
            <a:off x="395693" y="131296"/>
            <a:ext cx="83151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HELD-OUT TEST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93" name="Google Shape;29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-1109559" y="4006279"/>
            <a:ext cx="8857645" cy="142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9" name="Table 298"/>
          <p:cNvGraphicFramePr>
            <a:graphicFrameLocks noGrp="1"/>
          </p:cNvGraphicFramePr>
          <p:nvPr/>
        </p:nvGraphicFramePr>
        <p:xfrm>
          <a:off x="274320" y="777240"/>
          <a:ext cx="795528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mAP50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mAP50-95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ms / image (T4)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FPS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Params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YOLO11m (proposed)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63.4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66.2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64.7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63.0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34.0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33.2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20.0 M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latin typeface="Times New Roman"/>
                        </a:rPr>
                        <a:t>YOLO11s (baseline)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71.0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64.1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67.4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64.6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33.4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11.7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86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Times New Roman"/>
                        </a:rPr>
                        <a:t>9.4 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0" name="Table 299"/>
          <p:cNvGraphicFramePr>
            <a:graphicFrameLocks noGrp="1"/>
          </p:cNvGraphicFramePr>
          <p:nvPr/>
        </p:nvGraphicFramePr>
        <p:xfrm>
          <a:off x="274320" y="1874519"/>
          <a:ext cx="8275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Class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Test boxes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11m P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11m R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11m mAP50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11m mAP50-95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11s P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11s R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11s mAP50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imes New Roman"/>
                        </a:rPr>
                        <a:t>11s mAP50-95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Dead_Knot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343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77.2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88.0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86.8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41.8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83.0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84.3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89.1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43.3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Marrow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46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79.6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84.9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85.8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57.4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89.3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72.7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87.7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55.2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Live_Knot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406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73.5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79.2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74.8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32.0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75.2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75.1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75.8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32.6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Knot_missing *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57.9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62.5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62.7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35.7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80.8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70.8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69.6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34.1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Knot_with_crack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63.2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63.3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61.7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38.4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80.9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63.3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67.5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42.8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Resin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68.0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56.5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59.5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29.9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81.9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53.6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60.4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29.5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Crack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95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56.8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72.6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57.7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31.0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60.5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63.2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53.0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26.3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latin typeface="Times New Roman"/>
                        </a:rPr>
                        <a:t>Quartzity *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30.7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22.3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15.4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5.7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16.7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30.0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13.4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latin typeface="Times New Roman"/>
                        </a:rPr>
                        <a:t>3.0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latin typeface="Times New Roman"/>
                        </a:rPr>
                        <a:t>ALL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1023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63.4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66.2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63.0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34.0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71.0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64.1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64.6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latin typeface="Times New Roman"/>
                        </a:rPr>
                        <a:t>33.4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1" name="TextBox 300"/>
          <p:cNvSpPr txBox="1"/>
          <p:nvPr/>
        </p:nvSpPr>
        <p:spPr>
          <a:xfrm>
            <a:off x="274320" y="507492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Each model evaluated exactly once on boards never used for training, validation or threshold choice. * fewer than 25 test boxes: indicative only.</a:t>
            </a:r>
          </a:p>
          <a:p>
            <a:pPr marL="0" lvl="0" indent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Knot classes above 85 mAP50; Crack 53-58; Quartzity (125 training boxes) not yet learned; remaining errors are between visually similar knot sub-types.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573740" y="340659"/>
            <a:ext cx="78638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COMPARISON: YOLO11m vs YOLO11s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0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308" name="Google Shape;30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2" name="Table 311"/>
          <p:cNvGraphicFramePr>
            <a:graphicFrameLocks noGrp="1"/>
          </p:cNvGraphicFramePr>
          <p:nvPr/>
        </p:nvGraphicFramePr>
        <p:xfrm>
          <a:off x="274320" y="868680"/>
          <a:ext cx="4846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YOLO11m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YOLO11s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 - s</a:t>
                      </a:r>
                    </a:p>
                  </a:txBody>
                  <a:tcPr marL="36576" marR="36576" marT="18288" marB="18288">
                    <a:solidFill>
                      <a:srgbClr val="415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mAP50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63.0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64.6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-1.6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mAP50-95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34.0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33.4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+0.6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63.4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71.0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-7.6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66.2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64.1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+2.1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64.7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67.4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-2.7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Crack mAP50 / recall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57.7 / 72.6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53.0 / 63.2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+4.7 / +9.4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Inference, T4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33.2 ms (30 FPS)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11.7 ms (86 FPS)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2.8x slower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Training cost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2.64 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1.43 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1.8x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Times New Roman"/>
                        </a:rPr>
                        <a:t>Parameters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20.0 M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9.4 M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Times New Roman"/>
                        </a:rPr>
                        <a:t>2.1x</a:t>
                      </a:r>
                    </a:p>
                  </a:txBody>
                  <a:tcPr marL="36576" marR="36576" marT="18288" marB="18288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13" name="Picture 312" descr="confusion_matrix_normaliz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1468755"/>
            <a:ext cx="3154680" cy="2366010"/>
          </a:xfrm>
          <a:prstGeom prst="rect">
            <a:avLst/>
          </a:prstGeom>
        </p:spPr>
      </p:pic>
      <p:sp>
        <p:nvSpPr>
          <p:cNvPr id="314" name="TextBox 313"/>
          <p:cNvSpPr txBox="1"/>
          <p:nvPr/>
        </p:nvSpPr>
        <p:spPr>
          <a:xfrm>
            <a:off x="5212080" y="443484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Test confusion matrix, YOLO11m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274320" y="461772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Same data, split, seed and recipe: differences are due to model size alone. Overall accuracy is tied within the noise of a 12-board test set.</a:t>
            </a:r>
          </a:p>
          <a:p>
            <a:pPr marL="457200" lvl="0" indent="-33020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YOLO11m trades precision for recall and is stronger on the thin Crack class; YOLO11s is more precise and 2.8x faster.</a:t>
            </a:r>
          </a:p>
          <a:p>
            <a:pPr marL="457200" lvl="0" indent="-33020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Model capacity is not the bottleneck: rare classes and similar knot sub-types are. Second half focuses on data, input enhancement and targeted architecture changes.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/>
          <p:nvPr/>
        </p:nvSpPr>
        <p:spPr>
          <a:xfrm>
            <a:off x="395605" y="131445"/>
            <a:ext cx="8054340" cy="533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APP AND REMAINING 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1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18" name="Google Shape;31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1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323" name="Picture 322" descr="p2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876148"/>
            <a:ext cx="4023359" cy="1768143"/>
          </a:xfrm>
          <a:prstGeom prst="rect">
            <a:avLst/>
          </a:prstGeom>
        </p:spPr>
      </p:pic>
      <p:pic>
        <p:nvPicPr>
          <p:cNvPr id="324" name="Picture 323" descr="heat_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2830460"/>
            <a:ext cx="4023360" cy="1471400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274320" y="43434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App output: detections on a board and confidence heatmap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4434840" y="777240"/>
            <a:ext cx="3886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Application (done):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upload a board, choose YOLO11m / YOLO11s or both, thresholds, automatic input size; colour-coded boxes, heatmap, per-class count and area, defect coverage, JSON report.</a:t>
            </a:r>
          </a:p>
          <a:p>
            <a:pPr marL="457200" lvl="0" indent="-330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Test-board view: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annotator's boxes next to the model's prediction on the 12 unseen boards.</a:t>
            </a:r>
          </a:p>
          <a:p>
            <a:pPr marL="457200" lvl="0" indent="-33020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Deployment: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runs on a CPU laptop (0.2-0.6 s per image); packaged for Hugging Face Spaces.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4434840" y="3611880"/>
            <a:ext cx="3886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1">
                <a:latin typeface="Times New Roman"/>
                <a:ea typeface="Times New Roman"/>
                <a:cs typeface="Times New Roman"/>
                <a:sym typeface="Times New Roman"/>
              </a:rPr>
              <a:t>Remaining work: </a:t>
            </a:r>
            <a:endParaRPr lang="en-US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image enhancement study (CLAHE, denoising, low-light) on validation</a:t>
            </a:r>
          </a:p>
          <a:p>
            <a:pPr marL="457200" lvl="0" indent="-3302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rare-class and thin-defect improvements; multi-seed runs</a:t>
            </a:r>
          </a:p>
          <a:p>
            <a:pPr marL="457200" lvl="0" indent="-3302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CWB-style architectural experiment on the YOLO11 baseline, with ablations</a:t>
            </a:r>
          </a:p>
          <a:p>
            <a:pPr marL="457200" lvl="0" indent="-3302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recoverability grading rule (coverage, defect type, position) validated on expert-graded boards</a:t>
            </a:r>
          </a:p>
          <a:p>
            <a:pPr marL="457200" lvl="0" indent="-33020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final single-shot evaluation, synopsis update and report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74320" y="470916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1">
                <a:latin typeface="Times New Roman"/>
                <a:ea typeface="Times New Roman"/>
                <a:cs typeface="Times New Roman"/>
                <a:sym typeface="Times New Roman"/>
              </a:rPr>
              <a:t>Limitations: 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12-board test set; single seed per configuration; trained on controlled line-scan imagery; recoverability not yet estimated.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/>
        </p:nvSpPr>
        <p:spPr>
          <a:xfrm>
            <a:off x="395605" y="131445"/>
            <a:ext cx="8054400" cy="603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4153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[1] P. Kodytek, A. Bodzas and P. Bilik, "A large-scale image dataset of wood surface defects for automated vision-based quality control processes," F1000Research, vol. 10, 581, 2022, doi:10.12688/f1000research.52903.2.</a:t>
            </a:r>
          </a:p>
          <a:p>
            <a:pPr marL="0" lvl="0" indent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[2] Kaggle dataset nomihsa965/large-scale-image-dataset-of-wood-surface-defects, 4,000-image subset at 2800 x 1024 with YOLO labels, CC BY 4.0.</a:t>
            </a:r>
          </a:p>
          <a:p>
            <a:pPr marL="0" lvl="0" indent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[3] Ultralytics, YOLO11, software version 8.4.142, https://docs.ultralytics.com.</a:t>
            </a:r>
          </a:p>
          <a:p>
            <a:pPr marL="0" lvl="0" indent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[4] H. An, Z. Liang, M. Qin, Y. Huang, F. Xiong and G. Zeng, "Wood defect detection based on the CWB-YOLOv8 algorithm," Journal of Wood Science, vol. 70, art. 26, 2024, doi:10.1186/s10086-024-02139-z.</a:t>
            </a:r>
          </a:p>
          <a:p>
            <a:pPr marL="0" lvl="0" indent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[5] J. Zheng, "IEL-YOLO: A low-light robust wood defect detection method based on YOLOv11," Proc. ETAE 2026, pp. 818-821, doi:10.1109/ETAE69474.2026.11496073.</a:t>
            </a:r>
          </a:p>
          <a:p>
            <a:pPr marL="0" lvl="0" indent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[6] Y. Fang, Y. Ma, S. Gao and J. Chen, "Recent advances in wood surface defect inspection using deep learning (2021-2025)," BioResources, vol. 21, no. 3, 2026.</a:t>
            </a:r>
          </a:p>
          <a:p>
            <a:pPr marL="0" lvl="0" indent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[7] J. Qu, Y. Pang and Z. Wang, "WD-SEG: A deep learning framework for delicate and accurate wood defect segmentation," BioResources, vol. 21, no. 2, pp. 2925-2947, 2026.</a:t>
            </a:r>
          </a:p>
          <a:p>
            <a:pPr marL="0" lvl="0" indent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[8] L. P. Yi et al., "The prospect of artificial intelligence-based wood surface inspection: A review," IEEE Access, vol. 12, pp. 84706-84725, 2024, doi:10.1109/ACCESS.2024.3412928.</a:t>
            </a:r>
          </a:p>
        </p:txBody>
      </p:sp>
      <p:sp>
        <p:nvSpPr>
          <p:cNvPr id="328" name="Google Shape;328;p32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700" cy="396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29" name="Google Shape;3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2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/>
          <p:nvPr/>
        </p:nvSpPr>
        <p:spPr>
          <a:xfrm>
            <a:off x="1988956" y="2967335"/>
            <a:ext cx="4692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900" b="1" i="0" u="none" strike="noStrike" cap="none">
                <a:solidFill>
                  <a:srgbClr val="F1C232"/>
                </a:solidFill>
                <a:latin typeface="Lobster"/>
                <a:ea typeface="Lobster"/>
                <a:cs typeface="Lobster"/>
                <a:sym typeface="Lobster"/>
              </a:rPr>
              <a:t>Thank You</a:t>
            </a:r>
            <a:r>
              <a:rPr lang="en-US" sz="5900" b="1" i="0" u="none" strike="noStrike" cap="none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900" b="1" i="0" u="none" strike="noStrike" cap="non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>
            <a:spLocks noGrp="1"/>
          </p:cNvSpPr>
          <p:nvPr>
            <p:ph type="sldNum" idx="12"/>
          </p:nvPr>
        </p:nvSpPr>
        <p:spPr>
          <a:xfrm>
            <a:off x="8531788" y="5648960"/>
            <a:ext cx="548640" cy="39624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40" name="Google Shape;34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861" y="1377538"/>
            <a:ext cx="677790" cy="11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0861" y="6157980"/>
            <a:ext cx="680353" cy="70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0861" y="3740295"/>
            <a:ext cx="695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0860" y="2542563"/>
            <a:ext cx="693139" cy="1233357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/>
          <p:nvPr/>
        </p:nvSpPr>
        <p:spPr>
          <a:xfrm>
            <a:off x="8450861" y="11875"/>
            <a:ext cx="680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C000"/>
                </a:solidFill>
                <a:latin typeface="Balthazar"/>
                <a:ea typeface="Balthazar"/>
                <a:cs typeface="Balthazar"/>
                <a:sym typeface="Balthazar"/>
              </a:rPr>
              <a:t>6</a:t>
            </a:r>
            <a:endParaRPr sz="2200" b="1" i="0" u="none" strike="noStrike" cap="none">
              <a:solidFill>
                <a:srgbClr val="FFC000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3160</Words>
  <Application>Microsoft Office PowerPoint</Application>
  <PresentationFormat>On-screen Show (4:3)</PresentationFormat>
  <Paragraphs>551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Arial</vt:lpstr>
      <vt:lpstr>Lobster</vt:lpstr>
      <vt:lpstr>Calibri</vt:lpstr>
      <vt:lpstr>Balthazar</vt:lpstr>
      <vt:lpstr>Cambria</vt:lpstr>
      <vt:lpstr>Adjacency</vt:lpstr>
      <vt:lpstr>AI-Based Wood Quality Assessment</vt:lpstr>
      <vt:lpstr>ORGANIZATION OF THE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Prakyat Shetty</cp:lastModifiedBy>
  <cp:revision>2</cp:revision>
  <dcterms:modified xsi:type="dcterms:W3CDTF">2026-09-11T16:59:06Z</dcterms:modified>
</cp:coreProperties>
</file>