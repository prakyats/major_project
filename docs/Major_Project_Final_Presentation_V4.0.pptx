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38"/>
    <p:sldId id="282" r:id="rId39"/>
    <p:sldId id="283" r:id="rId40"/>
    <p:sldId id="272" r:id="rId18"/>
    <p:sldId id="284" r:id="rId41"/>
    <p:sldId id="285" r:id="rId42"/>
    <p:sldId id="286" r:id="rId43"/>
    <p:sldId id="273" r:id="rId21"/>
    <p:sldId id="278" r:id="rId19"/>
    <p:sldId id="280" r:id="rId20"/>
    <p:sldId id="274" r:id="rId22"/>
    <p:sldId id="279" r:id="rId23"/>
    <p:sldId id="271" r:id="rId17"/>
    <p:sldId id="287" r:id="rId44"/>
    <p:sldId id="277" r:id="rId24"/>
    <p:sldId id="275" r:id="rId25"/>
    <p:sldId id="288" r:id="rId45"/>
    <p:sldId id="276" r:id="rId26"/>
  </p:sldIdLst>
  <p:sldSz cx="9144000" cy="6858000" type="screen4x3"/>
  <p:notesSz cx="6858000" cy="9144000"/>
  <p:embeddedFontLst>
    <p:embeddedFont>
      <p:font typeface="Balthazar" panose="020B0604020202020204" charset="0"/>
      <p:regular r:id="rId28"/>
    </p:embeddedFont>
    <p:embeddedFont>
      <p:font typeface="Cambria" panose="02040503050406030204" pitchFamily="18" charset="0"/>
      <p:regular r:id="rId29"/>
      <p:bold r:id="rId30"/>
      <p:italic r:id="rId31"/>
      <p:boldItalic r:id="rId32"/>
    </p:embeddedFont>
    <p:embeddedFont>
      <p:font typeface="Lobster" panose="00000500000000000000" pitchFamily="2"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2">
          <p15:clr>
            <a:srgbClr val="A4A3A4"/>
          </p15:clr>
        </p15:guide>
        <p15:guide id="2" pos="2920">
          <p15:clr>
            <a:srgbClr val="A4A3A4"/>
          </p15:clr>
        </p15:guide>
      </p15:sldGuideLst>
    </p:ext>
    <p:ext uri="{2D200454-40CA-4A62-9FC3-DE9A4176ACB9}">
      <p15:notesGuideLst xmlns:p15="http://schemas.microsoft.com/office/powerpoint/2012/main">
        <p15:guide id="1" orient="horz" pos="2936">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EE20A-88A6-4723-80EF-92F8BEF2DCB8}">
  <a:tblStyle styleId="{8D8EE20A-88A6-4723-80EF-92F8BEF2DCB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BCB"/>
          </a:solidFill>
        </a:fill>
      </a:tcStyle>
    </a:band1H>
    <a:band2H>
      <a:tcTxStyle b="off" i="off"/>
      <a:tcStyle>
        <a:tcBdr/>
      </a:tcStyle>
    </a:band2H>
    <a:band1V>
      <a:tcTxStyle b="off" i="off"/>
      <a:tcStyle>
        <a:tcBdr/>
        <a:fill>
          <a:solidFill>
            <a:srgbClr val="CCCBCB"/>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980" y="44"/>
      </p:cViewPr>
      <p:guideLst>
        <p:guide orient="horz" pos="2202"/>
        <p:guide pos="29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6"/>
        <p:guide pos="219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8" name="Google Shape;8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a847483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f6a847483f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ad0d8d00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f6ad0d8d00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6ad0d8d0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3f6ad0d8d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20" name="Google Shape;20;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36" name="Google Shape;36;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2" name="Google Shape;42;p6"/>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7"/>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7"/>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1" name="Google Shape;51;p7"/>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2" name="Google Shape;52;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3" name="Google Shape;63;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a:spLocks noGrp="1"/>
          </p:cNvSpPr>
          <p:nvPr>
            <p:ph type="pic" idx="2"/>
          </p:nvPr>
        </p:nvSpPr>
        <p:spPr>
          <a:xfrm>
            <a:off x="0" y="0"/>
            <a:ext cx="8458200" cy="5486400"/>
          </a:xfrm>
          <a:prstGeom prst="rect">
            <a:avLst/>
          </a:prstGeom>
          <a:noFill/>
          <a:ln>
            <a:noFill/>
          </a:ln>
        </p:spPr>
      </p:sp>
      <p:sp>
        <p:nvSpPr>
          <p:cNvPr id="70" name="Google Shape;70;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3" name="Google Shape;83;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5" name="Google Shape;15;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26.png"/><Relationship Id="rId10"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7.jpg"/><Relationship Id="rId7"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ioresources.cnr.ncsu.edu/resources/recent-advances-in-wood-surface-defect-inspection-using-deep-learning-2021-2025/?utm_source=chatgpt.com" TargetMode="External"/><Relationship Id="rId3" Type="http://schemas.openxmlformats.org/officeDocument/2006/relationships/hyperlink" Target="https://doi.org/10.1109/ETAE69474.2026.11496073?utm_source=chatgpt.com" TargetMode="External"/><Relationship Id="rId4" Type="http://schemas.openxmlformats.org/officeDocument/2006/relationships/hyperlink" Target="https://www.researchgate.net/publication/404642192_IEL-YOLO_A_Low-Light_Robust_Wood_Defect_Detection_Method_Based_on_YOLOv11?utm_source=chatgpt.com" TargetMode="External"/><Relationship Id="rId5" Type="http://schemas.openxmlformats.org/officeDocument/2006/relationships/hyperlink" Target="https://bioresources.cnr.ncsu.edu/resources/wd-seg-a-deep-learning-framework-for-delicate-and-accurate-wood-defect-segmentation/?utm_source=chatgpt.com" TargetMode="External"/><Relationship Id="rId6" Type="http://schemas.openxmlformats.org/officeDocument/2006/relationships/hyperlink" Target="https://doi.org/10.1063/5.0313821?utm_source=chatgpt.com" TargetMode="External"/><Relationship Id="rId7" Type="http://schemas.openxmlformats.org/officeDocument/2006/relationships/hyperlink" Target="https://www.researchgate.net/publication/400536927_A_novel_IWPT-VMD_denoising_method_for_enhancing_air-coupled_ultrasonic_detection_of_wood_defects?utm_source=chatgpt.com" TargetMode="External"/><Relationship Id="rId8" Type="http://schemas.openxmlformats.org/officeDocument/2006/relationships/hyperlink" Target="https://doi.org/10.1016/j.measurement.2026.121442?utm_source=chatgpt.com" TargetMode="External"/><Relationship Id="rId9" Type="http://schemas.openxmlformats.org/officeDocument/2006/relationships/hyperlink" Target="https://www.sciencedirect.com/science/article/pii/S0263224126011516?utm_source=chatgpt.com" TargetMode="External"/><Relationship Id="rId10" Type="http://schemas.openxmlformats.org/officeDocument/2006/relationships/hyperlink" Target="https://doi.org/10.1016/j.tfp.2026.101226?utm_source=chatgpt.com" TargetMode="External"/><Relationship Id="rId11" Type="http://schemas.openxmlformats.org/officeDocument/2006/relationships/hyperlink" Target="https://www.sciencedirect.com/science/article/pii/S2666719326000828?utm_source=chatgpt.com" TargetMode="Externa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i.org/10.1016/j.ecoser.2026.101851?utm_source=chatgpt.com" TargetMode="External"/><Relationship Id="rId4" Type="http://schemas.openxmlformats.org/officeDocument/2006/relationships/hyperlink" Target="https://www.sciencedirect.com/science/article/pii/S2212041626000392?utm_source=chatgpt.com" TargetMode="External"/><Relationship Id="rId5" Type="http://schemas.openxmlformats.org/officeDocument/2006/relationships/hyperlink" Target="https://doi.org/10.1016/j.knosys.2025.113706?utm_source=chatgpt.com" TargetMode="External"/><Relationship Id="rId6" Type="http://schemas.openxmlformats.org/officeDocument/2006/relationships/hyperlink" Target="https://www.sciencedirect.com/science/article/pii/S095070512500752X?utm_source=chatgpt.com" TargetMode="External"/><Relationship Id="rId7" Type="http://schemas.openxmlformats.org/officeDocument/2006/relationships/hyperlink" Target="https://doi.org/10.1016/j.cma.2024.117250?utm_source=chatgpt.com" TargetMode="External"/><Relationship Id="rId8" Type="http://schemas.openxmlformats.org/officeDocument/2006/relationships/hyperlink" Target="https://www.sciencedirect.com/science/article/pii/S0045782524005061?utm_source=chatgpt.com" TargetMode="External"/><Relationship Id="rId9" Type="http://schemas.openxmlformats.org/officeDocument/2006/relationships/hyperlink" Target="https://doi.org/10.1186/s10086-024-02139-z?utm_source=chatgpt.com" TargetMode="External"/><Relationship Id="rId10" Type="http://schemas.openxmlformats.org/officeDocument/2006/relationships/hyperlink" Target="https://link.springer.com/article/10.1186/s10086-024-02139-z?utm_source=chatgpt.com" TargetMode="External"/><Relationship Id="rId11" Type="http://schemas.openxmlformats.org/officeDocument/2006/relationships/hyperlink" Target="https://doi.org/10.1109/ACCESS.2024.3412928?utm_source=chatgpt.com" TargetMode="External"/><Relationship Id="rId12" Type="http://schemas.openxmlformats.org/officeDocument/2006/relationships/hyperlink" Target="https://ouci.dntb.gov.ua/en/works/7W38qvz7/?utm_source=chatgpt.com" TargetMode="Externa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png"/><Relationship Id="rId1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23.jpg"/><Relationship Id="rId7"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ciencedirect.com/science/article/pii/S0045782524005061?utm_source=chatgpt.com" TargetMode="External"/><Relationship Id="rId3" Type="http://schemas.openxmlformats.org/officeDocument/2006/relationships/image" Target="../media/image1.png"/><Relationship Id="rId4" Type="http://schemas.openxmlformats.org/officeDocument/2006/relationships/hyperlink" Target="https://doi.org/10.1016/j.ecoser.2026.101851?utm_source=chatgpt.com" TargetMode="External"/><Relationship Id="rId5" Type="http://schemas.openxmlformats.org/officeDocument/2006/relationships/hyperlink" Target="https://doi.org/10.1016/j.cma.2024.117250?utm_source=chatgpt.com" TargetMode="External"/><Relationship Id="rId6" Type="http://schemas.openxmlformats.org/officeDocument/2006/relationships/hyperlink" Target="https://ouci.dntb.gov.ua/en/works/7W38qvz7/?utm_source=chatgpt.com" TargetMode="External"/><Relationship Id="rId7" Type="http://schemas.openxmlformats.org/officeDocument/2006/relationships/image" Target="../media/image4.png"/><Relationship Id="rId8" Type="http://schemas.openxmlformats.org/officeDocument/2006/relationships/hyperlink" Target="https://www.sciencedirect.com/science/article/pii/S095070512500752X?utm_source=chatgpt.com" TargetMode="External"/><Relationship Id="rId9" Type="http://schemas.openxmlformats.org/officeDocument/2006/relationships/hyperlink" Target="https://doi.org/10.1109/ACCESS.2024.3412928?utm_source=chatgpt.com" TargetMode="External"/><Relationship Id="rId10" Type="http://schemas.openxmlformats.org/officeDocument/2006/relationships/hyperlink" Target="https://doi.org/10.1016/j.knosys.2025.113706?utm_source=chatgpt.com" TargetMode="External"/><Relationship Id="rId11" Type="http://schemas.openxmlformats.org/officeDocument/2006/relationships/image" Target="../media/image3.png"/><Relationship Id="rId12" Type="http://schemas.openxmlformats.org/officeDocument/2006/relationships/hyperlink" Target="https://link.springer.com/article/10.1186/s10086-024-02139-z?utm_source=chatgpt.com" TargetMode="External"/><Relationship Id="rId13" Type="http://schemas.openxmlformats.org/officeDocument/2006/relationships/hyperlink" Target="https://www.sciencedirect.com/science/article/pii/S2212041626000392?utm_source=chatgpt.com" TargetMode="External"/><Relationship Id="rId14" Type="http://schemas.openxmlformats.org/officeDocument/2006/relationships/hyperlink" Target="https://doi.org/10.1186/s10086-024-02139-z?utm_source=chatgpt.com" TargetMode="External"/><Relationship Id="rId1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27325" y="1516175"/>
            <a:ext cx="7837800" cy="864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2"/>
              </a:buClr>
              <a:buSzPts val="3200"/>
              <a:buFont typeface="Cambria"/>
              <a:buNone/>
            </a:pPr>
            <a:r>
              <a:rPr lang="en-US" sz="2900" b="1"/>
              <a:t>AI-Based Wood Quality Assessment</a:t>
            </a:r>
            <a:endParaRPr sz="2900" b="1"/>
          </a:p>
        </p:txBody>
      </p:sp>
      <p:sp>
        <p:nvSpPr>
          <p:cNvPr id="91" name="Google Shape;91;p13"/>
          <p:cNvSpPr txBox="1">
            <a:spLocks noGrp="1"/>
          </p:cNvSpPr>
          <p:nvPr>
            <p:ph type="subTitle" idx="1"/>
          </p:nvPr>
        </p:nvSpPr>
        <p:spPr>
          <a:xfrm>
            <a:off x="230560" y="4714190"/>
            <a:ext cx="3905400" cy="2143800"/>
          </a:xfrm>
          <a:prstGeom prst="rect">
            <a:avLst/>
          </a:prstGeom>
          <a:solidFill>
            <a:srgbClr val="000000">
              <a:alpha val="0"/>
            </a:srgbClr>
          </a:solidFill>
          <a:ln>
            <a:noFill/>
          </a:ln>
        </p:spPr>
        <p:txBody>
          <a:bodyPr spcFirstLastPara="1" wrap="square" lIns="47625" tIns="47625" rIns="47625" bIns="47625" anchor="t" anchorCtr="0">
            <a:normAutofit/>
          </a:bodyPr>
          <a:lstStyle/>
          <a:p>
            <a:pPr marL="0" lvl="0" indent="0" algn="l" rtl="0">
              <a:spcBef>
                <a:spcPts val="400"/>
              </a:spcBef>
              <a:spcAft>
                <a:spcPts val="0"/>
              </a:spcAft>
              <a:buNone/>
            </a:pPr>
            <a:r>
              <a:rPr lang="en-US" sz="1500" b="0">
                <a:solidFill>
                  <a:srgbClr val="8C8B8A"/>
                </a:solidFill>
                <a:latin typeface="Calibri"/>
                <a:ea typeface="Calibri"/>
                <a:cs typeface="Calibri"/>
                <a:sym typeface="Calibri"/>
              </a:rPr>
              <a:t>GURUGUBELLI GAYATRI           -    1DS23CB014</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PRAKYAT PRAMOD SHETTY     -    1DS23CB033</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SAIPRASAD RAO                      </a:t>
            </a:r>
            <a:r>
              <a:rPr lang="en-US" sz="1500"/>
              <a:t> </a:t>
            </a:r>
            <a:r>
              <a:rPr lang="en-US" sz="1500" b="0">
                <a:solidFill>
                  <a:srgbClr val="8C8B8A"/>
                </a:solidFill>
                <a:latin typeface="Calibri"/>
                <a:ea typeface="Calibri"/>
                <a:cs typeface="Calibri"/>
                <a:sym typeface="Calibri"/>
              </a:rPr>
              <a:t> -    1DS23CB041</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YASTI ANIL KOTAK                     -    1DS23CB063</a:t>
            </a:r>
            <a:endParaRPr sz="1500" b="0">
              <a:solidFill>
                <a:srgbClr val="8C8B8A"/>
              </a:solidFill>
              <a:latin typeface="Calibri"/>
              <a:ea typeface="Calibri"/>
              <a:cs typeface="Calibri"/>
              <a:sym typeface="Calibri"/>
            </a:endParaRPr>
          </a:p>
        </p:txBody>
      </p:sp>
      <p:sp>
        <p:nvSpPr>
          <p:cNvPr id="92" name="Google Shape;92;p13"/>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a:t>
            </a:fld>
            <a:endParaRPr/>
          </a:p>
        </p:txBody>
      </p:sp>
      <p:sp>
        <p:nvSpPr>
          <p:cNvPr id="93" name="Google Shape;93;p13"/>
          <p:cNvSpPr txBox="1"/>
          <p:nvPr/>
        </p:nvSpPr>
        <p:spPr>
          <a:xfrm>
            <a:off x="4203785" y="4368800"/>
            <a:ext cx="4179300" cy="227430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Under the Guidance of</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Mrs. Aparna H D</a:t>
            </a: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Assistant Professor</a:t>
            </a: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CSBS,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Dayananda Sagar College Of Engineering, Bengaluru</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75780" y="2491191"/>
            <a:ext cx="7740900" cy="1028446"/>
          </a:xfrm>
          <a:prstGeom prst="rect">
            <a:avLst/>
          </a:prstGeom>
          <a:noFill/>
          <a:ln>
            <a:noFill/>
          </a:ln>
        </p:spPr>
        <p:txBody>
          <a:bodyPr spcFirstLastPara="1" wrap="square" lIns="91425" tIns="45700" rIns="91425" bIns="45700" anchor="t" anchorCtr="0">
            <a:spAutoFit/>
          </a:bodyPr>
          <a:lstStyle/>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7th Semester Major Project: Final (100%) Presentation</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Date: 24 October 2026</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Time: 9Am Onwards</a:t>
            </a:r>
          </a:p>
        </p:txBody>
      </p:sp>
      <p:sp>
        <p:nvSpPr>
          <p:cNvPr id="95" name="Google Shape;95;p13"/>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1413239" y="114282"/>
            <a:ext cx="7155000" cy="116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DAYANANDA SAGAR COLLEGE OF ENGINEERING</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An Autonomous Institute Affiliated to VTU, Approved by AICTE &amp; UGC</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Accredited by National Assessment and Accreditation Council (NAAC) with ‘A’ Grade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Department of Computer Science and Business Systems</a:t>
            </a:r>
            <a:endParaRPr sz="1800" b="0" i="0" u="none" strike="noStrike" cap="none">
              <a:solidFill>
                <a:schemeClr val="dk1"/>
              </a:solidFill>
              <a:latin typeface="Arial"/>
              <a:ea typeface="Arial"/>
              <a:cs typeface="Arial"/>
              <a:sym typeface="Arial"/>
            </a:endParaRPr>
          </a:p>
        </p:txBody>
      </p:sp>
      <p:cxnSp>
        <p:nvCxnSpPr>
          <p:cNvPr id="97" name="Google Shape;97;p13"/>
          <p:cNvCxnSpPr/>
          <p:nvPr/>
        </p:nvCxnSpPr>
        <p:spPr>
          <a:xfrm>
            <a:off x="190980" y="1377538"/>
            <a:ext cx="8822400" cy="0"/>
          </a:xfrm>
          <a:prstGeom prst="straightConnector1">
            <a:avLst/>
          </a:prstGeom>
          <a:noFill/>
          <a:ln w="38100" cap="flat" cmpd="sng">
            <a:solidFill>
              <a:schemeClr val="accent1"/>
            </a:solidFill>
            <a:prstDash val="solid"/>
            <a:round/>
            <a:headEnd type="none" w="sm" len="sm"/>
            <a:tailEnd type="none" w="sm" len="sm"/>
          </a:ln>
          <a:effectLst>
            <a:outerShdw blurRad="50800" dist="25400" algn="bl" rotWithShape="0">
              <a:srgbClr val="000000">
                <a:alpha val="60000"/>
              </a:srgbClr>
            </a:outerShdw>
          </a:effectLst>
        </p:spPr>
      </p:cxnSp>
      <p:pic>
        <p:nvPicPr>
          <p:cNvPr id="98" name="Google Shape;98;p1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99" name="Google Shape;99;p1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01" name="Google Shape;101;p1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02" name="Google Shape;102;p1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103" name="Google Shape;103;p13" descr="logo.jpeg"/>
          <p:cNvPicPr preferRelativeResize="0"/>
          <p:nvPr/>
        </p:nvPicPr>
        <p:blipFill rotWithShape="1">
          <a:blip r:embed="rId7">
            <a:alphaModFix/>
          </a:blip>
          <a:srcRect/>
          <a:stretch/>
        </p:blipFill>
        <p:spPr>
          <a:xfrm>
            <a:off x="288290" y="109220"/>
            <a:ext cx="1207135" cy="12109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323851" y="0"/>
            <a:ext cx="7977001" cy="72957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ORGANIZATION OF THE PRESENTATION</a:t>
            </a:r>
            <a:endParaRPr/>
          </a:p>
        </p:txBody>
      </p:sp>
      <p:sp>
        <p:nvSpPr>
          <p:cNvPr id="109" name="Google Shape;109;p14"/>
          <p:cNvSpPr txBox="1">
            <a:spLocks noGrp="1"/>
          </p:cNvSpPr>
          <p:nvPr>
            <p:ph type="body" idx="1"/>
          </p:nvPr>
        </p:nvSpPr>
        <p:spPr>
          <a:xfrm>
            <a:off x="323851" y="729579"/>
            <a:ext cx="8560155" cy="5856277"/>
          </a:xfrm>
          <a:prstGeom prst="rect">
            <a:avLst/>
          </a:prstGeom>
          <a:noFill/>
          <a:ln>
            <a:noFill/>
          </a:ln>
        </p:spPr>
        <p:txBody>
          <a:bodyPr spcFirstLastPara="1" wrap="square" lIns="91425" tIns="45700" rIns="91425" bIns="45700" anchor="t" anchorCtr="0">
            <a:noAutofit/>
          </a:bodyPr>
          <a:lstStyle/>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Abstract</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Introduction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Literature Survey</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Problem Statement</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Objectives and Final Status</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Methodology</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Dataset and Board-level Split</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System Design and Implementation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Training Configuration and Runs</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Mathematical Model: Class Balancing, Box Fusion and Wise-IoU, Recoverability Index</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Results on Held-out Boards</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Statistical and Grading Validation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Image Enhancement Study</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Model Comparison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Demonstration Application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Plan of Action</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Conclusion and Future Work</a:t>
            </a:r>
          </a:p>
          <a:p>
            <a:pPr marL="457200" lvl="0" indent="-330200" algn="l">
              <a:lnSpc>
                <a:spcPct val="150000"/>
              </a:lnSpc>
              <a:spcBef>
                <a:spcPts val="300"/>
              </a:spcBef>
              <a:spcAft>
                <a:spcPts val="0"/>
              </a:spcAft>
              <a:buSzPts val="1500"/>
              <a:buFont typeface="Times New Roman"/>
              <a:buChar char="●"/>
            </a:pPr>
            <a:r>
              <a:rPr lang="en-US" sz="1100" dirty="0">
                <a:latin typeface="Times New Roman"/>
                <a:ea typeface="Times New Roman"/>
                <a:cs typeface="Times New Roman"/>
                <a:sym typeface="Times New Roman"/>
              </a:rPr>
              <a:t>References</a:t>
            </a:r>
          </a:p>
        </p:txBody>
      </p:sp>
      <p:sp>
        <p:nvSpPr>
          <p:cNvPr id="110" name="Google Shape;110;p1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a:t>
            </a:fld>
            <a:endParaRPr/>
          </a:p>
        </p:txBody>
      </p:sp>
      <p:pic>
        <p:nvPicPr>
          <p:cNvPr id="111" name="Google Shape;111;p1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13" name="Google Shape;113;p1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14" name="Google Shape;114;p1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15" name="Google Shape;115;p1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334847" y="141515"/>
            <a:ext cx="7977001" cy="72957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ABSTRACT</a:t>
            </a:r>
            <a:endParaRPr/>
          </a:p>
        </p:txBody>
      </p:sp>
      <p:sp>
        <p:nvSpPr>
          <p:cNvPr id="121" name="Google Shape;121;p1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23" name="Google Shape;123;p1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24" name="Google Shape;124;p1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25" name="Google Shape;125;p1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26" name="Google Shape;126;p1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27" name="Google Shape;127;p15"/>
          <p:cNvSpPr txBox="1">
            <a:spLocks noGrp="1"/>
          </p:cNvSpPr>
          <p:nvPr>
            <p:ph type="body" idx="1"/>
          </p:nvPr>
        </p:nvSpPr>
        <p:spPr>
          <a:xfrm>
            <a:off x="198348" y="141515"/>
            <a:ext cx="8113500" cy="5610600"/>
          </a:xfrm>
          <a:prstGeom prst="rect">
            <a:avLst/>
          </a:prstGeom>
          <a:noFill/>
          <a:ln>
            <a:noFill/>
          </a:ln>
        </p:spPr>
        <p:txBody>
          <a:bodyPr spcFirstLastPara="1" wrap="square" lIns="91425" tIns="45700" rIns="91425" bIns="45700" anchor="ctr" anchorCtr="0">
            <a:spAutoFit/>
          </a:bodyPr>
          <a:lstStyle/>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Surface defects such as knots, cracks and resin pockets reduce the usable part of sawn timber; manual grading is slow, subjective and inconsistent.</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We built an AI system that detects, classifies and localises surface defects on board images and turns them into a quality grade, a recoverable-area estimate and a value estimate.</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Data: 4,000 industrial line-scan images, 8 defect classes, split by physical board (52 / 17 / 12 boards), so every test board is unseen.</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Detection: YOLO11m and YOLO11s reach 63.0 and 64.6 mAP50 over 8 classes on 12 unseen boards; YOLO11s is 2.8x faster, so the final system is built on YOLO11s.</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Mathematical model: class balancing, higher resolution and weighted box fusion of four 4-class YOLO11s models raise test mAP50 from 69.2 (best single model) to 74.7 and mAP50-95 from 33.1 to 36.7; 95% CI of the mAP50 gain +2.7 to +7.1, Wilcoxon p = 0.042.</a:t>
            </a:r>
          </a:p>
          <a:p>
            <a:pPr marL="457200" lvl="0" indent="-330200" algn="l">
              <a:lnSpc>
                <a:spcPct val="120000"/>
              </a:lnSpc>
              <a:spcBef>
                <a:spcPts val="600"/>
              </a:spcBef>
              <a:spcAft>
                <a:spcPts val="0"/>
              </a:spcAft>
              <a:buSzPts val="1500"/>
              <a:buFont typeface="Times New Roman"/>
              <a:buChar char="●"/>
            </a:pPr>
            <a:r>
              <a:rPr lang="en-US" sz="1500" dirty="0">
                <a:latin typeface="Times New Roman"/>
                <a:ea typeface="Times New Roman"/>
                <a:cs typeface="Times New Roman"/>
                <a:sym typeface="Times New Roman"/>
              </a:rPr>
              <a:t>Quality assessment: the guide's Board Recoverability Index, adapted to line-scan geometry, matches annotation-based grades with weighted kappa 0.83 on unseen boards; a web application shows defects, grade, recoverable area and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4</a:t>
            </a:fld>
            <a:endParaRPr/>
          </a:p>
        </p:txBody>
      </p:sp>
      <p:sp>
        <p:nvSpPr>
          <p:cNvPr id="134" name="Google Shape;134;p16"/>
          <p:cNvSpPr/>
          <p:nvPr/>
        </p:nvSpPr>
        <p:spPr>
          <a:xfrm>
            <a:off x="322730" y="232193"/>
            <a:ext cx="340210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pic>
        <p:nvPicPr>
          <p:cNvPr id="135" name="Google Shape;135;p16"/>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36" name="Google Shape;136;p16"/>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37" name="Google Shape;137;p1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38" name="Google Shape;138;p16"/>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39" name="Google Shape;139;p1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40" name="Google Shape;140;p16"/>
          <p:cNvSpPr txBox="1"/>
          <p:nvPr/>
        </p:nvSpPr>
        <p:spPr>
          <a:xfrm>
            <a:off x="149500" y="849225"/>
            <a:ext cx="8178000" cy="5781000"/>
          </a:xfrm>
          <a:prstGeom prst="rect">
            <a:avLst/>
          </a:prstGeom>
          <a:noFill/>
          <a:ln>
            <a:noFill/>
          </a:ln>
        </p:spPr>
        <p:txBody>
          <a:bodyPr spcFirstLastPara="1" wrap="square" lIns="91425" tIns="45700" rIns="91425" bIns="45700" anchor="t" anchorCtr="0">
            <a:noAutofit/>
          </a:bodyPr>
          <a:lstStyle/>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Manual inspection of timber depends on human graders; fatigue and inter-inspector variation make results inconsistent, and throughput limits line speed.</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Defects differ in severity: a live knot is cosmetic, a dead or missing knot weakens the board, a crack may make a section unusable. Grading needs the defect type and its location, not a yes/no answer.</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One-stage detectors of the YOLO family find and classify small objects in real time, which suits a conveyor-mounted line-scan camera.</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Our system returns every visible defect with class, position, size and confidence, grades each board with the Board Recoverability Index (A / B / C / Reject), and estimates its recoverable area and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5</a:t>
            </a:fld>
            <a:endParaRPr/>
          </a:p>
        </p:txBody>
      </p:sp>
      <p:sp>
        <p:nvSpPr>
          <p:cNvPr id="146" name="Google Shape;146;p17"/>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48" name="Google Shape;148;p1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49" name="Google Shape;149;p1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50" name="Google Shape;150;p1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51" name="Google Shape;151;p1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52" name="Google Shape;152;p17"/>
          <p:cNvGraphicFramePr/>
          <p:nvPr/>
        </p:nvGraphicFramePr>
        <p:xfrm>
          <a:off x="132863" y="532309"/>
          <a:ext cx="8133725" cy="6246710"/>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501150">
                  <a:extLst>
                    <a:ext uri="{9D8B030D-6E8A-4147-A177-3AD203B41FA5}">
                      <a16:colId xmlns:a16="http://schemas.microsoft.com/office/drawing/2014/main" val="20003"/>
                    </a:ext>
                  </a:extLst>
                </a:gridCol>
                <a:gridCol w="1431900">
                  <a:extLst>
                    <a:ext uri="{9D8B030D-6E8A-4147-A177-3AD203B41FA5}">
                      <a16:colId xmlns:a16="http://schemas.microsoft.com/office/drawing/2014/main" val="20004"/>
                    </a:ext>
                  </a:extLst>
                </a:gridCol>
                <a:gridCol w="1333825">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Drawbacks/Issues</a:t>
                      </a:r>
                      <a:endParaRPr sz="1400" u="none" strike="noStrike" cap="none"/>
                    </a:p>
                  </a:txBody>
                  <a:tcPr marL="91450" marR="91450" marT="45725" marB="45725"/>
                </a:tc>
                <a:extLst>
                  <a:ext uri="{0D108BD9-81ED-4DB2-BD59-A6C34878D82A}">
                    <a16:rowId xmlns:a16="http://schemas.microsoft.com/office/drawing/2014/main" val="10000"/>
                  </a:ext>
                </a:extLst>
              </a:tr>
              <a:tr h="1502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Y. Fang, Y. Ma, S. Gao &amp; J. Chen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Comprehensive review; supports automated wood-defect inspection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Small datasets, poor generalisation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177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Zheng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IEL-YOLO: A Low-Light Robust Wood Defect Detection Method Based on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Image Enhancement +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Improves defect visibility in low-light conditions; handles complex wood textures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Generalisation challenges; no multimodal integration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Qu, Y. Pang &amp; Z. Wang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WD-SEG: A Deep Learning Framework for Delicate and Accurate Wood Defect Segmentation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AFN + TFN + ICO +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Accurate defect segmentation; handles low contrast and reduces background interference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Noise sensitivity, feature ambiguity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Wang &amp; S. Tang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 Novel IWPT-VMD Denoising Method for Enhancing Air-Coupled Ultrasonic Detection of Wood Defects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IWPT + VMD + Ultrasonic Signal Processing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Reduces noise and improves signal quality and defect detection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Requires ultrasonic signals; limited AI integration and no multimodal fusion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6</a:t>
            </a:fld>
            <a:endParaRPr/>
          </a:p>
        </p:txBody>
      </p:sp>
      <p:sp>
        <p:nvSpPr>
          <p:cNvPr id="158" name="Google Shape;158;p18"/>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59" name="Google Shape;159;p1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60" name="Google Shape;160;p1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61" name="Google Shape;161;p1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62" name="Google Shape;162;p1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63" name="Google Shape;163;p1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64" name="Google Shape;164;p18"/>
          <p:cNvGraphicFramePr/>
          <p:nvPr/>
        </p:nvGraphicFramePr>
        <p:xfrm>
          <a:off x="132863" y="532309"/>
          <a:ext cx="8133725" cy="6182375"/>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384525">
                  <a:extLst>
                    <a:ext uri="{9D8B030D-6E8A-4147-A177-3AD203B41FA5}">
                      <a16:colId xmlns:a16="http://schemas.microsoft.com/office/drawing/2014/main" val="20003"/>
                    </a:ext>
                  </a:extLst>
                </a:gridCol>
                <a:gridCol w="1412450">
                  <a:extLst>
                    <a:ext uri="{9D8B030D-6E8A-4147-A177-3AD203B41FA5}">
                      <a16:colId xmlns:a16="http://schemas.microsoft.com/office/drawing/2014/main" val="20004"/>
                    </a:ext>
                  </a:extLst>
                </a:gridCol>
                <a:gridCol w="1469900">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a:t>
                      </a:r>
                      <a:endParaRPr sz="1800"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Issues</a:t>
                      </a:r>
                      <a:endParaRPr sz="1400" u="none" strike="noStrike" cap="none"/>
                    </a:p>
                  </a:txBody>
                  <a:tcPr marL="91450" marR="91450" marT="45725" marB="45725"/>
                </a:tc>
                <a:extLst>
                  <a:ext uri="{0D108BD9-81ED-4DB2-BD59-A6C34878D82A}">
                    <a16:rowId xmlns:a16="http://schemas.microsoft.com/office/drawing/2014/main" val="10000"/>
                  </a:ext>
                </a:extLst>
              </a:tr>
              <a:tr h="10958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 S. Erasmus, D. Drew &amp; M. J. Booysen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Low-Cost Wireless Dendrometer and Digital Twin for Precision Forestry Applications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IoT + LoRaWAN + Digital Twin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Low-cost, scalable system enabling continuous monitoring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No wood-quality assessment; no harvest optimisation; limited data fusion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311100">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N. Perry et al. </a:t>
                      </a:r>
                      <a:endParaRPr sz="120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Towards Precision Forestry: A Systematic Review of Optimisation Methods for Individual-Tree Decisions in Forest Management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Heuristics, Mathematical Programming &amp; Machine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optimal forest-management decisions across different objectives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real-world implementation; disturbance risks not fully integrated; limited multi-scale planning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065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E. Z. Başkent, A. Bončina &amp; J. G. Borges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Review and Conceptual Framework for a New Era of Forest Management Planning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Digital Twin, Monitoring, Simulation &amp;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adaptive forest planning and integrates monitoring with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ML implementation; no harvesting optimisation; no timber-quality assessment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J. Tan, H. Zhang, J. Yang, Y. Liu, D. Zheng &amp; X. Liu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2025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ForestryBERT: Continual Learning Adapted to Forestry Text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BERT + NLP + Continual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Provides domain-specific forestry knowledge management and adapts to continuously growing forestry text data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Catastrophic forgetting; limited application to wood-quality assessment; no defect-detection component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386806" y="319177"/>
            <a:ext cx="7282762" cy="599755"/>
          </a:xfrm>
          <a:prstGeom prst="rect">
            <a:avLst/>
          </a:prstGeom>
          <a:noFill/>
          <a:ln>
            <a:noFill/>
          </a:ln>
        </p:spPr>
        <p:txBody>
          <a:bodyPr spcFirstLastPara="1" wrap="square" lIns="91425" tIns="45700" rIns="91425" bIns="45700" anchor="t" anchorCtr="0">
            <a:no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PROBLEM STATEMENT</a:t>
            </a:r>
            <a:endParaRPr sz="1400" b="0" i="0" u="none" strike="noStrike" cap="none" dirty="0">
              <a:solidFill>
                <a:srgbClr val="000000"/>
              </a:solidFill>
              <a:latin typeface="Arial"/>
              <a:ea typeface="Arial"/>
              <a:cs typeface="Arial"/>
              <a:sym typeface="Arial"/>
            </a:endParaRPr>
          </a:p>
        </p:txBody>
      </p:sp>
      <p:sp>
        <p:nvSpPr>
          <p:cNvPr id="170" name="Google Shape;170;p1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7</a:t>
            </a:fld>
            <a:endParaRPr/>
          </a:p>
        </p:txBody>
      </p:sp>
      <p:pic>
        <p:nvPicPr>
          <p:cNvPr id="171" name="Google Shape;171;p1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72" name="Google Shape;172;p1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73" name="Google Shape;173;p1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74" name="Google Shape;174;p1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75" name="Google Shape;175;p1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76" name="Google Shape;176;p19"/>
          <p:cNvSpPr txBox="1"/>
          <p:nvPr/>
        </p:nvSpPr>
        <p:spPr>
          <a:xfrm>
            <a:off x="386806" y="1226714"/>
            <a:ext cx="7543800" cy="2385228"/>
          </a:xfrm>
          <a:prstGeom prst="rect">
            <a:avLst/>
          </a:prstGeom>
          <a:noFill/>
          <a:ln>
            <a:noFill/>
          </a:ln>
        </p:spPr>
        <p:txBody>
          <a:bodyPr spcFirstLastPara="1" wrap="square" lIns="91425" tIns="45700" rIns="91425" bIns="45700" anchor="t" anchorCtr="0">
            <a:spAutoFit/>
          </a:bodyPr>
          <a:lstStyle/>
          <a:p>
            <a:pPr lvl="0" algn="just">
              <a:lnSpc>
                <a:spcPct val="150000"/>
              </a:lnSpc>
              <a:spcBef>
                <a:spcPts val="600"/>
              </a:spcBef>
            </a:pPr>
            <a:r>
              <a:rPr lang="en-IN" sz="1600" dirty="0">
                <a:latin typeface="Times New Roman" panose="02020603050405020304" pitchFamily="18" charset="0"/>
                <a:cs typeface="Times New Roman" panose="02020603050405020304" pitchFamily="18" charset="0"/>
              </a:rPr>
              <a:t>Manual wood quality inspection is time-consuming and subjective, and existing AI approaches mostly stop at detecting defects without a leakage-free evaluation or a path to usable-area estimation; this project therefore aims to develop an AI-based computer-vision system that detects, classifies and localises visible surface defects on wooden boards, evaluates the detector on boards it has never seen, and uses the detections to estimate the recoverable portion of each board.</a:t>
            </a: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p:nvPr/>
        </p:nvSpPr>
        <p:spPr>
          <a:xfrm>
            <a:off x="379768" y="230811"/>
            <a:ext cx="8625745" cy="795963"/>
          </a:xfrm>
          <a:prstGeom prst="rect">
            <a:avLst/>
          </a:prstGeom>
          <a:noFill/>
          <a:ln>
            <a:noFill/>
          </a:ln>
        </p:spPr>
        <p:txBody>
          <a:bodyPr spcFirstLastPara="1" wrap="square" lIns="91425" tIns="45700" rIns="91425" bIns="45700" anchor="ctr" anchorCtr="0">
            <a:noAutofit/>
          </a:bodyPr>
          <a:lstStyle/>
          <a:p>
            <a:pPr marL="457200" marR="0" lvl="1" indent="-457200" algn="l" rtl="0">
              <a:lnSpc>
                <a:spcPct val="150000"/>
              </a:lnSpc>
              <a:spcBef>
                <a:spcPts val="0"/>
              </a:spcBef>
              <a:spcAft>
                <a:spcPts val="0"/>
              </a:spcAft>
              <a:buClr>
                <a:srgbClr val="000000"/>
              </a:buClr>
              <a:buSzPts val="2200"/>
              <a:buFont typeface="Arial"/>
              <a:buNone/>
            </a:pPr>
            <a:r>
              <a:rPr lang="en-US" sz="2600" b="1" i="0" u="none" strike="noStrike" cap="none" dirty="0">
                <a:solidFill>
                  <a:srgbClr val="41534B"/>
                </a:solidFill>
                <a:latin typeface="Times New Roman"/>
                <a:ea typeface="Times New Roman"/>
                <a:cs typeface="Times New Roman"/>
                <a:sym typeface="Times New Roman"/>
              </a:rPr>
              <a:t>OBJECTIVES AND FINAL STATUS</a:t>
            </a:r>
            <a:endParaRPr sz="2600" b="0" i="0" u="none" strike="noStrike" cap="none" dirty="0">
              <a:solidFill>
                <a:srgbClr val="000000"/>
              </a:solidFill>
              <a:latin typeface="Arial"/>
              <a:ea typeface="Arial"/>
              <a:cs typeface="Arial"/>
              <a:sym typeface="Arial"/>
            </a:endParaRPr>
          </a:p>
        </p:txBody>
      </p:sp>
      <p:sp>
        <p:nvSpPr>
          <p:cNvPr id="182" name="Google Shape;182;p2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8</a:t>
            </a:fld>
            <a:endParaRPr/>
          </a:p>
        </p:txBody>
      </p:sp>
      <p:pic>
        <p:nvPicPr>
          <p:cNvPr id="183" name="Google Shape;183;p2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84" name="Google Shape;184;p20"/>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85" name="Google Shape;185;p20"/>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86" name="Google Shape;186;p20"/>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87" name="Google Shape;187;p2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88" name="Google Shape;188;p20"/>
          <p:cNvSpPr txBox="1"/>
          <p:nvPr/>
        </p:nvSpPr>
        <p:spPr>
          <a:xfrm>
            <a:off x="190245" y="1139554"/>
            <a:ext cx="7887000" cy="3901028"/>
          </a:xfrm>
          <a:prstGeom prst="rect">
            <a:avLst/>
          </a:prstGeom>
          <a:noFill/>
          <a:ln>
            <a:noFill/>
          </a:ln>
        </p:spPr>
        <p:txBody>
          <a:bodyPr spcFirstLastPara="1" wrap="square" lIns="91425" tIns="45700" rIns="91425" bIns="45700" anchor="t" anchorCtr="0">
            <a:spAutoFit/>
          </a:bodyPr>
          <a:lstStyle/>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1 (achieved): </a:t>
            </a:r>
            <a:r>
              <a:rPr lang="en-US" sz="1500" dirty="0">
                <a:latin typeface="Times New Roman"/>
                <a:ea typeface="Times New Roman"/>
                <a:cs typeface="Times New Roman"/>
                <a:sym typeface="Times New Roman"/>
              </a:rPr>
              <a:t>Annotated dataset of 4,000 line-scan images, 8 classes, 9,053 boxes, split by physical board with zero overlap. Higher-resolution input (1280 px), CLAHE / denoising and copy-paste balancing of rare classes were all implemented and evaluated.</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2 (achieved): </a:t>
            </a:r>
            <a:r>
              <a:rPr lang="en-US" sz="1500" dirty="0">
                <a:latin typeface="Times New Roman"/>
                <a:ea typeface="Times New Roman"/>
                <a:cs typeface="Times New Roman"/>
                <a:sym typeface="Times New Roman"/>
              </a:rPr>
              <a:t>Deep-learning framework for detection and localisation: reproducible preparation, balancing, training and evaluation scripts; 8-class YOLO11m / YOLO11s and 4-class YOLO11s models, each tested once on held-out boards.</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3 (achieved): </a:t>
            </a:r>
            <a:r>
              <a:rPr lang="en-US" sz="1500" dirty="0">
                <a:latin typeface="Times New Roman"/>
                <a:ea typeface="Times New Roman"/>
                <a:cs typeface="Times New Roman"/>
                <a:sym typeface="Times New Roman"/>
              </a:rPr>
              <a:t>Recoverable-area estimation: the guide's Board Recoverability Index gives a damage score, recoverable area and grade per board; validated against annotation-based grades (weighted kappa 0.83); market value estimated from grade.</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4 (achieved): </a:t>
            </a:r>
            <a:r>
              <a:rPr lang="en-US" sz="1500" dirty="0">
                <a:latin typeface="Times New Roman"/>
                <a:ea typeface="Times New Roman"/>
                <a:cs typeface="Times New Roman"/>
                <a:sym typeface="Times New Roman"/>
              </a:rPr>
              <a:t>Comparison with P, R, F1, mAP50, mAP50-95 and inference time at identical settings, plus our mathematical model: class-balancing rule, weighted box fusion, Wise-IoU loss, per-class thresholds and statistical validation.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9</a:t>
            </a:fld>
            <a:endParaRPr/>
          </a:p>
        </p:txBody>
      </p:sp>
      <p:pic>
        <p:nvPicPr>
          <p:cNvPr id="195" name="Google Shape;195;p2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0" name="Google Shape;200;p21"/>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Methodology as completed for the final review</a:t>
            </a:r>
            <a:endParaRPr sz="1400" b="0" i="0" u="none" strike="noStrike" cap="none">
              <a:solidFill>
                <a:srgbClr val="000000"/>
              </a:solidFill>
              <a:latin typeface="Arial"/>
              <a:ea typeface="Arial"/>
              <a:cs typeface="Arial"/>
              <a:sym typeface="Arial"/>
            </a:endParaRPr>
          </a:p>
        </p:txBody>
      </p:sp>
      <p:pic>
        <p:nvPicPr>
          <p:cNvPr id="201" name="Picture 200" descr="methodology_final.png"/>
          <p:cNvPicPr>
            <a:picLocks noChangeAspect="1"/>
          </p:cNvPicPr>
          <p:nvPr/>
        </p:nvPicPr>
        <p:blipFill>
          <a:blip r:embed="rId8"/>
          <a:stretch>
            <a:fillRect/>
          </a:stretch>
        </p:blipFill>
        <p:spPr>
          <a:xfrm>
            <a:off x="1752248" y="685800"/>
            <a:ext cx="5456624" cy="52577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Dataset preparation. </a:t>
            </a:r>
            <a:r>
              <a:rPr lang="en-US" sz="1100" dirty="0">
                <a:latin typeface="Times New Roman"/>
                <a:ea typeface="Times New Roman"/>
                <a:cs typeface="Times New Roman"/>
                <a:sym typeface="Times New Roman"/>
              </a:rPr>
              <a:t>Public industrial line-scan dataset; label cleaning; class mapping verified; group-stratified split by board id (52 / 17 / 12 boards).</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Input handling. </a:t>
            </a:r>
            <a:r>
              <a:rPr lang="en-US" sz="1100" dirty="0">
                <a:latin typeface="Times New Roman"/>
                <a:ea typeface="Times New Roman"/>
                <a:cs typeface="Times New Roman"/>
                <a:sym typeface="Times New Roman"/>
              </a:rPr>
              <a:t>2800 x 1024 strips trained with rectangular batches at 1024 px (1024 x 384) and, as an experiment, 1280 px (1280 x 480).</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Class balancing. </a:t>
            </a:r>
            <a:r>
              <a:rPr lang="en-US" sz="1100" dirty="0">
                <a:latin typeface="Times New Roman"/>
                <a:ea typeface="Times New Roman"/>
                <a:cs typeface="Times New Roman"/>
                <a:sym typeface="Times New Roman"/>
              </a:rPr>
              <a:t>Four most frequent classes kept; real defect crops pasted onto defect-free training boards along the grain until n_c reaches n_max or sqrt(n_c x n_max).</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Detection. </a:t>
            </a:r>
            <a:r>
              <a:rPr lang="en-US" sz="1100" dirty="0">
                <a:latin typeface="Times New Roman"/>
                <a:ea typeface="Times New Roman"/>
                <a:cs typeface="Times New Roman"/>
                <a:sym typeface="Times New Roman"/>
              </a:rPr>
              <a:t>Ultralytics YOLO11 fine-tuned from COCO: YOLO11m and YOLO11s with one recipe; Wise-IoU v3 tested as the box loss.</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Mathematical model. </a:t>
            </a:r>
            <a:r>
              <a:rPr lang="en-US" sz="1100" dirty="0">
                <a:latin typeface="Times New Roman"/>
                <a:ea typeface="Times New Roman"/>
                <a:cs typeface="Times New Roman"/>
                <a:sym typeface="Times New Roman"/>
              </a:rPr>
              <a:t>Weighted box fusion of detectors, per-class confidence thresholds, and statistical validation (board-level bootstrap, exact Wilcoxon test).</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Recoverability and value. </a:t>
            </a:r>
            <a:r>
              <a:rPr lang="en-US" sz="1100" dirty="0">
                <a:latin typeface="Times New Roman"/>
                <a:ea typeface="Times New Roman"/>
                <a:cs typeface="Times New Roman"/>
                <a:sym typeface="Times New Roman"/>
              </a:rPr>
              <a:t>Board Recoverability Index: severity x confidence x position penalty -&gt; damage score, recoverable area, grade A / B / C / Reject; value = volume x recoverable share x price x grade factor.</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Evaluation protocol. </a:t>
            </a:r>
            <a:r>
              <a:rPr lang="en-US" sz="1100" dirty="0">
                <a:latin typeface="Times New Roman"/>
                <a:ea typeface="Times New Roman"/>
                <a:cs typeface="Times New Roman"/>
                <a:sym typeface="Times New Roman"/>
              </a:rPr>
              <a:t>Every choice made on validation boards; each test model evaluated exactly once; enhancement study (CLAHE, denoise, sharpen) on validation.</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4">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6">
            <a:alphaModFix/>
          </a:blip>
          <a:srcRect/>
          <a:stretch/>
        </p:blipFill>
        <p:spPr>
          <a:xfrm>
            <a:off x="8450861" y="6157980"/>
            <a:ext cx="680353" cy="7036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p:nvPr/>
        </p:nvSpPr>
        <p:spPr>
          <a:xfrm>
            <a:off x="341431" y="11871"/>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DATASET AND BOARD-LEVEL SPLIT</a:t>
            </a:r>
            <a:endParaRPr sz="1400" b="0" i="0" u="none" strike="noStrike" cap="none">
              <a:solidFill>
                <a:srgbClr val="000000"/>
              </a:solidFill>
              <a:latin typeface="Arial"/>
              <a:ea typeface="Arial"/>
              <a:cs typeface="Arial"/>
              <a:sym typeface="Arial"/>
            </a:endParaRPr>
          </a:p>
        </p:txBody>
      </p:sp>
      <p:sp>
        <p:nvSpPr>
          <p:cNvPr id="219" name="Google Shape;219;p2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11</a:t>
            </a:fld>
            <a:endParaRPr/>
          </a:p>
        </p:txBody>
      </p:sp>
      <p:pic>
        <p:nvPicPr>
          <p:cNvPr id="220" name="Google Shape;220;p2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21" name="Google Shape;221;p2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22" name="Google Shape;222;p2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23" name="Google Shape;223;p2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24" name="Google Shape;224;p2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25" name="TextBox 224"/>
          <p:cNvSpPr txBox="1"/>
          <p:nvPr/>
        </p:nvSpPr>
        <p:spPr>
          <a:xfrm>
            <a:off x="228600" y="685800"/>
            <a:ext cx="7906732" cy="900568"/>
          </a:xfrm>
          <a:prstGeom prst="rect">
            <a:avLst/>
          </a:prstGeom>
          <a:noFill/>
        </p:spPr>
        <p:txBody>
          <a:bodyPr wrap="square">
            <a:spAutoFit/>
          </a:bodyPr>
          <a:lstStyle/>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Content: </a:t>
            </a:r>
            <a:r>
              <a:rPr lang="en-US" sz="1100" dirty="0">
                <a:latin typeface="Times New Roman"/>
                <a:ea typeface="Times New Roman"/>
                <a:cs typeface="Times New Roman"/>
                <a:sym typeface="Times New Roman"/>
              </a:rPr>
              <a:t>9,053 boxes after removing 158 zero-size labels; 388 background images (9.7%); 81 physical boards; 8 classes: </a:t>
            </a:r>
            <a:r>
              <a:rPr lang="en-US" sz="1100" dirty="0" err="1">
                <a:latin typeface="Times New Roman"/>
                <a:ea typeface="Times New Roman"/>
                <a:cs typeface="Times New Roman"/>
                <a:sym typeface="Times New Roman"/>
              </a:rPr>
              <a:t>Quartzity</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Live_Knot</a:t>
            </a:r>
            <a:r>
              <a:rPr lang="en-US" sz="1100" dirty="0">
                <a:latin typeface="Times New Roman"/>
                <a:ea typeface="Times New Roman"/>
                <a:cs typeface="Times New Roman"/>
                <a:sym typeface="Times New Roman"/>
              </a:rPr>
              <a:t>, Marrow, Resin, </a:t>
            </a:r>
            <a:r>
              <a:rPr lang="en-US" sz="1100" dirty="0" err="1">
                <a:latin typeface="Times New Roman"/>
                <a:ea typeface="Times New Roman"/>
                <a:cs typeface="Times New Roman"/>
                <a:sym typeface="Times New Roman"/>
              </a:rPr>
              <a:t>Dead_Knot</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Knot_with_crack</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Knot_missing</a:t>
            </a:r>
            <a:r>
              <a:rPr lang="en-US" sz="1100" dirty="0">
                <a:latin typeface="Times New Roman"/>
                <a:ea typeface="Times New Roman"/>
                <a:cs typeface="Times New Roman"/>
                <a:sym typeface="Times New Roman"/>
              </a:rPr>
              <a:t>, Crack.</a:t>
            </a:r>
          </a:p>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Why split by board: </a:t>
            </a:r>
            <a:r>
              <a:rPr lang="en-US" sz="1100" dirty="0">
                <a:latin typeface="Times New Roman"/>
                <a:ea typeface="Times New Roman"/>
                <a:cs typeface="Times New Roman"/>
                <a:sym typeface="Times New Roman"/>
              </a:rPr>
              <a:t>consecutive images come from the same board and share grain and lighting; a per-image split would leak boards into the test set. Zero overlap is asserted by the preparation script.</a:t>
            </a:r>
          </a:p>
        </p:txBody>
      </p:sp>
      <p:graphicFrame>
        <p:nvGraphicFramePr>
          <p:cNvPr id="226" name="Table 225"/>
          <p:cNvGraphicFramePr>
            <a:graphicFrameLocks noGrp="1"/>
          </p:cNvGraphicFramePr>
          <p:nvPr>
            <p:extLst>
              <p:ext uri="{D42A27DB-BD31-4B8C-83A1-F6EECF244321}">
                <p14:modId xmlns:p14="http://schemas.microsoft.com/office/powerpoint/2010/main" val="3522574928"/>
              </p:ext>
            </p:extLst>
          </p:nvPr>
        </p:nvGraphicFramePr>
        <p:xfrm>
          <a:off x="270719" y="1605332"/>
          <a:ext cx="7818120" cy="155448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868680">
                  <a:extLst>
                    <a:ext uri="{9D8B030D-6E8A-4147-A177-3AD203B41FA5}">
                      <a16:colId xmlns:a16="http://schemas.microsoft.com/office/drawing/2014/main" val="20009"/>
                    </a:ext>
                  </a:extLst>
                </a:gridCol>
                <a:gridCol w="868680">
                  <a:extLst>
                    <a:ext uri="{9D8B030D-6E8A-4147-A177-3AD203B41FA5}">
                      <a16:colId xmlns:a16="http://schemas.microsoft.com/office/drawing/2014/main" val="20010"/>
                    </a:ext>
                  </a:extLst>
                </a:gridCol>
                <a:gridCol w="548640">
                  <a:extLst>
                    <a:ext uri="{9D8B030D-6E8A-4147-A177-3AD203B41FA5}">
                      <a16:colId xmlns:a16="http://schemas.microsoft.com/office/drawing/2014/main" val="20011"/>
                    </a:ext>
                  </a:extLst>
                </a:gridCol>
              </a:tblGrid>
              <a:tr h="388620">
                <a:tc>
                  <a:txBody>
                    <a:bodyPr/>
                    <a:lstStyle/>
                    <a:p>
                      <a:pPr algn="l"/>
                      <a:r>
                        <a:rPr sz="900" b="1">
                          <a:solidFill>
                            <a:srgbClr val="FFFFFF"/>
                          </a:solidFill>
                          <a:latin typeface="Times New Roman"/>
                        </a:rPr>
                        <a:t>Split</a:t>
                      </a:r>
                    </a:p>
                  </a:txBody>
                  <a:tcPr marL="36576" marR="36576" marT="18288" marB="18288">
                    <a:solidFill>
                      <a:srgbClr val="41534B"/>
                    </a:solidFill>
                  </a:tcPr>
                </a:tc>
                <a:tc>
                  <a:txBody>
                    <a:bodyPr/>
                    <a:lstStyle/>
                    <a:p>
                      <a:pPr algn="ctr"/>
                      <a:r>
                        <a:rPr sz="900" b="1">
                          <a:solidFill>
                            <a:srgbClr val="FFFFFF"/>
                          </a:solidFill>
                          <a:latin typeface="Times New Roman"/>
                        </a:rPr>
                        <a:t>Boards</a:t>
                      </a:r>
                    </a:p>
                  </a:txBody>
                  <a:tcPr marL="36576" marR="36576" marT="18288" marB="18288">
                    <a:solidFill>
                      <a:srgbClr val="41534B"/>
                    </a:solidFill>
                  </a:tcPr>
                </a:tc>
                <a:tc>
                  <a:txBody>
                    <a:bodyPr/>
                    <a:lstStyle/>
                    <a:p>
                      <a:pPr algn="ctr"/>
                      <a:r>
                        <a:rPr sz="900" b="1">
                          <a:solidFill>
                            <a:srgbClr val="FFFFFF"/>
                          </a:solidFill>
                          <a:latin typeface="Times New Roman"/>
                        </a:rPr>
                        <a:t>Images</a:t>
                      </a:r>
                    </a:p>
                  </a:txBody>
                  <a:tcPr marL="36576" marR="36576" marT="18288" marB="18288">
                    <a:solidFill>
                      <a:srgbClr val="41534B"/>
                    </a:solidFill>
                  </a:tcPr>
                </a:tc>
                <a:tc>
                  <a:txBody>
                    <a:bodyPr/>
                    <a:lstStyle/>
                    <a:p>
                      <a:pPr algn="ctr"/>
                      <a:r>
                        <a:rPr sz="900" b="1">
                          <a:solidFill>
                            <a:srgbClr val="FFFFFF"/>
                          </a:solidFill>
                          <a:latin typeface="Times New Roman"/>
                        </a:rPr>
                        <a:t>Backgr.</a:t>
                      </a:r>
                    </a:p>
                  </a:txBody>
                  <a:tcPr marL="36576" marR="36576" marT="18288" marB="18288">
                    <a:solidFill>
                      <a:srgbClr val="41534B"/>
                    </a:solidFill>
                  </a:tcPr>
                </a:tc>
                <a:tc>
                  <a:txBody>
                    <a:bodyPr/>
                    <a:lstStyle/>
                    <a:p>
                      <a:pPr algn="ctr"/>
                      <a:r>
                        <a:rPr sz="900" b="1" dirty="0" err="1">
                          <a:solidFill>
                            <a:srgbClr val="FFFFFF"/>
                          </a:solidFill>
                          <a:latin typeface="Times New Roman"/>
                        </a:rPr>
                        <a:t>Quartzity</a:t>
                      </a:r>
                      <a:endParaRPr sz="900" b="1" dirty="0">
                        <a:solidFill>
                          <a:srgbClr val="FFFFFF"/>
                        </a:solidFill>
                        <a:latin typeface="Times New Roman"/>
                      </a:endParaRPr>
                    </a:p>
                  </a:txBody>
                  <a:tcPr marL="36576" marR="36576" marT="18288" marB="18288">
                    <a:solidFill>
                      <a:srgbClr val="41534B"/>
                    </a:solidFill>
                  </a:tcPr>
                </a:tc>
                <a:tc>
                  <a:txBody>
                    <a:bodyPr/>
                    <a:lstStyle/>
                    <a:p>
                      <a:pPr algn="ctr"/>
                      <a:r>
                        <a:rPr sz="900" b="1">
                          <a:solidFill>
                            <a:srgbClr val="FFFFFF"/>
                          </a:solidFill>
                          <a:latin typeface="Times New Roman"/>
                        </a:rPr>
                        <a:t>Live_Knot</a:t>
                      </a:r>
                    </a:p>
                  </a:txBody>
                  <a:tcPr marL="36576" marR="36576" marT="18288" marB="18288">
                    <a:solidFill>
                      <a:srgbClr val="41534B"/>
                    </a:solidFill>
                  </a:tcPr>
                </a:tc>
                <a:tc>
                  <a:txBody>
                    <a:bodyPr/>
                    <a:lstStyle/>
                    <a:p>
                      <a:pPr algn="ctr"/>
                      <a:r>
                        <a:rPr sz="900" b="1">
                          <a:solidFill>
                            <a:srgbClr val="FFFFFF"/>
                          </a:solidFill>
                          <a:latin typeface="Times New Roman"/>
                        </a:rPr>
                        <a:t>Marrow</a:t>
                      </a:r>
                    </a:p>
                  </a:txBody>
                  <a:tcPr marL="36576" marR="36576" marT="18288" marB="18288">
                    <a:solidFill>
                      <a:srgbClr val="41534B"/>
                    </a:solidFill>
                  </a:tcPr>
                </a:tc>
                <a:tc>
                  <a:txBody>
                    <a:bodyPr/>
                    <a:lstStyle/>
                    <a:p>
                      <a:pPr algn="ctr"/>
                      <a:r>
                        <a:rPr sz="900" b="1">
                          <a:solidFill>
                            <a:srgbClr val="FFFFFF"/>
                          </a:solidFill>
                          <a:latin typeface="Times New Roman"/>
                        </a:rPr>
                        <a:t>Resin</a:t>
                      </a:r>
                    </a:p>
                  </a:txBody>
                  <a:tcPr marL="36576" marR="36576" marT="18288" marB="18288">
                    <a:solidFill>
                      <a:srgbClr val="41534B"/>
                    </a:solidFill>
                  </a:tcPr>
                </a:tc>
                <a:tc>
                  <a:txBody>
                    <a:bodyPr/>
                    <a:lstStyle/>
                    <a:p>
                      <a:pPr algn="ctr"/>
                      <a:r>
                        <a:rPr sz="900" b="1">
                          <a:solidFill>
                            <a:srgbClr val="FFFFFF"/>
                          </a:solidFill>
                          <a:latin typeface="Times New Roman"/>
                        </a:rPr>
                        <a:t>Dead_Knot</a:t>
                      </a:r>
                    </a:p>
                  </a:txBody>
                  <a:tcPr marL="36576" marR="36576" marT="18288" marB="18288">
                    <a:solidFill>
                      <a:srgbClr val="41534B"/>
                    </a:solidFill>
                  </a:tcPr>
                </a:tc>
                <a:tc>
                  <a:txBody>
                    <a:bodyPr/>
                    <a:lstStyle/>
                    <a:p>
                      <a:pPr algn="ctr"/>
                      <a:r>
                        <a:rPr sz="900" b="1">
                          <a:solidFill>
                            <a:srgbClr val="FFFFFF"/>
                          </a:solidFill>
                          <a:latin typeface="Times New Roman"/>
                        </a:rPr>
                        <a:t>Knot_w_crack</a:t>
                      </a:r>
                    </a:p>
                  </a:txBody>
                  <a:tcPr marL="36576" marR="36576" marT="18288" marB="18288">
                    <a:solidFill>
                      <a:srgbClr val="41534B"/>
                    </a:solidFill>
                  </a:tcPr>
                </a:tc>
                <a:tc>
                  <a:txBody>
                    <a:bodyPr/>
                    <a:lstStyle/>
                    <a:p>
                      <a:pPr algn="ctr"/>
                      <a:r>
                        <a:rPr sz="900" b="1">
                          <a:solidFill>
                            <a:srgbClr val="FFFFFF"/>
                          </a:solidFill>
                          <a:latin typeface="Times New Roman"/>
                        </a:rPr>
                        <a:t>Knot_missing</a:t>
                      </a:r>
                    </a:p>
                  </a:txBody>
                  <a:tcPr marL="36576" marR="36576" marT="18288" marB="18288">
                    <a:solidFill>
                      <a:srgbClr val="41534B"/>
                    </a:solidFill>
                  </a:tcPr>
                </a:tc>
                <a:tc>
                  <a:txBody>
                    <a:bodyPr/>
                    <a:lstStyle/>
                    <a:p>
                      <a:pPr algn="ctr"/>
                      <a:r>
                        <a:rPr sz="900" b="1">
                          <a:solidFill>
                            <a:srgbClr val="FFFFFF"/>
                          </a:solidFill>
                          <a:latin typeface="Times New Roman"/>
                        </a:rPr>
                        <a:t>Crack</a:t>
                      </a:r>
                    </a:p>
                  </a:txBody>
                  <a:tcPr marL="36576" marR="36576" marT="18288" marB="18288">
                    <a:solidFill>
                      <a:srgbClr val="41534B"/>
                    </a:solidFill>
                  </a:tcPr>
                </a:tc>
                <a:extLst>
                  <a:ext uri="{0D108BD9-81ED-4DB2-BD59-A6C34878D82A}">
                    <a16:rowId xmlns:a16="http://schemas.microsoft.com/office/drawing/2014/main" val="10000"/>
                  </a:ext>
                </a:extLst>
              </a:tr>
              <a:tr h="388620">
                <a:tc>
                  <a:txBody>
                    <a:bodyPr/>
                    <a:lstStyle/>
                    <a:p>
                      <a:pPr algn="l"/>
                      <a:r>
                        <a:rPr sz="900" b="0">
                          <a:latin typeface="Times New Roman"/>
                        </a:rPr>
                        <a:t>train</a:t>
                      </a:r>
                    </a:p>
                  </a:txBody>
                  <a:tcPr marL="36576" marR="36576" marT="18288" marB="18288">
                    <a:solidFill>
                      <a:srgbClr val="F7F3EC"/>
                    </a:solidFill>
                  </a:tcPr>
                </a:tc>
                <a:tc>
                  <a:txBody>
                    <a:bodyPr/>
                    <a:lstStyle/>
                    <a:p>
                      <a:pPr algn="ctr"/>
                      <a:r>
                        <a:rPr sz="900" b="0">
                          <a:latin typeface="Times New Roman"/>
                        </a:rPr>
                        <a:t>52</a:t>
                      </a:r>
                    </a:p>
                  </a:txBody>
                  <a:tcPr marL="36576" marR="36576" marT="18288" marB="18288">
                    <a:solidFill>
                      <a:srgbClr val="F7F3EC"/>
                    </a:solidFill>
                  </a:tcPr>
                </a:tc>
                <a:tc>
                  <a:txBody>
                    <a:bodyPr/>
                    <a:lstStyle/>
                    <a:p>
                      <a:pPr algn="ctr"/>
                      <a:r>
                        <a:rPr sz="900" b="0">
                          <a:latin typeface="Times New Roman"/>
                        </a:rPr>
                        <a:t>2817</a:t>
                      </a:r>
                    </a:p>
                  </a:txBody>
                  <a:tcPr marL="36576" marR="36576" marT="18288" marB="18288">
                    <a:solidFill>
                      <a:srgbClr val="F7F3EC"/>
                    </a:solidFill>
                  </a:tcPr>
                </a:tc>
                <a:tc>
                  <a:txBody>
                    <a:bodyPr/>
                    <a:lstStyle/>
                    <a:p>
                      <a:pPr algn="ctr"/>
                      <a:r>
                        <a:rPr sz="900" b="0">
                          <a:latin typeface="Times New Roman"/>
                        </a:rPr>
                        <a:t>272</a:t>
                      </a:r>
                    </a:p>
                  </a:txBody>
                  <a:tcPr marL="36576" marR="36576" marT="18288" marB="18288">
                    <a:solidFill>
                      <a:srgbClr val="F7F3EC"/>
                    </a:solidFill>
                  </a:tcPr>
                </a:tc>
                <a:tc>
                  <a:txBody>
                    <a:bodyPr/>
                    <a:lstStyle/>
                    <a:p>
                      <a:pPr algn="ctr"/>
                      <a:r>
                        <a:rPr sz="900" b="0">
                          <a:latin typeface="Times New Roman"/>
                        </a:rPr>
                        <a:t>125</a:t>
                      </a:r>
                    </a:p>
                  </a:txBody>
                  <a:tcPr marL="36576" marR="36576" marT="18288" marB="18288">
                    <a:solidFill>
                      <a:srgbClr val="F7F3EC"/>
                    </a:solidFill>
                  </a:tcPr>
                </a:tc>
                <a:tc>
                  <a:txBody>
                    <a:bodyPr/>
                    <a:lstStyle/>
                    <a:p>
                      <a:pPr algn="ctr"/>
                      <a:r>
                        <a:rPr sz="900" b="0">
                          <a:latin typeface="Times New Roman"/>
                        </a:rPr>
                        <a:t>2899</a:t>
                      </a:r>
                    </a:p>
                  </a:txBody>
                  <a:tcPr marL="36576" marR="36576" marT="18288" marB="18288">
                    <a:solidFill>
                      <a:srgbClr val="F7F3EC"/>
                    </a:solidFill>
                  </a:tcPr>
                </a:tc>
                <a:tc>
                  <a:txBody>
                    <a:bodyPr/>
                    <a:lstStyle/>
                    <a:p>
                      <a:pPr algn="ctr"/>
                      <a:r>
                        <a:rPr sz="900" b="0">
                          <a:latin typeface="Times New Roman"/>
                        </a:rPr>
                        <a:t>94</a:t>
                      </a:r>
                    </a:p>
                  </a:txBody>
                  <a:tcPr marL="36576" marR="36576" marT="18288" marB="18288">
                    <a:solidFill>
                      <a:srgbClr val="F7F3EC"/>
                    </a:solidFill>
                  </a:tcPr>
                </a:tc>
                <a:tc>
                  <a:txBody>
                    <a:bodyPr/>
                    <a:lstStyle/>
                    <a:p>
                      <a:pPr algn="ctr"/>
                      <a:r>
                        <a:rPr sz="900" b="0">
                          <a:latin typeface="Times New Roman"/>
                        </a:rPr>
                        <a:t>489</a:t>
                      </a:r>
                    </a:p>
                  </a:txBody>
                  <a:tcPr marL="36576" marR="36576" marT="18288" marB="18288">
                    <a:solidFill>
                      <a:srgbClr val="F7F3EC"/>
                    </a:solidFill>
                  </a:tcPr>
                </a:tc>
                <a:tc>
                  <a:txBody>
                    <a:bodyPr/>
                    <a:lstStyle/>
                    <a:p>
                      <a:pPr algn="ctr"/>
                      <a:r>
                        <a:rPr sz="900" b="0">
                          <a:latin typeface="Times New Roman"/>
                        </a:rPr>
                        <a:t>2071</a:t>
                      </a:r>
                    </a:p>
                  </a:txBody>
                  <a:tcPr marL="36576" marR="36576" marT="18288" marB="18288">
                    <a:solidFill>
                      <a:srgbClr val="F7F3EC"/>
                    </a:solidFill>
                  </a:tcPr>
                </a:tc>
                <a:tc>
                  <a:txBody>
                    <a:bodyPr/>
                    <a:lstStyle/>
                    <a:p>
                      <a:pPr algn="ctr"/>
                      <a:r>
                        <a:rPr sz="900" b="0">
                          <a:latin typeface="Times New Roman"/>
                        </a:rPr>
                        <a:t>377</a:t>
                      </a:r>
                    </a:p>
                  </a:txBody>
                  <a:tcPr marL="36576" marR="36576" marT="18288" marB="18288">
                    <a:solidFill>
                      <a:srgbClr val="F7F3EC"/>
                    </a:solidFill>
                  </a:tcPr>
                </a:tc>
                <a:tc>
                  <a:txBody>
                    <a:bodyPr/>
                    <a:lstStyle/>
                    <a:p>
                      <a:pPr algn="ctr"/>
                      <a:r>
                        <a:rPr sz="900" b="0">
                          <a:latin typeface="Times New Roman"/>
                        </a:rPr>
                        <a:t>78</a:t>
                      </a:r>
                    </a:p>
                  </a:txBody>
                  <a:tcPr marL="36576" marR="36576" marT="18288" marB="18288">
                    <a:solidFill>
                      <a:srgbClr val="F7F3EC"/>
                    </a:solidFill>
                  </a:tcPr>
                </a:tc>
                <a:tc>
                  <a:txBody>
                    <a:bodyPr/>
                    <a:lstStyle/>
                    <a:p>
                      <a:pPr algn="ctr"/>
                      <a:r>
                        <a:rPr sz="900" b="0">
                          <a:latin typeface="Times New Roman"/>
                        </a:rPr>
                        <a:t>306</a:t>
                      </a:r>
                    </a:p>
                  </a:txBody>
                  <a:tcPr marL="36576" marR="36576" marT="18288" marB="18288">
                    <a:solidFill>
                      <a:srgbClr val="F7F3EC"/>
                    </a:solidFill>
                  </a:tcPr>
                </a:tc>
                <a:extLst>
                  <a:ext uri="{0D108BD9-81ED-4DB2-BD59-A6C34878D82A}">
                    <a16:rowId xmlns:a16="http://schemas.microsoft.com/office/drawing/2014/main" val="10001"/>
                  </a:ext>
                </a:extLst>
              </a:tr>
              <a:tr h="388620">
                <a:tc>
                  <a:txBody>
                    <a:bodyPr/>
                    <a:lstStyle/>
                    <a:p>
                      <a:pPr algn="l"/>
                      <a:r>
                        <a:rPr sz="900" b="0">
                          <a:latin typeface="Times New Roman"/>
                        </a:rPr>
                        <a:t>val</a:t>
                      </a:r>
                    </a:p>
                  </a:txBody>
                  <a:tcPr marL="36576" marR="36576" marT="18288" marB="18288">
                    <a:solidFill>
                      <a:srgbClr val="FFFFFF"/>
                    </a:solidFill>
                  </a:tcPr>
                </a:tc>
                <a:tc>
                  <a:txBody>
                    <a:bodyPr/>
                    <a:lstStyle/>
                    <a:p>
                      <a:pPr algn="ctr"/>
                      <a:r>
                        <a:rPr sz="900" b="0">
                          <a:latin typeface="Times New Roman"/>
                        </a:rPr>
                        <a:t>17</a:t>
                      </a:r>
                    </a:p>
                  </a:txBody>
                  <a:tcPr marL="36576" marR="36576" marT="18288" marB="18288">
                    <a:solidFill>
                      <a:srgbClr val="FFFFFF"/>
                    </a:solidFill>
                  </a:tcPr>
                </a:tc>
                <a:tc>
                  <a:txBody>
                    <a:bodyPr/>
                    <a:lstStyle/>
                    <a:p>
                      <a:pPr algn="ctr"/>
                      <a:r>
                        <a:rPr sz="900" b="0">
                          <a:latin typeface="Times New Roman"/>
                        </a:rPr>
                        <a:t>714</a:t>
                      </a:r>
                    </a:p>
                  </a:txBody>
                  <a:tcPr marL="36576" marR="36576" marT="18288" marB="18288">
                    <a:solidFill>
                      <a:srgbClr val="FFFFFF"/>
                    </a:solidFill>
                  </a:tcPr>
                </a:tc>
                <a:tc>
                  <a:txBody>
                    <a:bodyPr/>
                    <a:lstStyle/>
                    <a:p>
                      <a:pPr algn="ctr"/>
                      <a:r>
                        <a:rPr sz="900" b="0">
                          <a:latin typeface="Times New Roman"/>
                        </a:rPr>
                        <a:t>71</a:t>
                      </a:r>
                    </a:p>
                  </a:txBody>
                  <a:tcPr marL="36576" marR="36576" marT="18288" marB="18288">
                    <a:solidFill>
                      <a:srgbClr val="FFFFFF"/>
                    </a:solidFill>
                  </a:tcPr>
                </a:tc>
                <a:tc>
                  <a:txBody>
                    <a:bodyPr/>
                    <a:lstStyle/>
                    <a:p>
                      <a:pPr algn="ctr"/>
                      <a:r>
                        <a:rPr sz="900" b="0" dirty="0">
                          <a:latin typeface="Times New Roman"/>
                        </a:rPr>
                        <a:t>20</a:t>
                      </a:r>
                    </a:p>
                  </a:txBody>
                  <a:tcPr marL="36576" marR="36576" marT="18288" marB="18288">
                    <a:solidFill>
                      <a:srgbClr val="FFFFFF"/>
                    </a:solidFill>
                  </a:tcPr>
                </a:tc>
                <a:tc>
                  <a:txBody>
                    <a:bodyPr/>
                    <a:lstStyle/>
                    <a:p>
                      <a:pPr algn="ctr"/>
                      <a:r>
                        <a:rPr sz="900" b="0">
                          <a:latin typeface="Times New Roman"/>
                        </a:rPr>
                        <a:t>713</a:t>
                      </a:r>
                    </a:p>
                  </a:txBody>
                  <a:tcPr marL="36576" marR="36576" marT="18288" marB="18288">
                    <a:solidFill>
                      <a:srgbClr val="FFFFFF"/>
                    </a:solidFill>
                  </a:tcPr>
                </a:tc>
                <a:tc>
                  <a:txBody>
                    <a:bodyPr/>
                    <a:lstStyle/>
                    <a:p>
                      <a:pPr algn="ctr"/>
                      <a:r>
                        <a:rPr sz="900" b="0">
                          <a:latin typeface="Times New Roman"/>
                        </a:rPr>
                        <a:t>64</a:t>
                      </a:r>
                    </a:p>
                  </a:txBody>
                  <a:tcPr marL="36576" marR="36576" marT="18288" marB="18288">
                    <a:solidFill>
                      <a:srgbClr val="FFFFFF"/>
                    </a:solidFill>
                  </a:tcPr>
                </a:tc>
                <a:tc>
                  <a:txBody>
                    <a:bodyPr/>
                    <a:lstStyle/>
                    <a:p>
                      <a:pPr algn="ctr"/>
                      <a:r>
                        <a:rPr sz="900" b="0">
                          <a:latin typeface="Times New Roman"/>
                        </a:rPr>
                        <a:t>88</a:t>
                      </a:r>
                    </a:p>
                  </a:txBody>
                  <a:tcPr marL="36576" marR="36576" marT="18288" marB="18288">
                    <a:solidFill>
                      <a:srgbClr val="FFFFFF"/>
                    </a:solidFill>
                  </a:tcPr>
                </a:tc>
                <a:tc>
                  <a:txBody>
                    <a:bodyPr/>
                    <a:lstStyle/>
                    <a:p>
                      <a:pPr algn="ctr"/>
                      <a:r>
                        <a:rPr sz="900" b="0">
                          <a:latin typeface="Times New Roman"/>
                        </a:rPr>
                        <a:t>482</a:t>
                      </a:r>
                    </a:p>
                  </a:txBody>
                  <a:tcPr marL="36576" marR="36576" marT="18288" marB="18288">
                    <a:solidFill>
                      <a:srgbClr val="FFFFFF"/>
                    </a:solidFill>
                  </a:tcPr>
                </a:tc>
                <a:tc>
                  <a:txBody>
                    <a:bodyPr/>
                    <a:lstStyle/>
                    <a:p>
                      <a:pPr algn="ctr"/>
                      <a:r>
                        <a:rPr sz="900" b="0">
                          <a:latin typeface="Times New Roman"/>
                        </a:rPr>
                        <a:t>98</a:t>
                      </a:r>
                    </a:p>
                  </a:txBody>
                  <a:tcPr marL="36576" marR="36576" marT="18288" marB="18288">
                    <a:solidFill>
                      <a:srgbClr val="FFFFFF"/>
                    </a:solidFill>
                  </a:tcPr>
                </a:tc>
                <a:tc>
                  <a:txBody>
                    <a:bodyPr/>
                    <a:lstStyle/>
                    <a:p>
                      <a:pPr algn="ctr"/>
                      <a:r>
                        <a:rPr sz="900" b="0">
                          <a:latin typeface="Times New Roman"/>
                        </a:rPr>
                        <a:t>15</a:t>
                      </a:r>
                    </a:p>
                  </a:txBody>
                  <a:tcPr marL="36576" marR="36576" marT="18288" marB="18288">
                    <a:solidFill>
                      <a:srgbClr val="FFFFFF"/>
                    </a:solidFill>
                  </a:tcPr>
                </a:tc>
                <a:tc>
                  <a:txBody>
                    <a:bodyPr/>
                    <a:lstStyle/>
                    <a:p>
                      <a:pPr algn="ctr"/>
                      <a:r>
                        <a:rPr sz="900" b="0">
                          <a:latin typeface="Times New Roman"/>
                        </a:rPr>
                        <a:t>111</a:t>
                      </a:r>
                    </a:p>
                  </a:txBody>
                  <a:tcPr marL="36576" marR="36576" marT="18288" marB="18288">
                    <a:solidFill>
                      <a:srgbClr val="FFFFFF"/>
                    </a:solidFill>
                  </a:tcPr>
                </a:tc>
                <a:extLst>
                  <a:ext uri="{0D108BD9-81ED-4DB2-BD59-A6C34878D82A}">
                    <a16:rowId xmlns:a16="http://schemas.microsoft.com/office/drawing/2014/main" val="10002"/>
                  </a:ext>
                </a:extLst>
              </a:tr>
              <a:tr h="388620">
                <a:tc>
                  <a:txBody>
                    <a:bodyPr/>
                    <a:lstStyle/>
                    <a:p>
                      <a:pPr algn="l"/>
                      <a:r>
                        <a:rPr sz="900" b="0">
                          <a:latin typeface="Times New Roman"/>
                        </a:rPr>
                        <a:t>test</a:t>
                      </a:r>
                    </a:p>
                  </a:txBody>
                  <a:tcPr marL="36576" marR="36576" marT="18288" marB="18288">
                    <a:solidFill>
                      <a:srgbClr val="F7F3EC"/>
                    </a:solidFill>
                  </a:tcPr>
                </a:tc>
                <a:tc>
                  <a:txBody>
                    <a:bodyPr/>
                    <a:lstStyle/>
                    <a:p>
                      <a:pPr algn="ctr"/>
                      <a:r>
                        <a:rPr sz="900" b="0">
                          <a:latin typeface="Times New Roman"/>
                        </a:rPr>
                        <a:t>12</a:t>
                      </a:r>
                    </a:p>
                  </a:txBody>
                  <a:tcPr marL="36576" marR="36576" marT="18288" marB="18288">
                    <a:solidFill>
                      <a:srgbClr val="F7F3EC"/>
                    </a:solidFill>
                  </a:tcPr>
                </a:tc>
                <a:tc>
                  <a:txBody>
                    <a:bodyPr/>
                    <a:lstStyle/>
                    <a:p>
                      <a:pPr algn="ctr"/>
                      <a:r>
                        <a:rPr sz="900" b="0">
                          <a:latin typeface="Times New Roman"/>
                        </a:rPr>
                        <a:t>469</a:t>
                      </a:r>
                    </a:p>
                  </a:txBody>
                  <a:tcPr marL="36576" marR="36576" marT="18288" marB="18288">
                    <a:solidFill>
                      <a:srgbClr val="F7F3EC"/>
                    </a:solidFill>
                  </a:tcPr>
                </a:tc>
                <a:tc>
                  <a:txBody>
                    <a:bodyPr/>
                    <a:lstStyle/>
                    <a:p>
                      <a:pPr algn="ctr"/>
                      <a:r>
                        <a:rPr sz="900" b="0">
                          <a:latin typeface="Times New Roman"/>
                        </a:rPr>
                        <a:t>45</a:t>
                      </a:r>
                    </a:p>
                  </a:txBody>
                  <a:tcPr marL="36576" marR="36576" marT="18288" marB="18288">
                    <a:solidFill>
                      <a:srgbClr val="F7F3EC"/>
                    </a:solidFill>
                  </a:tcPr>
                </a:tc>
                <a:tc>
                  <a:txBody>
                    <a:bodyPr/>
                    <a:lstStyle/>
                    <a:p>
                      <a:pPr algn="ctr"/>
                      <a:r>
                        <a:rPr sz="900" b="0">
                          <a:latin typeface="Times New Roman"/>
                        </a:rPr>
                        <a:t>10</a:t>
                      </a:r>
                    </a:p>
                  </a:txBody>
                  <a:tcPr marL="36576" marR="36576" marT="18288" marB="18288">
                    <a:solidFill>
                      <a:srgbClr val="F7F3EC"/>
                    </a:solidFill>
                  </a:tcPr>
                </a:tc>
                <a:tc>
                  <a:txBody>
                    <a:bodyPr/>
                    <a:lstStyle/>
                    <a:p>
                      <a:pPr algn="ctr"/>
                      <a:r>
                        <a:rPr sz="900" b="0" dirty="0">
                          <a:latin typeface="Times New Roman"/>
                        </a:rPr>
                        <a:t>406</a:t>
                      </a:r>
                    </a:p>
                  </a:txBody>
                  <a:tcPr marL="36576" marR="36576" marT="18288" marB="18288">
                    <a:solidFill>
                      <a:srgbClr val="F7F3EC"/>
                    </a:solidFill>
                  </a:tcPr>
                </a:tc>
                <a:tc>
                  <a:txBody>
                    <a:bodyPr/>
                    <a:lstStyle/>
                    <a:p>
                      <a:pPr algn="ctr"/>
                      <a:r>
                        <a:rPr sz="900" b="0">
                          <a:latin typeface="Times New Roman"/>
                        </a:rPr>
                        <a:t>46</a:t>
                      </a:r>
                    </a:p>
                  </a:txBody>
                  <a:tcPr marL="36576" marR="36576" marT="18288" marB="18288">
                    <a:solidFill>
                      <a:srgbClr val="F7F3EC"/>
                    </a:solidFill>
                  </a:tcPr>
                </a:tc>
                <a:tc>
                  <a:txBody>
                    <a:bodyPr/>
                    <a:lstStyle/>
                    <a:p>
                      <a:pPr algn="ctr"/>
                      <a:r>
                        <a:rPr sz="900" b="0">
                          <a:latin typeface="Times New Roman"/>
                        </a:rPr>
                        <a:t>69</a:t>
                      </a:r>
                    </a:p>
                  </a:txBody>
                  <a:tcPr marL="36576" marR="36576" marT="18288" marB="18288">
                    <a:solidFill>
                      <a:srgbClr val="F7F3EC"/>
                    </a:solidFill>
                  </a:tcPr>
                </a:tc>
                <a:tc>
                  <a:txBody>
                    <a:bodyPr/>
                    <a:lstStyle/>
                    <a:p>
                      <a:pPr algn="ctr"/>
                      <a:r>
                        <a:rPr sz="900" b="0">
                          <a:latin typeface="Times New Roman"/>
                        </a:rPr>
                        <a:t>343</a:t>
                      </a:r>
                    </a:p>
                  </a:txBody>
                  <a:tcPr marL="36576" marR="36576" marT="18288" marB="18288">
                    <a:solidFill>
                      <a:srgbClr val="F7F3EC"/>
                    </a:solidFill>
                  </a:tcPr>
                </a:tc>
                <a:tc>
                  <a:txBody>
                    <a:bodyPr/>
                    <a:lstStyle/>
                    <a:p>
                      <a:pPr algn="ctr"/>
                      <a:r>
                        <a:rPr sz="900" b="0">
                          <a:latin typeface="Times New Roman"/>
                        </a:rPr>
                        <a:t>30</a:t>
                      </a:r>
                    </a:p>
                  </a:txBody>
                  <a:tcPr marL="36576" marR="36576" marT="18288" marB="18288">
                    <a:solidFill>
                      <a:srgbClr val="F7F3EC"/>
                    </a:solidFill>
                  </a:tcPr>
                </a:tc>
                <a:tc>
                  <a:txBody>
                    <a:bodyPr/>
                    <a:lstStyle/>
                    <a:p>
                      <a:pPr algn="ctr"/>
                      <a:r>
                        <a:rPr sz="900" b="0">
                          <a:latin typeface="Times New Roman"/>
                        </a:rPr>
                        <a:t>24</a:t>
                      </a:r>
                    </a:p>
                  </a:txBody>
                  <a:tcPr marL="36576" marR="36576" marT="18288" marB="18288">
                    <a:solidFill>
                      <a:srgbClr val="F7F3EC"/>
                    </a:solidFill>
                  </a:tcPr>
                </a:tc>
                <a:tc>
                  <a:txBody>
                    <a:bodyPr/>
                    <a:lstStyle/>
                    <a:p>
                      <a:pPr algn="ctr"/>
                      <a:r>
                        <a:rPr sz="900" b="0" dirty="0">
                          <a:latin typeface="Times New Roman"/>
                        </a:rPr>
                        <a:t>95</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27" name="TextBox 226"/>
          <p:cNvSpPr txBox="1"/>
          <p:nvPr/>
        </p:nvSpPr>
        <p:spPr>
          <a:xfrm>
            <a:off x="156419" y="3262215"/>
            <a:ext cx="8046720" cy="483850"/>
          </a:xfrm>
          <a:prstGeom prst="rect">
            <a:avLst/>
          </a:prstGeom>
          <a:noFill/>
        </p:spPr>
        <p:txBody>
          <a:bodyPr wrap="square">
            <a:spAutoFit/>
          </a:bodyPr>
          <a:lstStyle/>
          <a:p>
            <a:pPr marL="457200" lvl="0" indent="-330200" algn="l">
              <a:lnSpc>
                <a:spcPct val="110000"/>
              </a:lnSpc>
              <a:spcBef>
                <a:spcPts val="400"/>
              </a:spcBef>
              <a:spcAft>
                <a:spcPts val="0"/>
              </a:spcAft>
              <a:buSzPts val="1200"/>
              <a:buFont typeface="Times New Roman"/>
              <a:buChar char="●"/>
            </a:pPr>
            <a:r>
              <a:rPr lang="en-US" sz="900" dirty="0" err="1">
                <a:solidFill>
                  <a:schemeClr val="bg2">
                    <a:lumMod val="50000"/>
                  </a:schemeClr>
                </a:solidFill>
                <a:latin typeface="Times New Roman"/>
                <a:ea typeface="Times New Roman"/>
                <a:cs typeface="Times New Roman"/>
                <a:sym typeface="Times New Roman"/>
              </a:rPr>
              <a:t>Imbalance: Live_Knot 44%, Dead_Knot 32% of boxes; Knot_missing 1.3%. Final detector: the 4 most frequent classes (Live_Knot, Dead_Knot, Resin, Crack).</a:t>
            </a:r>
          </a:p>
        </p:txBody>
      </p:sp>
      <p:pic>
        <p:nvPicPr>
          <p:cNvPr id="4" name="Picture 3">
            <a:extLst>
              <a:ext uri="{FF2B5EF4-FFF2-40B4-BE49-F238E27FC236}">
                <a16:creationId xmlns:a16="http://schemas.microsoft.com/office/drawing/2014/main" id="{93F62130-D929-0387-BEA2-494A21E89F5B}"/>
              </a:ext>
            </a:extLst>
          </p:cNvPr>
          <p:cNvPicPr>
            <a:picLocks noChangeAspect="1"/>
          </p:cNvPicPr>
          <p:nvPr/>
        </p:nvPicPr>
        <p:blipFill>
          <a:blip r:embed="rId7"/>
          <a:stretch>
            <a:fillRect/>
          </a:stretch>
        </p:blipFill>
        <p:spPr>
          <a:xfrm>
            <a:off x="1067604" y="3745825"/>
            <a:ext cx="6224349" cy="3112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p:nvPr/>
        </p:nvSpPr>
        <p:spPr>
          <a:xfrm>
            <a:off x="414450" y="236383"/>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231" name="Google Shape;231;p2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12</a:t>
            </a:fld>
            <a:endParaRPr/>
          </a:p>
        </p:txBody>
      </p:sp>
      <p:pic>
        <p:nvPicPr>
          <p:cNvPr id="232" name="Google Shape;232;p2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33" name="Google Shape;233;p2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34" name="Google Shape;234;p2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35" name="Google Shape;235;p2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36" name="Google Shape;236;p2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37" name="Google Shape;237;p24"/>
          <p:cNvSpPr txBox="1"/>
          <p:nvPr/>
        </p:nvSpPr>
        <p:spPr>
          <a:xfrm>
            <a:off x="324156" y="839940"/>
            <a:ext cx="8217000" cy="4621738"/>
          </a:xfrm>
          <a:prstGeom prst="rect">
            <a:avLst/>
          </a:prstGeom>
          <a:noFill/>
          <a:ln>
            <a:noFill/>
          </a:ln>
        </p:spPr>
        <p:txBody>
          <a:bodyPr spcFirstLastPara="1" wrap="square" lIns="91425" tIns="45700" rIns="91425" bIns="45700" anchor="t" anchorCtr="0">
            <a:spAutoFit/>
          </a:bodyPr>
          <a:lstStyle/>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1. Data / input layer : </a:t>
            </a:r>
            <a:r>
              <a:rPr lang="en-US" sz="1300" dirty="0">
                <a:latin typeface="Times New Roman"/>
                <a:ea typeface="Times New Roman"/>
                <a:cs typeface="Times New Roman"/>
                <a:sym typeface="Times New Roman"/>
              </a:rPr>
              <a:t>board images, cleaned labels, board-level train / val / test sets; balanced 4-class training sets.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2. Input processing : </a:t>
            </a:r>
            <a:r>
              <a:rPr lang="en-US" sz="1300" dirty="0">
                <a:latin typeface="Times New Roman"/>
                <a:ea typeface="Times New Roman"/>
                <a:cs typeface="Times New Roman"/>
                <a:sym typeface="Times New Roman"/>
              </a:rPr>
              <a:t>rectangular 1024 / 1280-px input, grain-aware augmentation, copy-paste balancing; CLAHE, denoising and sharpening evaluated.</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3. Detection model : </a:t>
            </a:r>
            <a:r>
              <a:rPr lang="en-US" sz="1300" dirty="0">
                <a:latin typeface="Times New Roman"/>
                <a:ea typeface="Times New Roman"/>
                <a:cs typeface="Times New Roman"/>
                <a:sym typeface="Times New Roman"/>
              </a:rPr>
              <a:t>YOLO11m (20.0 M) and YOLO11s (9.4 M); Wise-IoU variant; weighted box fusion of detectors.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4. Defect analysis : </a:t>
            </a:r>
            <a:r>
              <a:rPr lang="en-US" sz="1300" dirty="0">
                <a:latin typeface="Times New Roman"/>
                <a:ea typeface="Times New Roman"/>
                <a:cs typeface="Times New Roman"/>
                <a:sym typeface="Times New Roman"/>
              </a:rPr>
              <a:t>class, position, size, confidence per defect; per-class counts and area.</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5. Recoverability estimation : </a:t>
            </a:r>
            <a:r>
              <a:rPr lang="en-US" sz="1300" dirty="0">
                <a:latin typeface="Times New Roman"/>
                <a:ea typeface="Times New Roman"/>
                <a:cs typeface="Times New Roman"/>
                <a:sym typeface="Times New Roman"/>
              </a:rPr>
              <a:t>Board Recoverability Index with a board mask; grade thresholds fitted on validation boards; weighted-kappa validation.</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6. Training and evaluation : </a:t>
            </a:r>
            <a:r>
              <a:rPr lang="en-US" sz="1300" dirty="0">
                <a:latin typeface="Times New Roman"/>
                <a:ea typeface="Times New Roman"/>
                <a:cs typeface="Times New Roman"/>
                <a:sym typeface="Times New Roman"/>
              </a:rPr>
              <a:t>P, R, F1, mAP50, mAP50-95, ms per image; single-shot test on 12 unseen boards; bootstrap and Wilcoxon tests.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7. Application : </a:t>
            </a:r>
            <a:r>
              <a:rPr lang="en-US" sz="1300" dirty="0">
                <a:latin typeface="Times New Roman"/>
                <a:ea typeface="Times New Roman"/>
                <a:cs typeface="Times New Roman"/>
                <a:sym typeface="Times New Roman"/>
              </a:rPr>
              <a:t>web interface with boxes, heatmap, grade, recoverable area, value estimate and JSON report.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5"/>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13</a:t>
            </a:fld>
            <a:endParaRPr/>
          </a:p>
        </p:txBody>
      </p:sp>
      <p:pic>
        <p:nvPicPr>
          <p:cNvPr id="243" name="Google Shape;243;p2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44" name="Google Shape;244;p2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45" name="Google Shape;245;p2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46" name="Google Shape;246;p2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47" name="Google Shape;247;p2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49" name="Google Shape;249;p25"/>
          <p:cNvSpPr txBox="1"/>
          <p:nvPr/>
        </p:nvSpPr>
        <p:spPr>
          <a:xfrm>
            <a:off x="135690" y="234748"/>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TRAINING CONFIGURATION</a:t>
            </a:r>
            <a:endParaRPr sz="1400" b="0" i="0" u="none" strike="noStrike" cap="none">
              <a:solidFill>
                <a:srgbClr val="000000"/>
              </a:solidFill>
              <a:latin typeface="Arial"/>
              <a:ea typeface="Arial"/>
              <a:cs typeface="Arial"/>
              <a:sym typeface="Arial"/>
            </a:endParaRPr>
          </a:p>
        </p:txBody>
      </p:sp>
      <p:graphicFrame>
        <p:nvGraphicFramePr>
          <p:cNvPr id="250" name="Table 249"/>
          <p:cNvGraphicFramePr>
            <a:graphicFrameLocks noGrp="1"/>
          </p:cNvGraphicFramePr>
          <p:nvPr/>
        </p:nvGraphicFramePr>
        <p:xfrm>
          <a:off x="274320" y="914400"/>
          <a:ext cx="7955280" cy="3291840"/>
        </p:xfrm>
        <a:graphic>
          <a:graphicData uri="http://schemas.openxmlformats.org/drawingml/2006/table">
            <a:tbl>
              <a:tblPr firstRow="1" bandRow="1">
                <a:tableStyleId>{5C22544A-7EE6-4342-B048-85BDC9FD1C3A}</a:tableStyleId>
              </a:tblPr>
              <a:tblGrid>
                <a:gridCol w="1909267">
                  <a:extLst>
                    <a:ext uri="{9D8B030D-6E8A-4147-A177-3AD203B41FA5}">
                      <a16:colId xmlns:a16="http://schemas.microsoft.com/office/drawing/2014/main" val="20000"/>
                    </a:ext>
                  </a:extLst>
                </a:gridCol>
                <a:gridCol w="6046012">
                  <a:extLst>
                    <a:ext uri="{9D8B030D-6E8A-4147-A177-3AD203B41FA5}">
                      <a16:colId xmlns:a16="http://schemas.microsoft.com/office/drawing/2014/main" val="20001"/>
                    </a:ext>
                  </a:extLst>
                </a:gridCol>
              </a:tblGrid>
              <a:tr h="365760">
                <a:tc>
                  <a:txBody>
                    <a:bodyPr/>
                    <a:lstStyle/>
                    <a:p>
                      <a:pPr algn="l"/>
                      <a:r>
                        <a:rPr sz="1050" b="1">
                          <a:solidFill>
                            <a:srgbClr val="FFFFFF"/>
                          </a:solidFill>
                          <a:latin typeface="Times New Roman"/>
                        </a:rPr>
                        <a:t>Setting</a:t>
                      </a:r>
                    </a:p>
                  </a:txBody>
                  <a:tcPr marL="36576" marR="36576" marT="18288" marB="18288">
                    <a:solidFill>
                      <a:srgbClr val="41534B"/>
                    </a:solidFill>
                  </a:tcPr>
                </a:tc>
                <a:tc>
                  <a:txBody>
                    <a:bodyPr/>
                    <a:lstStyle/>
                    <a:p>
                      <a:pPr algn="ctr"/>
                      <a:r>
                        <a:rPr sz="1050" b="1">
                          <a:solidFill>
                            <a:srgbClr val="FFFFFF"/>
                          </a:solidFill>
                          <a:latin typeface="Times New Roman"/>
                        </a:rPr>
                        <a:t>Value (identical across models unless stated)</a:t>
                      </a:r>
                    </a:p>
                  </a:txBody>
                  <a:tcPr marL="36576" marR="36576" marT="18288" marB="18288">
                    <a:solidFill>
                      <a:srgbClr val="41534B"/>
                    </a:solidFill>
                  </a:tcPr>
                </a:tc>
                <a:extLst>
                  <a:ext uri="{0D108BD9-81ED-4DB2-BD59-A6C34878D82A}">
                    <a16:rowId xmlns:a16="http://schemas.microsoft.com/office/drawing/2014/main" val="10000"/>
                  </a:ext>
                </a:extLst>
              </a:tr>
              <a:tr h="365760">
                <a:tc>
                  <a:txBody>
                    <a:bodyPr/>
                    <a:lstStyle/>
                    <a:p>
                      <a:pPr algn="l"/>
                      <a:r>
                        <a:rPr sz="1050" b="0">
                          <a:latin typeface="Times New Roman"/>
                        </a:rPr>
                        <a:t>Pretrained weights</a:t>
                      </a:r>
                    </a:p>
                  </a:txBody>
                  <a:tcPr marL="36576" marR="36576" marT="18288" marB="18288">
                    <a:solidFill>
                      <a:srgbClr val="F7F3EC"/>
                    </a:solidFill>
                  </a:tcPr>
                </a:tc>
                <a:tc>
                  <a:txBody>
                    <a:bodyPr/>
                    <a:lstStyle/>
                    <a:p>
                      <a:pPr algn="ctr"/>
                      <a:r>
                        <a:rPr sz="1050" b="0">
                          <a:latin typeface="Times New Roman"/>
                        </a:rPr>
                        <a:t>COCO yolo11m.pt (20.0 M params, 68 GFLOPs) / yolo11s.pt (9.4 M, 21 GFLOPs)</a:t>
                      </a:r>
                    </a:p>
                  </a:txBody>
                  <a:tcPr marL="36576" marR="36576" marT="18288" marB="18288">
                    <a:solidFill>
                      <a:srgbClr val="F7F3EC"/>
                    </a:solidFill>
                  </a:tcPr>
                </a:tc>
                <a:extLst>
                  <a:ext uri="{0D108BD9-81ED-4DB2-BD59-A6C34878D82A}">
                    <a16:rowId xmlns:a16="http://schemas.microsoft.com/office/drawing/2014/main" val="10001"/>
                  </a:ext>
                </a:extLst>
              </a:tr>
              <a:tr h="365760">
                <a:tc>
                  <a:txBody>
                    <a:bodyPr/>
                    <a:lstStyle/>
                    <a:p>
                      <a:pPr algn="l"/>
                      <a:r>
                        <a:rPr sz="1050" b="0">
                          <a:latin typeface="Times New Roman"/>
                        </a:rPr>
                        <a:t>Input</a:t>
                      </a:r>
                    </a:p>
                  </a:txBody>
                  <a:tcPr marL="36576" marR="36576" marT="18288" marB="18288">
                    <a:solidFill>
                      <a:srgbClr val="FFFFFF"/>
                    </a:solidFill>
                  </a:tcPr>
                </a:tc>
                <a:tc>
                  <a:txBody>
                    <a:bodyPr/>
                    <a:lstStyle/>
                    <a:p>
                      <a:pPr algn="ctr"/>
                      <a:r>
                        <a:rPr sz="1050" b="0">
                          <a:latin typeface="Times New Roman"/>
                        </a:rPr>
                        <a:t>imgsz 1024 rectangular (1024 x 384); high-resolution runs imgsz 1280 (1280 x 480)</a:t>
                      </a:r>
                    </a:p>
                  </a:txBody>
                  <a:tcPr marL="36576" marR="36576" marT="18288" marB="18288">
                    <a:solidFill>
                      <a:srgbClr val="FFFFFF"/>
                    </a:solidFill>
                  </a:tcPr>
                </a:tc>
                <a:extLst>
                  <a:ext uri="{0D108BD9-81ED-4DB2-BD59-A6C34878D82A}">
                    <a16:rowId xmlns:a16="http://schemas.microsoft.com/office/drawing/2014/main" val="10002"/>
                  </a:ext>
                </a:extLst>
              </a:tr>
              <a:tr h="365760">
                <a:tc>
                  <a:txBody>
                    <a:bodyPr/>
                    <a:lstStyle/>
                    <a:p>
                      <a:pPr algn="l"/>
                      <a:r>
                        <a:rPr sz="1050" b="0">
                          <a:latin typeface="Times New Roman"/>
                        </a:rPr>
                        <a:t>Optimiser / schedule</a:t>
                      </a:r>
                    </a:p>
                  </a:txBody>
                  <a:tcPr marL="36576" marR="36576" marT="18288" marB="18288">
                    <a:solidFill>
                      <a:srgbClr val="F7F3EC"/>
                    </a:solidFill>
                  </a:tcPr>
                </a:tc>
                <a:tc>
                  <a:txBody>
                    <a:bodyPr/>
                    <a:lstStyle/>
                    <a:p>
                      <a:pPr algn="ctr"/>
                      <a:r>
                        <a:rPr sz="1050" b="0">
                          <a:latin typeface="Times New Roman"/>
                        </a:rPr>
                        <a:t>AdamW, lr0 0.001, lrf 0.01, cosine, 3 warm-up epochs, weight decay 5e-4</a:t>
                      </a:r>
                    </a:p>
                  </a:txBody>
                  <a:tcPr marL="36576" marR="36576" marT="18288" marB="18288">
                    <a:solidFill>
                      <a:srgbClr val="F7F3EC"/>
                    </a:solidFill>
                  </a:tcPr>
                </a:tc>
                <a:extLst>
                  <a:ext uri="{0D108BD9-81ED-4DB2-BD59-A6C34878D82A}">
                    <a16:rowId xmlns:a16="http://schemas.microsoft.com/office/drawing/2014/main" val="10003"/>
                  </a:ext>
                </a:extLst>
              </a:tr>
              <a:tr h="365760">
                <a:tc>
                  <a:txBody>
                    <a:bodyPr/>
                    <a:lstStyle/>
                    <a:p>
                      <a:pPr algn="l"/>
                      <a:r>
                        <a:rPr sz="1050" b="0">
                          <a:latin typeface="Times New Roman"/>
                        </a:rPr>
                        <a:t>Batch / epochs / patience</a:t>
                      </a:r>
                    </a:p>
                  </a:txBody>
                  <a:tcPr marL="36576" marR="36576" marT="18288" marB="18288">
                    <a:solidFill>
                      <a:srgbClr val="FFFFFF"/>
                    </a:solidFill>
                  </a:tcPr>
                </a:tc>
                <a:tc>
                  <a:txBody>
                    <a:bodyPr/>
                    <a:lstStyle/>
                    <a:p>
                      <a:pPr algn="ctr"/>
                      <a:r>
                        <a:rPr sz="1050" b="0">
                          <a:latin typeface="Times New Roman"/>
                        </a:rPr>
                        <a:t>32 / 100 / 40 (early stopping on validation)</a:t>
                      </a:r>
                    </a:p>
                  </a:txBody>
                  <a:tcPr marL="36576" marR="36576" marT="18288" marB="18288">
                    <a:solidFill>
                      <a:srgbClr val="FFFFFF"/>
                    </a:solidFill>
                  </a:tcPr>
                </a:tc>
                <a:extLst>
                  <a:ext uri="{0D108BD9-81ED-4DB2-BD59-A6C34878D82A}">
                    <a16:rowId xmlns:a16="http://schemas.microsoft.com/office/drawing/2014/main" val="10004"/>
                  </a:ext>
                </a:extLst>
              </a:tr>
              <a:tr h="365760">
                <a:tc>
                  <a:txBody>
                    <a:bodyPr/>
                    <a:lstStyle/>
                    <a:p>
                      <a:pPr algn="l"/>
                      <a:r>
                        <a:rPr sz="1050" b="0">
                          <a:latin typeface="Times New Roman"/>
                        </a:rPr>
                        <a:t>Loss</a:t>
                      </a:r>
                    </a:p>
                  </a:txBody>
                  <a:tcPr marL="36576" marR="36576" marT="18288" marB="18288">
                    <a:solidFill>
                      <a:srgbClr val="F7F3EC"/>
                    </a:solidFill>
                  </a:tcPr>
                </a:tc>
                <a:tc>
                  <a:txBody>
                    <a:bodyPr/>
                    <a:lstStyle/>
                    <a:p>
                      <a:pPr algn="ctr"/>
                      <a:r>
                        <a:rPr sz="1050" b="0">
                          <a:latin typeface="Times New Roman"/>
                        </a:rPr>
                        <a:t>cls 1.0, box 7.5, dfl 1.5; box loss CIoU, or Wise-IoU v3 (alpha 1.9, delta 3)</a:t>
                      </a:r>
                    </a:p>
                  </a:txBody>
                  <a:tcPr marL="36576" marR="36576" marT="18288" marB="18288">
                    <a:solidFill>
                      <a:srgbClr val="F7F3EC"/>
                    </a:solidFill>
                  </a:tcPr>
                </a:tc>
                <a:extLst>
                  <a:ext uri="{0D108BD9-81ED-4DB2-BD59-A6C34878D82A}">
                    <a16:rowId xmlns:a16="http://schemas.microsoft.com/office/drawing/2014/main" val="10005"/>
                  </a:ext>
                </a:extLst>
              </a:tr>
              <a:tr h="365760">
                <a:tc>
                  <a:txBody>
                    <a:bodyPr/>
                    <a:lstStyle/>
                    <a:p>
                      <a:pPr algn="l"/>
                      <a:r>
                        <a:rPr sz="1050" b="0">
                          <a:latin typeface="Times New Roman"/>
                        </a:rPr>
                        <a:t>Augmentation</a:t>
                      </a:r>
                    </a:p>
                  </a:txBody>
                  <a:tcPr marL="36576" marR="36576" marT="18288" marB="18288">
                    <a:solidFill>
                      <a:srgbClr val="FFFFFF"/>
                    </a:solidFill>
                  </a:tcPr>
                </a:tc>
                <a:tc>
                  <a:txBody>
                    <a:bodyPr/>
                    <a:lstStyle/>
                    <a:p>
                      <a:pPr algn="ctr"/>
                      <a:r>
                        <a:rPr sz="1050" b="0">
                          <a:latin typeface="Times New Roman"/>
                        </a:rPr>
                        <a:t>hsv 0.01 / 0.3 / 0.2, translate 0.08, scale 0.3, fliplr 0.5, degrees 0, flipud 0, mosaic 0, erasing 0.05</a:t>
                      </a:r>
                    </a:p>
                  </a:txBody>
                  <a:tcPr marL="36576" marR="36576" marT="18288" marB="18288">
                    <a:solidFill>
                      <a:srgbClr val="FFFFFF"/>
                    </a:solidFill>
                  </a:tcPr>
                </a:tc>
                <a:extLst>
                  <a:ext uri="{0D108BD9-81ED-4DB2-BD59-A6C34878D82A}">
                    <a16:rowId xmlns:a16="http://schemas.microsoft.com/office/drawing/2014/main" val="10006"/>
                  </a:ext>
                </a:extLst>
              </a:tr>
              <a:tr h="365760">
                <a:tc>
                  <a:txBody>
                    <a:bodyPr/>
                    <a:lstStyle/>
                    <a:p>
                      <a:pPr algn="l"/>
                      <a:r>
                        <a:rPr sz="1050" b="0">
                          <a:latin typeface="Times New Roman"/>
                        </a:rPr>
                        <a:t>Class balancing (4-class)</a:t>
                      </a:r>
                    </a:p>
                  </a:txBody>
                  <a:tcPr marL="36576" marR="36576" marT="18288" marB="18288">
                    <a:solidFill>
                      <a:srgbClr val="F7F3EC"/>
                    </a:solidFill>
                  </a:tcPr>
                </a:tc>
                <a:tc>
                  <a:txBody>
                    <a:bodyPr/>
                    <a:lstStyle/>
                    <a:p>
                      <a:pPr algn="ctr"/>
                      <a:r>
                        <a:rPr sz="1050" b="0">
                          <a:latin typeface="Times New Roman"/>
                        </a:rPr>
                        <a:t>copy-paste of real crops; plain, full (1:1) or partial sqrt(n_c x n_max) (3:1)</a:t>
                      </a:r>
                    </a:p>
                  </a:txBody>
                  <a:tcPr marL="36576" marR="36576" marT="18288" marB="18288">
                    <a:solidFill>
                      <a:srgbClr val="F7F3EC"/>
                    </a:solidFill>
                  </a:tcPr>
                </a:tc>
                <a:extLst>
                  <a:ext uri="{0D108BD9-81ED-4DB2-BD59-A6C34878D82A}">
                    <a16:rowId xmlns:a16="http://schemas.microsoft.com/office/drawing/2014/main" val="10007"/>
                  </a:ext>
                </a:extLst>
              </a:tr>
              <a:tr h="365760">
                <a:tc>
                  <a:txBody>
                    <a:bodyPr/>
                    <a:lstStyle/>
                    <a:p>
                      <a:pPr algn="l"/>
                      <a:r>
                        <a:rPr sz="1050" b="0">
                          <a:latin typeface="Times New Roman"/>
                        </a:rPr>
                        <a:t>Reproducibility</a:t>
                      </a:r>
                    </a:p>
                  </a:txBody>
                  <a:tcPr marL="36576" marR="36576" marT="18288" marB="18288">
                    <a:solidFill>
                      <a:srgbClr val="FFFFFF"/>
                    </a:solidFill>
                  </a:tcPr>
                </a:tc>
                <a:tc>
                  <a:txBody>
                    <a:bodyPr/>
                    <a:lstStyle/>
                    <a:p>
                      <a:pPr algn="ctr"/>
                      <a:r>
                        <a:rPr sz="1050" b="0">
                          <a:latin typeface="Times New Roman"/>
                        </a:rPr>
                        <a:t>seed 42, deterministic; seeds 1 and 2 repeat the final setup</a:t>
                      </a:r>
                    </a:p>
                  </a:txBody>
                  <a:tcPr marL="36576" marR="36576" marT="18288" marB="18288">
                    <a:solidFill>
                      <a:srgbClr val="FFFFFF"/>
                    </a:solidFill>
                  </a:tcPr>
                </a:tc>
                <a:extLst>
                  <a:ext uri="{0D108BD9-81ED-4DB2-BD59-A6C34878D82A}">
                    <a16:rowId xmlns:a16="http://schemas.microsoft.com/office/drawing/2014/main" val="10008"/>
                  </a:ext>
                </a:extLst>
              </a:tr>
              <a:tr h="365760">
                <a:tc>
                  <a:txBody>
                    <a:bodyPr/>
                    <a:lstStyle/>
                    <a:p>
                      <a:pPr algn="l"/>
                      <a:r>
                        <a:rPr sz="1050" b="0">
                          <a:latin typeface="Times New Roman"/>
                        </a:rPr>
                        <a:t>Model selection / test</a:t>
                      </a:r>
                    </a:p>
                  </a:txBody>
                  <a:tcPr marL="36576" marR="36576" marT="18288" marB="18288">
                    <a:solidFill>
                      <a:srgbClr val="FFFFFF"/>
                    </a:solidFill>
                  </a:tcPr>
                </a:tc>
                <a:tc>
                  <a:txBody>
                    <a:bodyPr/>
                    <a:lstStyle/>
                    <a:p>
                      <a:pPr algn="ctr"/>
                      <a:r>
                        <a:rPr sz="1050" b="0">
                          <a:latin typeface="Times New Roman"/>
                        </a:rPr>
                        <a:t>best.pt by validation; each test model evaluated once (conf 0.001, NMS IoU 0.6)</a:t>
                      </a:r>
                    </a:p>
                  </a:txBody>
                  <a:tcPr marL="36576" marR="36576" marT="18288" marB="18288">
                    <a:solidFill>
                      <a:srgbClr val="FFFFFF"/>
                    </a:solidFill>
                  </a:tcPr>
                </a:tc>
                <a:extLst>
                  <a:ext uri="{0D108BD9-81ED-4DB2-BD59-A6C34878D82A}">
                    <a16:rowId xmlns:a16="http://schemas.microsoft.com/office/drawing/2014/main" val="10008"/>
                  </a:ext>
                </a:extLst>
              </a:tr>
            </a:tbl>
          </a:graphicData>
        </a:graphic>
      </p:graphicFrame>
      <p:sp>
        <p:nvSpPr>
          <p:cNvPr id="251" name="TextBox 250"/>
          <p:cNvSpPr txBox="1"/>
          <p:nvPr/>
        </p:nvSpPr>
        <p:spPr>
          <a:xfrm>
            <a:off x="274320" y="4434840"/>
            <a:ext cx="7955279" cy="1495409"/>
          </a:xfrm>
          <a:prstGeom prst="rect">
            <a:avLst/>
          </a:prstGeom>
          <a:noFill/>
        </p:spPr>
        <p:txBody>
          <a:bodyPr wrap="square">
            <a:spAutoFit/>
          </a:bodyPr>
          <a:lstStyle/>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Compute: </a:t>
            </a:r>
            <a:r>
              <a:rPr lang="en-US" sz="1200" dirty="0">
                <a:latin typeface="Times New Roman"/>
                <a:ea typeface="Times New Roman"/>
                <a:cs typeface="Times New Roman"/>
                <a:sym typeface="Times New Roman"/>
              </a:rPr>
              <a:t>Kaggle, one NVIDIA Tesla T4 (15 GB); about 1.4-2.4 GPU-hours per YOLO11s run, 2.6 per YOLO11m run.</a:t>
            </a:r>
          </a:p>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Software: </a:t>
            </a:r>
            <a:r>
              <a:rPr lang="en-US" sz="1200" dirty="0">
                <a:latin typeface="Times New Roman"/>
                <a:ea typeface="Times New Roman"/>
                <a:cs typeface="Times New Roman"/>
                <a:sym typeface="Times New Roman"/>
              </a:rPr>
              <a:t>Python 3.12, PyTorch 2.10, Ultralytics 8.4.142, OpenCV, Gradio. Scripts: prepare_dataset, build_balanced, train_yolo11m, train_wiou, evaluate, eval_capture, math_model, bri, bri_validate, enhance_study, app; decision log in NOTES.md.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14</a:t>
            </a:fld>
            <a:endParaRPr/>
          </a:p>
        </p:txBody>
      </p:sp>
      <p:sp>
        <p:nvSpPr>
          <p:cNvPr id="255" name="Google Shape;255;p26"/>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System design as implemented for the final review</a:t>
            </a:r>
            <a:endParaRPr sz="1400" b="0" i="0" u="none" strike="noStrike" cap="none">
              <a:solidFill>
                <a:srgbClr val="000000"/>
              </a:solidFill>
              <a:latin typeface="Arial"/>
              <a:ea typeface="Arial"/>
              <a:cs typeface="Arial"/>
              <a:sym typeface="Arial"/>
            </a:endParaRPr>
          </a:p>
        </p:txBody>
      </p:sp>
      <p:pic>
        <p:nvPicPr>
          <p:cNvPr id="257" name="Google Shape;257;p26"/>
          <p:cNvPicPr preferRelativeResize="0"/>
          <p:nvPr/>
        </p:nvPicPr>
        <p:blipFill rotWithShape="1">
          <a:blip r:embed="rId3">
            <a:alphaModFix/>
          </a:blip>
          <a:srcRect/>
          <a:stretch/>
        </p:blipFill>
        <p:spPr>
          <a:xfrm>
            <a:off x="8450861" y="6157980"/>
            <a:ext cx="680353" cy="703613"/>
          </a:xfrm>
          <a:prstGeom prst="rect">
            <a:avLst/>
          </a:prstGeom>
          <a:noFill/>
          <a:ln>
            <a:noFill/>
          </a:ln>
        </p:spPr>
      </p:pic>
      <p:sp>
        <p:nvSpPr>
          <p:cNvPr id="258" name="Google Shape;258;p2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59" name="Google Shape;259;p26"/>
          <p:cNvPicPr preferRelativeResize="0"/>
          <p:nvPr/>
        </p:nvPicPr>
        <p:blipFill rotWithShape="1">
          <a:blip r:embed="rId4">
            <a:alphaModFix/>
          </a:blip>
          <a:srcRect/>
          <a:stretch/>
        </p:blipFill>
        <p:spPr>
          <a:xfrm>
            <a:off x="8450861" y="1377538"/>
            <a:ext cx="677790" cy="1129400"/>
          </a:xfrm>
          <a:prstGeom prst="rect">
            <a:avLst/>
          </a:prstGeom>
          <a:noFill/>
          <a:ln>
            <a:noFill/>
          </a:ln>
        </p:spPr>
      </p:pic>
      <p:pic>
        <p:nvPicPr>
          <p:cNvPr id="260" name="Google Shape;260;p2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61" name="Google Shape;261;p26"/>
          <p:cNvPicPr preferRelativeResize="0"/>
          <p:nvPr/>
        </p:nvPicPr>
        <p:blipFill rotWithShape="1">
          <a:blip r:embed="rId6">
            <a:alphaModFix/>
          </a:blip>
          <a:srcRect/>
          <a:stretch/>
        </p:blipFill>
        <p:spPr>
          <a:xfrm>
            <a:off x="8450860" y="2542563"/>
            <a:ext cx="693139" cy="1233357"/>
          </a:xfrm>
          <a:prstGeom prst="rect">
            <a:avLst/>
          </a:prstGeom>
          <a:noFill/>
          <a:ln>
            <a:noFill/>
          </a:ln>
        </p:spPr>
      </p:pic>
      <p:pic>
        <p:nvPicPr>
          <p:cNvPr id="262" name="Picture 261" descr="system_design_final.png"/>
          <p:cNvPicPr>
            <a:picLocks noChangeAspect="1"/>
          </p:cNvPicPr>
          <p:nvPr/>
        </p:nvPicPr>
        <p:blipFill>
          <a:blip r:embed="rId8"/>
          <a:stretch>
            <a:fillRect/>
          </a:stretch>
        </p:blipFill>
        <p:spPr>
          <a:xfrm>
            <a:off x="984360" y="320040"/>
            <a:ext cx="6626639" cy="56692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RESULTS: TRAINING RUNS</a:t>
            </a:r>
            <a:endParaRPr sz="1400" b="0" i="0" u="none" strike="noStrike" cap="none">
              <a:solidFill>
                <a:srgbClr val="000000"/>
              </a:solidFill>
              <a:latin typeface="Arial"/>
              <a:ea typeface="Arial"/>
              <a:cs typeface="Arial"/>
              <a:sym typeface="Arial"/>
            </a:endParaRPr>
          </a:p>
        </p:txBody>
      </p:sp>
      <p:sp>
        <p:nvSpPr>
          <p:cNvPr id="267" name="Google Shape;267;p2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15</a:t>
            </a:fld>
            <a:endParaRPr/>
          </a:p>
        </p:txBody>
      </p:sp>
      <p:pic>
        <p:nvPicPr>
          <p:cNvPr id="268" name="Google Shape;268;p2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69" name="Google Shape;269;p2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70" name="Google Shape;270;p2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71" name="Google Shape;271;p2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72" name="Google Shape;272;p2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273" name="Table 272"/>
          <p:cNvGraphicFramePr>
            <a:graphicFrameLocks noGrp="1"/>
          </p:cNvGraphicFramePr>
          <p:nvPr/>
        </p:nvGraphicFramePr>
        <p:xfrm>
          <a:off x="228600" y="868680"/>
          <a:ext cx="7955279" cy="1335786"/>
        </p:xfrm>
        <a:graphic>
          <a:graphicData uri="http://schemas.openxmlformats.org/drawingml/2006/table">
            <a:tbl>
              <a:tblPr firstRow="1" bandRow="1">
                <a:tableStyleId>{5C22544A-7EE6-4342-B048-85BDC9FD1C3A}</a:tableStyleId>
              </a:tblPr>
              <a:tblGrid>
                <a:gridCol w="421870">
                  <a:extLst>
                    <a:ext uri="{9D8B030D-6E8A-4147-A177-3AD203B41FA5}">
                      <a16:colId xmlns:a16="http://schemas.microsoft.com/office/drawing/2014/main" val="20000"/>
                    </a:ext>
                  </a:extLst>
                </a:gridCol>
                <a:gridCol w="1205345">
                  <a:extLst>
                    <a:ext uri="{9D8B030D-6E8A-4147-A177-3AD203B41FA5}">
                      <a16:colId xmlns:a16="http://schemas.microsoft.com/office/drawing/2014/main" val="20001"/>
                    </a:ext>
                  </a:extLst>
                </a:gridCol>
                <a:gridCol w="2772294">
                  <a:extLst>
                    <a:ext uri="{9D8B030D-6E8A-4147-A177-3AD203B41FA5}">
                      <a16:colId xmlns:a16="http://schemas.microsoft.com/office/drawing/2014/main" val="20002"/>
                    </a:ext>
                  </a:extLst>
                </a:gridCol>
                <a:gridCol w="108481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gridCol w="843741">
                  <a:extLst>
                    <a:ext uri="{9D8B030D-6E8A-4147-A177-3AD203B41FA5}">
                      <a16:colId xmlns:a16="http://schemas.microsoft.com/office/drawing/2014/main" val="20005"/>
                    </a:ext>
                  </a:extLst>
                </a:gridCol>
                <a:gridCol w="964276">
                  <a:extLst>
                    <a:ext uri="{9D8B030D-6E8A-4147-A177-3AD203B41FA5}">
                      <a16:colId xmlns:a16="http://schemas.microsoft.com/office/drawing/2014/main" val="20006"/>
                    </a:ext>
                  </a:extLst>
                </a:gridCol>
              </a:tblGrid>
              <a:tr h="182880">
                <a:tc>
                  <a:txBody>
                    <a:bodyPr/>
                    <a:lstStyle/>
                    <a:p>
                      <a:pPr algn="l"/>
                      <a:r>
                        <a:rPr sz="800" b="1">
                          <a:solidFill>
                            <a:srgbClr val="FFFFFF"/>
                          </a:solidFill>
                          <a:latin typeface="Times New Roman"/>
                        </a:rPr>
                        <a:t>Run</a:t>
                      </a:r>
                    </a:p>
                  </a:txBody>
                  <a:tcPr marL="36576" marR="36576" marT="18288" marB="18288">
                    <a:solidFill>
                      <a:srgbClr val="41534B"/>
                    </a:solidFill>
                  </a:tcPr>
                </a:tc>
                <a:tc>
                  <a:txBody>
                    <a:bodyPr/>
                    <a:lstStyle/>
                    <a:p>
                      <a:pPr algn="ctr"/>
                      <a:r>
                        <a:rPr sz="800" b="1">
                          <a:solidFill>
                            <a:srgbClr val="FFFFFF"/>
                          </a:solidFill>
                          <a:latin typeface="Times New Roman"/>
                        </a:rPr>
                        <a:t>Model / data</a:t>
                      </a:r>
                    </a:p>
                  </a:txBody>
                  <a:tcPr marL="36576" marR="36576" marT="18288" marB="18288">
                    <a:solidFill>
                      <a:srgbClr val="41534B"/>
                    </a:solidFill>
                  </a:tcPr>
                </a:tc>
                <a:tc>
                  <a:txBody>
                    <a:bodyPr/>
                    <a:lstStyle/>
                    <a:p>
                      <a:pPr algn="ctr"/>
                      <a:r>
                        <a:rPr sz="800" b="1">
                          <a:solidFill>
                            <a:srgbClr val="FFFFFF"/>
                          </a:solidFill>
                          <a:latin typeface="Times New Roman"/>
                        </a:rPr>
                        <a:t>Settings</a:t>
                      </a:r>
                    </a:p>
                  </a:txBody>
                  <a:tcPr marL="36576" marR="36576" marT="18288" marB="18288">
                    <a:solidFill>
                      <a:srgbClr val="41534B"/>
                    </a:solidFill>
                  </a:tcPr>
                </a:tc>
                <a:tc>
                  <a:txBody>
                    <a:bodyPr/>
                    <a:lstStyle/>
                    <a:p>
                      <a:pPr algn="ctr"/>
                      <a:r>
                        <a:rPr sz="800" b="1">
                          <a:solidFill>
                            <a:srgbClr val="FFFFFF"/>
                          </a:solidFill>
                          <a:latin typeface="Times New Roman"/>
                        </a:rPr>
                        <a:t>Epochs / GPU h</a:t>
                      </a:r>
                    </a:p>
                  </a:txBody>
                  <a:tcPr marL="36576" marR="36576" marT="18288" marB="18288">
                    <a:solidFill>
                      <a:srgbClr val="41534B"/>
                    </a:solidFill>
                  </a:tcPr>
                </a:tc>
                <a:tc>
                  <a:txBody>
                    <a:bodyPr/>
                    <a:lstStyle/>
                    <a:p>
                      <a:pPr algn="ctr"/>
                      <a:r>
                        <a:rPr sz="800" b="1">
                          <a:solidFill>
                            <a:srgbClr val="FFFFFF"/>
                          </a:solidFill>
                          <a:latin typeface="Times New Roman"/>
                        </a:rPr>
                        <a:t>Best ep.</a:t>
                      </a:r>
                    </a:p>
                  </a:txBody>
                  <a:tcPr marL="36576" marR="36576" marT="18288" marB="18288">
                    <a:solidFill>
                      <a:srgbClr val="41534B"/>
                    </a:solidFill>
                  </a:tcPr>
                </a:tc>
                <a:tc>
                  <a:txBody>
                    <a:bodyPr/>
                    <a:lstStyle/>
                    <a:p>
                      <a:pPr algn="ctr"/>
                      <a:r>
                        <a:rPr sz="800" b="1">
                          <a:solidFill>
                            <a:srgbClr val="FFFFFF"/>
                          </a:solidFill>
                          <a:latin typeface="Times New Roman"/>
                        </a:rPr>
                        <a:t>Val mAP50</a:t>
                      </a:r>
                    </a:p>
                  </a:txBody>
                  <a:tcPr marL="36576" marR="36576" marT="18288" marB="18288">
                    <a:solidFill>
                      <a:srgbClr val="41534B"/>
                    </a:solidFill>
                  </a:tcPr>
                </a:tc>
                <a:tc>
                  <a:txBody>
                    <a:bodyPr/>
                    <a:lstStyle/>
                    <a:p>
                      <a:pPr algn="ctr"/>
                      <a:r>
                        <a:rPr sz="800" b="1">
                          <a:solidFill>
                            <a:srgbClr val="FFFFFF"/>
                          </a:solidFill>
                          <a:latin typeface="Times New Roman"/>
                        </a:rPr>
                        <a:t>Val mAP50-95</a:t>
                      </a:r>
                    </a:p>
                  </a:txBody>
                  <a:tcPr marL="36576" marR="36576" marT="18288" marB="18288">
                    <a:solidFill>
                      <a:srgbClr val="41534B"/>
                    </a:solidFill>
                  </a:tcPr>
                </a:tc>
                <a:extLst>
                  <a:ext uri="{0D108BD9-81ED-4DB2-BD59-A6C34878D82A}">
                    <a16:rowId xmlns:a16="http://schemas.microsoft.com/office/drawing/2014/main" val="10000"/>
                  </a:ext>
                </a:extLst>
              </a:tr>
              <a:tr h="182880">
                <a:tc>
                  <a:txBody>
                    <a:bodyPr/>
                    <a:lstStyle/>
                    <a:p>
                      <a:pPr algn="l"/>
                      <a:r>
                        <a:rPr sz="800" b="0">
                          <a:latin typeface="Times New Roman"/>
                        </a:rPr>
                        <a:t>1</a:t>
                      </a:r>
                    </a:p>
                  </a:txBody>
                  <a:tcPr marL="36576" marR="36576" marT="18288" marB="18288">
                    <a:solidFill>
                      <a:srgbClr val="F7F3EC"/>
                    </a:solidFill>
                  </a:tcPr>
                </a:tc>
                <a:tc>
                  <a:txBody>
                    <a:bodyPr/>
                    <a:lstStyle/>
                    <a:p>
                      <a:pPr algn="ctr"/>
                      <a:r>
                        <a:rPr sz="800" b="0">
                          <a:latin typeface="Times New Roman"/>
                        </a:rPr>
                        <a:t>YOLO11m, 8 cls</a:t>
                      </a:r>
                    </a:p>
                  </a:txBody>
                  <a:tcPr marL="36576" marR="36576" marT="18288" marB="18288">
                    <a:solidFill>
                      <a:srgbClr val="F7F3EC"/>
                    </a:solidFill>
                  </a:tcPr>
                </a:tc>
                <a:tc>
                  <a:txBody>
                    <a:bodyPr/>
                    <a:lstStyle/>
                    <a:p>
                      <a:pPr algn="ctr"/>
                      <a:r>
                        <a:rPr sz="800" b="0">
                          <a:latin typeface="Times New Roman"/>
                        </a:rPr>
                        <a:t>batch 16, lr0 0.002</a:t>
                      </a:r>
                    </a:p>
                  </a:txBody>
                  <a:tcPr marL="36576" marR="36576" marT="18288" marB="18288">
                    <a:solidFill>
                      <a:srgbClr val="F7F3EC"/>
                    </a:solidFill>
                  </a:tcPr>
                </a:tc>
                <a:tc>
                  <a:txBody>
                    <a:bodyPr/>
                    <a:lstStyle/>
                    <a:p>
                      <a:pPr algn="ctr"/>
                      <a:r>
                        <a:rPr sz="800" b="0">
                          <a:latin typeface="Times New Roman"/>
                        </a:rPr>
                        <a:t>89 / 2.54</a:t>
                      </a:r>
                    </a:p>
                  </a:txBody>
                  <a:tcPr marL="36576" marR="36576" marT="18288" marB="18288">
                    <a:solidFill>
                      <a:srgbClr val="F7F3EC"/>
                    </a:solidFill>
                  </a:tcPr>
                </a:tc>
                <a:tc>
                  <a:txBody>
                    <a:bodyPr/>
                    <a:lstStyle/>
                    <a:p>
                      <a:pPr algn="ctr"/>
                      <a:r>
                        <a:rPr sz="800" b="0">
                          <a:latin typeface="Times New Roman"/>
                        </a:rPr>
                        <a:t>64</a:t>
                      </a:r>
                    </a:p>
                  </a:txBody>
                  <a:tcPr marL="36576" marR="36576" marT="18288" marB="18288">
                    <a:solidFill>
                      <a:srgbClr val="F7F3EC"/>
                    </a:solidFill>
                  </a:tcPr>
                </a:tc>
                <a:tc>
                  <a:txBody>
                    <a:bodyPr/>
                    <a:lstStyle/>
                    <a:p>
                      <a:pPr algn="ctr"/>
                      <a:r>
                        <a:rPr sz="800" b="0">
                          <a:latin typeface="Times New Roman"/>
                        </a:rPr>
                        <a:t>62.6</a:t>
                      </a:r>
                    </a:p>
                  </a:txBody>
                  <a:tcPr marL="36576" marR="36576" marT="18288" marB="18288">
                    <a:solidFill>
                      <a:srgbClr val="F7F3EC"/>
                    </a:solidFill>
                  </a:tcPr>
                </a:tc>
                <a:tc>
                  <a:txBody>
                    <a:bodyPr/>
                    <a:lstStyle/>
                    <a:p>
                      <a:pPr algn="ctr"/>
                      <a:r>
                        <a:rPr sz="800" b="0">
                          <a:latin typeface="Times New Roman"/>
                        </a:rPr>
                        <a:t>33.7</a:t>
                      </a:r>
                    </a:p>
                  </a:txBody>
                  <a:tcPr marL="36576" marR="36576" marT="18288" marB="18288">
                    <a:solidFill>
                      <a:srgbClr val="F7F3EC"/>
                    </a:solidFill>
                  </a:tcPr>
                </a:tc>
                <a:extLst>
                  <a:ext uri="{0D108BD9-81ED-4DB2-BD59-A6C34878D82A}">
                    <a16:rowId xmlns:a16="http://schemas.microsoft.com/office/drawing/2014/main" val="10001"/>
                  </a:ext>
                </a:extLst>
              </a:tr>
              <a:tr h="182880">
                <a:tc>
                  <a:txBody>
                    <a:bodyPr/>
                    <a:lstStyle/>
                    <a:p>
                      <a:pPr algn="l"/>
                      <a:r>
                        <a:rPr sz="800" b="0">
                          <a:latin typeface="Times New Roman"/>
                        </a:rPr>
                        <a:t>2</a:t>
                      </a:r>
                    </a:p>
                  </a:txBody>
                  <a:tcPr marL="36576" marR="36576" marT="18288" marB="18288">
                    <a:solidFill>
                      <a:srgbClr val="FFFFFF"/>
                    </a:solidFill>
                  </a:tcPr>
                </a:tc>
                <a:tc>
                  <a:txBody>
                    <a:bodyPr/>
                    <a:lstStyle/>
                    <a:p>
                      <a:pPr algn="ctr"/>
                      <a:r>
                        <a:rPr sz="800" b="0">
                          <a:latin typeface="Times New Roman"/>
                        </a:rPr>
                        <a:t>YOLO11m, 8 cls</a:t>
                      </a:r>
                    </a:p>
                  </a:txBody>
                  <a:tcPr marL="36576" marR="36576" marT="18288" marB="18288">
                    <a:solidFill>
                      <a:srgbClr val="FFFFFF"/>
                    </a:solidFill>
                  </a:tcPr>
                </a:tc>
                <a:tc>
                  <a:txBody>
                    <a:bodyPr/>
                    <a:lstStyle/>
                    <a:p>
                      <a:pPr algn="ctr"/>
                      <a:r>
                        <a:rPr sz="800" b="0">
                          <a:latin typeface="Times New Roman"/>
                        </a:rPr>
                        <a:t>batch 32, lr0 0.001 (adopted)</a:t>
                      </a:r>
                    </a:p>
                  </a:txBody>
                  <a:tcPr marL="36576" marR="36576" marT="18288" marB="18288">
                    <a:solidFill>
                      <a:srgbClr val="FFFFFF"/>
                    </a:solidFill>
                  </a:tcPr>
                </a:tc>
                <a:tc>
                  <a:txBody>
                    <a:bodyPr/>
                    <a:lstStyle/>
                    <a:p>
                      <a:pPr algn="ctr"/>
                      <a:r>
                        <a:rPr sz="800" b="0">
                          <a:latin typeface="Times New Roman"/>
                        </a:rPr>
                        <a:t>100 / 2.64</a:t>
                      </a:r>
                    </a:p>
                  </a:txBody>
                  <a:tcPr marL="36576" marR="36576" marT="18288" marB="18288">
                    <a:solidFill>
                      <a:srgbClr val="FFFFFF"/>
                    </a:solidFill>
                  </a:tcPr>
                </a:tc>
                <a:tc>
                  <a:txBody>
                    <a:bodyPr/>
                    <a:lstStyle/>
                    <a:p>
                      <a:pPr algn="ctr"/>
                      <a:r>
                        <a:rPr sz="800" b="0">
                          <a:latin typeface="Times New Roman"/>
                        </a:rPr>
                        <a:t>73</a:t>
                      </a:r>
                    </a:p>
                  </a:txBody>
                  <a:tcPr marL="36576" marR="36576" marT="18288" marB="18288">
                    <a:solidFill>
                      <a:srgbClr val="FFFFFF"/>
                    </a:solidFill>
                  </a:tcPr>
                </a:tc>
                <a:tc>
                  <a:txBody>
                    <a:bodyPr/>
                    <a:lstStyle/>
                    <a:p>
                      <a:pPr algn="ctr"/>
                      <a:r>
                        <a:rPr sz="800" b="0">
                          <a:latin typeface="Times New Roman"/>
                        </a:rPr>
                        <a:t>65.7</a:t>
                      </a:r>
                    </a:p>
                  </a:txBody>
                  <a:tcPr marL="36576" marR="36576" marT="18288" marB="18288">
                    <a:solidFill>
                      <a:srgbClr val="FFFFFF"/>
                    </a:solidFill>
                  </a:tcPr>
                </a:tc>
                <a:tc>
                  <a:txBody>
                    <a:bodyPr/>
                    <a:lstStyle/>
                    <a:p>
                      <a:pPr algn="ctr"/>
                      <a:r>
                        <a:rPr sz="800" b="0">
                          <a:latin typeface="Times New Roman"/>
                        </a:rPr>
                        <a:t>36.2</a:t>
                      </a:r>
                    </a:p>
                  </a:txBody>
                  <a:tcPr marL="36576" marR="36576" marT="18288" marB="18288">
                    <a:solidFill>
                      <a:srgbClr val="FFFFFF"/>
                    </a:solidFill>
                  </a:tcPr>
                </a:tc>
                <a:extLst>
                  <a:ext uri="{0D108BD9-81ED-4DB2-BD59-A6C34878D82A}">
                    <a16:rowId xmlns:a16="http://schemas.microsoft.com/office/drawing/2014/main" val="10002"/>
                  </a:ext>
                </a:extLst>
              </a:tr>
              <a:tr h="182880">
                <a:tc>
                  <a:txBody>
                    <a:bodyPr/>
                    <a:lstStyle/>
                    <a:p>
                      <a:pPr algn="l"/>
                      <a:r>
                        <a:rPr sz="800" b="0">
                          <a:latin typeface="Times New Roman"/>
                        </a:rPr>
                        <a:t>3</a:t>
                      </a:r>
                    </a:p>
                  </a:txBody>
                  <a:tcPr marL="36576" marR="36576" marT="18288" marB="18288">
                    <a:solidFill>
                      <a:srgbClr val="F7F3EC"/>
                    </a:solidFill>
                  </a:tcPr>
                </a:tc>
                <a:tc>
                  <a:txBody>
                    <a:bodyPr/>
                    <a:lstStyle/>
                    <a:p>
                      <a:pPr algn="ctr"/>
                      <a:r>
                        <a:rPr sz="800" b="0">
                          <a:latin typeface="Times New Roman"/>
                        </a:rPr>
                        <a:t>YOLO11s, 8 cls</a:t>
                      </a:r>
                    </a:p>
                  </a:txBody>
                  <a:tcPr marL="36576" marR="36576" marT="18288" marB="18288">
                    <a:solidFill>
                      <a:srgbClr val="F7F3EC"/>
                    </a:solidFill>
                  </a:tcPr>
                </a:tc>
                <a:tc>
                  <a:txBody>
                    <a:bodyPr/>
                    <a:lstStyle/>
                    <a:p>
                      <a:pPr algn="ctr"/>
                      <a:r>
                        <a:rPr sz="800" b="0">
                          <a:latin typeface="Times New Roman"/>
                        </a:rPr>
                        <a:t>as run 2</a:t>
                      </a:r>
                    </a:p>
                  </a:txBody>
                  <a:tcPr marL="36576" marR="36576" marT="18288" marB="18288">
                    <a:solidFill>
                      <a:srgbClr val="F7F3EC"/>
                    </a:solidFill>
                  </a:tcPr>
                </a:tc>
                <a:tc>
                  <a:txBody>
                    <a:bodyPr/>
                    <a:lstStyle/>
                    <a:p>
                      <a:pPr algn="ctr"/>
                      <a:r>
                        <a:rPr sz="800" b="0">
                          <a:latin typeface="Times New Roman"/>
                        </a:rPr>
                        <a:t>90 / 1.43</a:t>
                      </a:r>
                    </a:p>
                  </a:txBody>
                  <a:tcPr marL="36576" marR="36576" marT="18288" marB="18288">
                    <a:solidFill>
                      <a:srgbClr val="F7F3EC"/>
                    </a:solidFill>
                  </a:tcPr>
                </a:tc>
                <a:tc>
                  <a:txBody>
                    <a:bodyPr/>
                    <a:lstStyle/>
                    <a:p>
                      <a:pPr algn="ctr"/>
                      <a:r>
                        <a:rPr sz="800" b="0">
                          <a:latin typeface="Times New Roman"/>
                        </a:rPr>
                        <a:t>50</a:t>
                      </a:r>
                    </a:p>
                  </a:txBody>
                  <a:tcPr marL="36576" marR="36576" marT="18288" marB="18288">
                    <a:solidFill>
                      <a:srgbClr val="F7F3EC"/>
                    </a:solidFill>
                  </a:tcPr>
                </a:tc>
                <a:tc>
                  <a:txBody>
                    <a:bodyPr/>
                    <a:lstStyle/>
                    <a:p>
                      <a:pPr algn="ctr"/>
                      <a:r>
                        <a:rPr sz="800" b="0">
                          <a:latin typeface="Times New Roman"/>
                        </a:rPr>
                        <a:t>65.3</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4a</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no balancing, 1024</a:t>
                      </a:r>
                    </a:p>
                  </a:txBody>
                  <a:tcPr marL="36576" marR="36576" marT="18288" marB="18288">
                    <a:solidFill>
                      <a:srgbClr val="F7F3EC"/>
                    </a:solidFill>
                  </a:tcPr>
                </a:tc>
                <a:tc>
                  <a:txBody>
                    <a:bodyPr/>
                    <a:lstStyle/>
                    <a:p>
                      <a:pPr algn="ctr"/>
                      <a:r>
                        <a:rPr sz="800" b="0">
                          <a:latin typeface="Times New Roman"/>
                        </a:rPr>
                        <a:t>91 / 1.43</a:t>
                      </a:r>
                    </a:p>
                  </a:txBody>
                  <a:tcPr marL="36576" marR="36576" marT="18288" marB="18288">
                    <a:solidFill>
                      <a:srgbClr val="F7F3EC"/>
                    </a:solidFill>
                  </a:tcPr>
                </a:tc>
                <a:tc>
                  <a:txBody>
                    <a:bodyPr/>
                    <a:lstStyle/>
                    <a:p>
                      <a:pPr algn="ctr"/>
                      <a:r>
                        <a:rPr sz="800" b="0">
                          <a:latin typeface="Times New Roman"/>
                        </a:rPr>
                        <a:t>51</a:t>
                      </a:r>
                    </a:p>
                  </a:txBody>
                  <a:tcPr marL="36576" marR="36576" marT="18288" marB="18288">
                    <a:solidFill>
                      <a:srgbClr val="F7F3EC"/>
                    </a:solidFill>
                  </a:tcPr>
                </a:tc>
                <a:tc>
                  <a:txBody>
                    <a:bodyPr/>
                    <a:lstStyle/>
                    <a:p>
                      <a:pPr algn="ctr"/>
                      <a:r>
                        <a:rPr sz="800" b="0">
                          <a:latin typeface="Times New Roman"/>
                        </a:rPr>
                        <a:t>73.1</a:t>
                      </a:r>
                    </a:p>
                  </a:txBody>
                  <a:tcPr marL="36576" marR="36576" marT="18288" marB="18288">
                    <a:solidFill>
                      <a:srgbClr val="F7F3EC"/>
                    </a:solidFill>
                  </a:tcPr>
                </a:tc>
                <a:tc>
                  <a:txBody>
                    <a:bodyPr/>
                    <a:lstStyle/>
                    <a:p>
                      <a:pPr algn="ctr"/>
                      <a:r>
                        <a:rPr sz="800" b="0">
                          <a:latin typeface="Times New Roman"/>
                        </a:rPr>
                        <a:t>35.4</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4b</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full balance 1:1, 1024</a:t>
                      </a:r>
                    </a:p>
                  </a:txBody>
                  <a:tcPr marL="36576" marR="36576" marT="18288" marB="18288">
                    <a:solidFill>
                      <a:srgbClr val="F7F3EC"/>
                    </a:solidFill>
                  </a:tcPr>
                </a:tc>
                <a:tc>
                  <a:txBody>
                    <a:bodyPr/>
                    <a:lstStyle/>
                    <a:p>
                      <a:pPr algn="ctr"/>
                      <a:r>
                        <a:rPr sz="800" b="0">
                          <a:latin typeface="Times New Roman"/>
                        </a:rPr>
                        <a:t>97 / 2.39</a:t>
                      </a:r>
                    </a:p>
                  </a:txBody>
                  <a:tcPr marL="36576" marR="36576" marT="18288" marB="18288">
                    <a:solidFill>
                      <a:srgbClr val="F7F3EC"/>
                    </a:solidFill>
                  </a:tcPr>
                </a:tc>
                <a:tc>
                  <a:txBody>
                    <a:bodyPr/>
                    <a:lstStyle/>
                    <a:p>
                      <a:pPr algn="ctr"/>
                      <a:r>
                        <a:rPr sz="800" b="0">
                          <a:latin typeface="Times New Roman"/>
                        </a:rPr>
                        <a:t>46</a:t>
                      </a:r>
                    </a:p>
                  </a:txBody>
                  <a:tcPr marL="36576" marR="36576" marT="18288" marB="18288">
                    <a:solidFill>
                      <a:srgbClr val="F7F3EC"/>
                    </a:solidFill>
                  </a:tcPr>
                </a:tc>
                <a:tc>
                  <a:txBody>
                    <a:bodyPr/>
                    <a:lstStyle/>
                    <a:p>
                      <a:pPr algn="ctr"/>
                      <a:r>
                        <a:rPr sz="800" b="0">
                          <a:latin typeface="Times New Roman"/>
                        </a:rPr>
                        <a:t>71.9</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4c</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partial balance 3:1, 1024 (final)</a:t>
                      </a:r>
                    </a:p>
                  </a:txBody>
                  <a:tcPr marL="36576" marR="36576" marT="18288" marB="18288">
                    <a:solidFill>
                      <a:srgbClr val="F7F3EC"/>
                    </a:solidFill>
                  </a:tcPr>
                </a:tc>
                <a:tc>
                  <a:txBody>
                    <a:bodyPr/>
                    <a:lstStyle/>
                    <a:p>
                      <a:pPr algn="ctr"/>
                      <a:r>
                        <a:rPr sz="800" b="0">
                          <a:latin typeface="Times New Roman"/>
                        </a:rPr>
                        <a:t>90 / 1.58</a:t>
                      </a:r>
                    </a:p>
                  </a:txBody>
                  <a:tcPr marL="36576" marR="36576" marT="18288" marB="18288">
                    <a:solidFill>
                      <a:srgbClr val="F7F3EC"/>
                    </a:solidFill>
                  </a:tcPr>
                </a:tc>
                <a:tc>
                  <a:txBody>
                    <a:bodyPr/>
                    <a:lstStyle/>
                    <a:p>
                      <a:pPr algn="ctr"/>
                      <a:r>
                        <a:rPr sz="800" b="0">
                          <a:latin typeface="Times New Roman"/>
                        </a:rPr>
                        <a:t>50</a:t>
                      </a:r>
                    </a:p>
                  </a:txBody>
                  <a:tcPr marL="36576" marR="36576" marT="18288" marB="18288">
                    <a:solidFill>
                      <a:srgbClr val="F7F3EC"/>
                    </a:solidFill>
                  </a:tcPr>
                </a:tc>
                <a:tc>
                  <a:txBody>
                    <a:bodyPr/>
                    <a:lstStyle/>
                    <a:p>
                      <a:pPr algn="ctr"/>
                      <a:r>
                        <a:rPr sz="800" b="0">
                          <a:latin typeface="Times New Roman"/>
                        </a:rPr>
                        <a:t>75.3</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5a</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partial balance, 1280</a:t>
                      </a:r>
                    </a:p>
                  </a:txBody>
                  <a:tcPr marL="36576" marR="36576" marT="18288" marB="18288">
                    <a:solidFill>
                      <a:srgbClr val="F7F3EC"/>
                    </a:solidFill>
                  </a:tcPr>
                </a:tc>
                <a:tc>
                  <a:txBody>
                    <a:bodyPr/>
                    <a:lstStyle/>
                    <a:p>
                      <a:pPr algn="ctr"/>
                      <a:r>
                        <a:rPr sz="800" b="0">
                          <a:latin typeface="Times New Roman"/>
                        </a:rPr>
                        <a:t>93 / 2.1</a:t>
                      </a:r>
                    </a:p>
                  </a:txBody>
                  <a:tcPr marL="36576" marR="36576" marT="18288" marB="18288">
                    <a:solidFill>
                      <a:srgbClr val="F7F3EC"/>
                    </a:solidFill>
                  </a:tcPr>
                </a:tc>
                <a:tc>
                  <a:txBody>
                    <a:bodyPr/>
                    <a:lstStyle/>
                    <a:p>
                      <a:pPr algn="ctr"/>
                      <a:r>
                        <a:rPr sz="800" b="0">
                          <a:latin typeface="Times New Roman"/>
                        </a:rPr>
                        <a:t>53</a:t>
                      </a:r>
                    </a:p>
                  </a:txBody>
                  <a:tcPr marL="36576" marR="36576" marT="18288" marB="18288">
                    <a:solidFill>
                      <a:srgbClr val="F7F3EC"/>
                    </a:solidFill>
                  </a:tcPr>
                </a:tc>
                <a:tc>
                  <a:txBody>
                    <a:bodyPr/>
                    <a:lstStyle/>
                    <a:p>
                      <a:pPr algn="ctr"/>
                      <a:r>
                        <a:rPr sz="800" b="0">
                          <a:latin typeface="Times New Roman"/>
                        </a:rPr>
                        <a:t>74.6</a:t>
                      </a:r>
                    </a:p>
                  </a:txBody>
                  <a:tcPr marL="36576" marR="36576" marT="18288" marB="18288">
                    <a:solidFill>
                      <a:srgbClr val="F7F3EC"/>
                    </a:solidFill>
                  </a:tcPr>
                </a:tc>
                <a:tc>
                  <a:txBody>
                    <a:bodyPr/>
                    <a:lstStyle/>
                    <a:p>
                      <a:pPr algn="ctr"/>
                      <a:r>
                        <a:rPr sz="800" b="0">
                          <a:latin typeface="Times New Roman"/>
                        </a:rPr>
                        <a:t>35.5</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5b</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no balancing, 1280</a:t>
                      </a:r>
                    </a:p>
                  </a:txBody>
                  <a:tcPr marL="36576" marR="36576" marT="18288" marB="18288">
                    <a:solidFill>
                      <a:srgbClr val="F7F3EC"/>
                    </a:solidFill>
                  </a:tcPr>
                </a:tc>
                <a:tc>
                  <a:txBody>
                    <a:bodyPr/>
                    <a:lstStyle/>
                    <a:p>
                      <a:pPr algn="ctr"/>
                      <a:r>
                        <a:rPr sz="800" b="0">
                          <a:latin typeface="Times New Roman"/>
                        </a:rPr>
                        <a:t>100 / 2.17</a:t>
                      </a:r>
                    </a:p>
                  </a:txBody>
                  <a:tcPr marL="36576" marR="36576" marT="18288" marB="18288">
                    <a:solidFill>
                      <a:srgbClr val="F7F3EC"/>
                    </a:solidFill>
                  </a:tcPr>
                </a:tc>
                <a:tc>
                  <a:txBody>
                    <a:bodyPr/>
                    <a:lstStyle/>
                    <a:p>
                      <a:pPr algn="ctr"/>
                      <a:r>
                        <a:rPr sz="800" b="0">
                          <a:latin typeface="Times New Roman"/>
                        </a:rPr>
                        <a:t>68</a:t>
                      </a:r>
                    </a:p>
                  </a:txBody>
                  <a:tcPr marL="36576" marR="36576" marT="18288" marB="18288">
                    <a:solidFill>
                      <a:srgbClr val="F7F3EC"/>
                    </a:solidFill>
                  </a:tcPr>
                </a:tc>
                <a:tc>
                  <a:txBody>
                    <a:bodyPr/>
                    <a:lstStyle/>
                    <a:p>
                      <a:pPr algn="ctr"/>
                      <a:r>
                        <a:rPr sz="800" b="0">
                          <a:latin typeface="Times New Roman"/>
                        </a:rPr>
                        <a:t>71.5</a:t>
                      </a:r>
                    </a:p>
                  </a:txBody>
                  <a:tcPr marL="36576" marR="36576" marT="18288" marB="18288">
                    <a:solidFill>
                      <a:srgbClr val="F7F3EC"/>
                    </a:solidFill>
                  </a:tcPr>
                </a:tc>
                <a:tc>
                  <a:txBody>
                    <a:bodyPr/>
                    <a:lstStyle/>
                    <a:p>
                      <a:pPr algn="ctr"/>
                      <a:r>
                        <a:rPr sz="800" b="0">
                          <a:latin typeface="Times New Roman"/>
                        </a:rPr>
                        <a:t>33.9</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Wise-IoU v3, final setup</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74.6</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seed 1, final setup</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74.8</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seed 2, final setup</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75.6</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75" name="TextBox 274"/>
          <p:cNvSpPr txBox="1"/>
          <p:nvPr/>
        </p:nvSpPr>
        <p:spPr>
          <a:xfrm>
            <a:off x="5303520" y="3703320"/>
            <a:ext cx="2834640" cy="22860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Runs 1-3: 8-class models (validation pass during training).</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Runs 4-6: 4-class models, validation by evaluate.py.</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Partial balance at 1024 px had the best validation mAP50 and is the final single model (rule fixed before training).</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1280 px and Wise-IoU did not improve validation mAP50; seeds 42 / 1 / 2 spread 0.8.</a:t>
            </a:r>
          </a:p>
        </p:txBody>
      </p:sp>
      <p:sp>
        <p:nvSpPr>
          <p:cNvPr id="276" name="TextBox 275"/>
          <p:cNvSpPr txBox="1"/>
          <p:nvPr/>
        </p:nvSpPr>
        <p:spPr>
          <a:xfrm>
            <a:off x="228600" y="6035040"/>
            <a:ext cx="512064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Fig. Training and validation curves, final model (run 4c)</a:t>
            </a:r>
          </a:p>
        </p:txBody>
      </p:sp>
      <p:pic>
        <p:nvPicPr>
          <p:cNvPr id="277" name="Picture 276" descr="results.png"/>
          <p:cNvPicPr>
            <a:picLocks noChangeAspect="1"/>
          </p:cNvPicPr>
          <p:nvPr/>
        </p:nvPicPr>
        <p:blipFill>
          <a:blip r:embed="rId8"/>
          <a:stretch>
            <a:fillRect/>
          </a:stretch>
        </p:blipFill>
        <p:spPr>
          <a:xfrm>
            <a:off x="365760" y="3657600"/>
            <a:ext cx="4663440" cy="2331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PLAN OF ACTION: COMPLETED</a:t>
            </a:r>
            <a:endParaRPr sz="1400" b="0" i="0" u="none" strike="noStrike" cap="none">
              <a:solidFill>
                <a:srgbClr val="000000"/>
              </a:solidFill>
              <a:latin typeface="Arial"/>
              <a:ea typeface="Arial"/>
              <a:cs typeface="Arial"/>
              <a:sym typeface="Arial"/>
            </a:endParaRPr>
          </a:p>
        </p:txBody>
      </p:sp>
      <p:sp>
        <p:nvSpPr>
          <p:cNvPr id="279" name="Google Shape;279;p2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16</a:t>
            </a:fld>
            <a:endParaRPr/>
          </a:p>
        </p:txBody>
      </p:sp>
      <p:pic>
        <p:nvPicPr>
          <p:cNvPr id="280" name="Google Shape;280;p2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81" name="Google Shape;281;p2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82" name="Google Shape;282;p2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83" name="Google Shape;283;p2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84" name="Google Shape;284;p2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85" name="Google Shape;285;p28"/>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287" name="TextBox 286"/>
          <p:cNvSpPr txBox="1"/>
          <p:nvPr/>
        </p:nvSpPr>
        <p:spPr>
          <a:xfrm>
            <a:off x="320040" y="5532120"/>
            <a:ext cx="7955279" cy="822960"/>
          </a:xfrm>
          <a:prstGeom prst="rect">
            <a:avLst/>
          </a:prstGeom>
          <a:noFill/>
        </p:spPr>
        <p:txBody>
          <a:bodyPr wrap="square">
            <a:spAutoFit/>
          </a:bodyPr>
          <a:lstStyle/>
          <a:p>
            <a:pPr marL="0" lvl="0" indent="0" algn="l">
              <a:lnSpc>
                <a:spcPct val="110000"/>
              </a:lnSpc>
              <a:spcBef>
                <a:spcPts val="400"/>
              </a:spcBef>
              <a:spcAft>
                <a:spcPts val="0"/>
              </a:spcAft>
              <a:buNone/>
            </a:pPr>
            <a:r>
              <a:rPr lang="en-US" sz="1200">
                <a:latin typeface="Times New Roman"/>
                <a:ea typeface="Times New Roman"/>
                <a:cs typeface="Times New Roman"/>
                <a:sym typeface="Times New Roman"/>
              </a:rPr>
              <a:t>All planned work is complete: dataset and preprocessing, defect detection, the mathematical model and accuracy experiments, recoverability estimation and market value, evaluation, application and report.</a:t>
            </a:r>
          </a:p>
        </p:txBody>
      </p:sp>
      <p:pic>
        <p:nvPicPr>
          <p:cNvPr id="288" name="Picture 287" descr="plan_of_action_final.png"/>
          <p:cNvPicPr>
            <a:picLocks noChangeAspect="1"/>
          </p:cNvPicPr>
          <p:nvPr/>
        </p:nvPicPr>
        <p:blipFill>
          <a:blip r:embed="rId8"/>
          <a:stretch>
            <a:fillRect/>
          </a:stretch>
        </p:blipFill>
        <p:spPr>
          <a:xfrm>
            <a:off x="182880" y="1588883"/>
            <a:ext cx="7955279" cy="26743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RESULTS: HELD-OUT TEST</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2553546">
                  <a:extLst>
                    <a:ext uri="{9D8B030D-6E8A-4147-A177-3AD203B41FA5}">
                      <a16:colId xmlns:a16="http://schemas.microsoft.com/office/drawing/2014/main" val="20000"/>
                    </a:ext>
                  </a:extLst>
                </a:gridCol>
                <a:gridCol w="589280">
                  <a:extLst>
                    <a:ext uri="{9D8B030D-6E8A-4147-A177-3AD203B41FA5}">
                      <a16:colId xmlns:a16="http://schemas.microsoft.com/office/drawing/2014/main" val="20001"/>
                    </a:ext>
                  </a:extLst>
                </a:gridCol>
                <a:gridCol w="589280">
                  <a:extLst>
                    <a:ext uri="{9D8B030D-6E8A-4147-A177-3AD203B41FA5}">
                      <a16:colId xmlns:a16="http://schemas.microsoft.com/office/drawing/2014/main" val="20002"/>
                    </a:ext>
                  </a:extLst>
                </a:gridCol>
                <a:gridCol w="589280">
                  <a:extLst>
                    <a:ext uri="{9D8B030D-6E8A-4147-A177-3AD203B41FA5}">
                      <a16:colId xmlns:a16="http://schemas.microsoft.com/office/drawing/2014/main" val="20003"/>
                    </a:ext>
                  </a:extLst>
                </a:gridCol>
                <a:gridCol w="589280">
                  <a:extLst>
                    <a:ext uri="{9D8B030D-6E8A-4147-A177-3AD203B41FA5}">
                      <a16:colId xmlns:a16="http://schemas.microsoft.com/office/drawing/2014/main" val="20004"/>
                    </a:ext>
                  </a:extLst>
                </a:gridCol>
                <a:gridCol w="687493">
                  <a:extLst>
                    <a:ext uri="{9D8B030D-6E8A-4147-A177-3AD203B41FA5}">
                      <a16:colId xmlns:a16="http://schemas.microsoft.com/office/drawing/2014/main" val="20005"/>
                    </a:ext>
                  </a:extLst>
                </a:gridCol>
                <a:gridCol w="785706">
                  <a:extLst>
                    <a:ext uri="{9D8B030D-6E8A-4147-A177-3AD203B41FA5}">
                      <a16:colId xmlns:a16="http://schemas.microsoft.com/office/drawing/2014/main" val="20006"/>
                    </a:ext>
                  </a:extLst>
                </a:gridCol>
                <a:gridCol w="883920">
                  <a:extLst>
                    <a:ext uri="{9D8B030D-6E8A-4147-A177-3AD203B41FA5}">
                      <a16:colId xmlns:a16="http://schemas.microsoft.com/office/drawing/2014/main" val="20007"/>
                    </a:ext>
                  </a:extLst>
                </a:gridCol>
                <a:gridCol w="687493">
                  <a:extLst>
                    <a:ext uri="{9D8B030D-6E8A-4147-A177-3AD203B41FA5}">
                      <a16:colId xmlns:a16="http://schemas.microsoft.com/office/drawing/2014/main" val="20008"/>
                    </a:ext>
                  </a:extLst>
                </a:gridCol>
              </a:tblGrid>
              <a:tr h="219456">
                <a:tc>
                  <a:txBody>
                    <a:bodyPr/>
                    <a:lstStyle/>
                    <a:p>
                      <a:pPr algn="l"/>
                      <a:r>
                        <a:rPr sz="850" b="1" dirty="0">
                          <a:solidFill>
                            <a:srgbClr val="FFFFFF"/>
                          </a:solidFill>
                          <a:latin typeface="Times New Roman"/>
                        </a:rPr>
                        <a:t>Model</a:t>
                      </a:r>
                    </a:p>
                  </a:txBody>
                  <a:tcPr marL="36576" marR="36576" marT="18288" marB="18288">
                    <a:solidFill>
                      <a:srgbClr val="41534B"/>
                    </a:solidFill>
                  </a:tcPr>
                </a:tc>
                <a:tc>
                  <a:txBody>
                    <a:bodyPr/>
                    <a:lstStyle/>
                    <a:p>
                      <a:pPr algn="ctr"/>
                      <a:r>
                        <a:rPr sz="850" b="1">
                          <a:solidFill>
                            <a:srgbClr val="FFFFFF"/>
                          </a:solidFill>
                          <a:latin typeface="Times New Roman"/>
                        </a:rPr>
                        <a:t>Classes</a:t>
                      </a:r>
                    </a:p>
                  </a:txBody>
                  <a:tcPr marL="36576" marR="36576" marT="18288" marB="18288">
                    <a:solidFill>
                      <a:srgbClr val="41534B"/>
                    </a:solidFill>
                  </a:tcPr>
                </a:tc>
                <a:tc>
                  <a:txBody>
                    <a:bodyPr/>
                    <a:lstStyle/>
                    <a:p>
                      <a:pPr algn="ctr"/>
                      <a:r>
                        <a:rPr sz="850" b="1">
                          <a:solidFill>
                            <a:srgbClr val="FFFFFF"/>
                          </a:solidFill>
                          <a:latin typeface="Times New Roman"/>
                        </a:rPr>
                        <a:t>P</a:t>
                      </a:r>
                    </a:p>
                  </a:txBody>
                  <a:tcPr marL="36576" marR="36576" marT="18288" marB="18288">
                    <a:solidFill>
                      <a:srgbClr val="41534B"/>
                    </a:solidFill>
                  </a:tcPr>
                </a:tc>
                <a:tc>
                  <a:txBody>
                    <a:bodyPr/>
                    <a:lstStyle/>
                    <a:p>
                      <a:pPr algn="ctr"/>
                      <a:r>
                        <a:rPr sz="850" b="1">
                          <a:solidFill>
                            <a:srgbClr val="FFFFFF"/>
                          </a:solidFill>
                          <a:latin typeface="Times New Roman"/>
                        </a:rPr>
                        <a:t>R</a:t>
                      </a:r>
                    </a:p>
                  </a:txBody>
                  <a:tcPr marL="36576" marR="36576" marT="18288" marB="18288">
                    <a:solidFill>
                      <a:srgbClr val="41534B"/>
                    </a:solidFill>
                  </a:tcPr>
                </a:tc>
                <a:tc>
                  <a:txBody>
                    <a:bodyPr/>
                    <a:lstStyle/>
                    <a:p>
                      <a:pPr algn="ctr"/>
                      <a:r>
                        <a:rPr sz="850" b="1">
                          <a:solidFill>
                            <a:srgbClr val="FFFFFF"/>
                          </a:solidFill>
                          <a:latin typeface="Times New Roman"/>
                        </a:rPr>
                        <a:t>F1</a:t>
                      </a:r>
                    </a:p>
                  </a:txBody>
                  <a:tcPr marL="36576" marR="36576" marT="18288" marB="18288">
                    <a:solidFill>
                      <a:srgbClr val="41534B"/>
                    </a:solidFill>
                  </a:tcPr>
                </a:tc>
                <a:tc>
                  <a:txBody>
                    <a:bodyPr/>
                    <a:lstStyle/>
                    <a:p>
                      <a:pPr algn="ctr"/>
                      <a:r>
                        <a:rPr sz="850" b="1">
                          <a:solidFill>
                            <a:srgbClr val="FFFFFF"/>
                          </a:solidFill>
                          <a:latin typeface="Times New Roman"/>
                        </a:rPr>
                        <a:t>mAP50</a:t>
                      </a:r>
                    </a:p>
                  </a:txBody>
                  <a:tcPr marL="36576" marR="36576" marT="18288" marB="18288">
                    <a:solidFill>
                      <a:srgbClr val="41534B"/>
                    </a:solidFill>
                  </a:tcPr>
                </a:tc>
                <a:tc>
                  <a:txBody>
                    <a:bodyPr/>
                    <a:lstStyle/>
                    <a:p>
                      <a:pPr algn="ctr"/>
                      <a:r>
                        <a:rPr sz="850" b="1">
                          <a:solidFill>
                            <a:srgbClr val="FFFFFF"/>
                          </a:solidFill>
                          <a:latin typeface="Times New Roman"/>
                        </a:rPr>
                        <a:t>mAP50-95</a:t>
                      </a:r>
                    </a:p>
                  </a:txBody>
                  <a:tcPr marL="36576" marR="36576" marT="18288" marB="18288">
                    <a:solidFill>
                      <a:srgbClr val="41534B"/>
                    </a:solidFill>
                  </a:tcPr>
                </a:tc>
                <a:tc>
                  <a:txBody>
                    <a:bodyPr/>
                    <a:lstStyle/>
                    <a:p>
                      <a:pPr algn="ctr"/>
                      <a:r>
                        <a:rPr sz="850" b="1">
                          <a:solidFill>
                            <a:srgbClr val="FFFFFF"/>
                          </a:solidFill>
                          <a:latin typeface="Times New Roman"/>
                        </a:rPr>
                        <a:t>ms / img (T4)</a:t>
                      </a:r>
                    </a:p>
                  </a:txBody>
                  <a:tcPr marL="36576" marR="36576" marT="18288" marB="18288">
                    <a:solidFill>
                      <a:srgbClr val="41534B"/>
                    </a:solidFill>
                  </a:tcPr>
                </a:tc>
                <a:tc>
                  <a:txBody>
                    <a:bodyPr/>
                    <a:lstStyle/>
                    <a:p>
                      <a:pPr algn="ctr"/>
                      <a:r>
                        <a:rPr sz="850" b="1">
                          <a:solidFill>
                            <a:srgbClr val="FFFFFF"/>
                          </a:solidFill>
                          <a:latin typeface="Times New Roman"/>
                        </a:rPr>
                        <a:t>Params</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dirty="0">
                          <a:latin typeface="Times New Roman"/>
                        </a:rPr>
                        <a:t>YOLO11m</a:t>
                      </a:r>
                    </a:p>
                  </a:txBody>
                  <a:tcPr marL="36576" marR="36576" marT="18288" marB="18288">
                    <a:solidFill>
                      <a:srgbClr val="F7F3EC"/>
                    </a:solidFill>
                  </a:tcPr>
                </a:tc>
                <a:tc>
                  <a:txBody>
                    <a:bodyPr/>
                    <a:lstStyle/>
                    <a:p>
                      <a:pPr algn="ctr"/>
                      <a:r>
                        <a:rPr sz="850" b="0">
                          <a:latin typeface="Times New Roman"/>
                        </a:rPr>
                        <a:t>8</a:t>
                      </a:r>
                    </a:p>
                  </a:txBody>
                  <a:tcPr marL="36576" marR="36576" marT="18288" marB="18288">
                    <a:solidFill>
                      <a:srgbClr val="F7F3EC"/>
                    </a:solidFill>
                  </a:tcPr>
                </a:tc>
                <a:tc>
                  <a:txBody>
                    <a:bodyPr/>
                    <a:lstStyle/>
                    <a:p>
                      <a:pPr algn="ctr"/>
                      <a:r>
                        <a:rPr sz="850" b="0">
                          <a:latin typeface="Times New Roman"/>
                        </a:rPr>
                        <a:t>63.4</a:t>
                      </a:r>
                    </a:p>
                  </a:txBody>
                  <a:tcPr marL="36576" marR="36576" marT="18288" marB="18288">
                    <a:solidFill>
                      <a:srgbClr val="F7F3EC"/>
                    </a:solidFill>
                  </a:tcPr>
                </a:tc>
                <a:tc>
                  <a:txBody>
                    <a:bodyPr/>
                    <a:lstStyle/>
                    <a:p>
                      <a:pPr algn="ctr"/>
                      <a:r>
                        <a:rPr sz="850" b="0">
                          <a:latin typeface="Times New Roman"/>
                        </a:rPr>
                        <a:t>66.2</a:t>
                      </a:r>
                    </a:p>
                  </a:txBody>
                  <a:tcPr marL="36576" marR="36576" marT="18288" marB="18288">
                    <a:solidFill>
                      <a:srgbClr val="F7F3EC"/>
                    </a:solidFill>
                  </a:tcPr>
                </a:tc>
                <a:tc>
                  <a:txBody>
                    <a:bodyPr/>
                    <a:lstStyle/>
                    <a:p>
                      <a:pPr algn="ctr"/>
                      <a:r>
                        <a:rPr sz="850" b="0">
                          <a:latin typeface="Times New Roman"/>
                        </a:rPr>
                        <a:t>64.7</a:t>
                      </a:r>
                    </a:p>
                  </a:txBody>
                  <a:tcPr marL="36576" marR="36576" marT="18288" marB="18288">
                    <a:solidFill>
                      <a:srgbClr val="F7F3EC"/>
                    </a:solidFill>
                  </a:tcPr>
                </a:tc>
                <a:tc>
                  <a:txBody>
                    <a:bodyPr/>
                    <a:lstStyle/>
                    <a:p>
                      <a:pPr algn="ctr"/>
                      <a:r>
                        <a:rPr sz="850" b="0">
                          <a:latin typeface="Times New Roman"/>
                        </a:rPr>
                        <a:t>63.0</a:t>
                      </a:r>
                    </a:p>
                  </a:txBody>
                  <a:tcPr marL="36576" marR="36576" marT="18288" marB="18288">
                    <a:solidFill>
                      <a:srgbClr val="F7F3EC"/>
                    </a:solidFill>
                  </a:tcPr>
                </a:tc>
                <a:tc>
                  <a:txBody>
                    <a:bodyPr/>
                    <a:lstStyle/>
                    <a:p>
                      <a:pPr algn="ctr"/>
                      <a:r>
                        <a:rPr sz="850" b="0">
                          <a:latin typeface="Times New Roman"/>
                        </a:rPr>
                        <a:t>34.0</a:t>
                      </a:r>
                    </a:p>
                  </a:txBody>
                  <a:tcPr marL="36576" marR="36576" marT="18288" marB="18288">
                    <a:solidFill>
                      <a:srgbClr val="F7F3EC"/>
                    </a:solidFill>
                  </a:tcPr>
                </a:tc>
                <a:tc>
                  <a:txBody>
                    <a:bodyPr/>
                    <a:lstStyle/>
                    <a:p>
                      <a:pPr algn="ctr"/>
                      <a:r>
                        <a:rPr sz="850" b="0">
                          <a:latin typeface="Times New Roman"/>
                        </a:rPr>
                        <a:t>33.2</a:t>
                      </a:r>
                    </a:p>
                  </a:txBody>
                  <a:tcPr marL="36576" marR="36576" marT="18288" marB="18288">
                    <a:solidFill>
                      <a:srgbClr val="F7F3EC"/>
                    </a:solidFill>
                  </a:tcPr>
                </a:tc>
                <a:tc>
                  <a:txBody>
                    <a:bodyPr/>
                    <a:lstStyle/>
                    <a:p>
                      <a:pPr algn="ctr"/>
                      <a:r>
                        <a:rPr sz="850" b="0">
                          <a:latin typeface="Times New Roman"/>
                        </a:rPr>
                        <a:t>20.0 M</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dirty="0">
                          <a:latin typeface="Times New Roman"/>
                        </a:rPr>
                        <a:t>YOLO11s</a:t>
                      </a:r>
                    </a:p>
                  </a:txBody>
                  <a:tcPr marL="36576" marR="36576" marT="18288" marB="18288">
                    <a:solidFill>
                      <a:srgbClr val="FFFFFF"/>
                    </a:solidFill>
                  </a:tcPr>
                </a:tc>
                <a:tc>
                  <a:txBody>
                    <a:bodyPr/>
                    <a:lstStyle/>
                    <a:p>
                      <a:pPr algn="ctr"/>
                      <a:r>
                        <a:rPr sz="850" b="0">
                          <a:latin typeface="Times New Roman"/>
                        </a:rPr>
                        <a:t>8</a:t>
                      </a:r>
                    </a:p>
                  </a:txBody>
                  <a:tcPr marL="36576" marR="36576" marT="18288" marB="18288">
                    <a:solidFill>
                      <a:srgbClr val="FFFFFF"/>
                    </a:solidFill>
                  </a:tcPr>
                </a:tc>
                <a:tc>
                  <a:txBody>
                    <a:bodyPr/>
                    <a:lstStyle/>
                    <a:p>
                      <a:pPr algn="ctr"/>
                      <a:r>
                        <a:rPr sz="850" b="0">
                          <a:latin typeface="Times New Roman"/>
                        </a:rPr>
                        <a:t>71.0</a:t>
                      </a:r>
                    </a:p>
                  </a:txBody>
                  <a:tcPr marL="36576" marR="36576" marT="18288" marB="18288">
                    <a:solidFill>
                      <a:srgbClr val="FFFFFF"/>
                    </a:solidFill>
                  </a:tcPr>
                </a:tc>
                <a:tc>
                  <a:txBody>
                    <a:bodyPr/>
                    <a:lstStyle/>
                    <a:p>
                      <a:pPr algn="ctr"/>
                      <a:r>
                        <a:rPr sz="850" b="0">
                          <a:latin typeface="Times New Roman"/>
                        </a:rPr>
                        <a:t>64.1</a:t>
                      </a:r>
                    </a:p>
                  </a:txBody>
                  <a:tcPr marL="36576" marR="36576" marT="18288" marB="18288">
                    <a:solidFill>
                      <a:srgbClr val="FFFFFF"/>
                    </a:solidFill>
                  </a:tcPr>
                </a:tc>
                <a:tc>
                  <a:txBody>
                    <a:bodyPr/>
                    <a:lstStyle/>
                    <a:p>
                      <a:pPr algn="ctr"/>
                      <a:r>
                        <a:rPr sz="850" b="0">
                          <a:latin typeface="Times New Roman"/>
                        </a:rPr>
                        <a:t>67.4</a:t>
                      </a:r>
                    </a:p>
                  </a:txBody>
                  <a:tcPr marL="36576" marR="36576" marT="18288" marB="18288">
                    <a:solidFill>
                      <a:srgbClr val="FFFFFF"/>
                    </a:solidFill>
                  </a:tcPr>
                </a:tc>
                <a:tc>
                  <a:txBody>
                    <a:bodyPr/>
                    <a:lstStyle/>
                    <a:p>
                      <a:pPr algn="ctr"/>
                      <a:r>
                        <a:rPr sz="850" b="0">
                          <a:latin typeface="Times New Roman"/>
                        </a:rPr>
                        <a:t>64.6</a:t>
                      </a:r>
                    </a:p>
                  </a:txBody>
                  <a:tcPr marL="36576" marR="36576" marT="18288" marB="18288">
                    <a:solidFill>
                      <a:srgbClr val="FFFFFF"/>
                    </a:solidFill>
                  </a:tcPr>
                </a:tc>
                <a:tc>
                  <a:txBody>
                    <a:bodyPr/>
                    <a:lstStyle/>
                    <a:p>
                      <a:pPr algn="ctr"/>
                      <a:r>
                        <a:rPr sz="850" b="0">
                          <a:latin typeface="Times New Roman"/>
                        </a:rPr>
                        <a:t>33.4</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Fusion (WBF) YOLO11m + YOLO11s</a:t>
                      </a:r>
                    </a:p>
                  </a:txBody>
                  <a:tcPr marL="36576" marR="36576" marT="18288" marB="18288">
                    <a:solidFill>
                      <a:srgbClr val="FFFFFF"/>
                    </a:solidFill>
                  </a:tcPr>
                </a:tc>
                <a:tc>
                  <a:txBody>
                    <a:bodyPr/>
                    <a:lstStyle/>
                    <a:p>
                      <a:pPr algn="ctr"/>
                      <a:r>
                        <a:rPr sz="850" b="0">
                          <a:latin typeface="Times New Roman"/>
                        </a:rPr>
                        <a:t>8</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65.7</a:t>
                      </a:r>
                    </a:p>
                  </a:txBody>
                  <a:tcPr marL="36576" marR="36576" marT="18288" marB="18288">
                    <a:solidFill>
                      <a:srgbClr val="FFFFFF"/>
                    </a:solidFill>
                  </a:tcPr>
                </a:tc>
                <a:tc>
                  <a:txBody>
                    <a:bodyPr/>
                    <a:lstStyle/>
                    <a:p>
                      <a:pPr algn="ctr"/>
                      <a:r>
                        <a:rPr sz="850" b="0">
                          <a:latin typeface="Times New Roman"/>
                        </a:rPr>
                        <a:t>36.1</a:t>
                      </a:r>
                    </a:p>
                  </a:txBody>
                  <a:tcPr marL="36576" marR="36576" marT="18288" marB="18288">
                    <a:solidFill>
                      <a:srgbClr val="FFFFFF"/>
                    </a:solidFill>
                  </a:tcPr>
                </a:tc>
                <a:tc>
                  <a:txBody>
                    <a:bodyPr/>
                    <a:lstStyle/>
                    <a:p>
                      <a:pPr algn="ctr"/>
                      <a:r>
                        <a:rPr sz="850" b="0">
                          <a:latin typeface="Times New Roman"/>
                        </a:rPr>
                        <a:t>44.9</a:t>
                      </a:r>
                    </a:p>
                  </a:txBody>
                  <a:tcPr marL="36576" marR="36576" marT="18288" marB="18288">
                    <a:solidFill>
                      <a:srgbClr val="FFFFFF"/>
                    </a:solidFill>
                  </a:tcPr>
                </a:tc>
                <a:tc>
                  <a:txBody>
                    <a:bodyPr/>
                    <a:lstStyle/>
                    <a:p>
                      <a:pPr algn="ctr"/>
                      <a:r>
                        <a:rPr sz="850" b="0" dirty="0">
                          <a:latin typeface="Times New Roman"/>
                        </a:rPr>
                        <a:t>29.4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no balancing</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76.7</a:t>
                      </a:r>
                    </a:p>
                  </a:txBody>
                  <a:tcPr marL="36576" marR="36576" marT="18288" marB="18288">
                    <a:solidFill>
                      <a:srgbClr val="FFFFFF"/>
                    </a:solidFill>
                  </a:tcPr>
                </a:tc>
                <a:tc>
                  <a:txBody>
                    <a:bodyPr/>
                    <a:lstStyle/>
                    <a:p>
                      <a:pPr algn="ctr"/>
                      <a:r>
                        <a:rPr sz="850" b="0">
                          <a:latin typeface="Times New Roman"/>
                        </a:rPr>
                        <a:t>70.0</a:t>
                      </a:r>
                    </a:p>
                  </a:txBody>
                  <a:tcPr marL="36576" marR="36576" marT="18288" marB="18288">
                    <a:solidFill>
                      <a:srgbClr val="FFFFFF"/>
                    </a:solidFill>
                  </a:tcPr>
                </a:tc>
                <a:tc>
                  <a:txBody>
                    <a:bodyPr/>
                    <a:lstStyle/>
                    <a:p>
                      <a:pPr algn="ctr"/>
                      <a:r>
                        <a:rPr sz="850" b="0">
                          <a:latin typeface="Times New Roman"/>
                        </a:rPr>
                        <a:t>73.2</a:t>
                      </a:r>
                    </a:p>
                  </a:txBody>
                  <a:tcPr marL="36576" marR="36576" marT="18288" marB="18288">
                    <a:solidFill>
                      <a:srgbClr val="FFFFFF"/>
                    </a:solidFill>
                  </a:tcPr>
                </a:tc>
                <a:tc>
                  <a:txBody>
                    <a:bodyPr/>
                    <a:lstStyle/>
                    <a:p>
                      <a:pPr algn="ctr"/>
                      <a:r>
                        <a:rPr sz="850" b="0">
                          <a:latin typeface="Times New Roman"/>
                        </a:rPr>
                        <a:t>71.7</a:t>
                      </a:r>
                    </a:p>
                  </a:txBody>
                  <a:tcPr marL="36576" marR="36576" marT="18288" marB="18288">
                    <a:solidFill>
                      <a:srgbClr val="FFFFFF"/>
                    </a:solidFill>
                  </a:tcPr>
                </a:tc>
                <a:tc>
                  <a:txBody>
                    <a:bodyPr/>
                    <a:lstStyle/>
                    <a:p>
                      <a:pPr algn="ctr"/>
                      <a:r>
                        <a:rPr sz="850" b="0">
                          <a:latin typeface="Times New Roman"/>
                        </a:rPr>
                        <a:t>33.4</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partial balance (final)</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74.8</a:t>
                      </a:r>
                    </a:p>
                  </a:txBody>
                  <a:tcPr marL="36576" marR="36576" marT="18288" marB="18288">
                    <a:solidFill>
                      <a:srgbClr val="FFFFFF"/>
                    </a:solidFill>
                  </a:tcPr>
                </a:tc>
                <a:tc>
                  <a:txBody>
                    <a:bodyPr/>
                    <a:lstStyle/>
                    <a:p>
                      <a:pPr algn="ctr"/>
                      <a:r>
                        <a:rPr sz="850" b="0">
                          <a:latin typeface="Times New Roman"/>
                        </a:rPr>
                        <a:t>69.4</a:t>
                      </a:r>
                    </a:p>
                  </a:txBody>
                  <a:tcPr marL="36576" marR="36576" marT="18288" marB="18288">
                    <a:solidFill>
                      <a:srgbClr val="FFFFFF"/>
                    </a:solidFill>
                  </a:tcPr>
                </a:tc>
                <a:tc>
                  <a:txBody>
                    <a:bodyPr/>
                    <a:lstStyle/>
                    <a:p>
                      <a:pPr algn="ctr"/>
                      <a:r>
                        <a:rPr sz="850" b="0">
                          <a:latin typeface="Times New Roman"/>
                        </a:rPr>
                        <a:t>72.0</a:t>
                      </a:r>
                    </a:p>
                  </a:txBody>
                  <a:tcPr marL="36576" marR="36576" marT="18288" marB="18288">
                    <a:solidFill>
                      <a:srgbClr val="FFFFFF"/>
                    </a:solidFill>
                  </a:tcPr>
                </a:tc>
                <a:tc>
                  <a:txBody>
                    <a:bodyPr/>
                    <a:lstStyle/>
                    <a:p>
                      <a:pPr algn="ctr"/>
                      <a:r>
                        <a:rPr sz="850" b="0">
                          <a:latin typeface="Times New Roman"/>
                        </a:rPr>
                        <a:t>69.2</a:t>
                      </a:r>
                    </a:p>
                  </a:txBody>
                  <a:tcPr marL="36576" marR="36576" marT="18288" marB="18288">
                    <a:solidFill>
                      <a:srgbClr val="FFFFFF"/>
                    </a:solidFill>
                  </a:tcPr>
                </a:tc>
                <a:tc>
                  <a:txBody>
                    <a:bodyPr/>
                    <a:lstStyle/>
                    <a:p>
                      <a:pPr algn="ctr"/>
                      <a:r>
                        <a:rPr sz="850" b="0">
                          <a:latin typeface="Times New Roman"/>
                        </a:rPr>
                        <a:t>33.1</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partial balance, 1280 px</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78.0</a:t>
                      </a:r>
                    </a:p>
                  </a:txBody>
                  <a:tcPr marL="36576" marR="36576" marT="18288" marB="18288">
                    <a:solidFill>
                      <a:srgbClr val="FFFFFF"/>
                    </a:solidFill>
                  </a:tcPr>
                </a:tc>
                <a:tc>
                  <a:txBody>
                    <a:bodyPr/>
                    <a:lstStyle/>
                    <a:p>
                      <a:pPr algn="ctr"/>
                      <a:r>
                        <a:rPr sz="850" b="0">
                          <a:latin typeface="Times New Roman"/>
                        </a:rPr>
                        <a:t>67.9</a:t>
                      </a:r>
                    </a:p>
                  </a:txBody>
                  <a:tcPr marL="36576" marR="36576" marT="18288" marB="18288">
                    <a:solidFill>
                      <a:srgbClr val="FFFFFF"/>
                    </a:solidFill>
                  </a:tcPr>
                </a:tc>
                <a:tc>
                  <a:txBody>
                    <a:bodyPr/>
                    <a:lstStyle/>
                    <a:p>
                      <a:pPr algn="ctr"/>
                      <a:r>
                        <a:rPr sz="850" b="0">
                          <a:latin typeface="Times New Roman"/>
                        </a:rPr>
                        <a:t>72.6</a:t>
                      </a:r>
                    </a:p>
                  </a:txBody>
                  <a:tcPr marL="36576" marR="36576" marT="18288" marB="18288">
                    <a:solidFill>
                      <a:srgbClr val="FFFFFF"/>
                    </a:solidFill>
                  </a:tcPr>
                </a:tc>
                <a:tc>
                  <a:txBody>
                    <a:bodyPr/>
                    <a:lstStyle/>
                    <a:p>
                      <a:pPr algn="ctr"/>
                      <a:r>
                        <a:rPr sz="850" b="0">
                          <a:latin typeface="Times New Roman"/>
                        </a:rPr>
                        <a:t>71.6</a:t>
                      </a:r>
                    </a:p>
                  </a:txBody>
                  <a:tcPr marL="36576" marR="36576" marT="18288" marB="18288">
                    <a:solidFill>
                      <a:srgbClr val="FFFFFF"/>
                    </a:solidFill>
                  </a:tcPr>
                </a:tc>
                <a:tc>
                  <a:txBody>
                    <a:bodyPr/>
                    <a:lstStyle/>
                    <a:p>
                      <a:pPr algn="ctr"/>
                      <a:r>
                        <a:rPr sz="850" b="0">
                          <a:latin typeface="Times New Roman"/>
                        </a:rPr>
                        <a:t>34.3</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Fusion (WBF) of four 4-class models (deployed)</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74.7</a:t>
                      </a:r>
                    </a:p>
                  </a:txBody>
                  <a:tcPr marL="36576" marR="36576" marT="18288" marB="18288">
                    <a:solidFill>
                      <a:srgbClr val="FFFFFF"/>
                    </a:solidFill>
                  </a:tcPr>
                </a:tc>
                <a:tc>
                  <a:txBody>
                    <a:bodyPr/>
                    <a:lstStyle/>
                    <a:p>
                      <a:pPr algn="ctr"/>
                      <a:r>
                        <a:rPr sz="850" b="0">
                          <a:latin typeface="Times New Roman"/>
                        </a:rPr>
                        <a:t>36.7</a:t>
                      </a:r>
                    </a:p>
                  </a:txBody>
                  <a:tcPr marL="36576" marR="36576" marT="18288" marB="18288">
                    <a:solidFill>
                      <a:srgbClr val="FFFFFF"/>
                    </a:solidFill>
                  </a:tcPr>
                </a:tc>
                <a:tc>
                  <a:txBody>
                    <a:bodyPr/>
                    <a:lstStyle/>
                    <a:p>
                      <a:pPr algn="ctr"/>
                      <a:r>
                        <a:rPr sz="850" b="0">
                          <a:latin typeface="Times New Roman"/>
                        </a:rPr>
                        <a:t>~60</a:t>
                      </a:r>
                    </a:p>
                  </a:txBody>
                  <a:tcPr marL="36576" marR="36576" marT="18288" marB="18288">
                    <a:solidFill>
                      <a:srgbClr val="FFFFFF"/>
                    </a:solidFill>
                  </a:tcPr>
                </a:tc>
                <a:tc>
                  <a:txBody>
                    <a:bodyPr/>
                    <a:lstStyle/>
                    <a:p>
                      <a:pPr algn="ctr"/>
                      <a:r>
                        <a:rPr sz="850" b="0" dirty="0">
                          <a:latin typeface="Times New Roman"/>
                        </a:rPr>
                        <a:t>37.7 M</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761488"/>
          <a:ext cx="8202894" cy="3108960"/>
        </p:xfrm>
        <a:graphic>
          <a:graphicData uri="http://schemas.openxmlformats.org/drawingml/2006/table">
            <a:tbl>
              <a:tblPr firstRow="1" bandRow="1">
                <a:tableStyleId>{5C22544A-7EE6-4342-B048-85BDC9FD1C3A}</a:tableStyleId>
              </a:tblPr>
              <a:tblGrid>
                <a:gridCol w="1662748">
                  <a:extLst>
                    <a:ext uri="{9D8B030D-6E8A-4147-A177-3AD203B41FA5}">
                      <a16:colId xmlns:a16="http://schemas.microsoft.com/office/drawing/2014/main" val="20000"/>
                    </a:ext>
                  </a:extLst>
                </a:gridCol>
                <a:gridCol w="886799">
                  <a:extLst>
                    <a:ext uri="{9D8B030D-6E8A-4147-A177-3AD203B41FA5}">
                      <a16:colId xmlns:a16="http://schemas.microsoft.com/office/drawing/2014/main" val="20001"/>
                    </a:ext>
                  </a:extLst>
                </a:gridCol>
                <a:gridCol w="1219349">
                  <a:extLst>
                    <a:ext uri="{9D8B030D-6E8A-4147-A177-3AD203B41FA5}">
                      <a16:colId xmlns:a16="http://schemas.microsoft.com/office/drawing/2014/main" val="20002"/>
                    </a:ext>
                  </a:extLst>
                </a:gridCol>
                <a:gridCol w="1773598">
                  <a:extLst>
                    <a:ext uri="{9D8B030D-6E8A-4147-A177-3AD203B41FA5}">
                      <a16:colId xmlns:a16="http://schemas.microsoft.com/office/drawing/2014/main" val="20003"/>
                    </a:ext>
                  </a:extLst>
                </a:gridCol>
                <a:gridCol w="1108499">
                  <a:extLst>
                    <a:ext uri="{9D8B030D-6E8A-4147-A177-3AD203B41FA5}">
                      <a16:colId xmlns:a16="http://schemas.microsoft.com/office/drawing/2014/main" val="20004"/>
                    </a:ext>
                  </a:extLst>
                </a:gridCol>
                <a:gridCol w="1551898">
                  <a:extLst>
                    <a:ext uri="{9D8B030D-6E8A-4147-A177-3AD203B41FA5}">
                      <a16:colId xmlns:a16="http://schemas.microsoft.com/office/drawing/2014/main" val="20005"/>
                    </a:ext>
                  </a:extLst>
                </a:gridCol>
              </a:tblGrid>
              <a:tr h="219456">
                <a:tc>
                  <a:txBody>
                    <a:bodyPr/>
                    <a:lstStyle/>
                    <a:p>
                      <a:pPr algn="l"/>
                      <a:r>
                        <a:rPr sz="850" b="1" dirty="0">
                          <a:solidFill>
                            <a:srgbClr val="FFFFFF"/>
                          </a:solidFill>
                          <a:latin typeface="Times New Roman"/>
                        </a:rPr>
                        <a:t>Class (test mAP50)</a:t>
                      </a:r>
                    </a:p>
                  </a:txBody>
                  <a:tcPr marL="36576" marR="36576" marT="18288" marB="18288">
                    <a:solidFill>
                      <a:srgbClr val="41534B"/>
                    </a:solidFill>
                  </a:tcPr>
                </a:tc>
                <a:tc>
                  <a:txBody>
                    <a:bodyPr/>
                    <a:lstStyle/>
                    <a:p>
                      <a:pPr algn="ctr"/>
                      <a:r>
                        <a:rPr sz="850" b="1">
                          <a:solidFill>
                            <a:srgbClr val="FFFFFF"/>
                          </a:solidFill>
                          <a:latin typeface="Times New Roman"/>
                        </a:rPr>
                        <a:t>Test boxes</a:t>
                      </a:r>
                    </a:p>
                  </a:txBody>
                  <a:tcPr marL="36576" marR="36576" marT="18288" marB="18288">
                    <a:solidFill>
                      <a:srgbClr val="41534B"/>
                    </a:solidFill>
                  </a:tcPr>
                </a:tc>
                <a:tc>
                  <a:txBody>
                    <a:bodyPr/>
                    <a:lstStyle/>
                    <a:p>
                      <a:pPr algn="ctr"/>
                      <a:r>
                        <a:rPr sz="850" b="1">
                          <a:solidFill>
                            <a:srgbClr val="FFFFFF"/>
                          </a:solidFill>
                          <a:latin typeface="Times New Roman"/>
                        </a:rPr>
                        <a:t>8-class YOLO11s</a:t>
                      </a:r>
                    </a:p>
                  </a:txBody>
                  <a:tcPr marL="36576" marR="36576" marT="18288" marB="18288">
                    <a:solidFill>
                      <a:srgbClr val="41534B"/>
                    </a:solidFill>
                  </a:tcPr>
                </a:tc>
                <a:tc>
                  <a:txBody>
                    <a:bodyPr/>
                    <a:lstStyle/>
                    <a:p>
                      <a:pPr algn="ctr"/>
                      <a:r>
                        <a:rPr sz="850" b="1">
                          <a:solidFill>
                            <a:srgbClr val="FFFFFF"/>
                          </a:solidFill>
                          <a:latin typeface="Times New Roman"/>
                        </a:rPr>
                        <a:t>Best single 4-class (P / R)</a:t>
                      </a:r>
                    </a:p>
                  </a:txBody>
                  <a:tcPr marL="36576" marR="36576" marT="18288" marB="18288">
                    <a:solidFill>
                      <a:srgbClr val="41534B"/>
                    </a:solidFill>
                  </a:tcPr>
                </a:tc>
                <a:tc>
                  <a:txBody>
                    <a:bodyPr/>
                    <a:lstStyle/>
                    <a:p>
                      <a:pPr algn="ctr"/>
                      <a:r>
                        <a:rPr sz="850" b="1">
                          <a:solidFill>
                            <a:srgbClr val="FFFFFF"/>
                          </a:solidFill>
                          <a:latin typeface="Times New Roman"/>
                        </a:rPr>
                        <a:t>Single mAP50</a:t>
                      </a:r>
                    </a:p>
                  </a:txBody>
                  <a:tcPr marL="36576" marR="36576" marT="18288" marB="18288">
                    <a:solidFill>
                      <a:srgbClr val="41534B"/>
                    </a:solidFill>
                  </a:tcPr>
                </a:tc>
                <a:tc>
                  <a:txBody>
                    <a:bodyPr/>
                    <a:lstStyle/>
                    <a:p>
                      <a:pPr algn="ctr"/>
                      <a:r>
                        <a:rPr sz="850" b="1">
                          <a:solidFill>
                            <a:srgbClr val="FFFFFF"/>
                          </a:solidFill>
                          <a:latin typeface="Times New Roman"/>
                        </a:rPr>
                        <a:t>Deployed fusion mAP50</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a:latin typeface="Times New Roman"/>
                        </a:rPr>
                        <a:t>Dead_Knot</a:t>
                      </a:r>
                    </a:p>
                  </a:txBody>
                  <a:tcPr marL="36576" marR="36576" marT="18288" marB="18288">
                    <a:solidFill>
                      <a:srgbClr val="F7F3EC"/>
                    </a:solidFill>
                  </a:tcPr>
                </a:tc>
                <a:tc>
                  <a:txBody>
                    <a:bodyPr/>
                    <a:lstStyle/>
                    <a:p>
                      <a:pPr algn="ctr"/>
                      <a:r>
                        <a:rPr sz="850" b="0">
                          <a:latin typeface="Times New Roman"/>
                        </a:rPr>
                        <a:t>343</a:t>
                      </a:r>
                    </a:p>
                  </a:txBody>
                  <a:tcPr marL="36576" marR="36576" marT="18288" marB="18288">
                    <a:solidFill>
                      <a:srgbClr val="F7F3EC"/>
                    </a:solidFill>
                  </a:tcPr>
                </a:tc>
                <a:tc>
                  <a:txBody>
                    <a:bodyPr/>
                    <a:lstStyle/>
                    <a:p>
                      <a:pPr algn="ctr"/>
                      <a:r>
                        <a:rPr sz="850" b="0">
                          <a:latin typeface="Times New Roman"/>
                        </a:rPr>
                        <a:t>89.1</a:t>
                      </a:r>
                    </a:p>
                  </a:txBody>
                  <a:tcPr marL="36576" marR="36576" marT="18288" marB="18288">
                    <a:solidFill>
                      <a:srgbClr val="F7F3EC"/>
                    </a:solidFill>
                  </a:tcPr>
                </a:tc>
                <a:tc>
                  <a:txBody>
                    <a:bodyPr/>
                    <a:lstStyle/>
                    <a:p>
                      <a:pPr algn="ctr"/>
                      <a:r>
                        <a:rPr sz="850" b="0">
                          <a:latin typeface="Times New Roman"/>
                        </a:rPr>
                        <a:t>83.7 / 82.5</a:t>
                      </a:r>
                    </a:p>
                  </a:txBody>
                  <a:tcPr marL="36576" marR="36576" marT="18288" marB="18288">
                    <a:solidFill>
                      <a:srgbClr val="F7F3EC"/>
                    </a:solidFill>
                  </a:tcPr>
                </a:tc>
                <a:tc>
                  <a:txBody>
                    <a:bodyPr/>
                    <a:lstStyle/>
                    <a:p>
                      <a:pPr algn="ctr"/>
                      <a:r>
                        <a:rPr sz="850" b="0">
                          <a:latin typeface="Times New Roman"/>
                        </a:rPr>
                        <a:t>87.5</a:t>
                      </a:r>
                    </a:p>
                  </a:txBody>
                  <a:tcPr marL="36576" marR="36576" marT="18288" marB="18288">
                    <a:solidFill>
                      <a:srgbClr val="F7F3EC"/>
                    </a:solidFill>
                  </a:tcPr>
                </a:tc>
                <a:tc>
                  <a:txBody>
                    <a:bodyPr/>
                    <a:lstStyle/>
                    <a:p>
                      <a:pPr algn="ctr"/>
                      <a:r>
                        <a:rPr sz="850" b="0">
                          <a:latin typeface="Times New Roman"/>
                        </a:rPr>
                        <a:t>90.3</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a:latin typeface="Times New Roman"/>
                        </a:rPr>
                        <a:t>Live_Knot</a:t>
                      </a:r>
                    </a:p>
                  </a:txBody>
                  <a:tcPr marL="36576" marR="36576" marT="18288" marB="18288">
                    <a:solidFill>
                      <a:srgbClr val="FFFFFF"/>
                    </a:solidFill>
                  </a:tcPr>
                </a:tc>
                <a:tc>
                  <a:txBody>
                    <a:bodyPr/>
                    <a:lstStyle/>
                    <a:p>
                      <a:pPr algn="ctr"/>
                      <a:r>
                        <a:rPr sz="850" b="0">
                          <a:latin typeface="Times New Roman"/>
                        </a:rPr>
                        <a:t>406</a:t>
                      </a:r>
                    </a:p>
                  </a:txBody>
                  <a:tcPr marL="36576" marR="36576" marT="18288" marB="18288">
                    <a:solidFill>
                      <a:srgbClr val="FFFFFF"/>
                    </a:solidFill>
                  </a:tcPr>
                </a:tc>
                <a:tc>
                  <a:txBody>
                    <a:bodyPr/>
                    <a:lstStyle/>
                    <a:p>
                      <a:pPr algn="ctr"/>
                      <a:r>
                        <a:rPr sz="850" b="0">
                          <a:latin typeface="Times New Roman"/>
                        </a:rPr>
                        <a:t>75.8</a:t>
                      </a:r>
                    </a:p>
                  </a:txBody>
                  <a:tcPr marL="36576" marR="36576" marT="18288" marB="18288">
                    <a:solidFill>
                      <a:srgbClr val="FFFFFF"/>
                    </a:solidFill>
                  </a:tcPr>
                </a:tc>
                <a:tc>
                  <a:txBody>
                    <a:bodyPr/>
                    <a:lstStyle/>
                    <a:p>
                      <a:pPr algn="ctr"/>
                      <a:r>
                        <a:rPr sz="850" b="0">
                          <a:latin typeface="Times New Roman"/>
                        </a:rPr>
                        <a:t>74.2 / 77.3</a:t>
                      </a:r>
                    </a:p>
                  </a:txBody>
                  <a:tcPr marL="36576" marR="36576" marT="18288" marB="18288">
                    <a:solidFill>
                      <a:srgbClr val="FFFFFF"/>
                    </a:solidFill>
                  </a:tcPr>
                </a:tc>
                <a:tc>
                  <a:txBody>
                    <a:bodyPr/>
                    <a:lstStyle/>
                    <a:p>
                      <a:pPr algn="ctr"/>
                      <a:r>
                        <a:rPr sz="850" b="0">
                          <a:latin typeface="Times New Roman"/>
                        </a:rPr>
                        <a:t>76.4</a:t>
                      </a:r>
                    </a:p>
                  </a:txBody>
                  <a:tcPr marL="36576" marR="36576" marT="18288" marB="18288">
                    <a:solidFill>
                      <a:srgbClr val="FFFFFF"/>
                    </a:solidFill>
                  </a:tcPr>
                </a:tc>
                <a:tc>
                  <a:txBody>
                    <a:bodyPr/>
                    <a:lstStyle/>
                    <a:p>
                      <a:pPr algn="ctr"/>
                      <a:r>
                        <a:rPr sz="850" b="0">
                          <a:latin typeface="Times New Roman"/>
                        </a:rPr>
                        <a:t>78.6</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a:latin typeface="Times New Roman"/>
                        </a:rPr>
                        <a:t>Resin</a:t>
                      </a:r>
                    </a:p>
                  </a:txBody>
                  <a:tcPr marL="36576" marR="36576" marT="18288" marB="18288">
                    <a:solidFill>
                      <a:srgbClr val="F7F3EC"/>
                    </a:solidFill>
                  </a:tcPr>
                </a:tc>
                <a:tc>
                  <a:txBody>
                    <a:bodyPr/>
                    <a:lstStyle/>
                    <a:p>
                      <a:pPr algn="ctr"/>
                      <a:r>
                        <a:rPr sz="850" b="0">
                          <a:latin typeface="Times New Roman"/>
                        </a:rPr>
                        <a:t>69</a:t>
                      </a:r>
                    </a:p>
                  </a:txBody>
                  <a:tcPr marL="36576" marR="36576" marT="18288" marB="18288">
                    <a:solidFill>
                      <a:srgbClr val="F7F3EC"/>
                    </a:solidFill>
                  </a:tcPr>
                </a:tc>
                <a:tc>
                  <a:txBody>
                    <a:bodyPr/>
                    <a:lstStyle/>
                    <a:p>
                      <a:pPr algn="ctr"/>
                      <a:r>
                        <a:rPr sz="850" b="0">
                          <a:latin typeface="Times New Roman"/>
                        </a:rPr>
                        <a:t>60.4</a:t>
                      </a:r>
                    </a:p>
                  </a:txBody>
                  <a:tcPr marL="36576" marR="36576" marT="18288" marB="18288">
                    <a:solidFill>
                      <a:srgbClr val="F7F3EC"/>
                    </a:solidFill>
                  </a:tcPr>
                </a:tc>
                <a:tc>
                  <a:txBody>
                    <a:bodyPr/>
                    <a:lstStyle/>
                    <a:p>
                      <a:pPr algn="ctr"/>
                      <a:r>
                        <a:rPr sz="850" b="0">
                          <a:latin typeface="Times New Roman"/>
                        </a:rPr>
                        <a:t>84.7 / 58.0</a:t>
                      </a:r>
                    </a:p>
                  </a:txBody>
                  <a:tcPr marL="36576" marR="36576" marT="18288" marB="18288">
                    <a:solidFill>
                      <a:srgbClr val="F7F3EC"/>
                    </a:solidFill>
                  </a:tcPr>
                </a:tc>
                <a:tc>
                  <a:txBody>
                    <a:bodyPr/>
                    <a:lstStyle/>
                    <a:p>
                      <a:pPr algn="ctr"/>
                      <a:r>
                        <a:rPr sz="850" b="0">
                          <a:latin typeface="Times New Roman"/>
                        </a:rPr>
                        <a:t>64.2</a:t>
                      </a:r>
                    </a:p>
                  </a:txBody>
                  <a:tcPr marL="36576" marR="36576" marT="18288" marB="18288">
                    <a:solidFill>
                      <a:srgbClr val="F7F3EC"/>
                    </a:solidFill>
                  </a:tcPr>
                </a:tc>
                <a:tc>
                  <a:txBody>
                    <a:bodyPr/>
                    <a:lstStyle/>
                    <a:p>
                      <a:pPr algn="ctr"/>
                      <a:r>
                        <a:rPr sz="850" b="0">
                          <a:latin typeface="Times New Roman"/>
                        </a:rPr>
                        <a:t>69.7</a:t>
                      </a:r>
                    </a:p>
                  </a:txBody>
                  <a:tcPr marL="36576" marR="36576" marT="18288" marB="18288">
                    <a:solidFill>
                      <a:srgbClr val="F7F3EC"/>
                    </a:solidFill>
                  </a:tcPr>
                </a:tc>
                <a:extLst>
                  <a:ext uri="{0D108BD9-81ED-4DB2-BD59-A6C34878D82A}">
                    <a16:rowId xmlns:a16="http://schemas.microsoft.com/office/drawing/2014/main" val="10003"/>
                  </a:ext>
                </a:extLst>
              </a:tr>
              <a:tr h="219456">
                <a:tc>
                  <a:txBody>
                    <a:bodyPr/>
                    <a:lstStyle/>
                    <a:p>
                      <a:pPr algn="l"/>
                      <a:r>
                        <a:rPr sz="850" b="0">
                          <a:latin typeface="Times New Roman"/>
                        </a:rPr>
                        <a:t>Crack</a:t>
                      </a:r>
                    </a:p>
                  </a:txBody>
                  <a:tcPr marL="36576" marR="36576" marT="18288" marB="18288">
                    <a:solidFill>
                      <a:srgbClr val="FFFFFF"/>
                    </a:solidFill>
                  </a:tcPr>
                </a:tc>
                <a:tc>
                  <a:txBody>
                    <a:bodyPr/>
                    <a:lstStyle/>
                    <a:p>
                      <a:pPr algn="ctr"/>
                      <a:r>
                        <a:rPr sz="850" b="0">
                          <a:latin typeface="Times New Roman"/>
                        </a:rPr>
                        <a:t>95</a:t>
                      </a:r>
                    </a:p>
                  </a:txBody>
                  <a:tcPr marL="36576" marR="36576" marT="18288" marB="18288">
                    <a:solidFill>
                      <a:srgbClr val="FFFFFF"/>
                    </a:solidFill>
                  </a:tcPr>
                </a:tc>
                <a:tc>
                  <a:txBody>
                    <a:bodyPr/>
                    <a:lstStyle/>
                    <a:p>
                      <a:pPr algn="ctr"/>
                      <a:r>
                        <a:rPr sz="850" b="0">
                          <a:latin typeface="Times New Roman"/>
                        </a:rPr>
                        <a:t>53.0</a:t>
                      </a:r>
                    </a:p>
                  </a:txBody>
                  <a:tcPr marL="36576" marR="36576" marT="18288" marB="18288">
                    <a:solidFill>
                      <a:srgbClr val="FFFFFF"/>
                    </a:solidFill>
                  </a:tcPr>
                </a:tc>
                <a:tc>
                  <a:txBody>
                    <a:bodyPr/>
                    <a:lstStyle/>
                    <a:p>
                      <a:pPr algn="ctr"/>
                      <a:r>
                        <a:rPr sz="850" b="0">
                          <a:latin typeface="Times New Roman"/>
                        </a:rPr>
                        <a:t>56.5 / 60.0</a:t>
                      </a:r>
                    </a:p>
                  </a:txBody>
                  <a:tcPr marL="36576" marR="36576" marT="18288" marB="18288">
                    <a:solidFill>
                      <a:srgbClr val="FFFFFF"/>
                    </a:solidFill>
                  </a:tcPr>
                </a:tc>
                <a:tc>
                  <a:txBody>
                    <a:bodyPr/>
                    <a:lstStyle/>
                    <a:p>
                      <a:pPr algn="ctr"/>
                      <a:r>
                        <a:rPr sz="850" b="0">
                          <a:latin typeface="Times New Roman"/>
                        </a:rPr>
                        <a:t>48.7</a:t>
                      </a:r>
                    </a:p>
                  </a:txBody>
                  <a:tcPr marL="36576" marR="36576" marT="18288" marB="18288">
                    <a:solidFill>
                      <a:srgbClr val="FFFFFF"/>
                    </a:solidFill>
                  </a:tcPr>
                </a:tc>
                <a:tc>
                  <a:txBody>
                    <a:bodyPr/>
                    <a:lstStyle/>
                    <a:p>
                      <a:pPr algn="ctr"/>
                      <a:r>
                        <a:rPr sz="850" b="0">
                          <a:latin typeface="Times New Roman"/>
                        </a:rPr>
                        <a:t>60.2</a:t>
                      </a:r>
                    </a:p>
                  </a:txBody>
                  <a:tcPr marL="36576" marR="36576" marT="18288" marB="18288">
                    <a:solidFill>
                      <a:srgbClr val="FFFFFF"/>
                    </a:solidFill>
                  </a:tcPr>
                </a:tc>
                <a:extLst>
                  <a:ext uri="{0D108BD9-81ED-4DB2-BD59-A6C34878D82A}">
                    <a16:rowId xmlns:a16="http://schemas.microsoft.com/office/drawing/2014/main" val="10004"/>
                  </a:ext>
                </a:extLst>
              </a:tr>
              <a:tr h="219456">
                <a:tc>
                  <a:txBody>
                    <a:bodyPr/>
                    <a:lstStyle/>
                    <a:p>
                      <a:pPr algn="l"/>
                      <a:r>
                        <a:rPr sz="850" b="1">
                          <a:latin typeface="Times New Roman"/>
                        </a:rPr>
                        <a:t>ALL (4 classes)</a:t>
                      </a:r>
                    </a:p>
                  </a:txBody>
                  <a:tcPr marL="36576" marR="36576" marT="18288" marB="18288">
                    <a:solidFill>
                      <a:srgbClr val="F7F3EC"/>
                    </a:solidFill>
                  </a:tcPr>
                </a:tc>
                <a:tc>
                  <a:txBody>
                    <a:bodyPr/>
                    <a:lstStyle/>
                    <a:p>
                      <a:pPr algn="ctr"/>
                      <a:r>
                        <a:rPr sz="850" b="1">
                          <a:latin typeface="Times New Roman"/>
                        </a:rPr>
                        <a:t>913</a:t>
                      </a:r>
                    </a:p>
                  </a:txBody>
                  <a:tcPr marL="36576" marR="36576" marT="18288" marB="18288">
                    <a:solidFill>
                      <a:srgbClr val="F7F3EC"/>
                    </a:solidFill>
                  </a:tcPr>
                </a:tc>
                <a:tc>
                  <a:txBody>
                    <a:bodyPr/>
                    <a:lstStyle/>
                    <a:p>
                      <a:pPr algn="ctr"/>
                      <a:r>
                        <a:rPr sz="850" b="1">
                          <a:latin typeface="Times New Roman"/>
                        </a:rPr>
                        <a:t>69.6</a:t>
                      </a:r>
                    </a:p>
                  </a:txBody>
                  <a:tcPr marL="36576" marR="36576" marT="18288" marB="18288">
                    <a:solidFill>
                      <a:srgbClr val="F7F3EC"/>
                    </a:solidFill>
                  </a:tcPr>
                </a:tc>
                <a:tc>
                  <a:txBody>
                    <a:bodyPr/>
                    <a:lstStyle/>
                    <a:p>
                      <a:pPr algn="ctr"/>
                      <a:r>
                        <a:rPr sz="850" b="1">
                          <a:latin typeface="Times New Roman"/>
                        </a:rPr>
                        <a:t>74.8 / 69.4</a:t>
                      </a:r>
                    </a:p>
                  </a:txBody>
                  <a:tcPr marL="36576" marR="36576" marT="18288" marB="18288">
                    <a:solidFill>
                      <a:srgbClr val="F7F3EC"/>
                    </a:solidFill>
                  </a:tcPr>
                </a:tc>
                <a:tc>
                  <a:txBody>
                    <a:bodyPr/>
                    <a:lstStyle/>
                    <a:p>
                      <a:pPr algn="ctr"/>
                      <a:r>
                        <a:rPr sz="850" b="1">
                          <a:latin typeface="Times New Roman"/>
                        </a:rPr>
                        <a:t>69.2</a:t>
                      </a:r>
                    </a:p>
                  </a:txBody>
                  <a:tcPr marL="36576" marR="36576" marT="18288" marB="18288">
                    <a:solidFill>
                      <a:srgbClr val="F7F3EC"/>
                    </a:solidFill>
                  </a:tcPr>
                </a:tc>
                <a:tc>
                  <a:txBody>
                    <a:bodyPr/>
                    <a:lstStyle/>
                    <a:p>
                      <a:pPr algn="ctr"/>
                      <a:r>
                        <a:rPr sz="850" b="1">
                          <a:latin typeface="Times New Roman"/>
                        </a:rPr>
                        <a:t>74.7</a:t>
                      </a:r>
                    </a:p>
                  </a:txBody>
                  <a:tcPr marL="36576" marR="36576" marT="18288" marB="18288">
                    <a:solidFill>
                      <a:srgbClr val="F7F3EC"/>
                    </a:solidFill>
                  </a:tcPr>
                </a:tc>
                <a:extLst>
                  <a:ext uri="{0D108BD9-81ED-4DB2-BD59-A6C34878D82A}">
                    <a16:rowId xmlns:a16="http://schemas.microsoft.com/office/drawing/2014/main" val="10005"/>
                  </a:ext>
                </a:extLst>
              </a:tr>
            </a:tbl>
          </a:graphicData>
        </a:graphic>
      </p:graphicFrame>
      <p:sp>
        <p:nvSpPr>
          <p:cNvPr id="301" name="TextBox 300"/>
          <p:cNvSpPr txBox="1"/>
          <p:nvPr/>
        </p:nvSpPr>
        <p:spPr>
          <a:xfrm>
            <a:off x="274320" y="4261104"/>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Each model evaluated exactly once on boards never used for training, validation or any choice. 8-class and 4-class rows are not directly comparable: on the same four classes the 8-class YOLO11s scores 69.6 mAP50.</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The deployed fusion is the only model with a significant gain over the best single model: mAP50 +2.7 to +7.1 (95% CI), better on 10 of 12 boards. Crack remains the hardest class.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KAGGLE GPU RUNS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18</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training_proof.png"/>
          <p:cNvPicPr>
            <a:picLocks noChangeAspect="1"/>
          </p:cNvPicPr>
          <p:nvPr/>
        </p:nvPicPr>
        <p:blipFill>
          <a:blip r:embed="rId6"/>
          <a:srcRect r="46397"/>
          <a:stretch>
            <a:fillRect/>
          </a:stretch>
        </p:blipFill>
        <p:spPr>
          <a:xfrm>
            <a:off x="205866" y="774650"/>
            <a:ext cx="4495530" cy="4849771"/>
          </a:xfrm>
          <a:prstGeom prst="rect">
            <a:avLst/>
          </a:prstGeom>
        </p:spPr>
      </p:pic>
      <p:sp>
        <p:nvSpPr>
          <p:cNvPr id="201" name="TextBox 200"/>
          <p:cNvSpPr txBox="1"/>
          <p:nvPr/>
        </p:nvSpPr>
        <p:spPr>
          <a:xfrm>
            <a:off x="312420" y="5847080"/>
            <a:ext cx="7818120" cy="347472"/>
          </a:xfrm>
          <a:prstGeom prst="rect">
            <a:avLst/>
          </a:prstGeom>
          <a:noFill/>
        </p:spPr>
        <p:txBody>
          <a:bodyPr wrap="square">
            <a:spAutoFit/>
          </a:bodyPr>
          <a:lstStyle/>
          <a:p>
            <a:pPr algn="ctr"/>
            <a:r>
              <a:rPr sz="1200" i="1" dirty="0">
                <a:latin typeface="Times New Roman"/>
              </a:rPr>
              <a:t>Fig. Extracts from the Kaggle session logs: GPU, epoch progress, wall-clock training time and the single held-out test evaluation of each model.</a:t>
            </a:r>
          </a:p>
        </p:txBody>
      </p:sp>
      <p:pic>
        <p:nvPicPr>
          <p:cNvPr id="3" name="Picture 2">
            <a:extLst>
              <a:ext uri="{FF2B5EF4-FFF2-40B4-BE49-F238E27FC236}">
                <a16:creationId xmlns:a16="http://schemas.microsoft.com/office/drawing/2014/main" id="{7FFF79DC-3669-3DDE-B655-31D1414B54C6}"/>
              </a:ext>
            </a:extLst>
          </p:cNvPr>
          <p:cNvPicPr>
            <a:picLocks noChangeAspect="1"/>
          </p:cNvPicPr>
          <p:nvPr/>
        </p:nvPicPr>
        <p:blipFill>
          <a:blip r:embed="rId7"/>
          <a:srcRect r="18486"/>
          <a:stretch>
            <a:fillRect/>
          </a:stretch>
        </p:blipFill>
        <p:spPr>
          <a:xfrm>
            <a:off x="5110731" y="774650"/>
            <a:ext cx="2818746" cy="22878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682B321E-1EB1-5D86-9631-262D8BCBE1A9}"/>
            </a:ext>
          </a:extLst>
        </p:cNvPr>
        <p:cNvGrpSpPr/>
        <p:nvPr/>
      </p:nvGrpSpPr>
      <p:grpSpPr>
        <a:xfrm>
          <a:off x="0" y="0"/>
          <a:ext cx="0" cy="0"/>
          <a:chOff x="0" y="0"/>
          <a:chExt cx="0" cy="0"/>
        </a:xfrm>
      </p:grpSpPr>
      <p:sp>
        <p:nvSpPr>
          <p:cNvPr id="193" name="Google Shape;193;p21">
            <a:extLst>
              <a:ext uri="{FF2B5EF4-FFF2-40B4-BE49-F238E27FC236}">
                <a16:creationId xmlns:a16="http://schemas.microsoft.com/office/drawing/2014/main" id="{884A5A76-3CA0-1CF8-3205-8D09212D52F9}"/>
              </a:ext>
            </a:extLst>
          </p:cNvPr>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LOCAL SYSTEM RUNS</a:t>
            </a:r>
            <a:endParaRPr sz="1400" b="0" i="0" u="none" strike="noStrike" cap="none" dirty="0">
              <a:solidFill>
                <a:srgbClr val="FF0000"/>
              </a:solidFill>
              <a:sym typeface="Arial"/>
            </a:endParaRPr>
          </a:p>
        </p:txBody>
      </p:sp>
      <p:sp>
        <p:nvSpPr>
          <p:cNvPr id="194" name="Google Shape;194;p21">
            <a:extLst>
              <a:ext uri="{FF2B5EF4-FFF2-40B4-BE49-F238E27FC236}">
                <a16:creationId xmlns:a16="http://schemas.microsoft.com/office/drawing/2014/main" id="{3A40A60F-316A-F82D-DF5D-B00B9C9610E1}"/>
              </a:ext>
            </a:extLst>
          </p:cNvPr>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19</a:t>
            </a:fld>
            <a:endParaRPr/>
          </a:p>
        </p:txBody>
      </p:sp>
      <p:pic>
        <p:nvPicPr>
          <p:cNvPr id="195" name="Google Shape;195;p21">
            <a:extLst>
              <a:ext uri="{FF2B5EF4-FFF2-40B4-BE49-F238E27FC236}">
                <a16:creationId xmlns:a16="http://schemas.microsoft.com/office/drawing/2014/main" id="{E4B24829-AE9D-1DD9-7E75-24D316E9ACEB}"/>
              </a:ext>
            </a:extLst>
          </p:cNvPr>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a:extLst>
              <a:ext uri="{FF2B5EF4-FFF2-40B4-BE49-F238E27FC236}">
                <a16:creationId xmlns:a16="http://schemas.microsoft.com/office/drawing/2014/main" id="{B8FE72E7-BB16-5A63-EE5F-BBCDD9B99201}"/>
              </a:ext>
            </a:extLst>
          </p:cNvPr>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a:extLst>
              <a:ext uri="{FF2B5EF4-FFF2-40B4-BE49-F238E27FC236}">
                <a16:creationId xmlns:a16="http://schemas.microsoft.com/office/drawing/2014/main" id="{D62CD6F3-5F57-0F2A-357D-327A48E809D0}"/>
              </a:ext>
            </a:extLst>
          </p:cNvPr>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a:extLst>
              <a:ext uri="{FF2B5EF4-FFF2-40B4-BE49-F238E27FC236}">
                <a16:creationId xmlns:a16="http://schemas.microsoft.com/office/drawing/2014/main" id="{27F0D098-7BC6-DF37-D71A-D77742DE4256}"/>
              </a:ext>
            </a:extLst>
          </p:cNvPr>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a:extLst>
              <a:ext uri="{FF2B5EF4-FFF2-40B4-BE49-F238E27FC236}">
                <a16:creationId xmlns:a16="http://schemas.microsoft.com/office/drawing/2014/main" id="{E42956CE-C843-8AE8-E26F-AAC3DE9476D6}"/>
              </a:ext>
            </a:extLst>
          </p:cNvPr>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1" name="TextBox 200">
            <a:extLst>
              <a:ext uri="{FF2B5EF4-FFF2-40B4-BE49-F238E27FC236}">
                <a16:creationId xmlns:a16="http://schemas.microsoft.com/office/drawing/2014/main" id="{77D2937E-C32C-F5ED-7C79-385ED9352548}"/>
              </a:ext>
            </a:extLst>
          </p:cNvPr>
          <p:cNvSpPr txBox="1"/>
          <p:nvPr/>
        </p:nvSpPr>
        <p:spPr>
          <a:xfrm>
            <a:off x="274320" y="5992768"/>
            <a:ext cx="7818120" cy="276999"/>
          </a:xfrm>
          <a:prstGeom prst="rect">
            <a:avLst/>
          </a:prstGeom>
          <a:noFill/>
        </p:spPr>
        <p:txBody>
          <a:bodyPr wrap="square">
            <a:spAutoFit/>
          </a:bodyPr>
          <a:lstStyle/>
          <a:p>
            <a:pPr algn="ctr"/>
            <a:r>
              <a:rPr sz="1200" i="1" dirty="0">
                <a:latin typeface="Times New Roman"/>
              </a:rPr>
              <a:t>Fig. </a:t>
            </a:r>
            <a:r>
              <a:rPr lang="en-IN" sz="1200" i="1" dirty="0">
                <a:latin typeface="Times New Roman"/>
              </a:rPr>
              <a:t>Local System Runs</a:t>
            </a:r>
            <a:endParaRPr sz="1200" i="1" dirty="0">
              <a:latin typeface="Times New Roman"/>
            </a:endParaRPr>
          </a:p>
        </p:txBody>
      </p:sp>
      <p:pic>
        <p:nvPicPr>
          <p:cNvPr id="8" name="Picture 7">
            <a:extLst>
              <a:ext uri="{FF2B5EF4-FFF2-40B4-BE49-F238E27FC236}">
                <a16:creationId xmlns:a16="http://schemas.microsoft.com/office/drawing/2014/main" id="{6CDB8907-CB4D-612E-8880-C55FC229D43C}"/>
              </a:ext>
            </a:extLst>
          </p:cNvPr>
          <p:cNvPicPr>
            <a:picLocks noChangeAspect="1"/>
          </p:cNvPicPr>
          <p:nvPr/>
        </p:nvPicPr>
        <p:blipFill>
          <a:blip r:embed="rId6"/>
          <a:srcRect r="19571"/>
          <a:stretch>
            <a:fillRect/>
          </a:stretch>
        </p:blipFill>
        <p:spPr>
          <a:xfrm>
            <a:off x="506185" y="703580"/>
            <a:ext cx="7354389" cy="5143500"/>
          </a:xfrm>
          <a:prstGeom prst="rect">
            <a:avLst/>
          </a:prstGeom>
        </p:spPr>
      </p:pic>
    </p:spTree>
    <p:extLst>
      <p:ext uri="{BB962C8B-B14F-4D97-AF65-F5344CB8AC3E}">
        <p14:creationId xmlns:p14="http://schemas.microsoft.com/office/powerpoint/2010/main" val="1056641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20</a:t>
            </a:fld>
            <a:endParaRPr/>
          </a:p>
        </p:txBody>
      </p:sp>
      <p:sp>
        <p:nvSpPr>
          <p:cNvPr id="305" name="Google Shape;305;p30"/>
          <p:cNvSpPr txBox="1"/>
          <p:nvPr/>
        </p:nvSpPr>
        <p:spPr>
          <a:xfrm>
            <a:off x="573740" y="340659"/>
            <a:ext cx="786384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41534B"/>
                </a:solidFill>
                <a:latin typeface="Times New Roman"/>
                <a:ea typeface="Times New Roman"/>
                <a:cs typeface="Times New Roman"/>
                <a:sym typeface="Times New Roman"/>
              </a:rPr>
              <a:t>MODEL COMPARISON: YOLO11m vs YOLO11s</a:t>
            </a:r>
            <a:endParaRPr sz="1400" b="0" i="0" u="none" strike="noStrike" cap="none">
              <a:solidFill>
                <a:srgbClr val="000000"/>
              </a:solidFill>
              <a:latin typeface="Arial"/>
              <a:ea typeface="Arial"/>
              <a:cs typeface="Arial"/>
              <a:sym typeface="Arial"/>
            </a:endParaRPr>
          </a:p>
        </p:txBody>
      </p:sp>
      <p:sp>
        <p:nvSpPr>
          <p:cNvPr id="307" name="Google Shape;307;p3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08" name="Google Shape;308;p3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09" name="Google Shape;309;p30"/>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310" name="Google Shape;310;p30"/>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311" name="Google Shape;311;p30"/>
          <p:cNvPicPr preferRelativeResize="0"/>
          <p:nvPr/>
        </p:nvPicPr>
        <p:blipFill rotWithShape="1">
          <a:blip r:embed="rId6">
            <a:alphaModFix/>
          </a:blip>
          <a:srcRect/>
          <a:stretch/>
        </p:blipFill>
        <p:spPr>
          <a:xfrm>
            <a:off x="8450861" y="6157980"/>
            <a:ext cx="680353" cy="703613"/>
          </a:xfrm>
          <a:prstGeom prst="rect">
            <a:avLst/>
          </a:prstGeom>
          <a:noFill/>
          <a:ln>
            <a:noFill/>
          </a:ln>
        </p:spPr>
      </p:pic>
      <p:graphicFrame>
        <p:nvGraphicFramePr>
          <p:cNvPr id="312" name="Table 311"/>
          <p:cNvGraphicFramePr>
            <a:graphicFrameLocks noGrp="1"/>
          </p:cNvGraphicFramePr>
          <p:nvPr/>
        </p:nvGraphicFramePr>
        <p:xfrm>
          <a:off x="274320" y="868680"/>
          <a:ext cx="4846320" cy="35661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56616">
                <a:tc>
                  <a:txBody>
                    <a:bodyPr/>
                    <a:lstStyle/>
                    <a:p>
                      <a:pPr algn="l"/>
                      <a:r>
                        <a:rPr sz="1000" b="1">
                          <a:solidFill>
                            <a:srgbClr val="FFFFFF"/>
                          </a:solidFill>
                          <a:latin typeface="Times New Roman"/>
                        </a:rPr>
                        <a:t>Aspect</a:t>
                      </a:r>
                    </a:p>
                  </a:txBody>
                  <a:tcPr marL="36576" marR="36576" marT="18288" marB="18288">
                    <a:solidFill>
                      <a:srgbClr val="41534B"/>
                    </a:solidFill>
                  </a:tcPr>
                </a:tc>
                <a:tc>
                  <a:txBody>
                    <a:bodyPr/>
                    <a:lstStyle/>
                    <a:p>
                      <a:pPr algn="ctr"/>
                      <a:r>
                        <a:rPr sz="1000" b="1">
                          <a:solidFill>
                            <a:srgbClr val="FFFFFF"/>
                          </a:solidFill>
                          <a:latin typeface="Times New Roman"/>
                        </a:rPr>
                        <a:t>YOLO11m</a:t>
                      </a:r>
                    </a:p>
                  </a:txBody>
                  <a:tcPr marL="36576" marR="36576" marT="18288" marB="18288">
                    <a:solidFill>
                      <a:srgbClr val="41534B"/>
                    </a:solidFill>
                  </a:tcPr>
                </a:tc>
                <a:tc>
                  <a:txBody>
                    <a:bodyPr/>
                    <a:lstStyle/>
                    <a:p>
                      <a:pPr algn="ctr"/>
                      <a:r>
                        <a:rPr sz="1000" b="1">
                          <a:solidFill>
                            <a:srgbClr val="FFFFFF"/>
                          </a:solidFill>
                          <a:latin typeface="Times New Roman"/>
                        </a:rPr>
                        <a:t>YOLO11s</a:t>
                      </a:r>
                    </a:p>
                  </a:txBody>
                  <a:tcPr marL="36576" marR="36576" marT="18288" marB="18288">
                    <a:solidFill>
                      <a:srgbClr val="41534B"/>
                    </a:solidFill>
                  </a:tcPr>
                </a:tc>
                <a:tc>
                  <a:txBody>
                    <a:bodyPr/>
                    <a:lstStyle/>
                    <a:p>
                      <a:pPr algn="ctr"/>
                      <a:r>
                        <a:rPr sz="1000" b="1">
                          <a:solidFill>
                            <a:srgbClr val="FFFFFF"/>
                          </a:solidFill>
                          <a:latin typeface="Times New Roman"/>
                        </a:rPr>
                        <a:t>m - s</a:t>
                      </a:r>
                    </a:p>
                  </a:txBody>
                  <a:tcPr marL="36576" marR="36576" marT="18288" marB="18288">
                    <a:solidFill>
                      <a:srgbClr val="41534B"/>
                    </a:solidFill>
                  </a:tcPr>
                </a:tc>
                <a:extLst>
                  <a:ext uri="{0D108BD9-81ED-4DB2-BD59-A6C34878D82A}">
                    <a16:rowId xmlns:a16="http://schemas.microsoft.com/office/drawing/2014/main" val="10000"/>
                  </a:ext>
                </a:extLst>
              </a:tr>
              <a:tr h="356616">
                <a:tc>
                  <a:txBody>
                    <a:bodyPr/>
                    <a:lstStyle/>
                    <a:p>
                      <a:pPr algn="l"/>
                      <a:r>
                        <a:rPr sz="1000" b="0">
                          <a:latin typeface="Times New Roman"/>
                        </a:rPr>
                        <a:t>mAP50</a:t>
                      </a:r>
                    </a:p>
                  </a:txBody>
                  <a:tcPr marL="36576" marR="36576" marT="18288" marB="18288">
                    <a:solidFill>
                      <a:srgbClr val="F7F3EC"/>
                    </a:solidFill>
                  </a:tcPr>
                </a:tc>
                <a:tc>
                  <a:txBody>
                    <a:bodyPr/>
                    <a:lstStyle/>
                    <a:p>
                      <a:pPr algn="ctr"/>
                      <a:r>
                        <a:rPr sz="1000" b="0">
                          <a:latin typeface="Times New Roman"/>
                        </a:rPr>
                        <a:t>63.0</a:t>
                      </a:r>
                    </a:p>
                  </a:txBody>
                  <a:tcPr marL="36576" marR="36576" marT="18288" marB="18288">
                    <a:solidFill>
                      <a:srgbClr val="F7F3EC"/>
                    </a:solidFill>
                  </a:tcPr>
                </a:tc>
                <a:tc>
                  <a:txBody>
                    <a:bodyPr/>
                    <a:lstStyle/>
                    <a:p>
                      <a:pPr algn="ctr"/>
                      <a:r>
                        <a:rPr sz="1000" b="0">
                          <a:latin typeface="Times New Roman"/>
                        </a:rPr>
                        <a:t>64.6</a:t>
                      </a:r>
                    </a:p>
                  </a:txBody>
                  <a:tcPr marL="36576" marR="36576" marT="18288" marB="18288">
                    <a:solidFill>
                      <a:srgbClr val="F7F3EC"/>
                    </a:solidFill>
                  </a:tcPr>
                </a:tc>
                <a:tc>
                  <a:txBody>
                    <a:bodyPr/>
                    <a:lstStyle/>
                    <a:p>
                      <a:pPr algn="ctr"/>
                      <a:r>
                        <a:rPr sz="1000" b="0">
                          <a:latin typeface="Times New Roman"/>
                        </a:rPr>
                        <a:t>-1.6</a:t>
                      </a:r>
                    </a:p>
                  </a:txBody>
                  <a:tcPr marL="36576" marR="36576" marT="18288" marB="18288">
                    <a:solidFill>
                      <a:srgbClr val="F7F3EC"/>
                    </a:solidFill>
                  </a:tcPr>
                </a:tc>
                <a:extLst>
                  <a:ext uri="{0D108BD9-81ED-4DB2-BD59-A6C34878D82A}">
                    <a16:rowId xmlns:a16="http://schemas.microsoft.com/office/drawing/2014/main" val="10001"/>
                  </a:ext>
                </a:extLst>
              </a:tr>
              <a:tr h="356616">
                <a:tc>
                  <a:txBody>
                    <a:bodyPr/>
                    <a:lstStyle/>
                    <a:p>
                      <a:pPr algn="l"/>
                      <a:r>
                        <a:rPr sz="1000" b="0">
                          <a:latin typeface="Times New Roman"/>
                        </a:rPr>
                        <a:t>mAP50-95</a:t>
                      </a:r>
                    </a:p>
                  </a:txBody>
                  <a:tcPr marL="36576" marR="36576" marT="18288" marB="18288">
                    <a:solidFill>
                      <a:srgbClr val="FFFFFF"/>
                    </a:solidFill>
                  </a:tcPr>
                </a:tc>
                <a:tc>
                  <a:txBody>
                    <a:bodyPr/>
                    <a:lstStyle/>
                    <a:p>
                      <a:pPr algn="ctr"/>
                      <a:r>
                        <a:rPr sz="1000" b="0">
                          <a:latin typeface="Times New Roman"/>
                        </a:rPr>
                        <a:t>34.0</a:t>
                      </a:r>
                    </a:p>
                  </a:txBody>
                  <a:tcPr marL="36576" marR="36576" marT="18288" marB="18288">
                    <a:solidFill>
                      <a:srgbClr val="FFFFFF"/>
                    </a:solidFill>
                  </a:tcPr>
                </a:tc>
                <a:tc>
                  <a:txBody>
                    <a:bodyPr/>
                    <a:lstStyle/>
                    <a:p>
                      <a:pPr algn="ctr"/>
                      <a:r>
                        <a:rPr sz="1000" b="0">
                          <a:latin typeface="Times New Roman"/>
                        </a:rPr>
                        <a:t>33.4</a:t>
                      </a:r>
                    </a:p>
                  </a:txBody>
                  <a:tcPr marL="36576" marR="36576" marT="18288" marB="18288">
                    <a:solidFill>
                      <a:srgbClr val="FFFFFF"/>
                    </a:solidFill>
                  </a:tcPr>
                </a:tc>
                <a:tc>
                  <a:txBody>
                    <a:bodyPr/>
                    <a:lstStyle/>
                    <a:p>
                      <a:pPr algn="ctr"/>
                      <a:r>
                        <a:rPr sz="1000" b="0">
                          <a:latin typeface="Times New Roman"/>
                        </a:rPr>
                        <a:t>+0.6</a:t>
                      </a:r>
                    </a:p>
                  </a:txBody>
                  <a:tcPr marL="36576" marR="36576" marT="18288" marB="18288">
                    <a:solidFill>
                      <a:srgbClr val="FFFFFF"/>
                    </a:solidFill>
                  </a:tcPr>
                </a:tc>
                <a:extLst>
                  <a:ext uri="{0D108BD9-81ED-4DB2-BD59-A6C34878D82A}">
                    <a16:rowId xmlns:a16="http://schemas.microsoft.com/office/drawing/2014/main" val="10002"/>
                  </a:ext>
                </a:extLst>
              </a:tr>
              <a:tr h="356616">
                <a:tc>
                  <a:txBody>
                    <a:bodyPr/>
                    <a:lstStyle/>
                    <a:p>
                      <a:pPr algn="l"/>
                      <a:r>
                        <a:rPr sz="1000" b="0">
                          <a:latin typeface="Times New Roman"/>
                        </a:rPr>
                        <a:t>Precision</a:t>
                      </a:r>
                    </a:p>
                  </a:txBody>
                  <a:tcPr marL="36576" marR="36576" marT="18288" marB="18288">
                    <a:solidFill>
                      <a:srgbClr val="F7F3EC"/>
                    </a:solidFill>
                  </a:tcPr>
                </a:tc>
                <a:tc>
                  <a:txBody>
                    <a:bodyPr/>
                    <a:lstStyle/>
                    <a:p>
                      <a:pPr algn="ctr"/>
                      <a:r>
                        <a:rPr sz="1000" b="0">
                          <a:latin typeface="Times New Roman"/>
                        </a:rPr>
                        <a:t>63.4</a:t>
                      </a:r>
                    </a:p>
                  </a:txBody>
                  <a:tcPr marL="36576" marR="36576" marT="18288" marB="18288">
                    <a:solidFill>
                      <a:srgbClr val="F7F3EC"/>
                    </a:solidFill>
                  </a:tcPr>
                </a:tc>
                <a:tc>
                  <a:txBody>
                    <a:bodyPr/>
                    <a:lstStyle/>
                    <a:p>
                      <a:pPr algn="ctr"/>
                      <a:r>
                        <a:rPr sz="1000" b="0">
                          <a:latin typeface="Times New Roman"/>
                        </a:rPr>
                        <a:t>71.0</a:t>
                      </a:r>
                    </a:p>
                  </a:txBody>
                  <a:tcPr marL="36576" marR="36576" marT="18288" marB="18288">
                    <a:solidFill>
                      <a:srgbClr val="F7F3EC"/>
                    </a:solidFill>
                  </a:tcPr>
                </a:tc>
                <a:tc>
                  <a:txBody>
                    <a:bodyPr/>
                    <a:lstStyle/>
                    <a:p>
                      <a:pPr algn="ctr"/>
                      <a:r>
                        <a:rPr sz="1000" b="0">
                          <a:latin typeface="Times New Roman"/>
                        </a:rPr>
                        <a:t>-7.6</a:t>
                      </a:r>
                    </a:p>
                  </a:txBody>
                  <a:tcPr marL="36576" marR="36576" marT="18288" marB="18288">
                    <a:solidFill>
                      <a:srgbClr val="F7F3EC"/>
                    </a:solidFill>
                  </a:tcPr>
                </a:tc>
                <a:extLst>
                  <a:ext uri="{0D108BD9-81ED-4DB2-BD59-A6C34878D82A}">
                    <a16:rowId xmlns:a16="http://schemas.microsoft.com/office/drawing/2014/main" val="10003"/>
                  </a:ext>
                </a:extLst>
              </a:tr>
              <a:tr h="356616">
                <a:tc>
                  <a:txBody>
                    <a:bodyPr/>
                    <a:lstStyle/>
                    <a:p>
                      <a:pPr algn="l"/>
                      <a:r>
                        <a:rPr sz="1000" b="0">
                          <a:latin typeface="Times New Roman"/>
                        </a:rPr>
                        <a:t>Recall</a:t>
                      </a:r>
                    </a:p>
                  </a:txBody>
                  <a:tcPr marL="36576" marR="36576" marT="18288" marB="18288">
                    <a:solidFill>
                      <a:srgbClr val="FFFFFF"/>
                    </a:solidFill>
                  </a:tcPr>
                </a:tc>
                <a:tc>
                  <a:txBody>
                    <a:bodyPr/>
                    <a:lstStyle/>
                    <a:p>
                      <a:pPr algn="ctr"/>
                      <a:r>
                        <a:rPr sz="1000" b="0">
                          <a:latin typeface="Times New Roman"/>
                        </a:rPr>
                        <a:t>66.2</a:t>
                      </a:r>
                    </a:p>
                  </a:txBody>
                  <a:tcPr marL="36576" marR="36576" marT="18288" marB="18288">
                    <a:solidFill>
                      <a:srgbClr val="FFFFFF"/>
                    </a:solidFill>
                  </a:tcPr>
                </a:tc>
                <a:tc>
                  <a:txBody>
                    <a:bodyPr/>
                    <a:lstStyle/>
                    <a:p>
                      <a:pPr algn="ctr"/>
                      <a:r>
                        <a:rPr sz="1000" b="0">
                          <a:latin typeface="Times New Roman"/>
                        </a:rPr>
                        <a:t>64.1</a:t>
                      </a:r>
                    </a:p>
                  </a:txBody>
                  <a:tcPr marL="36576" marR="36576" marT="18288" marB="18288">
                    <a:solidFill>
                      <a:srgbClr val="FFFFFF"/>
                    </a:solidFill>
                  </a:tcPr>
                </a:tc>
                <a:tc>
                  <a:txBody>
                    <a:bodyPr/>
                    <a:lstStyle/>
                    <a:p>
                      <a:pPr algn="ctr"/>
                      <a:r>
                        <a:rPr sz="1000" b="0">
                          <a:latin typeface="Times New Roman"/>
                        </a:rPr>
                        <a:t>+2.1</a:t>
                      </a:r>
                    </a:p>
                  </a:txBody>
                  <a:tcPr marL="36576" marR="36576" marT="18288" marB="18288">
                    <a:solidFill>
                      <a:srgbClr val="FFFFFF"/>
                    </a:solidFill>
                  </a:tcPr>
                </a:tc>
                <a:extLst>
                  <a:ext uri="{0D108BD9-81ED-4DB2-BD59-A6C34878D82A}">
                    <a16:rowId xmlns:a16="http://schemas.microsoft.com/office/drawing/2014/main" val="10004"/>
                  </a:ext>
                </a:extLst>
              </a:tr>
              <a:tr h="356616">
                <a:tc>
                  <a:txBody>
                    <a:bodyPr/>
                    <a:lstStyle/>
                    <a:p>
                      <a:pPr algn="l"/>
                      <a:r>
                        <a:rPr sz="1000" b="0">
                          <a:latin typeface="Times New Roman"/>
                        </a:rPr>
                        <a:t>F1</a:t>
                      </a:r>
                    </a:p>
                  </a:txBody>
                  <a:tcPr marL="36576" marR="36576" marT="18288" marB="18288">
                    <a:solidFill>
                      <a:srgbClr val="F7F3EC"/>
                    </a:solidFill>
                  </a:tcPr>
                </a:tc>
                <a:tc>
                  <a:txBody>
                    <a:bodyPr/>
                    <a:lstStyle/>
                    <a:p>
                      <a:pPr algn="ctr"/>
                      <a:r>
                        <a:rPr sz="1000" b="0">
                          <a:latin typeface="Times New Roman"/>
                        </a:rPr>
                        <a:t>64.7</a:t>
                      </a:r>
                    </a:p>
                  </a:txBody>
                  <a:tcPr marL="36576" marR="36576" marT="18288" marB="18288">
                    <a:solidFill>
                      <a:srgbClr val="F7F3EC"/>
                    </a:solidFill>
                  </a:tcPr>
                </a:tc>
                <a:tc>
                  <a:txBody>
                    <a:bodyPr/>
                    <a:lstStyle/>
                    <a:p>
                      <a:pPr algn="ctr"/>
                      <a:r>
                        <a:rPr sz="1000" b="0">
                          <a:latin typeface="Times New Roman"/>
                        </a:rPr>
                        <a:t>67.4</a:t>
                      </a:r>
                    </a:p>
                  </a:txBody>
                  <a:tcPr marL="36576" marR="36576" marT="18288" marB="18288">
                    <a:solidFill>
                      <a:srgbClr val="F7F3EC"/>
                    </a:solidFill>
                  </a:tcPr>
                </a:tc>
                <a:tc>
                  <a:txBody>
                    <a:bodyPr/>
                    <a:lstStyle/>
                    <a:p>
                      <a:pPr algn="ctr"/>
                      <a:r>
                        <a:rPr sz="1000" b="0">
                          <a:latin typeface="Times New Roman"/>
                        </a:rPr>
                        <a:t>-2.7</a:t>
                      </a:r>
                    </a:p>
                  </a:txBody>
                  <a:tcPr marL="36576" marR="36576" marT="18288" marB="18288">
                    <a:solidFill>
                      <a:srgbClr val="F7F3EC"/>
                    </a:solidFill>
                  </a:tcPr>
                </a:tc>
                <a:extLst>
                  <a:ext uri="{0D108BD9-81ED-4DB2-BD59-A6C34878D82A}">
                    <a16:rowId xmlns:a16="http://schemas.microsoft.com/office/drawing/2014/main" val="10005"/>
                  </a:ext>
                </a:extLst>
              </a:tr>
              <a:tr h="356616">
                <a:tc>
                  <a:txBody>
                    <a:bodyPr/>
                    <a:lstStyle/>
                    <a:p>
                      <a:pPr algn="l"/>
                      <a:r>
                        <a:rPr sz="1000" b="0">
                          <a:latin typeface="Times New Roman"/>
                        </a:rPr>
                        <a:t>Crack mAP50 / recall</a:t>
                      </a:r>
                    </a:p>
                  </a:txBody>
                  <a:tcPr marL="36576" marR="36576" marT="18288" marB="18288">
                    <a:solidFill>
                      <a:srgbClr val="FFFFFF"/>
                    </a:solidFill>
                  </a:tcPr>
                </a:tc>
                <a:tc>
                  <a:txBody>
                    <a:bodyPr/>
                    <a:lstStyle/>
                    <a:p>
                      <a:pPr algn="ctr"/>
                      <a:r>
                        <a:rPr sz="1000" b="0">
                          <a:latin typeface="Times New Roman"/>
                        </a:rPr>
                        <a:t>57.7 / 72.6</a:t>
                      </a:r>
                    </a:p>
                  </a:txBody>
                  <a:tcPr marL="36576" marR="36576" marT="18288" marB="18288">
                    <a:solidFill>
                      <a:srgbClr val="FFFFFF"/>
                    </a:solidFill>
                  </a:tcPr>
                </a:tc>
                <a:tc>
                  <a:txBody>
                    <a:bodyPr/>
                    <a:lstStyle/>
                    <a:p>
                      <a:pPr algn="ctr"/>
                      <a:r>
                        <a:rPr sz="1000" b="0">
                          <a:latin typeface="Times New Roman"/>
                        </a:rPr>
                        <a:t>53.0 / 63.2</a:t>
                      </a:r>
                    </a:p>
                  </a:txBody>
                  <a:tcPr marL="36576" marR="36576" marT="18288" marB="18288">
                    <a:solidFill>
                      <a:srgbClr val="FFFFFF"/>
                    </a:solidFill>
                  </a:tcPr>
                </a:tc>
                <a:tc>
                  <a:txBody>
                    <a:bodyPr/>
                    <a:lstStyle/>
                    <a:p>
                      <a:pPr algn="ctr"/>
                      <a:r>
                        <a:rPr sz="1000" b="0">
                          <a:latin typeface="Times New Roman"/>
                        </a:rPr>
                        <a:t>+4.7 / +9.4</a:t>
                      </a:r>
                    </a:p>
                  </a:txBody>
                  <a:tcPr marL="36576" marR="36576" marT="18288" marB="18288">
                    <a:solidFill>
                      <a:srgbClr val="FFFFFF"/>
                    </a:solidFill>
                  </a:tcPr>
                </a:tc>
                <a:extLst>
                  <a:ext uri="{0D108BD9-81ED-4DB2-BD59-A6C34878D82A}">
                    <a16:rowId xmlns:a16="http://schemas.microsoft.com/office/drawing/2014/main" val="10006"/>
                  </a:ext>
                </a:extLst>
              </a:tr>
              <a:tr h="356616">
                <a:tc>
                  <a:txBody>
                    <a:bodyPr/>
                    <a:lstStyle/>
                    <a:p>
                      <a:pPr algn="l"/>
                      <a:r>
                        <a:rPr sz="1000" b="0">
                          <a:latin typeface="Times New Roman"/>
                        </a:rPr>
                        <a:t>Inference, T4</a:t>
                      </a:r>
                    </a:p>
                  </a:txBody>
                  <a:tcPr marL="36576" marR="36576" marT="18288" marB="18288">
                    <a:solidFill>
                      <a:srgbClr val="F7F3EC"/>
                    </a:solidFill>
                  </a:tcPr>
                </a:tc>
                <a:tc>
                  <a:txBody>
                    <a:bodyPr/>
                    <a:lstStyle/>
                    <a:p>
                      <a:pPr algn="ctr"/>
                      <a:r>
                        <a:rPr sz="1000" b="0">
                          <a:latin typeface="Times New Roman"/>
                        </a:rPr>
                        <a:t>33.2 ms (30 FPS)</a:t>
                      </a:r>
                    </a:p>
                  </a:txBody>
                  <a:tcPr marL="36576" marR="36576" marT="18288" marB="18288">
                    <a:solidFill>
                      <a:srgbClr val="F7F3EC"/>
                    </a:solidFill>
                  </a:tcPr>
                </a:tc>
                <a:tc>
                  <a:txBody>
                    <a:bodyPr/>
                    <a:lstStyle/>
                    <a:p>
                      <a:pPr algn="ctr"/>
                      <a:r>
                        <a:rPr sz="1000" b="0">
                          <a:latin typeface="Times New Roman"/>
                        </a:rPr>
                        <a:t>11.7 ms (86 FPS)</a:t>
                      </a:r>
                    </a:p>
                  </a:txBody>
                  <a:tcPr marL="36576" marR="36576" marT="18288" marB="18288">
                    <a:solidFill>
                      <a:srgbClr val="F7F3EC"/>
                    </a:solidFill>
                  </a:tcPr>
                </a:tc>
                <a:tc>
                  <a:txBody>
                    <a:bodyPr/>
                    <a:lstStyle/>
                    <a:p>
                      <a:pPr algn="ctr"/>
                      <a:r>
                        <a:rPr sz="1000" b="0">
                          <a:latin typeface="Times New Roman"/>
                        </a:rPr>
                        <a:t>2.8x slower</a:t>
                      </a:r>
                    </a:p>
                  </a:txBody>
                  <a:tcPr marL="36576" marR="36576" marT="18288" marB="18288">
                    <a:solidFill>
                      <a:srgbClr val="F7F3EC"/>
                    </a:solidFill>
                  </a:tcPr>
                </a:tc>
                <a:extLst>
                  <a:ext uri="{0D108BD9-81ED-4DB2-BD59-A6C34878D82A}">
                    <a16:rowId xmlns:a16="http://schemas.microsoft.com/office/drawing/2014/main" val="10007"/>
                  </a:ext>
                </a:extLst>
              </a:tr>
              <a:tr h="356616">
                <a:tc>
                  <a:txBody>
                    <a:bodyPr/>
                    <a:lstStyle/>
                    <a:p>
                      <a:pPr algn="l"/>
                      <a:r>
                        <a:rPr sz="1000" b="0">
                          <a:latin typeface="Times New Roman"/>
                        </a:rPr>
                        <a:t>Training cost</a:t>
                      </a:r>
                    </a:p>
                  </a:txBody>
                  <a:tcPr marL="36576" marR="36576" marT="18288" marB="18288">
                    <a:solidFill>
                      <a:srgbClr val="FFFFFF"/>
                    </a:solidFill>
                  </a:tcPr>
                </a:tc>
                <a:tc>
                  <a:txBody>
                    <a:bodyPr/>
                    <a:lstStyle/>
                    <a:p>
                      <a:pPr algn="ctr"/>
                      <a:r>
                        <a:rPr sz="1000" b="0">
                          <a:latin typeface="Times New Roman"/>
                        </a:rPr>
                        <a:t>2.64 h</a:t>
                      </a:r>
                    </a:p>
                  </a:txBody>
                  <a:tcPr marL="36576" marR="36576" marT="18288" marB="18288">
                    <a:solidFill>
                      <a:srgbClr val="FFFFFF"/>
                    </a:solidFill>
                  </a:tcPr>
                </a:tc>
                <a:tc>
                  <a:txBody>
                    <a:bodyPr/>
                    <a:lstStyle/>
                    <a:p>
                      <a:pPr algn="ctr"/>
                      <a:r>
                        <a:rPr sz="1000" b="0">
                          <a:latin typeface="Times New Roman"/>
                        </a:rPr>
                        <a:t>1.43 h</a:t>
                      </a:r>
                    </a:p>
                  </a:txBody>
                  <a:tcPr marL="36576" marR="36576" marT="18288" marB="18288">
                    <a:solidFill>
                      <a:srgbClr val="FFFFFF"/>
                    </a:solidFill>
                  </a:tcPr>
                </a:tc>
                <a:tc>
                  <a:txBody>
                    <a:bodyPr/>
                    <a:lstStyle/>
                    <a:p>
                      <a:pPr algn="ctr"/>
                      <a:r>
                        <a:rPr sz="1000" b="0">
                          <a:latin typeface="Times New Roman"/>
                        </a:rPr>
                        <a:t>1.8x</a:t>
                      </a:r>
                    </a:p>
                  </a:txBody>
                  <a:tcPr marL="36576" marR="36576" marT="18288" marB="18288">
                    <a:solidFill>
                      <a:srgbClr val="FFFFFF"/>
                    </a:solidFill>
                  </a:tcPr>
                </a:tc>
                <a:extLst>
                  <a:ext uri="{0D108BD9-81ED-4DB2-BD59-A6C34878D82A}">
                    <a16:rowId xmlns:a16="http://schemas.microsoft.com/office/drawing/2014/main" val="10008"/>
                  </a:ext>
                </a:extLst>
              </a:tr>
              <a:tr h="356616">
                <a:tc>
                  <a:txBody>
                    <a:bodyPr/>
                    <a:lstStyle/>
                    <a:p>
                      <a:pPr algn="l"/>
                      <a:r>
                        <a:rPr sz="1000" b="0">
                          <a:latin typeface="Times New Roman"/>
                        </a:rPr>
                        <a:t>Parameters</a:t>
                      </a:r>
                    </a:p>
                  </a:txBody>
                  <a:tcPr marL="36576" marR="36576" marT="18288" marB="18288">
                    <a:solidFill>
                      <a:srgbClr val="F7F3EC"/>
                    </a:solidFill>
                  </a:tcPr>
                </a:tc>
                <a:tc>
                  <a:txBody>
                    <a:bodyPr/>
                    <a:lstStyle/>
                    <a:p>
                      <a:pPr algn="ctr"/>
                      <a:r>
                        <a:rPr sz="1000" b="0">
                          <a:latin typeface="Times New Roman"/>
                        </a:rPr>
                        <a:t>20.0 M</a:t>
                      </a:r>
                    </a:p>
                  </a:txBody>
                  <a:tcPr marL="36576" marR="36576" marT="18288" marB="18288">
                    <a:solidFill>
                      <a:srgbClr val="F7F3EC"/>
                    </a:solidFill>
                  </a:tcPr>
                </a:tc>
                <a:tc>
                  <a:txBody>
                    <a:bodyPr/>
                    <a:lstStyle/>
                    <a:p>
                      <a:pPr algn="ctr"/>
                      <a:r>
                        <a:rPr sz="1000" b="0">
                          <a:latin typeface="Times New Roman"/>
                        </a:rPr>
                        <a:t>9.4 M</a:t>
                      </a:r>
                    </a:p>
                  </a:txBody>
                  <a:tcPr marL="36576" marR="36576" marT="18288" marB="18288">
                    <a:solidFill>
                      <a:srgbClr val="F7F3EC"/>
                    </a:solidFill>
                  </a:tcPr>
                </a:tc>
                <a:tc>
                  <a:txBody>
                    <a:bodyPr/>
                    <a:lstStyle/>
                    <a:p>
                      <a:pPr algn="ctr"/>
                      <a:r>
                        <a:rPr sz="1000" b="0">
                          <a:latin typeface="Times New Roman"/>
                        </a:rPr>
                        <a:t>2.1x</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pic>
        <p:nvPicPr>
          <p:cNvPr id="313" name="Picture 312" descr="confusion_matrix_normalized.png"/>
          <p:cNvPicPr>
            <a:picLocks noChangeAspect="1"/>
          </p:cNvPicPr>
          <p:nvPr/>
        </p:nvPicPr>
        <p:blipFill>
          <a:blip r:embed="rId7"/>
          <a:stretch>
            <a:fillRect/>
          </a:stretch>
        </p:blipFill>
        <p:spPr>
          <a:xfrm>
            <a:off x="5212080" y="1468755"/>
            <a:ext cx="3154680" cy="2366010"/>
          </a:xfrm>
          <a:prstGeom prst="rect">
            <a:avLst/>
          </a:prstGeom>
        </p:spPr>
      </p:pic>
      <p:sp>
        <p:nvSpPr>
          <p:cNvPr id="314" name="TextBox 313"/>
          <p:cNvSpPr txBox="1"/>
          <p:nvPr/>
        </p:nvSpPr>
        <p:spPr>
          <a:xfrm>
            <a:off x="5212080" y="3900002"/>
            <a:ext cx="315468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dirty="0">
                <a:latin typeface="Times New Roman"/>
                <a:ea typeface="Times New Roman"/>
                <a:cs typeface="Times New Roman"/>
                <a:sym typeface="Times New Roman"/>
              </a:rPr>
              <a:t>Test confusion matrix, YOLO11m</a:t>
            </a:r>
          </a:p>
        </p:txBody>
      </p:sp>
      <p:sp>
        <p:nvSpPr>
          <p:cNvPr id="315" name="TextBox 314"/>
          <p:cNvSpPr txBox="1"/>
          <p:nvPr/>
        </p:nvSpPr>
        <p:spPr>
          <a:xfrm>
            <a:off x="274320" y="4617720"/>
            <a:ext cx="8046720" cy="1737360"/>
          </a:xfrm>
          <a:prstGeom prst="rect">
            <a:avLst/>
          </a:prstGeom>
          <a:noFill/>
        </p:spPr>
        <p:txBody>
          <a:bodyPr wrap="square">
            <a:spAutoFit/>
          </a:bodyPr>
          <a:lstStyle/>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Same data, split, seed and recipe: differences are due to model size alone. Overall accuracy is tied within the noise of a 12-board test set.</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YOLO11m trades precision for recall and is stronger on the thin Crack class; YOLO11s is more precise and 2.8x faster.</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Model capacity is not the bottleneck: rare classes and similar knot sub-types are. Second half focuses on data, input enhancement and targeted architecture changes.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DEMONSTRATION APPLICATION</a:t>
            </a:r>
            <a:endParaRPr sz="1400" b="0" i="0" u="none" strike="noStrike" cap="none">
              <a:solidFill>
                <a:srgbClr val="000000"/>
              </a:solidFill>
              <a:latin typeface="Arial"/>
              <a:ea typeface="Arial"/>
              <a:cs typeface="Arial"/>
              <a:sym typeface="Arial"/>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21</a:t>
            </a:fld>
            <a:endParaRPr/>
          </a:p>
        </p:txBody>
      </p:sp>
      <p:pic>
        <p:nvPicPr>
          <p:cNvPr id="318" name="Google Shape;318;p3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325" name="TextBox 324"/>
          <p:cNvSpPr txBox="1"/>
          <p:nvPr/>
        </p:nvSpPr>
        <p:spPr>
          <a:xfrm>
            <a:off x="274320" y="4343400"/>
            <a:ext cx="402336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App output: detections on a board and confidence heatmap</a:t>
            </a:r>
          </a:p>
        </p:txBody>
      </p:sp>
      <p:sp>
        <p:nvSpPr>
          <p:cNvPr id="326" name="TextBox 325"/>
          <p:cNvSpPr txBox="1"/>
          <p:nvPr/>
        </p:nvSpPr>
        <p:spPr>
          <a:xfrm>
            <a:off x="4434840" y="777240"/>
            <a:ext cx="3886200" cy="27432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Detect: </a:t>
            </a:r>
            <a:r>
              <a:rPr lang="en-US" sz="1000">
                <a:latin typeface="Times New Roman"/>
                <a:ea typeface="Times New Roman"/>
                <a:cs typeface="Times New Roman"/>
                <a:sym typeface="Times New Roman"/>
              </a:rPr>
              <a:t>upload a board image, choose a model or run all; colour-coded boxes, heatmap, per-class counts and area.</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Grade: </a:t>
            </a:r>
            <a:r>
              <a:rPr lang="en-US" sz="1000">
                <a:latin typeface="Times New Roman"/>
                <a:ea typeface="Times New Roman"/>
                <a:cs typeface="Times New Roman"/>
                <a:sym typeface="Times New Roman"/>
              </a:rPr>
              <a:t>Board Recoverability Index grade A / B / C / Reject, damage score, recoverable area; editable market-value estimate.</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Test boards: </a:t>
            </a:r>
            <a:r>
              <a:rPr lang="en-US" sz="1000">
                <a:latin typeface="Times New Roman"/>
                <a:ea typeface="Times New Roman"/>
                <a:cs typeface="Times New Roman"/>
                <a:sym typeface="Times New Roman"/>
              </a:rPr>
              <a:t>annotators' boxes and grade next to the model's on the 12 unseen boards.</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Deployment: </a:t>
            </a:r>
            <a:r>
              <a:rPr lang="en-US" sz="1000">
                <a:latin typeface="Times New Roman"/>
                <a:ea typeface="Times New Roman"/>
                <a:cs typeface="Times New Roman"/>
                <a:sym typeface="Times New Roman"/>
              </a:rPr>
              <a:t>runs on a CPU laptop (0.2-0.6 s per image); JSON report per image.</a:t>
            </a:r>
          </a:p>
        </p:txBody>
      </p:sp>
      <p:sp>
        <p:nvSpPr>
          <p:cNvPr id="327" name="TextBox 326"/>
          <p:cNvSpPr txBox="1"/>
          <p:nvPr/>
        </p:nvSpPr>
        <p:spPr>
          <a:xfrm>
            <a:off x="4434840" y="3516994"/>
            <a:ext cx="3886200" cy="2743200"/>
          </a:xfrm>
          <a:prstGeom prst="rect">
            <a:avLst/>
          </a:prstGeom>
          <a:noFill/>
        </p:spPr>
        <p:txBody>
          <a:bodyPr wrap="square">
            <a:spAutoFit/>
          </a:bodyPr>
          <a:lstStyle/>
          <a:p>
            <a:pPr marL="0" lvl="0" indent="0" algn="l">
              <a:lnSpc>
                <a:spcPct val="105000"/>
              </a:lnSpc>
              <a:spcBef>
                <a:spcPts val="400"/>
              </a:spcBef>
              <a:spcAft>
                <a:spcPts val="0"/>
              </a:spcAft>
              <a:buNone/>
            </a:pPr>
            <a:r>
              <a:rPr lang="en-US" sz="1000" b="1" dirty="0">
                <a:latin typeface="Times New Roman"/>
                <a:ea typeface="Times New Roman"/>
                <a:cs typeface="Times New Roman"/>
                <a:sym typeface="Times New Roman"/>
              </a:rPr>
              <a:t>Validated components: </a:t>
            </a:r>
            <a:r>
              <a:rPr lang="en-US" sz="1000" b="0" dirty="0">
                <a:latin typeface="Times New Roman"/>
                <a:ea typeface="Times New Roman"/>
                <a:cs typeface="Times New Roman"/>
                <a:sym typeface="Times New Roman"/>
              </a:rPr>
              <a:t>detection (single-shot test), grading (weighted kappa), enhancement (study on validation).</a:t>
            </a:r>
          </a:p>
        </p:txBody>
      </p:sp>
      <p:sp>
        <p:nvSpPr>
          <p:cNvPr id="328" name="TextBox 327"/>
          <p:cNvSpPr txBox="1"/>
          <p:nvPr/>
        </p:nvSpPr>
        <p:spPr>
          <a:xfrm>
            <a:off x="274320" y="4709160"/>
            <a:ext cx="4023360" cy="1554480"/>
          </a:xfrm>
          <a:prstGeom prst="rect">
            <a:avLst/>
          </a:prstGeom>
          <a:noFill/>
        </p:spPr>
        <p:txBody>
          <a:bodyPr wrap="square">
            <a:spAutoFit/>
          </a:bodyPr>
          <a:lstStyle/>
          <a:p>
            <a:pPr marL="0" lvl="0" indent="0" algn="l">
              <a:lnSpc>
                <a:spcPct val="105000"/>
              </a:lnSpc>
              <a:spcBef>
                <a:spcPts val="400"/>
              </a:spcBef>
              <a:spcAft>
                <a:spcPts val="0"/>
              </a:spcAft>
              <a:buNone/>
            </a:pPr>
            <a:r>
              <a:rPr lang="en-US" sz="950">
                <a:latin typeface="Times New Roman"/>
                <a:ea typeface="Times New Roman"/>
                <a:cs typeface="Times New Roman"/>
                <a:sym typeface="Times New Roman"/>
              </a:rPr>
              <a:t>Limitations: 12-board test set; severity weights and grade thresholds await expert calibration; trained on controlled line-scan imagery.</a:t>
            </a:r>
          </a:p>
        </p:txBody>
      </p:sp>
      <p:pic>
        <p:nvPicPr>
          <p:cNvPr id="329" name="Picture 328" descr="app_detect.png"/>
          <p:cNvPicPr>
            <a:picLocks noChangeAspect="1"/>
          </p:cNvPicPr>
          <p:nvPr/>
        </p:nvPicPr>
        <p:blipFill>
          <a:blip r:embed="rId9"/>
          <a:stretch>
            <a:fillRect/>
          </a:stretch>
        </p:blipFill>
        <p:spPr>
          <a:xfrm>
            <a:off x="274320" y="945489"/>
            <a:ext cx="4023359" cy="1629460"/>
          </a:xfrm>
          <a:prstGeom prst="rect">
            <a:avLst/>
          </a:prstGeom>
        </p:spPr>
      </p:pic>
      <p:pic>
        <p:nvPicPr>
          <p:cNvPr id="330" name="Picture 329" descr="app_grade.png"/>
          <p:cNvPicPr>
            <a:picLocks noChangeAspect="1"/>
          </p:cNvPicPr>
          <p:nvPr/>
        </p:nvPicPr>
        <p:blipFill>
          <a:blip r:embed="rId10"/>
          <a:stretch>
            <a:fillRect/>
          </a:stretch>
        </p:blipFill>
        <p:spPr>
          <a:xfrm>
            <a:off x="274320" y="2830460"/>
            <a:ext cx="4023359" cy="1471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TESTED ON COLLEGE WOOD SAMPLES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22</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college_grid.jpg"/>
          <p:cNvPicPr>
            <a:picLocks noChangeAspect="1"/>
          </p:cNvPicPr>
          <p:nvPr/>
        </p:nvPicPr>
        <p:blipFill>
          <a:blip r:embed="rId6"/>
          <a:stretch>
            <a:fillRect/>
          </a:stretch>
        </p:blipFill>
        <p:spPr>
          <a:xfrm>
            <a:off x="224287" y="772763"/>
            <a:ext cx="4109271" cy="4529618"/>
          </a:xfrm>
          <a:prstGeom prst="rect">
            <a:avLst/>
          </a:prstGeom>
        </p:spPr>
      </p:pic>
      <p:sp>
        <p:nvSpPr>
          <p:cNvPr id="201" name="TextBox 200"/>
          <p:cNvSpPr txBox="1"/>
          <p:nvPr/>
        </p:nvSpPr>
        <p:spPr>
          <a:xfrm>
            <a:off x="328835" y="5359010"/>
            <a:ext cx="3931920" cy="347472"/>
          </a:xfrm>
          <a:prstGeom prst="rect">
            <a:avLst/>
          </a:prstGeom>
          <a:noFill/>
        </p:spPr>
        <p:txBody>
          <a:bodyPr wrap="square">
            <a:spAutoFit/>
          </a:bodyPr>
          <a:lstStyle/>
          <a:p>
            <a:pPr algn="ctr"/>
            <a:r>
              <a:rPr sz="1100" i="1" dirty="0">
                <a:latin typeface="Times New Roman"/>
              </a:rPr>
              <a:t>Detections on wood photographed in college (YOLO11m)</a:t>
            </a:r>
          </a:p>
        </p:txBody>
      </p:sp>
      <p:pic>
        <p:nvPicPr>
          <p:cNvPr id="202" name="Picture 201" descr="ui_shot.png"/>
          <p:cNvPicPr>
            <a:picLocks noChangeAspect="1"/>
          </p:cNvPicPr>
          <p:nvPr/>
        </p:nvPicPr>
        <p:blipFill>
          <a:blip r:embed="rId7"/>
          <a:stretch>
            <a:fillRect/>
          </a:stretch>
        </p:blipFill>
        <p:spPr>
          <a:xfrm>
            <a:off x="4403390" y="784098"/>
            <a:ext cx="3977639" cy="3049523"/>
          </a:xfrm>
          <a:prstGeom prst="rect">
            <a:avLst/>
          </a:prstGeom>
        </p:spPr>
      </p:pic>
      <p:sp>
        <p:nvSpPr>
          <p:cNvPr id="203" name="TextBox 202"/>
          <p:cNvSpPr txBox="1"/>
          <p:nvPr/>
        </p:nvSpPr>
        <p:spPr>
          <a:xfrm>
            <a:off x="4343400" y="3913632"/>
            <a:ext cx="3977639" cy="347472"/>
          </a:xfrm>
          <a:prstGeom prst="rect">
            <a:avLst/>
          </a:prstGeom>
          <a:noFill/>
        </p:spPr>
        <p:txBody>
          <a:bodyPr wrap="square">
            <a:spAutoFit/>
          </a:bodyPr>
          <a:lstStyle/>
          <a:p>
            <a:pPr algn="ctr"/>
            <a:r>
              <a:rPr sz="1100" i="1">
                <a:latin typeface="Times New Roman"/>
              </a:rPr>
              <a:t>The application running locally</a:t>
            </a:r>
          </a:p>
        </p:txBody>
      </p:sp>
      <p:sp>
        <p:nvSpPr>
          <p:cNvPr id="204" name="TextBox 203"/>
          <p:cNvSpPr txBox="1"/>
          <p:nvPr/>
        </p:nvSpPr>
        <p:spPr>
          <a:xfrm>
            <a:off x="4735902" y="4341115"/>
            <a:ext cx="3347223" cy="1015663"/>
          </a:xfrm>
          <a:prstGeom prst="rect">
            <a:avLst/>
          </a:prstGeom>
          <a:noFill/>
        </p:spPr>
        <p:txBody>
          <a:bodyPr wrap="square">
            <a:spAutoFit/>
          </a:bodyPr>
          <a:lstStyle/>
          <a:p>
            <a:r>
              <a:rPr sz="1200" b="1" dirty="0">
                <a:latin typeface="Times New Roman"/>
              </a:rPr>
              <a:t>Classes found: </a:t>
            </a:r>
            <a:r>
              <a:rPr sz="1200" dirty="0" err="1">
                <a:latin typeface="Times New Roman"/>
              </a:rPr>
              <a:t>Live_Knot</a:t>
            </a:r>
            <a:r>
              <a:rPr sz="1200" dirty="0">
                <a:latin typeface="Times New Roman"/>
              </a:rPr>
              <a:t>, </a:t>
            </a:r>
            <a:r>
              <a:rPr sz="1200" dirty="0" err="1">
                <a:latin typeface="Times New Roman"/>
              </a:rPr>
              <a:t>Dead_Knot</a:t>
            </a:r>
            <a:r>
              <a:rPr sz="1200" dirty="0">
                <a:latin typeface="Times New Roman"/>
              </a:rPr>
              <a:t>, Resin.</a:t>
            </a:r>
          </a:p>
          <a:p>
            <a:r>
              <a:rPr sz="1200" b="1" dirty="0">
                <a:latin typeface="Times New Roman"/>
              </a:rPr>
              <a:t>Confidence: </a:t>
            </a:r>
            <a:r>
              <a:rPr sz="1200" dirty="0">
                <a:latin typeface="Times New Roman"/>
              </a:rPr>
              <a:t>0.45 to 0.73 on unseen wood types.</a:t>
            </a:r>
          </a:p>
          <a:p>
            <a:r>
              <a:rPr sz="1200" b="1" dirty="0">
                <a:latin typeface="Times New Roman"/>
              </a:rPr>
              <a:t>Note: </a:t>
            </a:r>
            <a:r>
              <a:rPr sz="1200" dirty="0">
                <a:latin typeface="Times New Roman"/>
              </a:rPr>
              <a:t>the model is trained on close-range board scans, so the view must be framed at a comparable scale.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 Y. Fang, Y. Ma, S. Gao, and J. Chen, “Recent advances in wood surface defect inspection using deep learning (2021–2025),”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3, 2026.</a:t>
            </a:r>
            <a:r>
              <a:rPr lang="en-US" sz="1100">
                <a:uFill>
                  <a:noFill/>
                </a:uFill>
                <a:latin typeface="Times New Roman"/>
                <a:ea typeface="Times New Roman"/>
                <a:cs typeface="Times New Roman"/>
                <a:sym typeface="Times New Roman"/>
                <a:hlinkClick r:id="rId2"/>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https://bioresources.cnr.ncsu.edu/resources/recent-advances-in-wood-surface-defect-inspection-using-deep-learning-2021-2025/</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[2] J. Zheng, “IEL-YOLO: A low-light robust wood defect detection method based on YOLOv11,” in </a:t>
            </a:r>
            <a:r>
              <a:rPr lang="en-US" sz="1100" i="1">
                <a:latin typeface="Times New Roman"/>
                <a:ea typeface="Times New Roman"/>
                <a:cs typeface="Times New Roman"/>
                <a:sym typeface="Times New Roman"/>
              </a:rPr>
              <a:t>Proc. 2026 3rd Int. Conf. Electrical Technology and Automation Engineering (ETAE)</a:t>
            </a:r>
            <a:r>
              <a:rPr lang="en-US" sz="1100">
                <a:latin typeface="Times New Roman"/>
                <a:ea typeface="Times New Roman"/>
                <a:cs typeface="Times New Roman"/>
                <a:sym typeface="Times New Roman"/>
              </a:rPr>
              <a:t>, 2026, pp. 818–821, doi: 10.1109/ETAE69474.2026.11496073.</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https://doi.org/10.1109/ETAE69474.2026.11496073</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[3] J. Qu, Y. Pang, and Z. Wang, “WD-SEG: A deep learning framework for delicate and accurate wood defect segmentation,”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2, pp. 2925–2947, 2026.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https://bioresources.cnr.ncsu.edu/resources/wd-seg-a-deep-learning-framework-for-delicate-and-accurate-wood-defect-segmentation/</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[4] J. Wang and S. Tang, “A novel IWPT-VMD denoising method for enhancing air-coupled ultrasonic detection of wood defects,” </a:t>
            </a:r>
            <a:r>
              <a:rPr lang="en-US" sz="1100" i="1">
                <a:latin typeface="Times New Roman"/>
                <a:ea typeface="Times New Roman"/>
                <a:cs typeface="Times New Roman"/>
                <a:sym typeface="Times New Roman"/>
              </a:rPr>
              <a:t>AIP Advances</a:t>
            </a:r>
            <a:r>
              <a:rPr lang="en-US" sz="1100">
                <a:latin typeface="Times New Roman"/>
                <a:ea typeface="Times New Roman"/>
                <a:cs typeface="Times New Roman"/>
                <a:sym typeface="Times New Roman"/>
              </a:rPr>
              <a:t>, vol. 16, no. 2, Art. no. 025217, 2026, doi: 10.1063/5.0313821.</a:t>
            </a:r>
            <a:r>
              <a:rPr lang="en-US" sz="1100">
                <a:uFill>
                  <a:noFill/>
                </a:uFill>
                <a:latin typeface="Times New Roman"/>
                <a:ea typeface="Times New Roman"/>
                <a:cs typeface="Times New Roman"/>
                <a:sym typeface="Times New Roman"/>
                <a:hlinkClick r:id="rId6"/>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https://doi.org/10.1063/5.0313821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[5] C. S. Erasmus, D. M. Drew, and M. J. Booysen, “A low-cost wireless dendrometer and digital twin for precision forestry applications,” </a:t>
            </a:r>
            <a:r>
              <a:rPr lang="en-US" sz="1100" i="1">
                <a:latin typeface="Times New Roman"/>
                <a:ea typeface="Times New Roman"/>
                <a:cs typeface="Times New Roman"/>
                <a:sym typeface="Times New Roman"/>
              </a:rPr>
              <a:t>Measurement</a:t>
            </a:r>
            <a:r>
              <a:rPr lang="en-US" sz="1100">
                <a:latin typeface="Times New Roman"/>
                <a:ea typeface="Times New Roman"/>
                <a:cs typeface="Times New Roman"/>
                <a:sym typeface="Times New Roman"/>
              </a:rPr>
              <a:t>, vol. 276, Art. no. 121442, 2026, doi: 10.1016/j.measurement.2026.121442.</a:t>
            </a:r>
            <a:r>
              <a:rPr lang="en-US" sz="1100">
                <a:uFill>
                  <a:noFill/>
                </a:uFill>
                <a:latin typeface="Times New Roman"/>
                <a:ea typeface="Times New Roman"/>
                <a:cs typeface="Times New Roman"/>
                <a:sym typeface="Times New Roman"/>
                <a:hlinkClick r:id="rId8"/>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https://doi.org/10.1016/j.measurement.2026.121442</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[6] N. Perry, J. Schweier, L. G. Bont, S. K. Kushwaha, H. Peltola, K. Eyvindson, R. Astrup, M. Chapman, and C. Blattert, “Towards precision forestry: A systematic review of optimisation methods for individual-tree decisions in forest management,” </a:t>
            </a:r>
            <a:r>
              <a:rPr lang="en-US" sz="1100" i="1">
                <a:latin typeface="Times New Roman"/>
                <a:ea typeface="Times New Roman"/>
                <a:cs typeface="Times New Roman"/>
                <a:sym typeface="Times New Roman"/>
              </a:rPr>
              <a:t>Trees, Forests and People</a:t>
            </a:r>
            <a:r>
              <a:rPr lang="en-US" sz="1100">
                <a:latin typeface="Times New Roman"/>
                <a:ea typeface="Times New Roman"/>
                <a:cs typeface="Times New Roman"/>
                <a:sym typeface="Times New Roman"/>
              </a:rPr>
              <a:t>, vol. 24, Art. no. 101226, 2026, doi: 10.1016/j.tfp.2026.101226.</a:t>
            </a:r>
            <a:r>
              <a:rPr lang="en-US" sz="1100">
                <a:uFill>
                  <a:noFill/>
                </a:uFill>
                <a:latin typeface="Times New Roman"/>
                <a:ea typeface="Times New Roman"/>
                <a:cs typeface="Times New Roman"/>
                <a:sym typeface="Times New Roman"/>
                <a:hlinkClick r:id="rId10"/>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https://doi.org/10.1016/j.tfp.2026.101226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23</a:t>
            </a:fld>
            <a:endParaRPr/>
          </a:p>
        </p:txBody>
      </p:sp>
      <p:pic>
        <p:nvPicPr>
          <p:cNvPr id="318" name="Google Shape;318;p31"/>
          <p:cNvPicPr preferRelativeResize="0"/>
          <p:nvPr/>
        </p:nvPicPr>
        <p:blipFill rotWithShape="1">
          <a:blip r:embed="rId12">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13">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14">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15">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[7] E. Z. </a:t>
            </a:r>
            <a:r>
              <a:rPr lang="en-US" sz="1100" dirty="0" err="1">
                <a:latin typeface="Times New Roman"/>
                <a:ea typeface="Times New Roman"/>
                <a:cs typeface="Times New Roman"/>
                <a:sym typeface="Times New Roman"/>
              </a:rPr>
              <a:t>Başkent</a:t>
            </a:r>
            <a:r>
              <a:rPr lang="en-US" sz="1100" dirty="0">
                <a:latin typeface="Times New Roman"/>
                <a:ea typeface="Times New Roman"/>
                <a:cs typeface="Times New Roman"/>
                <a:sym typeface="Times New Roman"/>
              </a:rPr>
              <a:t>, A. Bončina, and J. G. Borges, “A review and conceptual framework for a new era of forest management planning: Integrating hybrid digital twin systems toward sustainable forest ecosystems,” </a:t>
            </a:r>
            <a:r>
              <a:rPr lang="en-US" sz="1100" i="1" dirty="0">
                <a:latin typeface="Times New Roman"/>
                <a:ea typeface="Times New Roman"/>
                <a:cs typeface="Times New Roman"/>
                <a:sym typeface="Times New Roman"/>
              </a:rPr>
              <a:t>Ecosystem Services</a:t>
            </a:r>
            <a:r>
              <a:rPr lang="en-US" sz="1100" dirty="0">
                <a:latin typeface="Times New Roman"/>
                <a:ea typeface="Times New Roman"/>
                <a:cs typeface="Times New Roman"/>
                <a:sym typeface="Times New Roman"/>
              </a:rPr>
              <a:t>, vol. 79, Art. no. 101851, 2026,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10.1016/j.ecoser.2026.101851.</a:t>
            </a:r>
            <a:r>
              <a:rPr lang="en-US" sz="1100" dirty="0">
                <a:uFill>
                  <a:noFill/>
                </a:uFill>
                <a:latin typeface="Times New Roman"/>
                <a:ea typeface="Times New Roman"/>
                <a:cs typeface="Times New Roman"/>
                <a:sym typeface="Times New Roman"/>
                <a:hlinkClick r:id="rId3"/>
              </a:rPr>
              <a:t> </a:t>
            </a:r>
            <a:r>
              <a:rPr lang="en-US" sz="11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https://doi.org/10.1016/j.ecoser.2026.101851</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[8] J. Tan, H. Zhang, J. Yang, Y. Liu, D. Zheng, and X. Liu, “</a:t>
            </a:r>
            <a:r>
              <a:rPr lang="en-US" sz="1100" dirty="0" err="1">
                <a:latin typeface="Times New Roman"/>
                <a:ea typeface="Times New Roman"/>
                <a:cs typeface="Times New Roman"/>
                <a:sym typeface="Times New Roman"/>
              </a:rPr>
              <a:t>ForestryBERT</a:t>
            </a:r>
            <a:r>
              <a:rPr lang="en-US" sz="1100" dirty="0">
                <a:latin typeface="Times New Roman"/>
                <a:ea typeface="Times New Roman"/>
                <a:cs typeface="Times New Roman"/>
                <a:sym typeface="Times New Roman"/>
              </a:rPr>
              <a:t>: A pre-trained language model with continual learning adapted to changing forestry text,” </a:t>
            </a:r>
            <a:r>
              <a:rPr lang="en-US" sz="1100" i="1" dirty="0">
                <a:latin typeface="Times New Roman"/>
                <a:ea typeface="Times New Roman"/>
                <a:cs typeface="Times New Roman"/>
                <a:sym typeface="Times New Roman"/>
              </a:rPr>
              <a:t>Knowledge-Based Systems</a:t>
            </a:r>
            <a:r>
              <a:rPr lang="en-US" sz="1100" dirty="0">
                <a:latin typeface="Times New Roman"/>
                <a:ea typeface="Times New Roman"/>
                <a:cs typeface="Times New Roman"/>
                <a:sym typeface="Times New Roman"/>
              </a:rPr>
              <a:t>, vol. 320, Art. no. 113706, 2025,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10.1016/j.knosys.2025.113706.</a:t>
            </a:r>
            <a:r>
              <a:rPr lang="en-US" sz="1100" dirty="0">
                <a:uFill>
                  <a:noFill/>
                </a:uFill>
                <a:latin typeface="Times New Roman"/>
                <a:ea typeface="Times New Roman"/>
                <a:cs typeface="Times New Roman"/>
                <a:sym typeface="Times New Roman"/>
                <a:hlinkClick r:id="rId5"/>
              </a:rPr>
              <a:t> </a:t>
            </a:r>
            <a:r>
              <a:rPr lang="en-US" sz="11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https://doi.org/10.1016/j.knosys.2025.113706</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[9] T. I. </a:t>
            </a:r>
            <a:r>
              <a:rPr lang="en-US" sz="1100" dirty="0" err="1">
                <a:latin typeface="Times New Roman"/>
                <a:ea typeface="Times New Roman"/>
                <a:cs typeface="Times New Roman"/>
                <a:sym typeface="Times New Roman"/>
              </a:rPr>
              <a:t>Zohdi</a:t>
            </a:r>
            <a:r>
              <a:rPr lang="en-US" sz="1100" dirty="0">
                <a:latin typeface="Times New Roman"/>
                <a:ea typeface="Times New Roman"/>
                <a:cs typeface="Times New Roman"/>
                <a:sym typeface="Times New Roman"/>
              </a:rPr>
              <a:t>, “A machine-learning enabled digital-twin framework for next generation precision agriculture and forestry,” </a:t>
            </a:r>
            <a:r>
              <a:rPr lang="en-US" sz="1100" i="1" dirty="0">
                <a:latin typeface="Times New Roman"/>
                <a:ea typeface="Times New Roman"/>
                <a:cs typeface="Times New Roman"/>
                <a:sym typeface="Times New Roman"/>
              </a:rPr>
              <a:t>Computer Methods in Applied Mechanics and Engineering</a:t>
            </a:r>
            <a:r>
              <a:rPr lang="en-US" sz="1100" dirty="0">
                <a:latin typeface="Times New Roman"/>
                <a:ea typeface="Times New Roman"/>
                <a:cs typeface="Times New Roman"/>
                <a:sym typeface="Times New Roman"/>
              </a:rPr>
              <a:t>, vol. 431, Art. no. 117250,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10.1016/j.cma.2024.117250.</a:t>
            </a:r>
            <a:r>
              <a:rPr lang="en-US" sz="1100" dirty="0">
                <a:uFill>
                  <a:noFill/>
                </a:uFill>
                <a:latin typeface="Times New Roman"/>
                <a:ea typeface="Times New Roman"/>
                <a:cs typeface="Times New Roman"/>
                <a:sym typeface="Times New Roman"/>
                <a:hlinkClick r:id="rId7"/>
              </a:rPr>
              <a:t> </a:t>
            </a:r>
            <a:r>
              <a:rPr lang="en-US" sz="11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https://doi.org/10.1016/j.cma.2024.117250</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[10] H. An, Z. Liang, M. Qin, Y. Huang, F. Xiong, and G. Zeng, “Wood defect detection based on the CWB-YOLOv8 algorithm,” </a:t>
            </a:r>
            <a:r>
              <a:rPr lang="en-US" sz="1100" i="1" dirty="0">
                <a:latin typeface="Times New Roman"/>
                <a:ea typeface="Times New Roman"/>
                <a:cs typeface="Times New Roman"/>
                <a:sym typeface="Times New Roman"/>
              </a:rPr>
              <a:t>Journal of Wood Science</a:t>
            </a:r>
            <a:r>
              <a:rPr lang="en-US" sz="1100" dirty="0">
                <a:latin typeface="Times New Roman"/>
                <a:ea typeface="Times New Roman"/>
                <a:cs typeface="Times New Roman"/>
                <a:sym typeface="Times New Roman"/>
              </a:rPr>
              <a:t>, vol. 70, Art. no. 26,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10.1186/s10086-024-02139-z.</a:t>
            </a:r>
            <a:r>
              <a:rPr lang="en-US" sz="1100" dirty="0">
                <a:uFill>
                  <a:noFill/>
                </a:uFill>
                <a:latin typeface="Times New Roman"/>
                <a:ea typeface="Times New Roman"/>
                <a:cs typeface="Times New Roman"/>
                <a:sym typeface="Times New Roman"/>
                <a:hlinkClick r:id="rId9"/>
              </a:rPr>
              <a:t> </a:t>
            </a:r>
            <a:r>
              <a:rPr lang="en-US" sz="1100" u="sng" dirty="0">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https://doi.org/10.1186/s10086-024-02139-z</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Springer</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[11] L. P. Yi, M. F. Akbar, M. N. A. Wahab, B. A. </a:t>
            </a:r>
            <a:r>
              <a:rPr lang="en-US" sz="1100" dirty="0" err="1">
                <a:latin typeface="Times New Roman"/>
                <a:ea typeface="Times New Roman"/>
                <a:cs typeface="Times New Roman"/>
                <a:sym typeface="Times New Roman"/>
              </a:rPr>
              <a:t>Rosdi</a:t>
            </a:r>
            <a:r>
              <a:rPr lang="en-US" sz="1100" dirty="0">
                <a:latin typeface="Times New Roman"/>
                <a:ea typeface="Times New Roman"/>
                <a:cs typeface="Times New Roman"/>
                <a:sym typeface="Times New Roman"/>
              </a:rPr>
              <a:t>, M. A. </a:t>
            </a:r>
            <a:r>
              <a:rPr lang="en-US" sz="1100" dirty="0" err="1">
                <a:latin typeface="Times New Roman"/>
                <a:ea typeface="Times New Roman"/>
                <a:cs typeface="Times New Roman"/>
                <a:sym typeface="Times New Roman"/>
              </a:rPr>
              <a:t>Fauthan</a:t>
            </a:r>
            <a:r>
              <a:rPr lang="en-US" sz="1100" dirty="0">
                <a:latin typeface="Times New Roman"/>
                <a:ea typeface="Times New Roman"/>
                <a:cs typeface="Times New Roman"/>
                <a:sym typeface="Times New Roman"/>
              </a:rPr>
              <a:t>, and N. H. M. M. </a:t>
            </a:r>
            <a:r>
              <a:rPr lang="en-US" sz="1100" dirty="0" err="1">
                <a:latin typeface="Times New Roman"/>
                <a:ea typeface="Times New Roman"/>
                <a:cs typeface="Times New Roman"/>
                <a:sym typeface="Times New Roman"/>
              </a:rPr>
              <a:t>Shrifan</a:t>
            </a:r>
            <a:r>
              <a:rPr lang="en-US" sz="1100" dirty="0">
                <a:latin typeface="Times New Roman"/>
                <a:ea typeface="Times New Roman"/>
                <a:cs typeface="Times New Roman"/>
                <a:sym typeface="Times New Roman"/>
              </a:rPr>
              <a:t>, “The prospect of artificial intelligence-based wood surface inspection: A review,” </a:t>
            </a:r>
            <a:r>
              <a:rPr lang="en-US" sz="1100" i="1" dirty="0">
                <a:latin typeface="Times New Roman"/>
                <a:ea typeface="Times New Roman"/>
                <a:cs typeface="Times New Roman"/>
                <a:sym typeface="Times New Roman"/>
              </a:rPr>
              <a:t>IEEE Access</a:t>
            </a:r>
            <a:r>
              <a:rPr lang="en-US" sz="1100" dirty="0">
                <a:latin typeface="Times New Roman"/>
                <a:ea typeface="Times New Roman"/>
                <a:cs typeface="Times New Roman"/>
                <a:sym typeface="Times New Roman"/>
              </a:rPr>
              <a:t>, vol. 12, pp. 84706–84725,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10.1109/ACCESS.2024.3412928.</a:t>
            </a:r>
            <a:r>
              <a:rPr lang="en-US" sz="1100" dirty="0">
                <a:uFill>
                  <a:noFill/>
                </a:uFill>
                <a:latin typeface="Times New Roman"/>
                <a:ea typeface="Times New Roman"/>
                <a:cs typeface="Times New Roman"/>
                <a:sym typeface="Times New Roman"/>
                <a:hlinkClick r:id="rId11"/>
              </a:rPr>
              <a:t> </a:t>
            </a:r>
            <a:r>
              <a:rPr lang="en-US" sz="1100" u="sng" dirty="0">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https://doi.org/10.1109/ACCESS.2024.3412928</a:t>
            </a:r>
            <a:r>
              <a:rPr lang="en-US" sz="1100" dirty="0">
                <a:latin typeface="Times New Roman"/>
                <a:ea typeface="Times New Roman"/>
                <a:cs typeface="Times New Roman"/>
                <a:sym typeface="Times New Roman"/>
              </a:rPr>
              <a:t> (</a:t>
            </a:r>
            <a:r>
              <a:rPr lang="en-US" sz="1100" u="sng" dirty="0" err="1">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Ouci</a:t>
            </a:r>
            <a:r>
              <a:rPr lang="en-US" sz="1100" dirty="0">
                <a:latin typeface="Times New Roman"/>
                <a:ea typeface="Times New Roman"/>
                <a:cs typeface="Times New Roman"/>
                <a:sym typeface="Times New Roman"/>
              </a:rPr>
              <a:t>)</a:t>
            </a:r>
            <a:endParaRPr sz="2800" b="1"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dirty="0">
              <a:solidFill>
                <a:srgbClr val="41534B"/>
              </a:solidFill>
              <a:latin typeface="Times New Roman"/>
              <a:ea typeface="Times New Roman"/>
              <a:cs typeface="Times New Roman"/>
              <a:sym typeface="Times New Roman"/>
            </a:endParaRP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1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4">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5">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16">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p:nvPr/>
        </p:nvSpPr>
        <p:spPr>
          <a:xfrm>
            <a:off x="1988956" y="2967335"/>
            <a:ext cx="46926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900" b="1" i="0" u="none" strike="noStrike" cap="none">
                <a:solidFill>
                  <a:srgbClr val="F1C232"/>
                </a:solidFill>
                <a:latin typeface="Lobster"/>
                <a:ea typeface="Lobster"/>
                <a:cs typeface="Lobster"/>
                <a:sym typeface="Lobster"/>
              </a:rPr>
              <a:t>Thank You</a:t>
            </a:r>
            <a:r>
              <a:rPr lang="en-US" sz="5900" b="1" i="0" u="none" strike="noStrike" cap="none">
                <a:solidFill>
                  <a:srgbClr val="F1C232"/>
                </a:solidFill>
                <a:latin typeface="Calibri"/>
                <a:ea typeface="Calibri"/>
                <a:cs typeface="Calibri"/>
                <a:sym typeface="Calibri"/>
              </a:rPr>
              <a:t> </a:t>
            </a:r>
            <a:endParaRPr sz="5900" b="1" i="0" u="none" strike="noStrike" cap="none">
              <a:solidFill>
                <a:srgbClr val="F1C232"/>
              </a:solidFill>
              <a:latin typeface="Calibri"/>
              <a:ea typeface="Calibri"/>
              <a:cs typeface="Calibri"/>
              <a:sym typeface="Calibri"/>
            </a:endParaRPr>
          </a:p>
        </p:txBody>
      </p:sp>
      <p:sp>
        <p:nvSpPr>
          <p:cNvPr id="339" name="Google Shape;339;p3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25</a:t>
            </a:fld>
            <a:endParaRPr/>
          </a:p>
        </p:txBody>
      </p:sp>
      <p:pic>
        <p:nvPicPr>
          <p:cNvPr id="340" name="Google Shape;340;p3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41" name="Google Shape;341;p3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42" name="Google Shape;342;p3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44" name="Google Shape;344;p3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 CLASS BALANCING</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4572000" cy="960120"/>
        </p:xfrm>
        <a:graphic>
          <a:graphicData uri="http://schemas.openxmlformats.org/drawingml/2006/table">
            <a:tbl>
              <a:tblPr firstRow="1" bandRow="1">
                <a:tableStyleId>{5C22544A-7EE6-4342-B048-85BDC9FD1C3A}</a:tableStyleId>
              </a:tblPr>
              <a:tblGrid>
                <a:gridCol w="1988820">
                  <a:extLst>
                    <a:ext uri="{9D8B030D-6E8A-4147-A177-3AD203B41FA5}">
                      <a16:colId xmlns:a16="http://schemas.microsoft.com/office/drawing/2014/main" val="20000"/>
                    </a:ext>
                  </a:extLst>
                </a:gridCol>
                <a:gridCol w="1682847">
                  <a:extLst>
                    <a:ext uri="{9D8B030D-6E8A-4147-A177-3AD203B41FA5}">
                      <a16:colId xmlns:a16="http://schemas.microsoft.com/office/drawing/2014/main" val="20001"/>
                    </a:ext>
                  </a:extLst>
                </a:gridCol>
                <a:gridCol w="1835833">
                  <a:extLst>
                    <a:ext uri="{9D8B030D-6E8A-4147-A177-3AD203B41FA5}">
                      <a16:colId xmlns:a16="http://schemas.microsoft.com/office/drawing/2014/main" val="20002"/>
                    </a:ext>
                  </a:extLst>
                </a:gridCol>
                <a:gridCol w="2447778">
                  <a:extLst>
                    <a:ext uri="{9D8B030D-6E8A-4147-A177-3AD203B41FA5}">
                      <a16:colId xmlns:a16="http://schemas.microsoft.com/office/drawing/2014/main" val="20003"/>
                    </a:ext>
                  </a:extLst>
                </a:gridCol>
              </a:tblGrid>
              <a:tr h="274320">
                <a:tc>
                  <a:txBody>
                    <a:bodyPr/>
                    <a:lstStyle/>
                    <a:p>
                      <a:pPr algn="l"/>
                      <a:r>
                        <a:rPr sz="1000" b="1" dirty="0">
                          <a:solidFill>
                            <a:srgbClr val="FFFFFF"/>
                          </a:solidFill>
                          <a:latin typeface="Times New Roman"/>
                        </a:rPr>
                        <a:t>Class</a:t>
                      </a:r>
                    </a:p>
                  </a:txBody>
                  <a:tcPr marL="36576" marR="36576" marT="18288" marB="18288">
                    <a:solidFill>
                      <a:srgbClr val="41534B"/>
                    </a:solidFill>
                  </a:tcPr>
                </a:tc>
                <a:tc>
                  <a:txBody>
                    <a:bodyPr/>
                    <a:lstStyle/>
                    <a:p>
                      <a:pPr algn="ctr"/>
                      <a:r>
                        <a:rPr sz="1000" b="1">
                          <a:solidFill>
                            <a:srgbClr val="FFFFFF"/>
                          </a:solidFill>
                          <a:latin typeface="Times New Roman"/>
                        </a:rPr>
                        <a:t>Training boxes</a:t>
                      </a:r>
                    </a:p>
                  </a:txBody>
                  <a:tcPr marL="36576" marR="36576" marT="18288" marB="18288">
                    <a:solidFill>
                      <a:srgbClr val="41534B"/>
                    </a:solidFill>
                  </a:tcPr>
                </a:tc>
                <a:tc>
                  <a:txBody>
                    <a:bodyPr/>
                    <a:lstStyle/>
                    <a:p>
                      <a:pPr algn="ctr"/>
                      <a:r>
                        <a:rPr sz="1000" b="1">
                          <a:solidFill>
                            <a:srgbClr val="FFFFFF"/>
                          </a:solidFill>
                          <a:latin typeface="Times New Roman"/>
                        </a:rPr>
                        <a:t>Full balance (1:1)</a:t>
                      </a:r>
                    </a:p>
                  </a:txBody>
                  <a:tcPr marL="36576" marR="36576" marT="18288" marB="18288">
                    <a:solidFill>
                      <a:srgbClr val="41534B"/>
                    </a:solidFill>
                  </a:tcPr>
                </a:tc>
                <a:tc>
                  <a:txBody>
                    <a:bodyPr/>
                    <a:lstStyle/>
                    <a:p>
                      <a:pPr algn="ctr"/>
                      <a:r>
                        <a:rPr sz="1000" b="1">
                          <a:solidFill>
                            <a:srgbClr val="FFFFFF"/>
                          </a:solidFill>
                          <a:latin typeface="Times New Roman"/>
                        </a:rPr>
                        <a:t>Partial balance sqrt(n_c n_max)</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Live_Knot</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Dead_Knot</a:t>
                      </a:r>
                    </a:p>
                  </a:txBody>
                  <a:tcPr marL="36576" marR="36576" marT="18288" marB="18288">
                    <a:solidFill>
                      <a:srgbClr val="FFFFFF"/>
                    </a:solidFill>
                  </a:tcPr>
                </a:tc>
                <a:tc>
                  <a:txBody>
                    <a:bodyPr/>
                    <a:lstStyle/>
                    <a:p>
                      <a:pPr algn="ctr"/>
                      <a:r>
                        <a:rPr sz="1000" b="0">
                          <a:latin typeface="Times New Roman"/>
                        </a:rPr>
                        <a:t>2071</a:t>
                      </a:r>
                    </a:p>
                  </a:txBody>
                  <a:tcPr marL="36576" marR="36576" marT="18288" marB="18288">
                    <a:solidFill>
                      <a:srgbClr val="FFFFFF"/>
                    </a:solidFill>
                  </a:tcPr>
                </a:tc>
                <a:tc>
                  <a:txBody>
                    <a:bodyPr/>
                    <a:lstStyle/>
                    <a:p>
                      <a:pPr algn="ctr"/>
                      <a:r>
                        <a:rPr sz="1000" b="0">
                          <a:latin typeface="Times New Roman"/>
                        </a:rPr>
                        <a:t>3071</a:t>
                      </a:r>
                    </a:p>
                  </a:txBody>
                  <a:tcPr marL="36576" marR="36576" marT="18288" marB="18288">
                    <a:solidFill>
                      <a:srgbClr val="FFFFFF"/>
                    </a:solidFill>
                  </a:tcPr>
                </a:tc>
                <a:tc>
                  <a:txBody>
                    <a:bodyPr/>
                    <a:lstStyle/>
                    <a:p>
                      <a:pPr algn="ctr"/>
                      <a:r>
                        <a:rPr sz="1000" b="0">
                          <a:latin typeface="Times New Roman"/>
                        </a:rPr>
                        <a:t>2470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Resin</a:t>
                      </a:r>
                    </a:p>
                  </a:txBody>
                  <a:tcPr marL="36576" marR="36576" marT="18288" marB="18288">
                    <a:solidFill>
                      <a:srgbClr val="FFFFFF"/>
                    </a:solidFill>
                  </a:tcPr>
                </a:tc>
                <a:tc>
                  <a:txBody>
                    <a:bodyPr/>
                    <a:lstStyle/>
                    <a:p>
                      <a:pPr algn="ctr"/>
                      <a:r>
                        <a:rPr sz="1000" b="0">
                          <a:latin typeface="Times New Roman"/>
                        </a:rPr>
                        <a:t>489</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1191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Crack</a:t>
                      </a:r>
                    </a:p>
                  </a:txBody>
                  <a:tcPr marL="36576" marR="36576" marT="18288" marB="18288">
                    <a:solidFill>
                      <a:srgbClr val="FFFFFF"/>
                    </a:solidFill>
                  </a:tcPr>
                </a:tc>
                <a:tc>
                  <a:txBody>
                    <a:bodyPr/>
                    <a:lstStyle/>
                    <a:p>
                      <a:pPr algn="ctr"/>
                      <a:r>
                        <a:rPr sz="1000" b="0">
                          <a:latin typeface="Times New Roman"/>
                        </a:rPr>
                        <a:t>306</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942</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Imbalance max : min</a:t>
                      </a:r>
                    </a:p>
                  </a:txBody>
                  <a:tcPr marL="36576" marR="36576" marT="18288" marB="18288">
                    <a:solidFill>
                      <a:srgbClr val="FFFFFF"/>
                    </a:solidFill>
                  </a:tcPr>
                </a:tc>
                <a:tc>
                  <a:txBody>
                    <a:bodyPr/>
                    <a:lstStyle/>
                    <a:p>
                      <a:pPr algn="ctr"/>
                      <a:r>
                        <a:rPr sz="1000" b="0">
                          <a:latin typeface="Times New Roman"/>
                        </a:rPr>
                        <a:t>9.5 : 1</a:t>
                      </a:r>
                    </a:p>
                  </a:txBody>
                  <a:tcPr marL="36576" marR="36576" marT="18288" marB="18288">
                    <a:solidFill>
                      <a:srgbClr val="FFFFFF"/>
                    </a:solidFill>
                  </a:tcPr>
                </a:tc>
                <a:tc>
                  <a:txBody>
                    <a:bodyPr/>
                    <a:lstStyle/>
                    <a:p>
                      <a:pPr algn="ctr"/>
                      <a:r>
                        <a:rPr sz="1000" b="0">
                          <a:latin typeface="Times New Roman"/>
                        </a:rPr>
                        <a:t>1.06 : 1</a:t>
                      </a:r>
                    </a:p>
                  </a:txBody>
                  <a:tcPr marL="36576" marR="36576" marT="18288" marB="18288">
                    <a:solidFill>
                      <a:srgbClr val="FFFFFF"/>
                    </a:solidFill>
                  </a:tcPr>
                </a:tc>
                <a:tc>
                  <a:txBody>
                    <a:bodyPr/>
                    <a:lstStyle/>
                    <a:p>
                      <a:pPr algn="ctr"/>
                      <a:r>
                        <a:rPr sz="1000" b="0">
                          <a:latin typeface="Times New Roman"/>
                        </a:rPr>
                        <a:t>3.1 : 1</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2697480"/>
            <a:ext cx="4754880" cy="30175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Rule: </a:t>
            </a:r>
            <a:r>
              <a:rPr lang="en-US" sz="1050">
                <a:latin typeface="Times New Roman"/>
                <a:ea typeface="Times New Roman"/>
                <a:cs typeface="Times New Roman"/>
                <a:sym typeface="Times New Roman"/>
              </a:rPr>
              <a:t>target boxes per class n_c* = n_max (full) or n_c* = sqrt(n_c x n_max) (partial, the repeat-factor rule of LVIS [15], same idea as the effective number of samples [14]).</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Synthesis: </a:t>
            </a:r>
            <a:r>
              <a:rPr lang="en-US" sz="1050">
                <a:latin typeface="Times New Roman"/>
                <a:ea typeface="Times New Roman"/>
                <a:cs typeface="Times New Roman"/>
                <a:sym typeface="Times New Roman"/>
              </a:rPr>
              <a:t>real defect crops cut from training boards and pasted onto defect-free training boards (2-5 per image), only inside the board mask, no rotation, Poisson or feathered blending [16]; training split only.</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Result: </a:t>
            </a:r>
            <a:r>
              <a:rPr lang="en-US" sz="1050">
                <a:latin typeface="Times New Roman"/>
                <a:ea typeface="Times New Roman"/>
                <a:cs typeface="Times New Roman"/>
                <a:sym typeface="Times New Roman"/>
              </a:rPr>
              <a:t>partial balance raised validation mAP50 from 73.1 to 75.3 but scored 69.2 on test vs 71.7 without balancing; difference not significant (95% CI -4.6 to +0.3).</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Why full balance lost: </a:t>
            </a:r>
            <a:r>
              <a:rPr lang="en-US" sz="1050">
                <a:latin typeface="Times New Roman"/>
                <a:ea typeface="Times New Roman"/>
                <a:cs typeface="Times New Roman"/>
                <a:sym typeface="Times New Roman"/>
              </a:rPr>
              <a:t>only 160 cracks could be cut out cleanly, so each was pasted up to 17 times.</a:t>
            </a:r>
          </a:p>
        </p:txBody>
      </p:sp>
      <p:pic>
        <p:nvPicPr>
          <p:cNvPr id="302" name="Picture 301" descr="train_sqrt_042fff_104900047s0216.jpg"/>
          <p:cNvPicPr>
            <a:picLocks noChangeAspect="1"/>
          </p:cNvPicPr>
          <p:nvPr/>
        </p:nvPicPr>
        <p:blipFill>
          <a:blip r:embed="rId6"/>
          <a:stretch>
            <a:fillRect/>
          </a:stretch>
        </p:blipFill>
        <p:spPr>
          <a:xfrm>
            <a:off x="5074920" y="940264"/>
            <a:ext cx="3108960" cy="1136991"/>
          </a:xfrm>
          <a:prstGeom prst="rect">
            <a:avLst/>
          </a:prstGeom>
        </p:spPr>
      </p:pic>
      <p:pic>
        <p:nvPicPr>
          <p:cNvPr id="303" name="Picture 302" descr="train_sqrt_24b8d1_111200005s0176.jpg"/>
          <p:cNvPicPr>
            <a:picLocks noChangeAspect="1"/>
          </p:cNvPicPr>
          <p:nvPr/>
        </p:nvPicPr>
        <p:blipFill>
          <a:blip r:embed="rId7"/>
          <a:stretch>
            <a:fillRect/>
          </a:stretch>
        </p:blipFill>
        <p:spPr>
          <a:xfrm>
            <a:off x="5074920" y="2266144"/>
            <a:ext cx="3108960" cy="113699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 FUSION AND LOSS</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7955280" cy="960120"/>
        </p:xfrm>
        <a:graphic>
          <a:graphicData uri="http://schemas.openxmlformats.org/drawingml/2006/table">
            <a:tbl>
              <a:tblPr firstRow="1" bandRow="1">
                <a:tableStyleId>{5C22544A-7EE6-4342-B048-85BDC9FD1C3A}</a:tableStyleId>
              </a:tblPr>
              <a:tblGrid>
                <a:gridCol w="1358218">
                  <a:extLst>
                    <a:ext uri="{9D8B030D-6E8A-4147-A177-3AD203B41FA5}">
                      <a16:colId xmlns:a16="http://schemas.microsoft.com/office/drawing/2014/main" val="20000"/>
                    </a:ext>
                  </a:extLst>
                </a:gridCol>
                <a:gridCol w="3104499">
                  <a:extLst>
                    <a:ext uri="{9D8B030D-6E8A-4147-A177-3AD203B41FA5}">
                      <a16:colId xmlns:a16="http://schemas.microsoft.com/office/drawing/2014/main" val="20001"/>
                    </a:ext>
                  </a:extLst>
                </a:gridCol>
                <a:gridCol w="3492561">
                  <a:extLst>
                    <a:ext uri="{9D8B030D-6E8A-4147-A177-3AD203B41FA5}">
                      <a16:colId xmlns:a16="http://schemas.microsoft.com/office/drawing/2014/main" val="20002"/>
                    </a:ext>
                  </a:extLst>
                </a:gridCol>
              </a:tblGrid>
              <a:tr h="457200">
                <a:tc>
                  <a:txBody>
                    <a:bodyPr/>
                    <a:lstStyle/>
                    <a:p>
                      <a:pPr algn="l"/>
                      <a:r>
                        <a:rPr sz="900" b="1" dirty="0">
                          <a:solidFill>
                            <a:srgbClr val="FFFFFF"/>
                          </a:solidFill>
                          <a:latin typeface="Times New Roman"/>
                        </a:rPr>
                        <a:t>Component</a:t>
                      </a:r>
                    </a:p>
                  </a:txBody>
                  <a:tcPr marL="36576" marR="36576" marT="18288" marB="18288">
                    <a:solidFill>
                      <a:srgbClr val="41534B"/>
                    </a:solidFill>
                  </a:tcPr>
                </a:tc>
                <a:tc>
                  <a:txBody>
                    <a:bodyPr/>
                    <a:lstStyle/>
                    <a:p>
                      <a:pPr algn="ctr"/>
                      <a:r>
                        <a:rPr sz="900" b="1">
                          <a:solidFill>
                            <a:srgbClr val="FFFFFF"/>
                          </a:solidFill>
                          <a:latin typeface="Times New Roman"/>
                        </a:rPr>
                        <a:t>Formula</a:t>
                      </a:r>
                    </a:p>
                  </a:txBody>
                  <a:tcPr marL="36576" marR="36576" marT="18288" marB="18288">
                    <a:solidFill>
                      <a:srgbClr val="41534B"/>
                    </a:solidFill>
                  </a:tcPr>
                </a:tc>
                <a:tc>
                  <a:txBody>
                    <a:bodyPr/>
                    <a:lstStyle/>
                    <a:p>
                      <a:pPr algn="ctr"/>
                      <a:r>
                        <a:rPr sz="900" b="1">
                          <a:solidFill>
                            <a:srgbClr val="FFFFFF"/>
                          </a:solidFill>
                          <a:latin typeface="Times New Roman"/>
                        </a:rPr>
                        <a:t>Test result (chosen on validation)</a:t>
                      </a:r>
                    </a:p>
                  </a:txBody>
                  <a:tcPr marL="36576" marR="36576" marT="18288" marB="18288">
                    <a:solidFill>
                      <a:srgbClr val="41534B"/>
                    </a:solidFill>
                  </a:tcPr>
                </a:tc>
                <a:extLst>
                  <a:ext uri="{0D108BD9-81ED-4DB2-BD59-A6C34878D82A}">
                    <a16:rowId xmlns:a16="http://schemas.microsoft.com/office/drawing/2014/main" val="10000"/>
                  </a:ext>
                </a:extLst>
              </a:tr>
              <a:tr h="457200">
                <a:tc>
                  <a:txBody>
                    <a:bodyPr/>
                    <a:lstStyle/>
                    <a:p>
                      <a:pPr algn="l"/>
                      <a:r>
                        <a:rPr sz="900" b="0" dirty="0">
                          <a:latin typeface="Times New Roman"/>
                        </a:rPr>
                        <a:t>Weighted box fusion [17]</a:t>
                      </a:r>
                    </a:p>
                  </a:txBody>
                  <a:tcPr marL="36576" marR="36576" marT="18288" marB="18288">
                    <a:solidFill>
                      <a:srgbClr val="F7F3EC"/>
                    </a:solidFill>
                  </a:tcPr>
                </a:tc>
                <a:tc>
                  <a:txBody>
                    <a:bodyPr/>
                    <a:lstStyle/>
                    <a:p>
                      <a:pPr algn="ctr"/>
                      <a:r>
                        <a:rPr sz="900" b="0">
                          <a:latin typeface="Times New Roman"/>
                        </a:rPr>
                        <a:t>b_f = sum(w c b) / sum(w c);  c_f = (sum w c / sum w) x min(sum w, W) / W</a:t>
                      </a:r>
                    </a:p>
                  </a:txBody>
                  <a:tcPr marL="36576" marR="36576" marT="18288" marB="18288">
                    <a:solidFill>
                      <a:srgbClr val="F7F3EC"/>
                    </a:solidFill>
                  </a:tcPr>
                </a:tc>
                <a:tc>
                  <a:txBody>
                    <a:bodyPr/>
                    <a:lstStyle/>
                    <a:p>
                      <a:pPr algn="ctr"/>
                      <a:r>
                        <a:rPr sz="900" b="0">
                          <a:latin typeface="Times New Roman"/>
                        </a:rPr>
                        <a:t>YOLO11m + YOLO11s: mAP50 65.7, mAP50-95 36.1 (best single 64.6 / 33.7); mAP50-95 +1.6 to +3.2 (95% CI)</a:t>
                      </a:r>
                    </a:p>
                  </a:txBody>
                  <a:tcPr marL="36576" marR="36576" marT="18288" marB="18288">
                    <a:solidFill>
                      <a:srgbClr val="F7F3EC"/>
                    </a:solidFill>
                  </a:tcPr>
                </a:tc>
                <a:extLst>
                  <a:ext uri="{0D108BD9-81ED-4DB2-BD59-A6C34878D82A}">
                    <a16:rowId xmlns:a16="http://schemas.microsoft.com/office/drawing/2014/main" val="10001"/>
                  </a:ext>
                </a:extLst>
              </a:tr>
              <a:tr h="457200">
                <a:tc>
                  <a:txBody>
                    <a:bodyPr/>
                    <a:lstStyle/>
                    <a:p>
                      <a:pPr algn="l"/>
                      <a:r>
                        <a:rPr sz="900" b="0" dirty="0">
                          <a:latin typeface="Times New Roman"/>
                        </a:rPr>
                        <a:t>Wise-IoU v3 [18]</a:t>
                      </a:r>
                    </a:p>
                  </a:txBody>
                  <a:tcPr marL="36576" marR="36576" marT="18288" marB="18288">
                    <a:solidFill>
                      <a:srgbClr val="FFFFFF"/>
                    </a:solidFill>
                  </a:tcPr>
                </a:tc>
                <a:tc>
                  <a:txBody>
                    <a:bodyPr/>
                    <a:lstStyle/>
                    <a:p>
                      <a:pPr algn="ctr"/>
                      <a:r>
                        <a:rPr sz="900" b="0">
                          <a:latin typeface="Times New Roman"/>
                        </a:rPr>
                        <a:t>L = r x exp(d^2 / (W_g^2 + H_g^2)) x (1 - IoU);  r = beta / (delta alpha^(beta - delta))</a:t>
                      </a:r>
                    </a:p>
                  </a:txBody>
                  <a:tcPr marL="36576" marR="36576" marT="18288" marB="18288">
                    <a:solidFill>
                      <a:srgbClr val="FFFFFF"/>
                    </a:solidFill>
                  </a:tcPr>
                </a:tc>
                <a:tc>
                  <a:txBody>
                    <a:bodyPr/>
                    <a:lstStyle/>
                    <a:p>
                      <a:pPr algn="ctr"/>
                      <a:r>
                        <a:rPr sz="900" b="0">
                          <a:latin typeface="Times New Roman"/>
                        </a:rPr>
                        <a:t>val mAP50 74.6 vs 75.3 (CIoU); seed spread 0.8; adopted: no</a:t>
                      </a:r>
                    </a:p>
                  </a:txBody>
                  <a:tcPr marL="36576" marR="36576" marT="18288" marB="18288">
                    <a:solidFill>
                      <a:srgbClr val="FFFFFF"/>
                    </a:solidFill>
                  </a:tcPr>
                </a:tc>
                <a:extLst>
                  <a:ext uri="{0D108BD9-81ED-4DB2-BD59-A6C34878D82A}">
                    <a16:rowId xmlns:a16="http://schemas.microsoft.com/office/drawing/2014/main" val="10002"/>
                  </a:ext>
                </a:extLst>
              </a:tr>
              <a:tr h="457200">
                <a:tc>
                  <a:txBody>
                    <a:bodyPr/>
                    <a:lstStyle/>
                    <a:p>
                      <a:pPr algn="l"/>
                      <a:r>
                        <a:rPr sz="900" b="0" dirty="0">
                          <a:latin typeface="Times New Roman"/>
                        </a:rPr>
                        <a:t>Per-class thresholds</a:t>
                      </a:r>
                    </a:p>
                  </a:txBody>
                  <a:tcPr marL="36576" marR="36576" marT="18288" marB="18288">
                    <a:solidFill>
                      <a:srgbClr val="FFFFFF"/>
                    </a:solidFill>
                  </a:tcPr>
                </a:tc>
                <a:tc>
                  <a:txBody>
                    <a:bodyPr/>
                    <a:lstStyle/>
                    <a:p>
                      <a:pPr algn="ctr"/>
                      <a:r>
                        <a:rPr sz="900" b="0">
                          <a:latin typeface="Times New Roman"/>
                        </a:rPr>
                        <a:t>t_c = argmax_t F1_c(t) on validation</a:t>
                      </a:r>
                    </a:p>
                  </a:txBody>
                  <a:tcPr marL="36576" marR="36576" marT="18288" marB="18288">
                    <a:solidFill>
                      <a:srgbClr val="FFFFFF"/>
                    </a:solidFill>
                  </a:tcPr>
                </a:tc>
                <a:tc>
                  <a:txBody>
                    <a:bodyPr/>
                    <a:lstStyle/>
                    <a:p>
                      <a:pPr algn="ctr"/>
                      <a:r>
                        <a:rPr sz="900" b="0">
                          <a:latin typeface="Times New Roman"/>
                        </a:rPr>
                        <a:t>macro-F1 66.2 vs 66.9 with one global threshold: not adopted</a:t>
                      </a:r>
                    </a:p>
                  </a:txBody>
                  <a:tcPr marL="36576" marR="36576" marT="18288" marB="18288">
                    <a:solidFill>
                      <a:srgbClr val="FFFFFF"/>
                    </a:solidFill>
                  </a:tcPr>
                </a:tc>
                <a:extLst>
                  <a:ext uri="{0D108BD9-81ED-4DB2-BD59-A6C34878D82A}">
                    <a16:rowId xmlns:a16="http://schemas.microsoft.com/office/drawing/2014/main" val="10002"/>
                  </a:ext>
                </a:extLst>
              </a:tr>
              <a:tr h="457200">
                <a:tc>
                  <a:txBody>
                    <a:bodyPr/>
                    <a:lstStyle/>
                    <a:p>
                      <a:pPr algn="l"/>
                      <a:r>
                        <a:rPr sz="900" b="0" dirty="0">
                          <a:latin typeface="Times New Roman"/>
                        </a:rPr>
                        <a:t>Fusion of 4-class models</a:t>
                      </a:r>
                    </a:p>
                  </a:txBody>
                  <a:tcPr marL="36576" marR="36576" marT="18288" marB="18288">
                    <a:solidFill>
                      <a:srgbClr val="FFFFFF"/>
                    </a:solidFill>
                  </a:tcPr>
                </a:tc>
                <a:tc>
                  <a:txBody>
                    <a:bodyPr/>
                    <a:lstStyle/>
                    <a:p>
                      <a:pPr algn="ctr"/>
                      <a:r>
                        <a:rPr sz="900" b="0">
                          <a:latin typeface="Times New Roman"/>
                        </a:rPr>
                        <a:t>IoU 0.55, weights [2, 1, 1, 1]</a:t>
                      </a:r>
                    </a:p>
                  </a:txBody>
                  <a:tcPr marL="36576" marR="36576" marT="18288" marB="18288">
                    <a:solidFill>
                      <a:srgbClr val="FFFFFF"/>
                    </a:solidFill>
                  </a:tcPr>
                </a:tc>
                <a:tc>
                  <a:txBody>
                    <a:bodyPr/>
                    <a:lstStyle/>
                    <a:p>
                      <a:pPr algn="ctr"/>
                      <a:r>
                        <a:rPr sz="900" b="0">
                          <a:latin typeface="Times New Roman"/>
                        </a:rPr>
                        <a:t>val 78.1 vs best single 75.6; adopted, test 74.7 / 36.7</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93192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Fusion averages the boxes of several detectors weighted by confidence and lowers the confidence of boxes only one model finds. Fusing four 4-class YOLO11s models (1024 and 1280 px, with and without balancing) raised test mAP50 from 69.2 to 74.7.</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Thresholds tuned per class over-fit the few validation boxes of Resin and Crack, so one global threshold is kept.</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Every setting was chosen on the 17 validation boards; the 12 test boards were scored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III: RECOVERABILITY</a:t>
            </a:r>
            <a:endParaRPr sz="1400" b="0" i="0" u="none" strike="noStrike" cap="none" dirty="0">
              <a:solidFill>
                <a:srgbClr val="FF0000"/>
              </a:solidFill>
              <a:sym typeface="Arial"/>
            </a:endParaRPr>
          </a:p>
        </p:txBody>
      </p:sp>
      <p:sp>
        <p:nvSpPr>
          <p:cNvPr id="208" name="Google Shape;208;p22"/>
          <p:cNvSpPr txBox="1"/>
          <p:nvPr/>
        </p:nvSpPr>
        <p:spPr>
          <a:xfrm>
            <a:off x="63572" y="914400"/>
            <a:ext cx="4206240" cy="45720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1. Union of defects: </a:t>
            </a:r>
            <a:r>
              <a:rPr lang="en-US" sz="1050" dirty="0">
                <a:latin typeface="Times New Roman"/>
                <a:ea typeface="Times New Roman"/>
                <a:cs typeface="Times New Roman"/>
                <a:sym typeface="Times New Roman"/>
              </a:rPr>
              <a:t>A_def = |R_1 U ... U R_n| (overlaps counted once).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2. Severity: </a:t>
            </a:r>
            <a:r>
              <a:rPr lang="en-US" sz="1050" dirty="0">
                <a:latin typeface="Times New Roman"/>
                <a:ea typeface="Times New Roman"/>
                <a:cs typeface="Times New Roman"/>
                <a:sym typeface="Times New Roman"/>
              </a:rPr>
              <a:t>w_c: Crack 1.00, Dead_Knot 0.60, Live_Knot 0.40, Resin 0.30 (guide's placeholders).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3. Position: </a:t>
            </a:r>
            <a:r>
              <a:rPr lang="en-US" sz="1050" dirty="0">
                <a:latin typeface="Times New Roman"/>
                <a:ea typeface="Times New Roman"/>
                <a:cs typeface="Times New Roman"/>
                <a:sym typeface="Times New Roman"/>
              </a:rPr>
              <a:t>p_i = 1 - exp(-d_i / 250 px), d_i = distance to the board's side edge (our change).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4. Influence: </a:t>
            </a:r>
            <a:r>
              <a:rPr lang="en-US" sz="1050" dirty="0">
                <a:latin typeface="Times New Roman"/>
                <a:ea typeface="Times New Roman"/>
                <a:cs typeface="Times New Roman"/>
                <a:sym typeface="Times New Roman"/>
              </a:rPr>
              <a:t>s_i = w_c x conf_i x p_i.</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5. Damage: </a:t>
            </a:r>
            <a:r>
              <a:rPr lang="en-US" sz="1050" dirty="0">
                <a:latin typeface="Times New Roman"/>
                <a:ea typeface="Times New Roman"/>
                <a:cs typeface="Times New Roman"/>
                <a:sym typeface="Times New Roman"/>
              </a:rPr>
              <a:t>I(x, y) = max_i s_i;  DIS = sum I / A_board (board pixels, our change);  A_rec = A_board (1 - DIS).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6. Grade: </a:t>
            </a:r>
            <a:r>
              <a:rPr lang="en-US" sz="1050" dirty="0">
                <a:latin typeface="Times New Roman"/>
                <a:ea typeface="Times New Roman"/>
                <a:cs typeface="Times New Roman"/>
                <a:sym typeface="Times New Roman"/>
              </a:rPr>
              <a:t>A / B / C / Reject from thresholds fitted on validation boards with the guide's weighted-kappa calibration.</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Check: </a:t>
            </a:r>
            <a:r>
              <a:rPr lang="en-US" sz="1050" dirty="0">
                <a:latin typeface="Times New Roman"/>
                <a:ea typeface="Times New Roman"/>
                <a:cs typeface="Times New Roman"/>
                <a:sym typeface="Times New Roman"/>
              </a:rPr>
              <a:t>the guide's worked example is reproduced exactly (DIS 0.020860, grade B).</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214" name="Picture 213" descr="bri_geometry.png"/>
          <p:cNvPicPr>
            <a:picLocks noChangeAspect="1"/>
          </p:cNvPicPr>
          <p:nvPr/>
        </p:nvPicPr>
        <p:blipFill>
          <a:blip r:embed="rId6"/>
          <a:stretch>
            <a:fillRect/>
          </a:stretch>
        </p:blipFill>
        <p:spPr>
          <a:xfrm>
            <a:off x="4526280" y="1304653"/>
            <a:ext cx="3657600" cy="177981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STATISTICAL VALIDATION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3222391">
                  <a:extLst>
                    <a:ext uri="{9D8B030D-6E8A-4147-A177-3AD203B41FA5}">
                      <a16:colId xmlns:a16="http://schemas.microsoft.com/office/drawing/2014/main" val="20000"/>
                    </a:ext>
                  </a:extLst>
                </a:gridCol>
                <a:gridCol w="906297">
                  <a:extLst>
                    <a:ext uri="{9D8B030D-6E8A-4147-A177-3AD203B41FA5}">
                      <a16:colId xmlns:a16="http://schemas.microsoft.com/office/drawing/2014/main" val="20001"/>
                    </a:ext>
                  </a:extLst>
                </a:gridCol>
                <a:gridCol w="1611195">
                  <a:extLst>
                    <a:ext uri="{9D8B030D-6E8A-4147-A177-3AD203B41FA5}">
                      <a16:colId xmlns:a16="http://schemas.microsoft.com/office/drawing/2014/main" val="20002"/>
                    </a:ext>
                  </a:extLst>
                </a:gridCol>
                <a:gridCol w="1309096">
                  <a:extLst>
                    <a:ext uri="{9D8B030D-6E8A-4147-A177-3AD203B41FA5}">
                      <a16:colId xmlns:a16="http://schemas.microsoft.com/office/drawing/2014/main" val="20003"/>
                    </a:ext>
                  </a:extLst>
                </a:gridCol>
                <a:gridCol w="906297">
                  <a:extLst>
                    <a:ext uri="{9D8B030D-6E8A-4147-A177-3AD203B41FA5}">
                      <a16:colId xmlns:a16="http://schemas.microsoft.com/office/drawing/2014/main" val="20004"/>
                    </a:ext>
                  </a:extLst>
                </a:gridCol>
              </a:tblGrid>
              <a:tr h="256032">
                <a:tc>
                  <a:txBody>
                    <a:bodyPr/>
                    <a:lstStyle/>
                    <a:p>
                      <a:pPr algn="l"/>
                      <a:r>
                        <a:rPr sz="900" b="1" dirty="0">
                          <a:solidFill>
                            <a:srgbClr val="FFFFFF"/>
                          </a:solidFill>
                          <a:latin typeface="Times New Roman"/>
                        </a:rPr>
                        <a:t>Comparison (test, 12 boards)</a:t>
                      </a:r>
                    </a:p>
                  </a:txBody>
                  <a:tcPr marL="36576" marR="36576" marT="18288" marB="18288">
                    <a:solidFill>
                      <a:srgbClr val="41534B"/>
                    </a:solidFill>
                  </a:tcPr>
                </a:tc>
                <a:tc>
                  <a:txBody>
                    <a:bodyPr/>
                    <a:lstStyle/>
                    <a:p>
                      <a:pPr algn="ctr"/>
                      <a:r>
                        <a:rPr sz="900" b="1">
                          <a:solidFill>
                            <a:srgbClr val="FFFFFF"/>
                          </a:solidFill>
                          <a:latin typeface="Times New Roman"/>
                        </a:rPr>
                        <a:t>mAP50 diff</a:t>
                      </a:r>
                    </a:p>
                  </a:txBody>
                  <a:tcPr marL="36576" marR="36576" marT="18288" marB="18288">
                    <a:solidFill>
                      <a:srgbClr val="41534B"/>
                    </a:solidFill>
                  </a:tcPr>
                </a:tc>
                <a:tc>
                  <a:txBody>
                    <a:bodyPr/>
                    <a:lstStyle/>
                    <a:p>
                      <a:pPr algn="ctr"/>
                      <a:r>
                        <a:rPr sz="900" b="1">
                          <a:solidFill>
                            <a:srgbClr val="FFFFFF"/>
                          </a:solidFill>
                          <a:latin typeface="Times New Roman"/>
                        </a:rPr>
                        <a:t>95% CI (board bootstrap)</a:t>
                      </a:r>
                    </a:p>
                  </a:txBody>
                  <a:tcPr marL="36576" marR="36576" marT="18288" marB="18288">
                    <a:solidFill>
                      <a:srgbClr val="41534B"/>
                    </a:solidFill>
                  </a:tcPr>
                </a:tc>
                <a:tc>
                  <a:txBody>
                    <a:bodyPr/>
                    <a:lstStyle/>
                    <a:p>
                      <a:pPr algn="ctr"/>
                      <a:r>
                        <a:rPr sz="900" b="1">
                          <a:solidFill>
                            <a:srgbClr val="FFFFFF"/>
                          </a:solidFill>
                          <a:latin typeface="Times New Roman"/>
                        </a:rPr>
                        <a:t>Boards better / worse</a:t>
                      </a:r>
                    </a:p>
                  </a:txBody>
                  <a:tcPr marL="36576" marR="36576" marT="18288" marB="18288">
                    <a:solidFill>
                      <a:srgbClr val="41534B"/>
                    </a:solidFill>
                  </a:tcPr>
                </a:tc>
                <a:tc>
                  <a:txBody>
                    <a:bodyPr/>
                    <a:lstStyle/>
                    <a:p>
                      <a:pPr algn="ctr"/>
                      <a:r>
                        <a:rPr sz="900" b="1">
                          <a:solidFill>
                            <a:srgbClr val="FFFFFF"/>
                          </a:solidFill>
                          <a:latin typeface="Times New Roman"/>
                        </a:rPr>
                        <a:t>Wilcoxon p</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dirty="0">
                          <a:latin typeface="Times New Roman"/>
                        </a:rPr>
                        <a:t>Deployed fusion (4 cls) - best single 4-class model</a:t>
                      </a:r>
                    </a:p>
                  </a:txBody>
                  <a:tcPr marL="36576" marR="36576" marT="18288" marB="18288">
                    <a:solidFill>
                      <a:srgbClr val="F7F3EC"/>
                    </a:solidFill>
                  </a:tcPr>
                </a:tc>
                <a:tc>
                  <a:txBody>
                    <a:bodyPr/>
                    <a:lstStyle/>
                    <a:p>
                      <a:pPr algn="ctr"/>
                      <a:r>
                        <a:rPr sz="900" b="0">
                          <a:latin typeface="Times New Roman"/>
                        </a:rPr>
                        <a:t>+5.5</a:t>
                      </a:r>
                    </a:p>
                  </a:txBody>
                  <a:tcPr marL="36576" marR="36576" marT="18288" marB="18288">
                    <a:solidFill>
                      <a:srgbClr val="F7F3EC"/>
                    </a:solidFill>
                  </a:tcPr>
                </a:tc>
                <a:tc>
                  <a:txBody>
                    <a:bodyPr/>
                    <a:lstStyle/>
                    <a:p>
                      <a:pPr algn="ctr"/>
                      <a:r>
                        <a:rPr sz="900" b="0">
                          <a:latin typeface="Times New Roman"/>
                        </a:rPr>
                        <a:t>[+2.7, +7.1]</a:t>
                      </a:r>
                    </a:p>
                  </a:txBody>
                  <a:tcPr marL="36576" marR="36576" marT="18288" marB="18288">
                    <a:solidFill>
                      <a:srgbClr val="F7F3EC"/>
                    </a:solidFill>
                  </a:tcPr>
                </a:tc>
                <a:tc>
                  <a:txBody>
                    <a:bodyPr/>
                    <a:lstStyle/>
                    <a:p>
                      <a:pPr algn="ctr"/>
                      <a:r>
                        <a:rPr sz="900" b="0">
                          <a:latin typeface="Times New Roman"/>
                        </a:rPr>
                        <a:t>10 / 2</a:t>
                      </a:r>
                    </a:p>
                  </a:txBody>
                  <a:tcPr marL="36576" marR="36576" marT="18288" marB="18288">
                    <a:solidFill>
                      <a:srgbClr val="F7F3EC"/>
                    </a:solidFill>
                  </a:tcPr>
                </a:tc>
                <a:tc>
                  <a:txBody>
                    <a:bodyPr/>
                    <a:lstStyle/>
                    <a:p>
                      <a:pPr algn="ctr"/>
                      <a:r>
                        <a:rPr sz="900" b="0">
                          <a:latin typeface="Times New Roman"/>
                        </a:rPr>
                        <a:t>0.042</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dirty="0">
                          <a:latin typeface="Times New Roman"/>
                        </a:rPr>
                        <a:t>Fusion (YOLO11m + YOLO11s) - YOLO11s, mAP50</a:t>
                      </a:r>
                    </a:p>
                  </a:txBody>
                  <a:tcPr marL="36576" marR="36576" marT="18288" marB="18288">
                    <a:solidFill>
                      <a:srgbClr val="FFFFFF"/>
                    </a:solidFill>
                  </a:tcPr>
                </a:tc>
                <a:tc>
                  <a:txBody>
                    <a:bodyPr/>
                    <a:lstStyle/>
                    <a:p>
                      <a:pPr algn="ctr"/>
                      <a:r>
                        <a:rPr sz="900" b="0">
                          <a:latin typeface="Times New Roman"/>
                        </a:rPr>
                        <a:t>+1.1</a:t>
                      </a:r>
                    </a:p>
                  </a:txBody>
                  <a:tcPr marL="36576" marR="36576" marT="18288" marB="18288">
                    <a:solidFill>
                      <a:srgbClr val="FFFFFF"/>
                    </a:solidFill>
                  </a:tcPr>
                </a:tc>
                <a:tc>
                  <a:txBody>
                    <a:bodyPr/>
                    <a:lstStyle/>
                    <a:p>
                      <a:pPr algn="ctr"/>
                      <a:r>
                        <a:rPr sz="900" b="0">
                          <a:latin typeface="Times New Roman"/>
                        </a:rPr>
                        <a:t>[-0.5, +2.7]</a:t>
                      </a:r>
                    </a:p>
                  </a:txBody>
                  <a:tcPr marL="36576" marR="36576" marT="18288" marB="18288">
                    <a:solidFill>
                      <a:srgbClr val="FFFFFF"/>
                    </a:solidFill>
                  </a:tcPr>
                </a:tc>
                <a:tc>
                  <a:txBody>
                    <a:bodyPr/>
                    <a:lstStyle/>
                    <a:p>
                      <a:pPr algn="ctr"/>
                      <a:r>
                        <a:rPr sz="900" b="0">
                          <a:latin typeface="Times New Roman"/>
                        </a:rPr>
                        <a:t>7 / 5</a:t>
                      </a:r>
                    </a:p>
                  </a:txBody>
                  <a:tcPr marL="36576" marR="36576" marT="18288" marB="18288">
                    <a:solidFill>
                      <a:srgbClr val="FFFFFF"/>
                    </a:solidFill>
                  </a:tcPr>
                </a:tc>
                <a:tc>
                  <a:txBody>
                    <a:bodyPr/>
                    <a:lstStyle/>
                    <a:p>
                      <a:pPr algn="ctr"/>
                      <a:r>
                        <a:rPr sz="900" b="0">
                          <a:latin typeface="Times New Roman"/>
                        </a:rPr>
                        <a:t>0.52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Fusion - YOLO11s, mAP50-95</a:t>
                      </a:r>
                    </a:p>
                  </a:txBody>
                  <a:tcPr marL="36576" marR="36576" marT="18288" marB="18288">
                    <a:solidFill>
                      <a:srgbClr val="FFFFFF"/>
                    </a:solidFill>
                  </a:tcPr>
                </a:tc>
                <a:tc>
                  <a:txBody>
                    <a:bodyPr/>
                    <a:lstStyle/>
                    <a:p>
                      <a:pPr algn="ctr"/>
                      <a:r>
                        <a:rPr sz="900" b="0">
                          <a:latin typeface="Times New Roman"/>
                        </a:rPr>
                        <a:t>+2.4</a:t>
                      </a:r>
                    </a:p>
                  </a:txBody>
                  <a:tcPr marL="36576" marR="36576" marT="18288" marB="18288">
                    <a:solidFill>
                      <a:srgbClr val="FFFFFF"/>
                    </a:solidFill>
                  </a:tcPr>
                </a:tc>
                <a:tc>
                  <a:txBody>
                    <a:bodyPr/>
                    <a:lstStyle/>
                    <a:p>
                      <a:pPr algn="ctr"/>
                      <a:r>
                        <a:rPr sz="900" b="0">
                          <a:latin typeface="Times New Roman"/>
                        </a:rPr>
                        <a:t>[+1.6, +3.2]</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no balancing (4 cls)</a:t>
                      </a:r>
                    </a:p>
                  </a:txBody>
                  <a:tcPr marL="36576" marR="36576" marT="18288" marB="18288">
                    <a:solidFill>
                      <a:srgbClr val="FFFFFF"/>
                    </a:solidFill>
                  </a:tcPr>
                </a:tc>
                <a:tc>
                  <a:txBody>
                    <a:bodyPr/>
                    <a:lstStyle/>
                    <a:p>
                      <a:pPr algn="ctr"/>
                      <a:r>
                        <a:rPr sz="900" b="0">
                          <a:latin typeface="Times New Roman"/>
                        </a:rPr>
                        <a:t>-2.6</a:t>
                      </a:r>
                    </a:p>
                  </a:txBody>
                  <a:tcPr marL="36576" marR="36576" marT="18288" marB="18288">
                    <a:solidFill>
                      <a:srgbClr val="FFFFFF"/>
                    </a:solidFill>
                  </a:tcPr>
                </a:tc>
                <a:tc>
                  <a:txBody>
                    <a:bodyPr/>
                    <a:lstStyle/>
                    <a:p>
                      <a:pPr algn="ctr"/>
                      <a:r>
                        <a:rPr sz="900" b="0">
                          <a:latin typeface="Times New Roman"/>
                        </a:rPr>
                        <a:t>[-4.6, +0.3]</a:t>
                      </a:r>
                    </a:p>
                  </a:txBody>
                  <a:tcPr marL="36576" marR="36576" marT="18288" marB="18288">
                    <a:solidFill>
                      <a:srgbClr val="FFFFFF"/>
                    </a:solidFill>
                  </a:tcPr>
                </a:tc>
                <a:tc>
                  <a:txBody>
                    <a:bodyPr/>
                    <a:lstStyle/>
                    <a:p>
                      <a:pPr algn="ctr"/>
                      <a:r>
                        <a:rPr sz="900" b="0">
                          <a:latin typeface="Times New Roman"/>
                        </a:rPr>
                        <a:t>4 / 8</a:t>
                      </a:r>
                    </a:p>
                  </a:txBody>
                  <a:tcPr marL="36576" marR="36576" marT="18288" marB="18288">
                    <a:solidFill>
                      <a:srgbClr val="FFFFFF"/>
                    </a:solidFill>
                  </a:tcPr>
                </a:tc>
                <a:tc>
                  <a:txBody>
                    <a:bodyPr/>
                    <a:lstStyle/>
                    <a:p>
                      <a:pPr algn="ctr"/>
                      <a:r>
                        <a:rPr sz="900" b="0">
                          <a:latin typeface="Times New Roman"/>
                        </a:rPr>
                        <a:t>0.57</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- 8-class model (4 cls)</a:t>
                      </a:r>
                    </a:p>
                  </a:txBody>
                  <a:tcPr marL="36576" marR="36576" marT="18288" marB="18288">
                    <a:solidFill>
                      <a:srgbClr val="FFFFFF"/>
                    </a:solidFill>
                  </a:tcPr>
                </a:tc>
                <a:tc>
                  <a:txBody>
                    <a:bodyPr/>
                    <a:lstStyle/>
                    <a:p>
                      <a:pPr algn="ctr"/>
                      <a:r>
                        <a:rPr sz="900" b="0">
                          <a:latin typeface="Times New Roman"/>
                        </a:rPr>
                        <a:t>-0.4</a:t>
                      </a:r>
                    </a:p>
                  </a:txBody>
                  <a:tcPr marL="36576" marR="36576" marT="18288" marB="18288">
                    <a:solidFill>
                      <a:srgbClr val="FFFFFF"/>
                    </a:solidFill>
                  </a:tcPr>
                </a:tc>
                <a:tc>
                  <a:txBody>
                    <a:bodyPr/>
                    <a:lstStyle/>
                    <a:p>
                      <a:pPr algn="ctr"/>
                      <a:r>
                        <a:rPr sz="900" b="0">
                          <a:latin typeface="Times New Roman"/>
                        </a:rPr>
                        <a:t>[-2.8, +1.9]</a:t>
                      </a:r>
                    </a:p>
                  </a:txBody>
                  <a:tcPr marL="36576" marR="36576" marT="18288" marB="18288">
                    <a:solidFill>
                      <a:srgbClr val="FFFFFF"/>
                    </a:solidFill>
                  </a:tcPr>
                </a:tc>
                <a:tc>
                  <a:txBody>
                    <a:bodyPr/>
                    <a:lstStyle/>
                    <a:p>
                      <a:pPr algn="ctr"/>
                      <a:r>
                        <a:rPr sz="900" b="0">
                          <a:latin typeface="Times New Roman"/>
                        </a:rPr>
                        <a:t>5 / 7</a:t>
                      </a:r>
                    </a:p>
                  </a:txBody>
                  <a:tcPr marL="36576" marR="36576" marT="18288" marB="18288">
                    <a:solidFill>
                      <a:srgbClr val="FFFFFF"/>
                    </a:solidFill>
                  </a:tcPr>
                </a:tc>
                <a:tc>
                  <a:txBody>
                    <a:bodyPr/>
                    <a:lstStyle/>
                    <a:p>
                      <a:pPr algn="ctr"/>
                      <a:r>
                        <a:rPr sz="90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No balancing - 8-class model (4 cls)</a:t>
                      </a:r>
                    </a:p>
                  </a:txBody>
                  <a:tcPr marL="36576" marR="36576" marT="18288" marB="18288">
                    <a:solidFill>
                      <a:srgbClr val="FFFFFF"/>
                    </a:solidFill>
                  </a:tcPr>
                </a:tc>
                <a:tc>
                  <a:txBody>
                    <a:bodyPr/>
                    <a:lstStyle/>
                    <a:p>
                      <a:pPr algn="ctr"/>
                      <a:r>
                        <a:rPr sz="900" b="0">
                          <a:latin typeface="Times New Roman"/>
                        </a:rPr>
                        <a:t>+2.2</a:t>
                      </a:r>
                    </a:p>
                  </a:txBody>
                  <a:tcPr marL="36576" marR="36576" marT="18288" marB="18288">
                    <a:solidFill>
                      <a:srgbClr val="FFFFFF"/>
                    </a:solidFill>
                  </a:tcPr>
                </a:tc>
                <a:tc>
                  <a:txBody>
                    <a:bodyPr/>
                    <a:lstStyle/>
                    <a:p>
                      <a:pPr algn="ctr"/>
                      <a:r>
                        <a:rPr sz="900" b="0">
                          <a:latin typeface="Times New Roman"/>
                        </a:rPr>
                        <a:t>[-1.4, +4.4]</a:t>
                      </a:r>
                    </a:p>
                  </a:txBody>
                  <a:tcPr marL="36576" marR="36576" marT="18288" marB="18288">
                    <a:solidFill>
                      <a:srgbClr val="FFFFFF"/>
                    </a:solidFill>
                  </a:tcPr>
                </a:tc>
                <a:tc>
                  <a:txBody>
                    <a:bodyPr/>
                    <a:lstStyle/>
                    <a:p>
                      <a:pPr algn="ctr"/>
                      <a:r>
                        <a:rPr sz="900" b="0">
                          <a:latin typeface="Times New Roman"/>
                        </a:rPr>
                        <a:t>6 / 6</a:t>
                      </a:r>
                    </a:p>
                  </a:txBody>
                  <a:tcPr marL="36576" marR="36576" marT="18288" marB="18288">
                    <a:solidFill>
                      <a:srgbClr val="FFFFFF"/>
                    </a:solidFill>
                  </a:tcPr>
                </a:tc>
                <a:tc>
                  <a:txBody>
                    <a:bodyPr/>
                    <a:lstStyle/>
                    <a:p>
                      <a:pPr algn="ctr"/>
                      <a:r>
                        <a:rPr sz="900" b="0">
                          <a:latin typeface="Times New Roman"/>
                        </a:rPr>
                        <a:t>0.62</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843784"/>
          <a:ext cx="4572000" cy="3108960"/>
        </p:xfrm>
        <a:graphic>
          <a:graphicData uri="http://schemas.openxmlformats.org/drawingml/2006/table">
            <a:tbl>
              <a:tblPr firstRow="1" bandRow="1">
                <a:tableStyleId>{5C22544A-7EE6-4342-B048-85BDC9FD1C3A}</a:tableStyleId>
              </a:tblPr>
              <a:tblGrid>
                <a:gridCol w="4921736">
                  <a:extLst>
                    <a:ext uri="{9D8B030D-6E8A-4147-A177-3AD203B41FA5}">
                      <a16:colId xmlns:a16="http://schemas.microsoft.com/office/drawing/2014/main" val="20000"/>
                    </a:ext>
                  </a:extLst>
                </a:gridCol>
                <a:gridCol w="3281157">
                  <a:extLst>
                    <a:ext uri="{9D8B030D-6E8A-4147-A177-3AD203B41FA5}">
                      <a16:colId xmlns:a16="http://schemas.microsoft.com/office/drawing/2014/main" val="20001"/>
                    </a:ext>
                  </a:extLst>
                </a:gridCol>
              </a:tblGrid>
              <a:tr h="256032">
                <a:tc>
                  <a:txBody>
                    <a:bodyPr/>
                    <a:lstStyle/>
                    <a:p>
                      <a:pPr algn="l"/>
                      <a:r>
                        <a:rPr sz="900" b="1" dirty="0">
                          <a:solidFill>
                            <a:srgbClr val="FFFFFF"/>
                          </a:solidFill>
                          <a:latin typeface="Times New Roman"/>
                        </a:rPr>
                        <a:t>Run-to-run spread (final setup, validation)</a:t>
                      </a:r>
                    </a:p>
                  </a:txBody>
                  <a:tcPr marL="36576" marR="36576" marT="18288" marB="18288">
                    <a:solidFill>
                      <a:srgbClr val="41534B"/>
                    </a:solidFill>
                  </a:tcPr>
                </a:tc>
                <a:tc>
                  <a:txBody>
                    <a:bodyPr/>
                    <a:lstStyle/>
                    <a:p>
                      <a:pPr algn="ctr"/>
                      <a:r>
                        <a:rPr sz="900" b="1">
                          <a:solidFill>
                            <a:srgbClr val="FFFFFF"/>
                          </a:solidFill>
                          <a:latin typeface="Times New Roman"/>
                        </a:rPr>
                        <a:t>Value</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a:latin typeface="Times New Roman"/>
                        </a:rPr>
                        <a:t>Val mAP50, seeds 42 / 1 / 2</a:t>
                      </a:r>
                    </a:p>
                  </a:txBody>
                  <a:tcPr marL="36576" marR="36576" marT="18288" marB="18288">
                    <a:solidFill>
                      <a:srgbClr val="F7F3EC"/>
                    </a:solidFill>
                  </a:tcPr>
                </a:tc>
                <a:tc>
                  <a:txBody>
                    <a:bodyPr/>
                    <a:lstStyle/>
                    <a:p>
                      <a:pPr algn="ctr"/>
                      <a:r>
                        <a:rPr sz="900" b="0">
                          <a:latin typeface="Times New Roman"/>
                        </a:rPr>
                        <a:t>75.3 / 74.8 / 75.6</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a:latin typeface="Times New Roman"/>
                        </a:rPr>
                        <a:t>Spread (max - min)</a:t>
                      </a:r>
                    </a:p>
                  </a:txBody>
                  <a:tcPr marL="36576" marR="36576" marT="18288" marB="18288">
                    <a:solidFill>
                      <a:srgbClr val="FFFFFF"/>
                    </a:solidFill>
                  </a:tcPr>
                </a:tc>
                <a:tc>
                  <a:txBody>
                    <a:bodyPr/>
                    <a:lstStyle/>
                    <a:p>
                      <a:pPr algn="ctr"/>
                      <a:r>
                        <a:rPr sz="900" b="0">
                          <a:latin typeface="Times New Roman"/>
                        </a:rPr>
                        <a:t>0.8</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849624"/>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Board-level bootstrap: the 12 test boards are resampled 1,000 times with replacement, so the interval reflects board-to-board variation [20]; exact Wilcoxon signed-rank test on per-board AP50 differences [21].</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Only the fusion gains have intervals that exclude zero; the 4-class fusion is also significant by the Wilcoxon test. Differences of 2-3 mAP50 points between single models are within the noise of a 12-board test set.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GRADING VALIDATION (BRI)</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5303520" cy="960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56032">
                <a:tc>
                  <a:txBody>
                    <a:bodyPr/>
                    <a:lstStyle/>
                    <a:p>
                      <a:pPr algn="l"/>
                      <a:r>
                        <a:rPr sz="950" b="1" dirty="0">
                          <a:solidFill>
                            <a:srgbClr val="FFFFFF"/>
                          </a:solidFill>
                          <a:latin typeface="Times New Roman"/>
                        </a:rPr>
                        <a:t>Agreement with annotation-based grade</a:t>
                      </a:r>
                    </a:p>
                  </a:txBody>
                  <a:tcPr marL="36576" marR="36576" marT="18288" marB="18288">
                    <a:solidFill>
                      <a:srgbClr val="41534B"/>
                    </a:solidFill>
                  </a:tcPr>
                </a:tc>
                <a:tc>
                  <a:txBody>
                    <a:bodyPr/>
                    <a:lstStyle/>
                    <a:p>
                      <a:pPr algn="ctr"/>
                      <a:r>
                        <a:rPr sz="950" b="1">
                          <a:solidFill>
                            <a:srgbClr val="FFFFFF"/>
                          </a:solidFill>
                          <a:latin typeface="Times New Roman"/>
                        </a:rPr>
                        <a:t>Per image (469)</a:t>
                      </a:r>
                    </a:p>
                  </a:txBody>
                  <a:tcPr marL="36576" marR="36576" marT="18288" marB="18288">
                    <a:solidFill>
                      <a:srgbClr val="41534B"/>
                    </a:solidFill>
                  </a:tcPr>
                </a:tc>
                <a:tc>
                  <a:txBody>
                    <a:bodyPr/>
                    <a:lstStyle/>
                    <a:p>
                      <a:pPr algn="ctr"/>
                      <a:r>
                        <a:rPr sz="950" b="1">
                          <a:solidFill>
                            <a:srgbClr val="FFFFFF"/>
                          </a:solidFill>
                          <a:latin typeface="Times New Roman"/>
                        </a:rPr>
                        <a:t>Per board (12)</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dirty="0">
                          <a:latin typeface="Times New Roman"/>
                        </a:rPr>
                        <a:t>Exact grade</a:t>
                      </a:r>
                    </a:p>
                  </a:txBody>
                  <a:tcPr marL="36576" marR="36576" marT="18288" marB="18288">
                    <a:solidFill>
                      <a:srgbClr val="F7F3EC"/>
                    </a:solidFill>
                  </a:tcPr>
                </a:tc>
                <a:tc>
                  <a:txBody>
                    <a:bodyPr/>
                    <a:lstStyle/>
                    <a:p>
                      <a:pPr algn="ctr"/>
                      <a:r>
                        <a:rPr sz="950" b="0">
                          <a:latin typeface="Times New Roman"/>
                        </a:rPr>
                        <a:t>78.3 %</a:t>
                      </a:r>
                    </a:p>
                  </a:txBody>
                  <a:tcPr marL="36576" marR="36576" marT="18288" marB="18288">
                    <a:solidFill>
                      <a:srgbClr val="F7F3EC"/>
                    </a:solidFill>
                  </a:tcPr>
                </a:tc>
                <a:tc>
                  <a:txBody>
                    <a:bodyPr/>
                    <a:lstStyle/>
                    <a:p>
                      <a:pPr algn="ctr"/>
                      <a:r>
                        <a:rPr sz="950" b="0">
                          <a:latin typeface="Times New Roman"/>
                        </a:rPr>
                        <a:t>83.3 %</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dirty="0">
                          <a:latin typeface="Times New Roman"/>
                        </a:rPr>
                        <a:t>Within one grade</a:t>
                      </a:r>
                    </a:p>
                  </a:txBody>
                  <a:tcPr marL="36576" marR="36576" marT="18288" marB="18288">
                    <a:solidFill>
                      <a:srgbClr val="FFFFFF"/>
                    </a:solidFill>
                  </a:tcPr>
                </a:tc>
                <a:tc>
                  <a:txBody>
                    <a:bodyPr/>
                    <a:lstStyle/>
                    <a:p>
                      <a:pPr algn="ctr"/>
                      <a:r>
                        <a:rPr sz="950" b="0">
                          <a:latin typeface="Times New Roman"/>
                        </a:rPr>
                        <a:t>96.2 %</a:t>
                      </a:r>
                    </a:p>
                  </a:txBody>
                  <a:tcPr marL="36576" marR="36576" marT="18288" marB="18288">
                    <a:solidFill>
                      <a:srgbClr val="FFFFFF"/>
                    </a:solidFill>
                  </a:tcPr>
                </a:tc>
                <a:tc>
                  <a:txBody>
                    <a:bodyPr/>
                    <a:lstStyle/>
                    <a:p>
                      <a:pPr algn="ctr"/>
                      <a:r>
                        <a:rPr sz="950" b="0">
                          <a:latin typeface="Times New Roman"/>
                        </a:rPr>
                        <a:t>100.0 %</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Quadratic weighted kappa [19]</a:t>
                      </a:r>
                    </a:p>
                  </a:txBody>
                  <a:tcPr marL="36576" marR="36576" marT="18288" marB="18288">
                    <a:solidFill>
                      <a:srgbClr val="FFFFFF"/>
                    </a:solidFill>
                  </a:tcPr>
                </a:tc>
                <a:tc>
                  <a:txBody>
                    <a:bodyPr/>
                    <a:lstStyle/>
                    <a:p>
                      <a:pPr algn="ctr"/>
                      <a:r>
                        <a:rPr sz="950" b="0">
                          <a:latin typeface="Times New Roman"/>
                        </a:rPr>
                        <a:t>0.83</a:t>
                      </a:r>
                    </a:p>
                  </a:txBody>
                  <a:tcPr marL="36576" marR="36576" marT="18288" marB="18288">
                    <a:solidFill>
                      <a:srgbClr val="FFFFFF"/>
                    </a:solidFill>
                  </a:tcPr>
                </a:tc>
                <a:tc>
                  <a:txBody>
                    <a:bodyPr/>
                    <a:lstStyle/>
                    <a:p>
                      <a:pPr algn="ctr"/>
                      <a:r>
                        <a:rPr sz="95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Spearman correlation of damage scores</a:t>
                      </a:r>
                    </a:p>
                  </a:txBody>
                  <a:tcPr marL="36576" marR="36576" marT="18288" marB="18288">
                    <a:solidFill>
                      <a:srgbClr val="FFFFFF"/>
                    </a:solidFill>
                  </a:tcPr>
                </a:tc>
                <a:tc>
                  <a:txBody>
                    <a:bodyPr/>
                    <a:lstStyle/>
                    <a:p>
                      <a:pPr algn="ctr"/>
                      <a:r>
                        <a:rPr sz="950" b="0">
                          <a:latin typeface="Times New Roman"/>
                        </a:rPr>
                        <a:t>0.86</a:t>
                      </a:r>
                    </a:p>
                  </a:txBody>
                  <a:tcPr marL="36576" marR="36576" marT="18288" marB="18288">
                    <a:solidFill>
                      <a:srgbClr val="FFFFFF"/>
                    </a:solidFill>
                  </a:tcPr>
                </a:tc>
                <a:tc>
                  <a:txBody>
                    <a:bodyPr/>
                    <a:lstStyle/>
                    <a:p>
                      <a:pPr algn="ctr"/>
                      <a:r>
                        <a:rPr sz="950" b="0">
                          <a:latin typeface="Times New Roman"/>
                        </a:rPr>
                        <a:t>0.79</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Mean abs. error, recoverable area</a:t>
                      </a:r>
                    </a:p>
                  </a:txBody>
                  <a:tcPr marL="36576" marR="36576" marT="18288" marB="18288">
                    <a:solidFill>
                      <a:srgbClr val="FFFFFF"/>
                    </a:solidFill>
                  </a:tcPr>
                </a:tc>
                <a:tc>
                  <a:txBody>
                    <a:bodyPr/>
                    <a:lstStyle/>
                    <a:p>
                      <a:pPr algn="ctr"/>
                      <a:r>
                        <a:rPr sz="950" b="0">
                          <a:latin typeface="Times New Roman"/>
                        </a:rPr>
                        <a:t>0.47 pts</a:t>
                      </a:r>
                    </a:p>
                  </a:txBody>
                  <a:tcPr marL="36576" marR="36576" marT="18288" marB="18288">
                    <a:solidFill>
                      <a:srgbClr val="FFFFFF"/>
                    </a:solidFill>
                  </a:tcPr>
                </a:tc>
                <a:tc>
                  <a:txBody>
                    <a:bodyPr/>
                    <a:lstStyle/>
                    <a:p>
                      <a:pPr algn="ctr"/>
                      <a:r>
                        <a:rPr sz="950" b="0">
                          <a:latin typeface="Times New Roman"/>
                        </a:rPr>
                        <a:t>0.50 pts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587752"/>
          <a:ext cx="4389120" cy="3108960"/>
        </p:xfrm>
        <a:graphic>
          <a:graphicData uri="http://schemas.openxmlformats.org/drawingml/2006/table">
            <a:tbl>
              <a:tblPr firstRow="1" bandRow="1">
                <a:tableStyleId>{5C22544A-7EE6-4342-B048-85BDC9FD1C3A}</a:tableStyleId>
              </a:tblPr>
              <a:tblGrid>
                <a:gridCol w="2734297">
                  <a:extLst>
                    <a:ext uri="{9D8B030D-6E8A-4147-A177-3AD203B41FA5}">
                      <a16:colId xmlns:a16="http://schemas.microsoft.com/office/drawing/2014/main" val="20000"/>
                    </a:ext>
                  </a:extLst>
                </a:gridCol>
                <a:gridCol w="1367148">
                  <a:extLst>
                    <a:ext uri="{9D8B030D-6E8A-4147-A177-3AD203B41FA5}">
                      <a16:colId xmlns:a16="http://schemas.microsoft.com/office/drawing/2014/main" val="20001"/>
                    </a:ext>
                  </a:extLst>
                </a:gridCol>
                <a:gridCol w="1367148">
                  <a:extLst>
                    <a:ext uri="{9D8B030D-6E8A-4147-A177-3AD203B41FA5}">
                      <a16:colId xmlns:a16="http://schemas.microsoft.com/office/drawing/2014/main" val="20002"/>
                    </a:ext>
                  </a:extLst>
                </a:gridCol>
                <a:gridCol w="1367148">
                  <a:extLst>
                    <a:ext uri="{9D8B030D-6E8A-4147-A177-3AD203B41FA5}">
                      <a16:colId xmlns:a16="http://schemas.microsoft.com/office/drawing/2014/main" val="20003"/>
                    </a:ext>
                  </a:extLst>
                </a:gridCol>
                <a:gridCol w="1367148">
                  <a:extLst>
                    <a:ext uri="{9D8B030D-6E8A-4147-A177-3AD203B41FA5}">
                      <a16:colId xmlns:a16="http://schemas.microsoft.com/office/drawing/2014/main" val="20004"/>
                    </a:ext>
                  </a:extLst>
                </a:gridCol>
              </a:tblGrid>
              <a:tr h="256032">
                <a:tc>
                  <a:txBody>
                    <a:bodyPr/>
                    <a:lstStyle/>
                    <a:p>
                      <a:pPr algn="l"/>
                      <a:r>
                        <a:rPr sz="950" b="1" dirty="0">
                          <a:solidFill>
                            <a:srgbClr val="FFFFFF"/>
                          </a:solidFill>
                          <a:latin typeface="Times New Roman"/>
                        </a:rPr>
                        <a:t>Reference \ Model</a:t>
                      </a:r>
                    </a:p>
                  </a:txBody>
                  <a:tcPr marL="36576" marR="36576" marT="18288" marB="18288">
                    <a:solidFill>
                      <a:srgbClr val="41534B"/>
                    </a:solidFill>
                  </a:tcPr>
                </a:tc>
                <a:tc>
                  <a:txBody>
                    <a:bodyPr/>
                    <a:lstStyle/>
                    <a:p>
                      <a:pPr algn="ctr"/>
                      <a:r>
                        <a:rPr sz="950" b="1">
                          <a:solidFill>
                            <a:srgbClr val="FFFFFF"/>
                          </a:solidFill>
                          <a:latin typeface="Times New Roman"/>
                        </a:rPr>
                        <a:t>A</a:t>
                      </a:r>
                    </a:p>
                  </a:txBody>
                  <a:tcPr marL="36576" marR="36576" marT="18288" marB="18288">
                    <a:solidFill>
                      <a:srgbClr val="41534B"/>
                    </a:solidFill>
                  </a:tcPr>
                </a:tc>
                <a:tc>
                  <a:txBody>
                    <a:bodyPr/>
                    <a:lstStyle/>
                    <a:p>
                      <a:pPr algn="ctr"/>
                      <a:r>
                        <a:rPr sz="950" b="1">
                          <a:solidFill>
                            <a:srgbClr val="FFFFFF"/>
                          </a:solidFill>
                          <a:latin typeface="Times New Roman"/>
                        </a:rPr>
                        <a:t>B</a:t>
                      </a:r>
                    </a:p>
                  </a:txBody>
                  <a:tcPr marL="36576" marR="36576" marT="18288" marB="18288">
                    <a:solidFill>
                      <a:srgbClr val="41534B"/>
                    </a:solidFill>
                  </a:tcPr>
                </a:tc>
                <a:tc>
                  <a:txBody>
                    <a:bodyPr/>
                    <a:lstStyle/>
                    <a:p>
                      <a:pPr algn="ctr"/>
                      <a:r>
                        <a:rPr sz="950" b="1">
                          <a:solidFill>
                            <a:srgbClr val="FFFFFF"/>
                          </a:solidFill>
                          <a:latin typeface="Times New Roman"/>
                        </a:rPr>
                        <a:t>C</a:t>
                      </a:r>
                    </a:p>
                  </a:txBody>
                  <a:tcPr marL="36576" marR="36576" marT="18288" marB="18288">
                    <a:solidFill>
                      <a:srgbClr val="41534B"/>
                    </a:solidFill>
                  </a:tcPr>
                </a:tc>
                <a:tc>
                  <a:txBody>
                    <a:bodyPr/>
                    <a:lstStyle/>
                    <a:p>
                      <a:pPr algn="ctr"/>
                      <a:r>
                        <a:rPr sz="950" b="1">
                          <a:solidFill>
                            <a:srgbClr val="FFFFFF"/>
                          </a:solidFill>
                          <a:latin typeface="Times New Roman"/>
                        </a:rPr>
                        <a:t>Reject</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a:latin typeface="Times New Roman"/>
                        </a:rPr>
                        <a:t>A (175)</a:t>
                      </a:r>
                    </a:p>
                  </a:txBody>
                  <a:tcPr marL="36576" marR="36576" marT="18288" marB="18288">
                    <a:solidFill>
                      <a:srgbClr val="F7F3EC"/>
                    </a:solidFill>
                  </a:tcPr>
                </a:tc>
                <a:tc>
                  <a:txBody>
                    <a:bodyPr/>
                    <a:lstStyle/>
                    <a:p>
                      <a:pPr algn="ctr"/>
                      <a:r>
                        <a:rPr sz="950" b="0">
                          <a:latin typeface="Times New Roman"/>
                        </a:rPr>
                        <a:t>153</a:t>
                      </a:r>
                    </a:p>
                  </a:txBody>
                  <a:tcPr marL="36576" marR="36576" marT="18288" marB="18288">
                    <a:solidFill>
                      <a:srgbClr val="F7F3EC"/>
                    </a:solidFill>
                  </a:tcPr>
                </a:tc>
                <a:tc>
                  <a:txBody>
                    <a:bodyPr/>
                    <a:lstStyle/>
                    <a:p>
                      <a:pPr algn="ctr"/>
                      <a:r>
                        <a:rPr sz="950" b="0">
                          <a:latin typeface="Times New Roman"/>
                        </a:rPr>
                        <a:t>19</a:t>
                      </a:r>
                    </a:p>
                  </a:txBody>
                  <a:tcPr marL="36576" marR="36576" marT="18288" marB="18288">
                    <a:solidFill>
                      <a:srgbClr val="F7F3EC"/>
                    </a:solidFill>
                  </a:tcPr>
                </a:tc>
                <a:tc>
                  <a:txBody>
                    <a:bodyPr/>
                    <a:lstStyle/>
                    <a:p>
                      <a:pPr algn="ctr"/>
                      <a:r>
                        <a:rPr sz="950" b="0">
                          <a:latin typeface="Times New Roman"/>
                        </a:rPr>
                        <a:t>3</a:t>
                      </a:r>
                    </a:p>
                  </a:txBody>
                  <a:tcPr marL="36576" marR="36576" marT="18288" marB="18288">
                    <a:solidFill>
                      <a:srgbClr val="F7F3EC"/>
                    </a:solidFill>
                  </a:tcPr>
                </a:tc>
                <a:tc>
                  <a:txBody>
                    <a:bodyPr/>
                    <a:lstStyle/>
                    <a:p>
                      <a:pPr algn="ctr"/>
                      <a:r>
                        <a:rPr sz="950" b="0">
                          <a:latin typeface="Times New Roman"/>
                        </a:rPr>
                        <a:t>0</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a:latin typeface="Times New Roman"/>
                        </a:rPr>
                        <a:t>B (113)</a:t>
                      </a:r>
                    </a:p>
                  </a:txBody>
                  <a:tcPr marL="36576" marR="36576" marT="18288" marB="18288">
                    <a:solidFill>
                      <a:srgbClr val="FFFFFF"/>
                    </a:solidFill>
                  </a:tcPr>
                </a:tc>
                <a:tc>
                  <a:txBody>
                    <a:bodyPr/>
                    <a:lstStyle/>
                    <a:p>
                      <a:pPr algn="ctr"/>
                      <a:r>
                        <a:rPr sz="950" b="0">
                          <a:latin typeface="Times New Roman"/>
                        </a:rPr>
                        <a:t>13</a:t>
                      </a:r>
                    </a:p>
                  </a:txBody>
                  <a:tcPr marL="36576" marR="36576" marT="18288" marB="18288">
                    <a:solidFill>
                      <a:srgbClr val="FFFFFF"/>
                    </a:solidFill>
                  </a:tcPr>
                </a:tc>
                <a:tc>
                  <a:txBody>
                    <a:bodyPr/>
                    <a:lstStyle/>
                    <a:p>
                      <a:pPr algn="ctr"/>
                      <a:r>
                        <a:rPr sz="950" b="0">
                          <a:latin typeface="Times New Roman"/>
                        </a:rPr>
                        <a:t>77</a:t>
                      </a:r>
                    </a:p>
                  </a:txBody>
                  <a:tcPr marL="36576" marR="36576" marT="18288" marB="18288">
                    <a:solidFill>
                      <a:srgbClr val="FFFFFF"/>
                    </a:solidFill>
                  </a:tcPr>
                </a:tc>
                <a:tc>
                  <a:txBody>
                    <a:bodyPr/>
                    <a:lstStyle/>
                    <a:p>
                      <a:pPr algn="ctr"/>
                      <a:r>
                        <a:rPr sz="950" b="0">
                          <a:latin typeface="Times New Roman"/>
                        </a:rPr>
                        <a:t>22</a:t>
                      </a:r>
                    </a:p>
                  </a:txBody>
                  <a:tcPr marL="36576" marR="36576" marT="18288" marB="18288">
                    <a:solidFill>
                      <a:srgbClr val="FFFFFF"/>
                    </a:solidFill>
                  </a:tcPr>
                </a:tc>
                <a:tc>
                  <a:txBody>
                    <a:bodyPr/>
                    <a:lstStyle/>
                    <a:p>
                      <a:pPr algn="ctr"/>
                      <a:r>
                        <a:rPr sz="950" b="0">
                          <a:latin typeface="Times New Roman"/>
                        </a:rPr>
                        <a:t>1</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a:latin typeface="Times New Roman"/>
                        </a:rPr>
                        <a:t>C (109)</a:t>
                      </a:r>
                    </a:p>
                  </a:txBody>
                  <a:tcPr marL="36576" marR="36576" marT="18288" marB="18288">
                    <a:solidFill>
                      <a:srgbClr val="F7F3EC"/>
                    </a:solidFill>
                  </a:tcPr>
                </a:tc>
                <a:tc>
                  <a:txBody>
                    <a:bodyPr/>
                    <a:lstStyle/>
                    <a:p>
                      <a:pPr algn="ctr"/>
                      <a:r>
                        <a:rPr sz="950" b="0">
                          <a:latin typeface="Times New Roman"/>
                        </a:rPr>
                        <a:t>6</a:t>
                      </a:r>
                    </a:p>
                  </a:txBody>
                  <a:tcPr marL="36576" marR="36576" marT="18288" marB="18288">
                    <a:solidFill>
                      <a:srgbClr val="F7F3EC"/>
                    </a:solidFill>
                  </a:tcPr>
                </a:tc>
                <a:tc>
                  <a:txBody>
                    <a:bodyPr/>
                    <a:lstStyle/>
                    <a:p>
                      <a:pPr algn="ctr"/>
                      <a:r>
                        <a:rPr sz="950" b="0">
                          <a:latin typeface="Times New Roman"/>
                        </a:rPr>
                        <a:t>5</a:t>
                      </a:r>
                    </a:p>
                  </a:txBody>
                  <a:tcPr marL="36576" marR="36576" marT="18288" marB="18288">
                    <a:solidFill>
                      <a:srgbClr val="F7F3EC"/>
                    </a:solidFill>
                  </a:tcPr>
                </a:tc>
                <a:tc>
                  <a:txBody>
                    <a:bodyPr/>
                    <a:lstStyle/>
                    <a:p>
                      <a:pPr algn="ctr"/>
                      <a:r>
                        <a:rPr sz="950" b="0">
                          <a:latin typeface="Times New Roman"/>
                        </a:rPr>
                        <a:t>85</a:t>
                      </a:r>
                    </a:p>
                  </a:txBody>
                  <a:tcPr marL="36576" marR="36576" marT="18288" marB="18288">
                    <a:solidFill>
                      <a:srgbClr val="F7F3EC"/>
                    </a:solidFill>
                  </a:tcPr>
                </a:tc>
                <a:tc>
                  <a:txBody>
                    <a:bodyPr/>
                    <a:lstStyle/>
                    <a:p>
                      <a:pPr algn="ctr"/>
                      <a:r>
                        <a:rPr sz="950" b="0">
                          <a:latin typeface="Times New Roman"/>
                        </a:rPr>
                        <a:t>13</a:t>
                      </a:r>
                    </a:p>
                  </a:txBody>
                  <a:tcPr marL="36576" marR="36576" marT="18288" marB="18288">
                    <a:solidFill>
                      <a:srgbClr val="F7F3EC"/>
                    </a:solidFill>
                  </a:tcPr>
                </a:tc>
                <a:extLst>
                  <a:ext uri="{0D108BD9-81ED-4DB2-BD59-A6C34878D82A}">
                    <a16:rowId xmlns:a16="http://schemas.microsoft.com/office/drawing/2014/main" val="10003"/>
                  </a:ext>
                </a:extLst>
              </a:tr>
              <a:tr h="256032">
                <a:tc>
                  <a:txBody>
                    <a:bodyPr/>
                    <a:lstStyle/>
                    <a:p>
                      <a:pPr algn="l"/>
                      <a:r>
                        <a:rPr sz="950" b="0">
                          <a:latin typeface="Times New Roman"/>
                        </a:rPr>
                        <a:t>Reject (72)</a:t>
                      </a:r>
                    </a:p>
                  </a:txBody>
                  <a:tcPr marL="36576" marR="36576" marT="18288" marB="18288">
                    <a:solidFill>
                      <a:srgbClr val="FFFFFF"/>
                    </a:solidFill>
                  </a:tcPr>
                </a:tc>
                <a:tc>
                  <a:txBody>
                    <a:bodyPr/>
                    <a:lstStyle/>
                    <a:p>
                      <a:pPr algn="ctr"/>
                      <a:r>
                        <a:rPr sz="950" b="0">
                          <a:latin typeface="Times New Roman"/>
                        </a:rPr>
                        <a:t>6</a:t>
                      </a:r>
                    </a:p>
                  </a:txBody>
                  <a:tcPr marL="36576" marR="36576" marT="18288" marB="18288">
                    <a:solidFill>
                      <a:srgbClr val="FFFFFF"/>
                    </a:solidFill>
                  </a:tcPr>
                </a:tc>
                <a:tc>
                  <a:txBody>
                    <a:bodyPr/>
                    <a:lstStyle/>
                    <a:p>
                      <a:pPr algn="ctr"/>
                      <a:r>
                        <a:rPr sz="950" b="0">
                          <a:latin typeface="Times New Roman"/>
                        </a:rPr>
                        <a:t>2</a:t>
                      </a:r>
                    </a:p>
                  </a:txBody>
                  <a:tcPr marL="36576" marR="36576" marT="18288" marB="18288">
                    <a:solidFill>
                      <a:srgbClr val="FFFFFF"/>
                    </a:solidFill>
                  </a:tcPr>
                </a:tc>
                <a:tc>
                  <a:txBody>
                    <a:bodyPr/>
                    <a:lstStyle/>
                    <a:p>
                      <a:pPr algn="ctr"/>
                      <a:r>
                        <a:rPr sz="950" b="0">
                          <a:latin typeface="Times New Roman"/>
                        </a:rPr>
                        <a:t>12</a:t>
                      </a:r>
                    </a:p>
                  </a:txBody>
                  <a:tcPr marL="36576" marR="36576" marT="18288" marB="18288">
                    <a:solidFill>
                      <a:srgbClr val="FFFFFF"/>
                    </a:solidFill>
                  </a:tcPr>
                </a:tc>
                <a:tc>
                  <a:txBody>
                    <a:bodyPr/>
                    <a:lstStyle/>
                    <a:p>
                      <a:pPr algn="ctr"/>
                      <a:r>
                        <a:rPr sz="950" b="0">
                          <a:latin typeface="Times New Roman"/>
                        </a:rPr>
                        <a:t>52</a:t>
                      </a:r>
                    </a:p>
                  </a:txBody>
                  <a:tcPr marL="36576"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301" name="TextBox 300"/>
          <p:cNvSpPr txBox="1"/>
          <p:nvPr/>
        </p:nvSpPr>
        <p:spPr>
          <a:xfrm>
            <a:off x="274320" y="4050792"/>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Reference grade = BRI on the annotators' boxes, thresholds at the 40th / 70th / 90th percentiles of validation damage scores (0.0020, 0.0062, 0.0179).</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Model grade = BRI on the detector's boxes, thresholds fitted on validation with the guide's calibration (0.0010, 0.0027, 0.0104); test boards never used for fitting.</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Next step agreed with the guide: blind expert grading of 30-50 boards to calibrate severity weights and thresholds.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IMAGE ENHANCEMENT STUDY (H1)</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5486400" cy="9601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274320">
                <a:tc>
                  <a:txBody>
                    <a:bodyPr/>
                    <a:lstStyle/>
                    <a:p>
                      <a:pPr algn="l"/>
                      <a:r>
                        <a:rPr sz="1000" b="1" dirty="0">
                          <a:solidFill>
                            <a:srgbClr val="FFFFFF"/>
                          </a:solidFill>
                          <a:latin typeface="Times New Roman"/>
                        </a:rPr>
                        <a:t>Condition (validation, mAP50)</a:t>
                      </a:r>
                    </a:p>
                  </a:txBody>
                  <a:tcPr marL="36576" marR="36576" marT="18288" marB="18288">
                    <a:solidFill>
                      <a:srgbClr val="41534B"/>
                    </a:solidFill>
                  </a:tcPr>
                </a:tc>
                <a:tc>
                  <a:txBody>
                    <a:bodyPr/>
                    <a:lstStyle/>
                    <a:p>
                      <a:pPr algn="ctr"/>
                      <a:r>
                        <a:rPr sz="1000" b="1">
                          <a:solidFill>
                            <a:srgbClr val="FFFFFF"/>
                          </a:solidFill>
                          <a:latin typeface="Times New Roman"/>
                        </a:rPr>
                        <a:t>Raw</a:t>
                      </a:r>
                    </a:p>
                  </a:txBody>
                  <a:tcPr marL="36576" marR="36576" marT="18288" marB="18288">
                    <a:solidFill>
                      <a:srgbClr val="41534B"/>
                    </a:solidFill>
                  </a:tcPr>
                </a:tc>
                <a:tc>
                  <a:txBody>
                    <a:bodyPr/>
                    <a:lstStyle/>
                    <a:p>
                      <a:pPr algn="ctr"/>
                      <a:r>
                        <a:rPr sz="1000" b="1">
                          <a:solidFill>
                            <a:srgbClr val="FFFFFF"/>
                          </a:solidFill>
                          <a:latin typeface="Times New Roman"/>
                        </a:rPr>
                        <a:t>CLAHE [22]</a:t>
                      </a:r>
                    </a:p>
                  </a:txBody>
                  <a:tcPr marL="36576" marR="36576" marT="18288" marB="18288">
                    <a:solidFill>
                      <a:srgbClr val="41534B"/>
                    </a:solidFill>
                  </a:tcPr>
                </a:tc>
                <a:tc>
                  <a:txBody>
                    <a:bodyPr/>
                    <a:lstStyle/>
                    <a:p>
                      <a:pPr algn="ctr"/>
                      <a:r>
                        <a:rPr sz="1000" b="1">
                          <a:solidFill>
                            <a:srgbClr val="FFFFFF"/>
                          </a:solidFill>
                          <a:latin typeface="Times New Roman"/>
                        </a:rPr>
                        <a:t>Denoise</a:t>
                      </a:r>
                    </a:p>
                  </a:txBody>
                  <a:tcPr marL="36576" marR="36576" marT="18288" marB="18288">
                    <a:solidFill>
                      <a:srgbClr val="41534B"/>
                    </a:solidFill>
                  </a:tcPr>
                </a:tc>
                <a:tc>
                  <a:txBody>
                    <a:bodyPr/>
                    <a:lstStyle/>
                    <a:p>
                      <a:pPr algn="ctr"/>
                      <a:r>
                        <a:rPr sz="1000" b="1">
                          <a:solidFill>
                            <a:srgbClr val="FFFFFF"/>
                          </a:solidFill>
                          <a:latin typeface="Times New Roman"/>
                        </a:rPr>
                        <a:t>Sharpen</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Normal</a:t>
                      </a:r>
                    </a:p>
                  </a:txBody>
                  <a:tcPr marL="36576" marR="36576" marT="18288" marB="18288">
                    <a:solidFill>
                      <a:srgbClr val="F7F3EC"/>
                    </a:solidFill>
                  </a:tcPr>
                </a:tc>
                <a:tc>
                  <a:txBody>
                    <a:bodyPr/>
                    <a:lstStyle/>
                    <a:p>
                      <a:pPr algn="ctr"/>
                      <a:r>
                        <a:rPr sz="1000" b="0">
                          <a:latin typeface="Times New Roman"/>
                        </a:rPr>
                        <a:t>74.8</a:t>
                      </a:r>
                    </a:p>
                  </a:txBody>
                  <a:tcPr marL="36576" marR="36576" marT="18288" marB="18288">
                    <a:solidFill>
                      <a:srgbClr val="F7F3EC"/>
                    </a:solidFill>
                  </a:tcPr>
                </a:tc>
                <a:tc>
                  <a:txBody>
                    <a:bodyPr/>
                    <a:lstStyle/>
                    <a:p>
                      <a:pPr algn="ctr"/>
                      <a:r>
                        <a:rPr sz="1000" b="0">
                          <a:latin typeface="Times New Roman"/>
                        </a:rPr>
                        <a:t>65.8</a:t>
                      </a:r>
                    </a:p>
                  </a:txBody>
                  <a:tcPr marL="36576" marR="36576" marT="18288" marB="18288">
                    <a:solidFill>
                      <a:srgbClr val="F7F3EC"/>
                    </a:solidFill>
                  </a:tcPr>
                </a:tc>
                <a:tc>
                  <a:txBody>
                    <a:bodyPr/>
                    <a:lstStyle/>
                    <a:p>
                      <a:pPr algn="ctr"/>
                      <a:r>
                        <a:rPr sz="1000" b="0">
                          <a:latin typeface="Times New Roman"/>
                        </a:rPr>
                        <a:t>75.3</a:t>
                      </a:r>
                    </a:p>
                  </a:txBody>
                  <a:tcPr marL="36576" marR="36576" marT="18288" marB="18288">
                    <a:solidFill>
                      <a:srgbClr val="F7F3EC"/>
                    </a:solidFill>
                  </a:tcPr>
                </a:tc>
                <a:tc>
                  <a:txBody>
                    <a:bodyPr/>
                    <a:lstStyle/>
                    <a:p>
                      <a:pPr algn="ctr"/>
                      <a:r>
                        <a:rPr sz="1000" b="0">
                          <a:latin typeface="Times New Roman"/>
                        </a:rPr>
                        <a:t>73.8</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Low light</a:t>
                      </a:r>
                    </a:p>
                  </a:txBody>
                  <a:tcPr marL="36576" marR="36576" marT="18288" marB="18288">
                    <a:solidFill>
                      <a:srgbClr val="FFFFFF"/>
                    </a:solidFill>
                  </a:tcPr>
                </a:tc>
                <a:tc>
                  <a:txBody>
                    <a:bodyPr/>
                    <a:lstStyle/>
                    <a:p>
                      <a:pPr algn="ctr"/>
                      <a:r>
                        <a:rPr sz="1000" b="0">
                          <a:latin typeface="Times New Roman"/>
                        </a:rPr>
                        <a:t>50.0</a:t>
                      </a:r>
                    </a:p>
                  </a:txBody>
                  <a:tcPr marL="36576" marR="36576" marT="18288" marB="18288">
                    <a:solidFill>
                      <a:srgbClr val="FFFFFF"/>
                    </a:solidFill>
                  </a:tcPr>
                </a:tc>
                <a:tc>
                  <a:txBody>
                    <a:bodyPr/>
                    <a:lstStyle/>
                    <a:p>
                      <a:pPr algn="ctr"/>
                      <a:r>
                        <a:rPr sz="1000" b="0">
                          <a:latin typeface="Times New Roman"/>
                        </a:rPr>
                        <a:t>27.7</a:t>
                      </a:r>
                    </a:p>
                  </a:txBody>
                  <a:tcPr marL="36576" marR="36576" marT="18288" marB="18288">
                    <a:solidFill>
                      <a:srgbClr val="FFFFFF"/>
                    </a:solidFill>
                  </a:tcPr>
                </a:tc>
                <a:tc>
                  <a:txBody>
                    <a:bodyPr/>
                    <a:lstStyle/>
                    <a:p>
                      <a:pPr algn="ctr"/>
                      <a:r>
                        <a:rPr sz="1000" b="0">
                          <a:latin typeface="Times New Roman"/>
                        </a:rPr>
                        <a:t>48.0</a:t>
                      </a:r>
                    </a:p>
                  </a:txBody>
                  <a:tcPr marL="36576" marR="36576" marT="18288" marB="18288">
                    <a:solidFill>
                      <a:srgbClr val="FFFFFF"/>
                    </a:solidFill>
                  </a:tcPr>
                </a:tc>
                <a:tc>
                  <a:txBody>
                    <a:bodyPr/>
                    <a:lstStyle/>
                    <a:p>
                      <a:pPr algn="ctr"/>
                      <a:r>
                        <a:rPr sz="1000" b="0">
                          <a:latin typeface="Times New Roman"/>
                        </a:rPr>
                        <a:t>49.3</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Over-exposed</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47.9</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57.7</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Blur</a:t>
                      </a:r>
                    </a:p>
                  </a:txBody>
                  <a:tcPr marL="36576" marR="36576" marT="18288" marB="18288">
                    <a:solidFill>
                      <a:srgbClr val="FFFFFF"/>
                    </a:solidFill>
                  </a:tcPr>
                </a:tc>
                <a:tc>
                  <a:txBody>
                    <a:bodyPr/>
                    <a:lstStyle/>
                    <a:p>
                      <a:pPr algn="ctr"/>
                      <a:r>
                        <a:rPr sz="1000" b="0">
                          <a:latin typeface="Times New Roman"/>
                        </a:rPr>
                        <a:t>73.3</a:t>
                      </a:r>
                    </a:p>
                  </a:txBody>
                  <a:tcPr marL="36576" marR="36576" marT="18288" marB="18288">
                    <a:solidFill>
                      <a:srgbClr val="FFFFFF"/>
                    </a:solidFill>
                  </a:tcPr>
                </a:tc>
                <a:tc>
                  <a:txBody>
                    <a:bodyPr/>
                    <a:lstStyle/>
                    <a:p>
                      <a:pPr algn="ctr"/>
                      <a:r>
                        <a:rPr sz="1000" b="0">
                          <a:latin typeface="Times New Roman"/>
                        </a:rPr>
                        <a:t>62.2</a:t>
                      </a:r>
                    </a:p>
                  </a:txBody>
                  <a:tcPr marL="36576" marR="36576" marT="18288" marB="18288">
                    <a:solidFill>
                      <a:srgbClr val="FFFFFF"/>
                    </a:solidFill>
                  </a:tcPr>
                </a:tc>
                <a:tc>
                  <a:txBody>
                    <a:bodyPr/>
                    <a:lstStyle/>
                    <a:p>
                      <a:pPr algn="ctr"/>
                      <a:r>
                        <a:rPr sz="1000" b="0">
                          <a:latin typeface="Times New Roman"/>
                        </a:rPr>
                        <a:t>72.9</a:t>
                      </a:r>
                    </a:p>
                  </a:txBody>
                  <a:tcPr marL="36576" marR="36576" marT="18288" marB="18288">
                    <a:solidFill>
                      <a:srgbClr val="FFFFFF"/>
                    </a:solidFill>
                  </a:tcPr>
                </a:tc>
                <a:tc>
                  <a:txBody>
                    <a:bodyPr/>
                    <a:lstStyle/>
                    <a:p>
                      <a:pPr algn="ctr"/>
                      <a:r>
                        <a:rPr sz="1000" b="0">
                          <a:latin typeface="Times New Roman"/>
                        </a:rPr>
                        <a:t>75.1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Noise</a:t>
                      </a:r>
                    </a:p>
                  </a:txBody>
                  <a:tcPr marL="36576" marR="36576" marT="18288" marB="18288">
                    <a:solidFill>
                      <a:srgbClr val="FFFFFF"/>
                    </a:solidFill>
                  </a:tcPr>
                </a:tc>
                <a:tc>
                  <a:txBody>
                    <a:bodyPr/>
                    <a:lstStyle/>
                    <a:p>
                      <a:pPr algn="ctr"/>
                      <a:r>
                        <a:rPr sz="1000" b="0">
                          <a:latin typeface="Times New Roman"/>
                        </a:rPr>
                        <a:t>67.8</a:t>
                      </a:r>
                    </a:p>
                  </a:txBody>
                  <a:tcPr marL="36576" marR="36576" marT="18288" marB="18288">
                    <a:solidFill>
                      <a:srgbClr val="FFFFFF"/>
                    </a:solidFill>
                  </a:tcPr>
                </a:tc>
                <a:tc>
                  <a:txBody>
                    <a:bodyPr/>
                    <a:lstStyle/>
                    <a:p>
                      <a:pPr algn="ctr"/>
                      <a:r>
                        <a:rPr sz="1000" b="0">
                          <a:latin typeface="Times New Roman"/>
                        </a:rPr>
                        <a:t>56.5</a:t>
                      </a:r>
                    </a:p>
                  </a:txBody>
                  <a:tcPr marL="36576" marR="36576" marT="18288" marB="18288">
                    <a:solidFill>
                      <a:srgbClr val="FFFFFF"/>
                    </a:solidFill>
                  </a:tcPr>
                </a:tc>
                <a:tc>
                  <a:txBody>
                    <a:bodyPr/>
                    <a:lstStyle/>
                    <a:p>
                      <a:pPr algn="ctr"/>
                      <a:r>
                        <a:rPr sz="1000" b="0">
                          <a:latin typeface="Times New Roman"/>
                        </a:rPr>
                        <a:t>73.0</a:t>
                      </a:r>
                    </a:p>
                  </a:txBody>
                  <a:tcPr marL="36576" marR="36576" marT="18288" marB="18288">
                    <a:solidFill>
                      <a:srgbClr val="FFFFFF"/>
                    </a:solidFill>
                  </a:tcPr>
                </a:tc>
                <a:tc>
                  <a:txBody>
                    <a:bodyPr/>
                    <a:lstStyle/>
                    <a:p>
                      <a:pPr algn="ctr"/>
                      <a:r>
                        <a:rPr sz="1000" b="0">
                          <a:latin typeface="Times New Roman"/>
                        </a:rPr>
                        <a:t>57.0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Low contrast</a:t>
                      </a:r>
                    </a:p>
                  </a:txBody>
                  <a:tcPr marL="36576" marR="36576" marT="18288" marB="18288">
                    <a:solidFill>
                      <a:srgbClr val="FFFFFF"/>
                    </a:solidFill>
                  </a:tcPr>
                </a:tc>
                <a:tc>
                  <a:txBody>
                    <a:bodyPr/>
                    <a:lstStyle/>
                    <a:p>
                      <a:pPr algn="ctr"/>
                      <a:r>
                        <a:rPr sz="1000" b="0">
                          <a:latin typeface="Times New Roman"/>
                        </a:rPr>
                        <a:t>61.3</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tc>
                  <a:txBody>
                    <a:bodyPr/>
                    <a:lstStyle/>
                    <a:p>
                      <a:pPr algn="ctr"/>
                      <a:r>
                        <a:rPr sz="1000" b="0">
                          <a:latin typeface="Times New Roman"/>
                        </a:rPr>
                        <a:t>61.6</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06324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H1 rejected for raw images: </a:t>
            </a:r>
            <a:r>
              <a:rPr lang="en-US" sz="1050">
                <a:latin typeface="Times New Roman"/>
                <a:ea typeface="Times New Roman"/>
                <a:cs typeface="Times New Roman"/>
                <a:sym typeface="Times New Roman"/>
              </a:rPr>
              <a:t>CLAHE lowers mAP50 significantly in 5 of 6 conditions (Wilcoxon p &lt;= 0.006); sharpening gives no significant gain.</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Denoising helps only on noisy images: </a:t>
            </a:r>
            <a:r>
              <a:rPr lang="en-US" sz="1050">
                <a:latin typeface="Times New Roman"/>
                <a:ea typeface="Times New Roman"/>
                <a:cs typeface="Times New Roman"/>
                <a:sym typeface="Times New Roman"/>
              </a:rPr>
              <a:t>+3.2 to +7.2 mAP50 (95% CI), p = 0.006; recommended only for a noisy camera.</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Imaging conditions matter more than enhancement: </a:t>
            </a:r>
            <a:r>
              <a:rPr lang="en-US" sz="1050">
                <a:latin typeface="Times New Roman"/>
                <a:ea typeface="Times New Roman"/>
                <a:cs typeface="Times New Roman"/>
                <a:sym typeface="Times New Roman"/>
              </a:rPr>
              <a:t>low light costs about 25 points, so controlled lighting is the main requirement for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CONCLUSION AND FUTURE WORK</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Clean evaluation: </a:t>
            </a:r>
            <a:r>
              <a:rPr lang="en-US" sz="1100" dirty="0">
                <a:latin typeface="Times New Roman"/>
                <a:ea typeface="Times New Roman"/>
                <a:cs typeface="Times New Roman"/>
                <a:sym typeface="Times New Roman"/>
              </a:rPr>
              <a:t>a board-level split and rectangular high-resolution input give a reproducible baseline of 63-65 mAP50 over 8 classes on 12 unseen boards; YOLO11s matches YOLO11m at 2.8x the speed.</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Mathematical model: </a:t>
            </a:r>
            <a:r>
              <a:rPr lang="en-US" sz="1100" dirty="0">
                <a:latin typeface="Times New Roman"/>
                <a:ea typeface="Times New Roman"/>
                <a:cs typeface="Times New Roman"/>
                <a:sym typeface="Times New Roman"/>
              </a:rPr>
              <a:t>weighted box fusion of four balanced / high-resolution YOLO11s models raises test mAP50 from 69.2 to 74.7 (significant, 10 of 12 boards better); balancing or 1280 px alone, Wise-IoU and per-class thresholds gave no significant gain.</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Quality assessment: </a:t>
            </a:r>
            <a:r>
              <a:rPr lang="en-US" sz="1100" dirty="0">
                <a:latin typeface="Times New Roman"/>
                <a:ea typeface="Times New Roman"/>
                <a:cs typeface="Times New Roman"/>
                <a:sym typeface="Times New Roman"/>
              </a:rPr>
              <a:t>the guide's Board Recoverability Index, adapted to line-scan geometry, reproduces annotation-based grades (weighted kappa 0.83 per image with the deployed detector) and drives a market-value estimate.</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Deliverable: </a:t>
            </a:r>
            <a:r>
              <a:rPr lang="en-US" sz="1100" dirty="0">
                <a:latin typeface="Times New Roman"/>
                <a:ea typeface="Times New Roman"/>
                <a:cs typeface="Times New Roman"/>
                <a:sym typeface="Times New Roman"/>
              </a:rPr>
              <a:t>a CPU web application that shows defects, grade, recoverable area and value for an uploaded board image.</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Future work: </a:t>
            </a:r>
            <a:r>
              <a:rPr lang="en-US" sz="1100" dirty="0">
                <a:latin typeface="Times New Roman"/>
                <a:ea typeface="Times New Roman"/>
                <a:cs typeface="Times New Roman"/>
                <a:sym typeface="Times New Roman"/>
              </a:rPr>
              <a:t>blind expert grading to calibrate severity weights and thresholds; more boards and k-fold validation; more rare-class data; segmentation masks for tighter defect area; CondConv / BiFormer (full CWB) architecture; plywood images and field cameras.</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 (contd.)</a:t>
            </a:r>
            <a:endParaRPr sz="1400" b="0" i="0" u="none" strike="noStrike" cap="none" dirty="0">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[12] P. Kodytek, A. Bodzas, and P. Bilik, “A large-scale image dataset of wood surface defects for automated vision-based quality control processes,” F1000Research, vol. 10, p. 581, 2022, doi: 10.12688/f1000research.52903.2.</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[13] G. Jocher and J. Qiu, “Ultralytics YOLO11,” version 11.0.0, 2024. [Online]. Available: https://github.com/ultralytics/ultralytics</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[14] Y. Cui, M. Jia, T.-Y. Lin, Y. Song, and S. Belongie, “Class-balanced loss based on effective number of samples,” in Proc. IEEE/CVF CVPR, 2019, pp. 9268–9277.</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[15] A. Gupta, P. Dollár, and R. Girshick, “LVIS: A dataset for large vocabulary instance segmentation,” in Proc. IEEE/CVF CVPR, 2019, pp. 5356–5364.</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[16] D. Dwibedi, I. Misra, and M. Hebert, “Cut, paste and learn: Surprisingly easy synthesis for instance detection,” in Proc. IEEE ICCV, 2017, pp. 1301–1310.</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[17] R. Solovyev, W. Wang, and T. Gabruseva, “Weighted boxes fusion: Ensembling boxes from different object detection models,” Image and Vision Computing, vol. 107, Art. no. 104117, 2021.</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[18] Z. Tong, Y. Chen, Z. Xu, and R. Yu, “Wise-IoU: Bounding box regression loss with dynamic focusing mechanism,” arXiv:2301.10051, 2023.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[19] J. Cohen, “Weighted kappa: Nominal scale agreement provision for scaled disagreement or partial credit,” Psychological Bulletin, vol. 70, no. 4, pp. 213–220, 1968.</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[20] B. Efron and R. J. Tibshirani, An Introduction to the Bootstrap. New York, NY, USA: Chapman &amp; Hall, 1993.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[21] F. Wilcoxon, “Individual comparisons by ranking methods,” Biometrics Bulletin, vol. 1, no. 6, pp. 80–83, 1945.</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[22] K. Zuiderveld, “Contrast limited adaptive histogram equalization,” in Graphics Gems IV, P. S. Heckbert, Ed. San Diego, CA, USA: Academic Press, 1994, pp. 474–485.</a:t>
            </a: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5">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1">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7">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3779</Words>
  <Application>Microsoft Office PowerPoint</Application>
  <PresentationFormat>On-screen Show (4:3)</PresentationFormat>
  <Paragraphs>585</Paragraphs>
  <Slides>25</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Balthazar</vt:lpstr>
      <vt:lpstr>Arial</vt:lpstr>
      <vt:lpstr>Calibri</vt:lpstr>
      <vt:lpstr>Lobster</vt:lpstr>
      <vt:lpstr>Cambria</vt:lpstr>
      <vt:lpstr>Adjacency</vt:lpstr>
      <vt:lpstr>AI-Based Wood Quality Assessment</vt:lpstr>
      <vt:lpstr>ORGANIZATION OF THE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Wood Quality Assessment</dc:title>
  <dc:creator>Gayatri Gurugubelli</dc:creator>
  <cp:lastModifiedBy>Prakyat Shetty</cp:lastModifiedBy>
  <cp:revision>8</cp:revision>
  <dcterms:modified xsi:type="dcterms:W3CDTF">2026-09-16T06:09:40Z</dcterms:modified>
</cp:coreProperties>
</file>