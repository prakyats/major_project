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7" r:id="rId21"/>
    <p:sldId id="275" r:id="rId22"/>
    <p:sldId id="276" r:id="rId23"/>
  </p:sldIdLst>
  <p:sldSz cx="9144000" cy="6858000" type="screen4x3"/>
  <p:notesSz cx="6858000" cy="9144000"/>
  <p:embeddedFontLst>
    <p:embeddedFont>
      <p:font typeface="Balthazar" panose="020B0604020202020204" charset="0"/>
      <p:regular r:id="rId25"/>
    </p:embeddedFont>
    <p:embeddedFont>
      <p:font typeface="Cambria" panose="02040503050406030204" pitchFamily="18" charset="0"/>
      <p:regular r:id="rId26"/>
      <p:bold r:id="rId27"/>
      <p:italic r:id="rId28"/>
      <p:boldItalic r:id="rId29"/>
    </p:embeddedFont>
    <p:embeddedFont>
      <p:font typeface="Lobster" panose="00000500000000000000" pitchFamily="2" charset="0"/>
      <p:regular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02">
          <p15:clr>
            <a:srgbClr val="A4A3A4"/>
          </p15:clr>
        </p15:guide>
        <p15:guide id="2" pos="2920">
          <p15:clr>
            <a:srgbClr val="A4A3A4"/>
          </p15:clr>
        </p15:guide>
      </p15:sldGuideLst>
    </p:ext>
    <p:ext uri="{2D200454-40CA-4A62-9FC3-DE9A4176ACB9}">
      <p15:notesGuideLst xmlns:p15="http://schemas.microsoft.com/office/powerpoint/2012/main">
        <p15:guide id="1" orient="horz" pos="2936">
          <p15:clr>
            <a:srgbClr val="A4A3A4"/>
          </p15:clr>
        </p15:guide>
        <p15:guide id="2" pos="219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D8EE20A-88A6-4723-80EF-92F8BEF2DCB8}">
  <a:tblStyle styleId="{8D8EE20A-88A6-4723-80EF-92F8BEF2DCB8}"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7E7"/>
          </a:solidFill>
        </a:fill>
      </a:tcStyle>
    </a:wholeTbl>
    <a:band1H>
      <a:tcTxStyle b="off" i="off"/>
      <a:tcStyle>
        <a:tcBdr/>
        <a:fill>
          <a:solidFill>
            <a:srgbClr val="CCCBCB"/>
          </a:solidFill>
        </a:fill>
      </a:tcStyle>
    </a:band1H>
    <a:band2H>
      <a:tcTxStyle b="off" i="off"/>
      <a:tcStyle>
        <a:tcBdr/>
      </a:tcStyle>
    </a:band2H>
    <a:band1V>
      <a:tcTxStyle b="off" i="off"/>
      <a:tcStyle>
        <a:tcBdr/>
        <a:fill>
          <a:solidFill>
            <a:srgbClr val="CCCBCB"/>
          </a:solidFill>
        </a:fill>
      </a:tcStyle>
    </a:band1V>
    <a:band2V>
      <a:tcTxStyle b="off" i="off"/>
      <a:tcStyle>
        <a:tcBdr/>
      </a:tcStyle>
    </a:band2V>
    <a:lastCol>
      <a:tcTxStyle b="on" i="off">
        <a:font>
          <a:latin typeface="Calibri"/>
          <a:ea typeface="Calibri"/>
          <a:cs typeface="Calibri"/>
        </a:font>
        <a:schemeClr val="lt1"/>
      </a:tcTxStyle>
      <a:tcStyle>
        <a:tcBdr/>
        <a:fill>
          <a:solidFill>
            <a:schemeClr val="dk1"/>
          </a:solidFill>
        </a:fill>
      </a:tcStyle>
    </a:lastCol>
    <a:firstCol>
      <a:tcTxStyle b="on" i="off">
        <a:font>
          <a:latin typeface="Calibri"/>
          <a:ea typeface="Calibri"/>
          <a:cs typeface="Calibri"/>
        </a:font>
        <a:schemeClr val="lt1"/>
      </a:tcTxStyle>
      <a:tcStyle>
        <a:tcBdr/>
        <a:fill>
          <a:solidFill>
            <a:schemeClr val="dk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2" d="100"/>
          <a:sy n="72" d="100"/>
        </p:scale>
        <p:origin x="2736" y="852"/>
      </p:cViewPr>
      <p:guideLst>
        <p:guide orient="horz" pos="2202"/>
        <p:guide pos="292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36"/>
        <p:guide pos="219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 name="Google Shape;8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f6a847483f_0_2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g3f6a847483f_0_2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f6ad0d8d00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g3f6ad0d8d00_0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2" name="Google Shape;302;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f6ad0d8d00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g3f6ad0d8d00_0_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
          <p:cNvSpPr txBox="1">
            <a:spLocks noGrp="1"/>
          </p:cNvSpPr>
          <p:nvPr>
            <p:ph type="ctrTitle"/>
          </p:nvPr>
        </p:nvSpPr>
        <p:spPr>
          <a:xfrm>
            <a:off x="685800" y="1905000"/>
            <a:ext cx="7543800" cy="259397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2"/>
              </a:buClr>
              <a:buSzPts val="6600"/>
              <a:buFont typeface="Cambria"/>
              <a:buNone/>
              <a:defRPr sz="66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subTitle" idx="1"/>
          </p:nvPr>
        </p:nvSpPr>
        <p:spPr>
          <a:xfrm>
            <a:off x="685800" y="4572000"/>
            <a:ext cx="6461760" cy="1066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400"/>
              </a:spcBef>
              <a:spcAft>
                <a:spcPts val="0"/>
              </a:spcAft>
              <a:buSzPts val="2000"/>
              <a:buNone/>
              <a:defRPr sz="2000">
                <a:solidFill>
                  <a:srgbClr val="8C8B8A"/>
                </a:solidFill>
              </a:defRPr>
            </a:lvl1pPr>
            <a:lvl2pPr lvl="1" algn="ctr">
              <a:lnSpc>
                <a:spcPct val="100000"/>
              </a:lnSpc>
              <a:spcBef>
                <a:spcPts val="400"/>
              </a:spcBef>
              <a:spcAft>
                <a:spcPts val="0"/>
              </a:spcAft>
              <a:buSzPts val="2000"/>
              <a:buNone/>
              <a:defRPr>
                <a:solidFill>
                  <a:srgbClr val="8C8B8A"/>
                </a:solidFill>
              </a:defRPr>
            </a:lvl2pPr>
            <a:lvl3pPr lvl="2" algn="ctr">
              <a:lnSpc>
                <a:spcPct val="100000"/>
              </a:lnSpc>
              <a:spcBef>
                <a:spcPts val="360"/>
              </a:spcBef>
              <a:spcAft>
                <a:spcPts val="0"/>
              </a:spcAft>
              <a:buSzPts val="1800"/>
              <a:buNone/>
              <a:defRPr>
                <a:solidFill>
                  <a:srgbClr val="8C8B8A"/>
                </a:solidFill>
              </a:defRPr>
            </a:lvl3pPr>
            <a:lvl4pPr lvl="3" algn="ctr">
              <a:lnSpc>
                <a:spcPct val="100000"/>
              </a:lnSpc>
              <a:spcBef>
                <a:spcPts val="320"/>
              </a:spcBef>
              <a:spcAft>
                <a:spcPts val="0"/>
              </a:spcAft>
              <a:buSzPts val="1600"/>
              <a:buNone/>
              <a:defRPr>
                <a:solidFill>
                  <a:srgbClr val="8C8B8A"/>
                </a:solidFill>
              </a:defRPr>
            </a:lvl4pPr>
            <a:lvl5pPr lvl="4" algn="ctr">
              <a:lnSpc>
                <a:spcPct val="100000"/>
              </a:lnSpc>
              <a:spcBef>
                <a:spcPts val="280"/>
              </a:spcBef>
              <a:spcAft>
                <a:spcPts val="0"/>
              </a:spcAft>
              <a:buSzPts val="1400"/>
              <a:buNone/>
              <a:defRPr>
                <a:solidFill>
                  <a:srgbClr val="8C8B8A"/>
                </a:solidFill>
              </a:defRPr>
            </a:lvl5pPr>
            <a:lvl6pPr lvl="5" algn="ctr">
              <a:lnSpc>
                <a:spcPct val="100000"/>
              </a:lnSpc>
              <a:spcBef>
                <a:spcPts val="280"/>
              </a:spcBef>
              <a:spcAft>
                <a:spcPts val="0"/>
              </a:spcAft>
              <a:buSzPts val="1400"/>
              <a:buNone/>
              <a:defRPr>
                <a:solidFill>
                  <a:srgbClr val="8C8B8A"/>
                </a:solidFill>
              </a:defRPr>
            </a:lvl6pPr>
            <a:lvl7pPr lvl="6" algn="ctr">
              <a:lnSpc>
                <a:spcPct val="100000"/>
              </a:lnSpc>
              <a:spcBef>
                <a:spcPts val="280"/>
              </a:spcBef>
              <a:spcAft>
                <a:spcPts val="0"/>
              </a:spcAft>
              <a:buSzPts val="1400"/>
              <a:buNone/>
              <a:defRPr>
                <a:solidFill>
                  <a:srgbClr val="8C8B8A"/>
                </a:solidFill>
              </a:defRPr>
            </a:lvl7pPr>
            <a:lvl8pPr lvl="7" algn="ctr">
              <a:lnSpc>
                <a:spcPct val="100000"/>
              </a:lnSpc>
              <a:spcBef>
                <a:spcPts val="280"/>
              </a:spcBef>
              <a:spcAft>
                <a:spcPts val="0"/>
              </a:spcAft>
              <a:buSzPts val="1400"/>
              <a:buNone/>
              <a:defRPr>
                <a:solidFill>
                  <a:srgbClr val="8C8B8A"/>
                </a:solidFill>
              </a:defRPr>
            </a:lvl8pPr>
            <a:lvl9pPr lvl="8" algn="ctr">
              <a:lnSpc>
                <a:spcPct val="100000"/>
              </a:lnSpc>
              <a:spcBef>
                <a:spcPts val="280"/>
              </a:spcBef>
              <a:spcAft>
                <a:spcPts val="0"/>
              </a:spcAft>
              <a:buSzPts val="1400"/>
              <a:buNone/>
              <a:defRPr>
                <a:solidFill>
                  <a:srgbClr val="8C8B8A"/>
                </a:solidFill>
              </a:defRPr>
            </a:lvl9pPr>
          </a:lstStyle>
          <a:p>
            <a:endParaRPr/>
          </a:p>
        </p:txBody>
      </p:sp>
      <p:sp>
        <p:nvSpPr>
          <p:cNvPr id="20" name="Google Shape;20;p2"/>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6" name="Google Shape;26;p3"/>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
        <p:cNvGrpSpPr/>
        <p:nvPr/>
      </p:nvGrpSpPr>
      <p:grpSpPr>
        <a:xfrm>
          <a:off x="0" y="0"/>
          <a:ext cx="0" cy="0"/>
          <a:chOff x="0" y="0"/>
          <a:chExt cx="0" cy="0"/>
        </a:xfrm>
      </p:grpSpPr>
      <p:sp>
        <p:nvSpPr>
          <p:cNvPr id="30" name="Google Shape;30;p4"/>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722313" y="5486400"/>
            <a:ext cx="7659687" cy="1168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2"/>
              </a:buClr>
              <a:buSzPts val="3600"/>
              <a:buFont typeface="Cambria"/>
              <a:buNone/>
              <a:defRPr sz="36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722313" y="3852863"/>
            <a:ext cx="6135687" cy="1633538"/>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SzPts val="2000"/>
              <a:buNone/>
              <a:defRPr sz="2000">
                <a:solidFill>
                  <a:srgbClr val="8C8B8A"/>
                </a:solidFill>
              </a:defRPr>
            </a:lvl1pPr>
            <a:lvl2pPr marL="914400" lvl="1" indent="-228600" algn="l">
              <a:lnSpc>
                <a:spcPct val="100000"/>
              </a:lnSpc>
              <a:spcBef>
                <a:spcPts val="360"/>
              </a:spcBef>
              <a:spcAft>
                <a:spcPts val="0"/>
              </a:spcAft>
              <a:buSzPts val="1800"/>
              <a:buNone/>
              <a:defRPr sz="1800">
                <a:solidFill>
                  <a:srgbClr val="8C8B8A"/>
                </a:solidFill>
              </a:defRPr>
            </a:lvl2pPr>
            <a:lvl3pPr marL="1371600" lvl="2" indent="-228600" algn="l">
              <a:lnSpc>
                <a:spcPct val="100000"/>
              </a:lnSpc>
              <a:spcBef>
                <a:spcPts val="320"/>
              </a:spcBef>
              <a:spcAft>
                <a:spcPts val="0"/>
              </a:spcAft>
              <a:buSzPts val="1600"/>
              <a:buNone/>
              <a:defRPr sz="1600">
                <a:solidFill>
                  <a:srgbClr val="8C8B8A"/>
                </a:solidFill>
              </a:defRPr>
            </a:lvl3pPr>
            <a:lvl4pPr marL="1828800" lvl="3" indent="-228600" algn="l">
              <a:lnSpc>
                <a:spcPct val="100000"/>
              </a:lnSpc>
              <a:spcBef>
                <a:spcPts val="280"/>
              </a:spcBef>
              <a:spcAft>
                <a:spcPts val="0"/>
              </a:spcAft>
              <a:buSzPts val="1400"/>
              <a:buNone/>
              <a:defRPr sz="1400">
                <a:solidFill>
                  <a:srgbClr val="8C8B8A"/>
                </a:solidFill>
              </a:defRPr>
            </a:lvl4pPr>
            <a:lvl5pPr marL="2286000" lvl="4" indent="-228600" algn="l">
              <a:lnSpc>
                <a:spcPct val="100000"/>
              </a:lnSpc>
              <a:spcBef>
                <a:spcPts val="280"/>
              </a:spcBef>
              <a:spcAft>
                <a:spcPts val="0"/>
              </a:spcAft>
              <a:buSzPts val="1400"/>
              <a:buNone/>
              <a:defRPr sz="1400">
                <a:solidFill>
                  <a:srgbClr val="8C8B8A"/>
                </a:solidFill>
              </a:defRPr>
            </a:lvl5pPr>
            <a:lvl6pPr marL="2743200" lvl="5" indent="-228600" algn="l">
              <a:lnSpc>
                <a:spcPct val="100000"/>
              </a:lnSpc>
              <a:spcBef>
                <a:spcPts val="280"/>
              </a:spcBef>
              <a:spcAft>
                <a:spcPts val="0"/>
              </a:spcAft>
              <a:buSzPts val="1400"/>
              <a:buNone/>
              <a:defRPr sz="1400">
                <a:solidFill>
                  <a:srgbClr val="8C8B8A"/>
                </a:solidFill>
              </a:defRPr>
            </a:lvl6pPr>
            <a:lvl7pPr marL="3200400" lvl="6" indent="-228600" algn="l">
              <a:lnSpc>
                <a:spcPct val="100000"/>
              </a:lnSpc>
              <a:spcBef>
                <a:spcPts val="280"/>
              </a:spcBef>
              <a:spcAft>
                <a:spcPts val="0"/>
              </a:spcAft>
              <a:buSzPts val="1400"/>
              <a:buNone/>
              <a:defRPr sz="1400">
                <a:solidFill>
                  <a:srgbClr val="8C8B8A"/>
                </a:solidFill>
              </a:defRPr>
            </a:lvl7pPr>
            <a:lvl8pPr marL="3657600" lvl="7" indent="-228600" algn="l">
              <a:lnSpc>
                <a:spcPct val="100000"/>
              </a:lnSpc>
              <a:spcBef>
                <a:spcPts val="280"/>
              </a:spcBef>
              <a:spcAft>
                <a:spcPts val="0"/>
              </a:spcAft>
              <a:buSzPts val="1400"/>
              <a:buNone/>
              <a:defRPr sz="1400">
                <a:solidFill>
                  <a:srgbClr val="8C8B8A"/>
                </a:solidFill>
              </a:defRPr>
            </a:lvl8pPr>
            <a:lvl9pPr marL="4114800" lvl="8" indent="-228600" algn="l">
              <a:lnSpc>
                <a:spcPct val="100000"/>
              </a:lnSpc>
              <a:spcBef>
                <a:spcPts val="280"/>
              </a:spcBef>
              <a:spcAft>
                <a:spcPts val="0"/>
              </a:spcAft>
              <a:buSzPts val="1400"/>
              <a:buNone/>
              <a:defRPr sz="1400">
                <a:solidFill>
                  <a:srgbClr val="8C8B8A"/>
                </a:solidFill>
              </a:defRPr>
            </a:lvl9pPr>
          </a:lstStyle>
          <a:p>
            <a:endParaRPr/>
          </a:p>
        </p:txBody>
      </p:sp>
      <p:sp>
        <p:nvSpPr>
          <p:cNvPr id="36" name="Google Shape;36;p5"/>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body" idx="1"/>
          </p:nvPr>
        </p:nvSpPr>
        <p:spPr>
          <a:xfrm>
            <a:off x="457200" y="1536192"/>
            <a:ext cx="3657600" cy="4590288"/>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SzPts val="2800"/>
              <a:buChar char="•"/>
              <a:defRPr sz="2800"/>
            </a:lvl1pPr>
            <a:lvl2pPr marL="914400" lvl="1" indent="-381000" algn="l">
              <a:lnSpc>
                <a:spcPct val="100000"/>
              </a:lnSpc>
              <a:spcBef>
                <a:spcPts val="48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2" name="Google Shape;42;p6"/>
          <p:cNvSpPr txBox="1">
            <a:spLocks noGrp="1"/>
          </p:cNvSpPr>
          <p:nvPr>
            <p:ph type="body" idx="2"/>
          </p:nvPr>
        </p:nvSpPr>
        <p:spPr>
          <a:xfrm>
            <a:off x="4419600" y="1536192"/>
            <a:ext cx="3657600" cy="4590288"/>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SzPts val="2800"/>
              <a:buChar char="•"/>
              <a:defRPr sz="2800"/>
            </a:lvl1pPr>
            <a:lvl2pPr marL="914400" lvl="1" indent="-381000" algn="l">
              <a:lnSpc>
                <a:spcPct val="100000"/>
              </a:lnSpc>
              <a:spcBef>
                <a:spcPts val="48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3" name="Google Shape;43;p6"/>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4600"/>
              <a:buFont typeface="Cambr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body" idx="1"/>
          </p:nvPr>
        </p:nvSpPr>
        <p:spPr>
          <a:xfrm>
            <a:off x="457200" y="1535113"/>
            <a:ext cx="3657600" cy="639762"/>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1">
                <a:solidFill>
                  <a:schemeClr val="dk2"/>
                </a:solidFill>
              </a:defRPr>
            </a:lvl1pPr>
            <a:lvl2pPr marL="914400" lvl="1" indent="-228600" algn="l">
              <a:lnSpc>
                <a:spcPct val="100000"/>
              </a:lnSpc>
              <a:spcBef>
                <a:spcPts val="4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49" name="Google Shape;49;p7"/>
          <p:cNvSpPr txBox="1">
            <a:spLocks noGrp="1"/>
          </p:cNvSpPr>
          <p:nvPr>
            <p:ph type="body" idx="2"/>
          </p:nvPr>
        </p:nvSpPr>
        <p:spPr>
          <a:xfrm>
            <a:off x="457200" y="2174875"/>
            <a:ext cx="3657600"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sz="2400"/>
            </a:lvl1pPr>
            <a:lvl2pPr marL="914400" lvl="1" indent="-355600" algn="l">
              <a:lnSpc>
                <a:spcPct val="100000"/>
              </a:lnSpc>
              <a:spcBef>
                <a:spcPts val="4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50" name="Google Shape;50;p7"/>
          <p:cNvSpPr txBox="1">
            <a:spLocks noGrp="1"/>
          </p:cNvSpPr>
          <p:nvPr>
            <p:ph type="body" idx="3"/>
          </p:nvPr>
        </p:nvSpPr>
        <p:spPr>
          <a:xfrm>
            <a:off x="4419600" y="1535113"/>
            <a:ext cx="3657600" cy="639762"/>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1">
                <a:solidFill>
                  <a:schemeClr val="dk2"/>
                </a:solidFill>
              </a:defRPr>
            </a:lvl1pPr>
            <a:lvl2pPr marL="914400" lvl="1" indent="-228600" algn="l">
              <a:lnSpc>
                <a:spcPct val="100000"/>
              </a:lnSpc>
              <a:spcBef>
                <a:spcPts val="4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51" name="Google Shape;51;p7"/>
          <p:cNvSpPr txBox="1">
            <a:spLocks noGrp="1"/>
          </p:cNvSpPr>
          <p:nvPr>
            <p:ph type="body" idx="4"/>
          </p:nvPr>
        </p:nvSpPr>
        <p:spPr>
          <a:xfrm>
            <a:off x="4419600" y="2174875"/>
            <a:ext cx="3657600"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sz="2400"/>
            </a:lvl1pPr>
            <a:lvl2pPr marL="914400" lvl="1" indent="-355600" algn="l">
              <a:lnSpc>
                <a:spcPct val="100000"/>
              </a:lnSpc>
              <a:spcBef>
                <a:spcPts val="4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52" name="Google Shape;52;p7"/>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7"/>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304801" y="5495544"/>
            <a:ext cx="7772400" cy="59436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200"/>
              <a:buFont typeface="Cambria"/>
              <a:buNone/>
              <a:defRPr sz="22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9"/>
          <p:cNvSpPr txBox="1">
            <a:spLocks noGrp="1"/>
          </p:cNvSpPr>
          <p:nvPr>
            <p:ph type="body" idx="1"/>
          </p:nvPr>
        </p:nvSpPr>
        <p:spPr>
          <a:xfrm>
            <a:off x="304799" y="6096000"/>
            <a:ext cx="7772401" cy="609600"/>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320"/>
              </a:spcBef>
              <a:spcAft>
                <a:spcPts val="0"/>
              </a:spcAft>
              <a:buSzPts val="1600"/>
              <a:buNone/>
              <a:defRPr sz="1600"/>
            </a:lvl1pPr>
            <a:lvl2pPr marL="914400" lvl="1" indent="-228600" algn="l">
              <a:lnSpc>
                <a:spcPct val="100000"/>
              </a:lnSpc>
              <a:spcBef>
                <a:spcPts val="24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63" name="Google Shape;63;p9"/>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66" name="Google Shape;66;p9"/>
          <p:cNvSpPr txBox="1">
            <a:spLocks noGrp="1"/>
          </p:cNvSpPr>
          <p:nvPr>
            <p:ph type="body" idx="2"/>
          </p:nvPr>
        </p:nvSpPr>
        <p:spPr>
          <a:xfrm>
            <a:off x="304800" y="381000"/>
            <a:ext cx="7772400" cy="494284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301752" y="5495278"/>
            <a:ext cx="7772400" cy="594626"/>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200"/>
              <a:buFont typeface="Cambria"/>
              <a:buNone/>
              <a:defRPr sz="2200" b="1">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0"/>
          <p:cNvSpPr>
            <a:spLocks noGrp="1"/>
          </p:cNvSpPr>
          <p:nvPr>
            <p:ph type="pic" idx="2"/>
          </p:nvPr>
        </p:nvSpPr>
        <p:spPr>
          <a:xfrm>
            <a:off x="0" y="0"/>
            <a:ext cx="8458200" cy="5486400"/>
          </a:xfrm>
          <a:prstGeom prst="rect">
            <a:avLst/>
          </a:prstGeom>
          <a:noFill/>
          <a:ln>
            <a:noFill/>
          </a:ln>
        </p:spPr>
      </p:sp>
      <p:sp>
        <p:nvSpPr>
          <p:cNvPr id="70" name="Google Shape;70;p10"/>
          <p:cNvSpPr txBox="1">
            <a:spLocks noGrp="1"/>
          </p:cNvSpPr>
          <p:nvPr>
            <p:ph type="body" idx="1"/>
          </p:nvPr>
        </p:nvSpPr>
        <p:spPr>
          <a:xfrm>
            <a:off x="301752" y="6096000"/>
            <a:ext cx="7772400" cy="612648"/>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320"/>
              </a:spcBef>
              <a:spcAft>
                <a:spcPts val="0"/>
              </a:spcAft>
              <a:buSzPts val="1600"/>
              <a:buNone/>
              <a:defRPr sz="1600"/>
            </a:lvl1pPr>
            <a:lvl2pPr marL="914400" lvl="1" indent="-228600" algn="l">
              <a:lnSpc>
                <a:spcPct val="100000"/>
              </a:lnSpc>
              <a:spcBef>
                <a:spcPts val="24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71" name="Google Shape;71;p10"/>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0"/>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73" name="Google Shape;73;p10"/>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1"/>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body" idx="1"/>
          </p:nvPr>
        </p:nvSpPr>
        <p:spPr>
          <a:xfrm rot="5400000">
            <a:off x="1866900" y="190500"/>
            <a:ext cx="4800600" cy="76200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7" name="Google Shape;77;p11"/>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1"/>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2"/>
          <p:cNvSpPr txBox="1">
            <a:spLocks noGrp="1"/>
          </p:cNvSpPr>
          <p:nvPr>
            <p:ph type="title"/>
          </p:nvPr>
        </p:nvSpPr>
        <p:spPr>
          <a:xfrm rot="5400000">
            <a:off x="4579938" y="2324101"/>
            <a:ext cx="5851525" cy="17526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83" name="Google Shape;83;p12"/>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2"/>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75000">
              <a:schemeClr val="lt1"/>
            </a:gs>
            <a:gs pos="100000">
              <a:srgbClr val="D8D8D8"/>
            </a:gs>
          </a:gsLst>
          <a:path path="circle">
            <a:fillToRect l="50000" t="50000" r="50000" b="50000"/>
          </a:path>
          <a:tileRect/>
        </a:gra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2"/>
              </a:buClr>
              <a:buSzPts val="4600"/>
              <a:buFont typeface="Cambria"/>
              <a:buNone/>
              <a:defRPr sz="4600" b="0" i="0" u="none" strike="noStrike" cap="none">
                <a:solidFill>
                  <a:schemeClr val="dk2"/>
                </a:solidFill>
                <a:latin typeface="Cambria"/>
                <a:ea typeface="Cambria"/>
                <a:cs typeface="Cambria"/>
                <a:sym typeface="Cambr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100000"/>
              </a:lnSpc>
              <a:spcBef>
                <a:spcPts val="440"/>
              </a:spcBef>
              <a:spcAft>
                <a:spcPts val="0"/>
              </a:spcAft>
              <a:buClr>
                <a:schemeClr val="accent1"/>
              </a:buClr>
              <a:buSzPts val="2200"/>
              <a:buFont typeface="Arial"/>
              <a:buChar char="•"/>
              <a:defRPr sz="22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accent2"/>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accent3"/>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accent4"/>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17500" algn="l" rtl="0">
              <a:lnSpc>
                <a:spcPct val="100000"/>
              </a:lnSpc>
              <a:spcBef>
                <a:spcPts val="280"/>
              </a:spcBef>
              <a:spcAft>
                <a:spcPts val="0"/>
              </a:spcAft>
              <a:buClr>
                <a:schemeClr val="accent5"/>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100000"/>
              </a:lnSpc>
              <a:spcBef>
                <a:spcPts val="280"/>
              </a:spcBef>
              <a:spcAft>
                <a:spcPts val="0"/>
              </a:spcAft>
              <a:buClr>
                <a:schemeClr val="accent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100000"/>
              </a:lnSpc>
              <a:spcBef>
                <a:spcPts val="28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100000"/>
              </a:lnSpc>
              <a:spcBef>
                <a:spcPts val="280"/>
              </a:spcBef>
              <a:spcAft>
                <a:spcPts val="0"/>
              </a:spcAft>
              <a:buClr>
                <a:schemeClr val="accent3"/>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100000"/>
              </a:lnSpc>
              <a:spcBef>
                <a:spcPts val="280"/>
              </a:spcBef>
              <a:spcAft>
                <a:spcPts val="0"/>
              </a:spcAft>
              <a:buClr>
                <a:schemeClr val="accent4"/>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2" name="Google Shape;12;p1"/>
          <p:cNvSpPr/>
          <p:nvPr/>
        </p:nvSpPr>
        <p:spPr>
          <a:xfrm>
            <a:off x="8458200" y="0"/>
            <a:ext cx="685800"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13;p1"/>
          <p:cNvSpPr/>
          <p:nvPr/>
        </p:nvSpPr>
        <p:spPr>
          <a:xfrm>
            <a:off x="8458200" y="5486400"/>
            <a:ext cx="685800" cy="6858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 name="Google Shape;14;p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15" name="Google Shape;15;p1"/>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lt2"/>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1"/>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lt2"/>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8" Type="http://schemas.openxmlformats.org/officeDocument/2006/relationships/hyperlink" Target="https://doi.org/10.1016/j.measurement.2026.121442?utm_source=chatgpt.com" TargetMode="External"/><Relationship Id="rId13" Type="http://schemas.openxmlformats.org/officeDocument/2006/relationships/image" Target="../media/image2.png"/><Relationship Id="rId3" Type="http://schemas.openxmlformats.org/officeDocument/2006/relationships/hyperlink" Target="https://doi.org/10.1109/ETAE69474.2026.11496073?utm_source=chatgpt.com" TargetMode="External"/><Relationship Id="rId7" Type="http://schemas.openxmlformats.org/officeDocument/2006/relationships/hyperlink" Target="https://www.researchgate.net/publication/400536927_A_novel_IWPT-VMD_denoising_method_for_enhancing_air-coupled_ultrasonic_detection_of_wood_defects?utm_source=chatgpt.com" TargetMode="External"/><Relationship Id="rId12" Type="http://schemas.openxmlformats.org/officeDocument/2006/relationships/image" Target="../media/image1.png"/><Relationship Id="rId2" Type="http://schemas.openxmlformats.org/officeDocument/2006/relationships/hyperlink" Target="https://bioresources.cnr.ncsu.edu/resources/recent-advances-in-wood-surface-defect-inspection-using-deep-learning-2021-2025/?utm_source=chatgpt.com" TargetMode="External"/><Relationship Id="rId1" Type="http://schemas.openxmlformats.org/officeDocument/2006/relationships/slideLayout" Target="../slideLayouts/slideLayout3.xml"/><Relationship Id="rId6" Type="http://schemas.openxmlformats.org/officeDocument/2006/relationships/hyperlink" Target="https://doi.org/10.1063/5.0313821?utm_source=chatgpt.com" TargetMode="External"/><Relationship Id="rId11" Type="http://schemas.openxmlformats.org/officeDocument/2006/relationships/hyperlink" Target="https://www.sciencedirect.com/science/article/pii/S2666719326000828?utm_source=chatgpt.com" TargetMode="External"/><Relationship Id="rId5" Type="http://schemas.openxmlformats.org/officeDocument/2006/relationships/hyperlink" Target="https://bioresources.cnr.ncsu.edu/resources/wd-seg-a-deep-learning-framework-for-delicate-and-accurate-wood-defect-segmentation/?utm_source=chatgpt.com" TargetMode="External"/><Relationship Id="rId15" Type="http://schemas.openxmlformats.org/officeDocument/2006/relationships/image" Target="../media/image4.png"/><Relationship Id="rId10" Type="http://schemas.openxmlformats.org/officeDocument/2006/relationships/hyperlink" Target="https://doi.org/10.1016/j.tfp.2026.101226?utm_source=chatgpt.com" TargetMode="External"/><Relationship Id="rId4" Type="http://schemas.openxmlformats.org/officeDocument/2006/relationships/hyperlink" Target="https://www.researchgate.net/publication/404642192_IEL-YOLO_A_Low-Light_Robust_Wood_Defect_Detection_Method_Based_on_YOLOv11?utm_source=chatgpt.com" TargetMode="External"/><Relationship Id="rId9" Type="http://schemas.openxmlformats.org/officeDocument/2006/relationships/hyperlink" Target="https://www.sciencedirect.com/science/article/pii/S0263224126011516?utm_source=chatgpt.com" TargetMode="External"/><Relationship Id="rId14" Type="http://schemas.openxmlformats.org/officeDocument/2006/relationships/image" Target="../media/image3.png"/></Relationships>
</file>

<file path=ppt/slides/_rels/slide21.xml.rels><?xml version="1.0" encoding="UTF-8" standalone="yes"?>
<Relationships xmlns="http://schemas.openxmlformats.org/package/2006/relationships"><Relationship Id="rId8" Type="http://schemas.openxmlformats.org/officeDocument/2006/relationships/hyperlink" Target="https://www.sciencedirect.com/science/article/pii/S0045782524005061?utm_source=chatgpt.com" TargetMode="External"/><Relationship Id="rId13" Type="http://schemas.openxmlformats.org/officeDocument/2006/relationships/image" Target="../media/image1.png"/><Relationship Id="rId3" Type="http://schemas.openxmlformats.org/officeDocument/2006/relationships/hyperlink" Target="https://doi.org/10.1016/j.ecoser.2026.101851?utm_source=chatgpt.com" TargetMode="External"/><Relationship Id="rId7" Type="http://schemas.openxmlformats.org/officeDocument/2006/relationships/hyperlink" Target="https://doi.org/10.1016/j.cma.2024.117250?utm_source=chatgpt.com" TargetMode="External"/><Relationship Id="rId12" Type="http://schemas.openxmlformats.org/officeDocument/2006/relationships/hyperlink" Target="https://ouci.dntb.gov.ua/en/works/7W38qvz7/?utm_source=chatgpt.com" TargetMode="External"/><Relationship Id="rId2" Type="http://schemas.openxmlformats.org/officeDocument/2006/relationships/notesSlide" Target="../notesSlides/notesSlide20.xml"/><Relationship Id="rId16"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hyperlink" Target="https://www.sciencedirect.com/science/article/pii/S095070512500752X?utm_source=chatgpt.com" TargetMode="External"/><Relationship Id="rId11" Type="http://schemas.openxmlformats.org/officeDocument/2006/relationships/hyperlink" Target="https://doi.org/10.1109/ACCESS.2024.3412928?utm_source=chatgpt.com" TargetMode="External"/><Relationship Id="rId5" Type="http://schemas.openxmlformats.org/officeDocument/2006/relationships/hyperlink" Target="https://doi.org/10.1016/j.knosys.2025.113706?utm_source=chatgpt.com" TargetMode="External"/><Relationship Id="rId15" Type="http://schemas.openxmlformats.org/officeDocument/2006/relationships/image" Target="../media/image3.png"/><Relationship Id="rId10" Type="http://schemas.openxmlformats.org/officeDocument/2006/relationships/hyperlink" Target="https://link.springer.com/article/10.1186/s10086-024-02139-z?utm_source=chatgpt.com" TargetMode="External"/><Relationship Id="rId4" Type="http://schemas.openxmlformats.org/officeDocument/2006/relationships/hyperlink" Target="https://www.sciencedirect.com/science/article/pii/S2212041626000392?utm_source=chatgpt.com" TargetMode="External"/><Relationship Id="rId9" Type="http://schemas.openxmlformats.org/officeDocument/2006/relationships/hyperlink" Target="https://doi.org/10.1186/s10086-024-02139-z?utm_source=chatgpt.com" TargetMode="External"/><Relationship Id="rId1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ctrTitle"/>
          </p:nvPr>
        </p:nvSpPr>
        <p:spPr>
          <a:xfrm>
            <a:off x="427325" y="1516175"/>
            <a:ext cx="7837800" cy="864900"/>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2"/>
              </a:buClr>
              <a:buSzPts val="3200"/>
              <a:buFont typeface="Cambria"/>
              <a:buNone/>
            </a:pPr>
            <a:r>
              <a:rPr lang="en-US" sz="2900" b="1"/>
              <a:t>AI-Based Wood Quality Assessment</a:t>
            </a:r>
            <a:endParaRPr sz="2900" b="1"/>
          </a:p>
        </p:txBody>
      </p:sp>
      <p:sp>
        <p:nvSpPr>
          <p:cNvPr id="91" name="Google Shape;91;p13"/>
          <p:cNvSpPr txBox="1">
            <a:spLocks noGrp="1"/>
          </p:cNvSpPr>
          <p:nvPr>
            <p:ph type="subTitle" idx="1"/>
          </p:nvPr>
        </p:nvSpPr>
        <p:spPr>
          <a:xfrm>
            <a:off x="230560" y="4714190"/>
            <a:ext cx="3905400" cy="2143800"/>
          </a:xfrm>
          <a:prstGeom prst="rect">
            <a:avLst/>
          </a:prstGeom>
          <a:solidFill>
            <a:srgbClr val="000000">
              <a:alpha val="0"/>
            </a:srgbClr>
          </a:solidFill>
          <a:ln>
            <a:noFill/>
          </a:ln>
        </p:spPr>
        <p:txBody>
          <a:bodyPr spcFirstLastPara="1" wrap="square" lIns="47625" tIns="47625" rIns="47625" bIns="47625" anchor="t" anchorCtr="0">
            <a:normAutofit/>
          </a:bodyPr>
          <a:lstStyle/>
          <a:p>
            <a:pPr marL="0" lvl="0" indent="0" algn="l" rtl="0">
              <a:spcBef>
                <a:spcPts val="400"/>
              </a:spcBef>
              <a:spcAft>
                <a:spcPts val="0"/>
              </a:spcAft>
              <a:buNone/>
            </a:pPr>
            <a:r>
              <a:rPr lang="en-US" sz="1500" b="0">
                <a:solidFill>
                  <a:srgbClr val="8C8B8A"/>
                </a:solidFill>
                <a:latin typeface="Calibri"/>
                <a:ea typeface="Calibri"/>
                <a:cs typeface="Calibri"/>
                <a:sym typeface="Calibri"/>
              </a:rPr>
              <a:t>GURUGUBELLI GAYATRI           -    1DS23CB014</a:t>
            </a:r>
            <a:endParaRPr sz="1500" b="0">
              <a:solidFill>
                <a:srgbClr val="8C8B8A"/>
              </a:solidFill>
              <a:latin typeface="Calibri"/>
              <a:ea typeface="Calibri"/>
              <a:cs typeface="Calibri"/>
              <a:sym typeface="Calibri"/>
            </a:endParaRPr>
          </a:p>
          <a:p>
            <a:pPr marL="0" lvl="0" indent="0" algn="l" rtl="0">
              <a:spcBef>
                <a:spcPts val="900"/>
              </a:spcBef>
              <a:spcAft>
                <a:spcPts val="0"/>
              </a:spcAft>
              <a:buNone/>
            </a:pPr>
            <a:r>
              <a:rPr lang="en-US" sz="1500" b="0">
                <a:solidFill>
                  <a:srgbClr val="8C8B8A"/>
                </a:solidFill>
                <a:latin typeface="Calibri"/>
                <a:ea typeface="Calibri"/>
                <a:cs typeface="Calibri"/>
                <a:sym typeface="Calibri"/>
              </a:rPr>
              <a:t>PRAKYAT PRAMOD SHETTY     -    1DS23CB033</a:t>
            </a:r>
            <a:endParaRPr sz="1500" b="0">
              <a:solidFill>
                <a:srgbClr val="8C8B8A"/>
              </a:solidFill>
              <a:latin typeface="Calibri"/>
              <a:ea typeface="Calibri"/>
              <a:cs typeface="Calibri"/>
              <a:sym typeface="Calibri"/>
            </a:endParaRPr>
          </a:p>
          <a:p>
            <a:pPr marL="0" lvl="0" indent="0" algn="l" rtl="0">
              <a:spcBef>
                <a:spcPts val="900"/>
              </a:spcBef>
              <a:spcAft>
                <a:spcPts val="0"/>
              </a:spcAft>
              <a:buNone/>
            </a:pPr>
            <a:r>
              <a:rPr lang="en-US" sz="1500" b="0">
                <a:solidFill>
                  <a:srgbClr val="8C8B8A"/>
                </a:solidFill>
                <a:latin typeface="Calibri"/>
                <a:ea typeface="Calibri"/>
                <a:cs typeface="Calibri"/>
                <a:sym typeface="Calibri"/>
              </a:rPr>
              <a:t>SAIPRASAD RAO                      </a:t>
            </a:r>
            <a:r>
              <a:rPr lang="en-US" sz="1500"/>
              <a:t> </a:t>
            </a:r>
            <a:r>
              <a:rPr lang="en-US" sz="1500" b="0">
                <a:solidFill>
                  <a:srgbClr val="8C8B8A"/>
                </a:solidFill>
                <a:latin typeface="Calibri"/>
                <a:ea typeface="Calibri"/>
                <a:cs typeface="Calibri"/>
                <a:sym typeface="Calibri"/>
              </a:rPr>
              <a:t> -    1DS23CB041</a:t>
            </a:r>
            <a:endParaRPr sz="1500" b="0">
              <a:solidFill>
                <a:srgbClr val="8C8B8A"/>
              </a:solidFill>
              <a:latin typeface="Calibri"/>
              <a:ea typeface="Calibri"/>
              <a:cs typeface="Calibri"/>
              <a:sym typeface="Calibri"/>
            </a:endParaRPr>
          </a:p>
          <a:p>
            <a:pPr marL="0" lvl="0" indent="0" algn="l" rtl="0">
              <a:spcBef>
                <a:spcPts val="900"/>
              </a:spcBef>
              <a:spcAft>
                <a:spcPts val="0"/>
              </a:spcAft>
              <a:buNone/>
            </a:pPr>
            <a:r>
              <a:rPr lang="en-US" sz="1500" b="0">
                <a:solidFill>
                  <a:srgbClr val="8C8B8A"/>
                </a:solidFill>
                <a:latin typeface="Calibri"/>
                <a:ea typeface="Calibri"/>
                <a:cs typeface="Calibri"/>
                <a:sym typeface="Calibri"/>
              </a:rPr>
              <a:t>YASTI ANIL KOTAK                     -    1DS23CB063</a:t>
            </a:r>
            <a:endParaRPr sz="1500" b="0">
              <a:solidFill>
                <a:srgbClr val="8C8B8A"/>
              </a:solidFill>
              <a:latin typeface="Calibri"/>
              <a:ea typeface="Calibri"/>
              <a:cs typeface="Calibri"/>
              <a:sym typeface="Calibri"/>
            </a:endParaRPr>
          </a:p>
        </p:txBody>
      </p:sp>
      <p:sp>
        <p:nvSpPr>
          <p:cNvPr id="92" name="Google Shape;92;p13"/>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a:t>
            </a:fld>
            <a:endParaRPr/>
          </a:p>
        </p:txBody>
      </p:sp>
      <p:sp>
        <p:nvSpPr>
          <p:cNvPr id="93" name="Google Shape;93;p13"/>
          <p:cNvSpPr txBox="1"/>
          <p:nvPr/>
        </p:nvSpPr>
        <p:spPr>
          <a:xfrm>
            <a:off x="4203785" y="4368800"/>
            <a:ext cx="4179300" cy="2274300"/>
          </a:xfrm>
          <a:prstGeom prst="rect">
            <a:avLst/>
          </a:prstGeom>
          <a:noFill/>
          <a:ln>
            <a:noFill/>
          </a:ln>
        </p:spPr>
        <p:txBody>
          <a:bodyPr spcFirstLastPara="1" wrap="square" lIns="91425" tIns="45700" rIns="91425" bIns="45700" anchor="t" anchorCtr="0">
            <a:normAutofit/>
          </a:bodyPr>
          <a:lstStyle/>
          <a:p>
            <a:pPr marL="0" marR="0" lvl="0" indent="0" algn="l" rtl="0">
              <a:lnSpc>
                <a:spcPct val="12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Under the Guidance of</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Mrs. Aparna H D</a:t>
            </a: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120000"/>
              </a:lnSpc>
              <a:spcBef>
                <a:spcPts val="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Assistant Professor</a:t>
            </a:r>
            <a:r>
              <a:rPr lang="en-US" sz="1800" b="0" i="0" u="none" strike="noStrike" cap="none">
                <a:solidFill>
                  <a:schemeClr val="dk1"/>
                </a:solidFill>
                <a:latin typeface="Times New Roman"/>
                <a:ea typeface="Times New Roman"/>
                <a:cs typeface="Times New Roman"/>
                <a:sym typeface="Times New Roman"/>
              </a:rPr>
              <a:t>,</a:t>
            </a: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2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Department of CSBS,</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Dayananda Sagar College Of Engineering, Bengaluru</a:t>
            </a:r>
            <a:endParaRPr sz="1400" b="0" i="0" u="none" strike="noStrike" cap="none">
              <a:solidFill>
                <a:srgbClr val="000000"/>
              </a:solidFill>
              <a:latin typeface="Arial"/>
              <a:ea typeface="Arial"/>
              <a:cs typeface="Arial"/>
              <a:sym typeface="Arial"/>
            </a:endParaRPr>
          </a:p>
        </p:txBody>
      </p:sp>
      <p:sp>
        <p:nvSpPr>
          <p:cNvPr id="94" name="Google Shape;94;p13"/>
          <p:cNvSpPr txBox="1"/>
          <p:nvPr/>
        </p:nvSpPr>
        <p:spPr>
          <a:xfrm>
            <a:off x="475780" y="2491191"/>
            <a:ext cx="7740900" cy="1015800"/>
          </a:xfrm>
          <a:prstGeom prst="rect">
            <a:avLst/>
          </a:prstGeom>
          <a:noFill/>
          <a:ln>
            <a:noFill/>
          </a:ln>
        </p:spPr>
        <p:txBody>
          <a:bodyPr spcFirstLastPara="1" wrap="square" lIns="91425" tIns="45700" rIns="91425" bIns="45700" anchor="t" anchorCtr="0">
            <a:spAutoFit/>
          </a:bodyPr>
          <a:lstStyle/>
          <a:p>
            <a:pPr marL="0" lvl="0" indent="0" algn="ctr">
              <a:lnSpc>
                <a:spcPct val="115000"/>
              </a:lnSpc>
              <a:spcBef>
                <a:spcPts val="0"/>
              </a:spcBef>
              <a:spcAft>
                <a:spcPts val="0"/>
              </a:spcAft>
              <a:buNone/>
            </a:pPr>
            <a:r>
              <a:rPr lang="en-US" sz="1800" b="1">
                <a:latin typeface="Times New Roman"/>
                <a:ea typeface="Times New Roman"/>
                <a:cs typeface="Times New Roman"/>
                <a:sym typeface="Times New Roman"/>
              </a:rPr>
              <a:t>7th Semester Major Project: 50% Completion Presentation</a:t>
            </a:r>
            <a:endParaRPr lang="en-US" sz="1800">
              <a:latin typeface="Times New Roman"/>
              <a:ea typeface="Times New Roman"/>
              <a:cs typeface="Times New Roman"/>
              <a:sym typeface="Times New Roman"/>
            </a:endParaRPr>
          </a:p>
          <a:p>
            <a:pPr marL="0" lvl="0" indent="0" algn="ctr">
              <a:lnSpc>
                <a:spcPct val="115000"/>
              </a:lnSpc>
              <a:spcBef>
                <a:spcPts val="200"/>
              </a:spcBef>
              <a:spcAft>
                <a:spcPts val="0"/>
              </a:spcAft>
              <a:buNone/>
            </a:pPr>
            <a:r>
              <a:rPr lang="en-US" sz="1600">
                <a:latin typeface="Times New Roman"/>
                <a:ea typeface="Times New Roman"/>
                <a:cs typeface="Times New Roman"/>
                <a:sym typeface="Times New Roman"/>
              </a:rPr>
              <a:t>Date: 16 September 2026</a:t>
            </a:r>
          </a:p>
        </p:txBody>
      </p:sp>
      <p:sp>
        <p:nvSpPr>
          <p:cNvPr id="95" name="Google Shape;95;p13"/>
          <p:cNvSpPr/>
          <p:nvPr/>
        </p:nvSpPr>
        <p:spPr>
          <a:xfrm>
            <a:off x="0" y="0"/>
            <a:ext cx="91440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6" name="Google Shape;96;p13"/>
          <p:cNvSpPr/>
          <p:nvPr/>
        </p:nvSpPr>
        <p:spPr>
          <a:xfrm>
            <a:off x="1413239" y="114282"/>
            <a:ext cx="7155000" cy="1169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DAYANANDA SAGAR COLLEGE OF ENGINEERING</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600"/>
              <a:buFont typeface="Calibri"/>
              <a:buNone/>
            </a:pPr>
            <a:r>
              <a:rPr lang="en-US" sz="1600" b="0" i="0" u="none" strike="noStrike" cap="none">
                <a:solidFill>
                  <a:schemeClr val="dk1"/>
                </a:solidFill>
                <a:latin typeface="Calibri"/>
                <a:ea typeface="Calibri"/>
                <a:cs typeface="Calibri"/>
                <a:sym typeface="Calibri"/>
              </a:rPr>
              <a:t>An Autonomous Institute Affiliated to VTU, Approved by AICTE &amp; UGC</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600"/>
              <a:buFont typeface="Calibri"/>
              <a:buNone/>
            </a:pPr>
            <a:r>
              <a:rPr lang="en-US" sz="1600" b="0" i="0" u="none" strike="noStrike" cap="none">
                <a:solidFill>
                  <a:schemeClr val="dk1"/>
                </a:solidFill>
                <a:latin typeface="Calibri"/>
                <a:ea typeface="Calibri"/>
                <a:cs typeface="Calibri"/>
                <a:sym typeface="Calibri"/>
              </a:rPr>
              <a:t>Accredited by National Assessment and Accreditation Council (NAAC) with ‘A’ Grade</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Department of Computer Science and Business Systems</a:t>
            </a:r>
            <a:endParaRPr sz="1800" b="0" i="0" u="none" strike="noStrike" cap="none">
              <a:solidFill>
                <a:schemeClr val="dk1"/>
              </a:solidFill>
              <a:latin typeface="Arial"/>
              <a:ea typeface="Arial"/>
              <a:cs typeface="Arial"/>
              <a:sym typeface="Arial"/>
            </a:endParaRPr>
          </a:p>
        </p:txBody>
      </p:sp>
      <p:cxnSp>
        <p:nvCxnSpPr>
          <p:cNvPr id="97" name="Google Shape;97;p13"/>
          <p:cNvCxnSpPr/>
          <p:nvPr/>
        </p:nvCxnSpPr>
        <p:spPr>
          <a:xfrm>
            <a:off x="190980" y="1377538"/>
            <a:ext cx="8822400" cy="0"/>
          </a:xfrm>
          <a:prstGeom prst="straightConnector1">
            <a:avLst/>
          </a:prstGeom>
          <a:noFill/>
          <a:ln w="38100" cap="flat" cmpd="sng">
            <a:solidFill>
              <a:schemeClr val="accent1"/>
            </a:solidFill>
            <a:prstDash val="solid"/>
            <a:round/>
            <a:headEnd type="none" w="sm" len="sm"/>
            <a:tailEnd type="none" w="sm" len="sm"/>
          </a:ln>
          <a:effectLst>
            <a:outerShdw blurRad="50800" dist="25400" algn="bl" rotWithShape="0">
              <a:srgbClr val="000000">
                <a:alpha val="60000"/>
              </a:srgbClr>
            </a:outerShdw>
          </a:effectLst>
        </p:spPr>
      </p:cxnSp>
      <p:pic>
        <p:nvPicPr>
          <p:cNvPr id="98" name="Google Shape;98;p13"/>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99" name="Google Shape;99;p13"/>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00" name="Google Shape;100;p13"/>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01" name="Google Shape;101;p13"/>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02" name="Google Shape;102;p13"/>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103" name="Google Shape;103;p13" descr="logo.jpeg"/>
          <p:cNvPicPr preferRelativeResize="0"/>
          <p:nvPr/>
        </p:nvPicPr>
        <p:blipFill rotWithShape="1">
          <a:blip r:embed="rId7">
            <a:alphaModFix/>
          </a:blip>
          <a:srcRect/>
          <a:stretch/>
        </p:blipFill>
        <p:spPr>
          <a:xfrm>
            <a:off x="288290" y="109220"/>
            <a:ext cx="1207135" cy="121094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323851" y="0"/>
            <a:ext cx="7977001" cy="729579"/>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41534B"/>
              </a:buClr>
              <a:buSzPts val="2800"/>
              <a:buFont typeface="Times New Roman"/>
              <a:buNone/>
            </a:pPr>
            <a:r>
              <a:rPr lang="en-US" sz="2800" b="1" cap="none">
                <a:solidFill>
                  <a:srgbClr val="41534B"/>
                </a:solidFill>
                <a:latin typeface="Times New Roman"/>
                <a:ea typeface="Times New Roman"/>
                <a:cs typeface="Times New Roman"/>
                <a:sym typeface="Times New Roman"/>
              </a:rPr>
              <a:t>ORGANIZATION OF THE PRESENTATION</a:t>
            </a:r>
            <a:endParaRPr/>
          </a:p>
        </p:txBody>
      </p:sp>
      <p:sp>
        <p:nvSpPr>
          <p:cNvPr id="109" name="Google Shape;109;p14"/>
          <p:cNvSpPr txBox="1">
            <a:spLocks noGrp="1"/>
          </p:cNvSpPr>
          <p:nvPr>
            <p:ph type="body" idx="1"/>
          </p:nvPr>
        </p:nvSpPr>
        <p:spPr>
          <a:xfrm>
            <a:off x="323851" y="729579"/>
            <a:ext cx="8560155" cy="5856277"/>
          </a:xfrm>
          <a:prstGeom prst="rect">
            <a:avLst/>
          </a:prstGeom>
          <a:noFill/>
          <a:ln>
            <a:noFill/>
          </a:ln>
        </p:spPr>
        <p:txBody>
          <a:bodyPr spcFirstLastPara="1" wrap="square" lIns="91425" tIns="45700" rIns="91425" bIns="45700" anchor="t" anchorCtr="0">
            <a:noAutofit/>
          </a:bodyPr>
          <a:lstStyle/>
          <a:p>
            <a:pPr marL="457200" lvl="0" indent="-330200" algn="l">
              <a:lnSpc>
                <a:spcPct val="105000"/>
              </a:lnSpc>
              <a:spcBef>
                <a:spcPts val="300"/>
              </a:spcBef>
              <a:spcAft>
                <a:spcPts val="0"/>
              </a:spcAft>
              <a:buSzPts val="1500"/>
              <a:buFont typeface="Times New Roman"/>
              <a:buChar char="●"/>
            </a:pPr>
            <a:r>
              <a:rPr lang="en-US" sz="1500">
                <a:latin typeface="Times New Roman"/>
                <a:ea typeface="Times New Roman"/>
                <a:cs typeface="Times New Roman"/>
                <a:sym typeface="Times New Roman"/>
              </a:rPr>
              <a:t>Abstract</a:t>
            </a:r>
          </a:p>
          <a:p>
            <a:pPr marL="457200" lvl="0" indent="-330200" algn="l">
              <a:lnSpc>
                <a:spcPct val="105000"/>
              </a:lnSpc>
              <a:spcBef>
                <a:spcPts val="300"/>
              </a:spcBef>
              <a:spcAft>
                <a:spcPts val="0"/>
              </a:spcAft>
              <a:buSzPts val="1500"/>
              <a:buFont typeface="Times New Roman"/>
              <a:buChar char="●"/>
            </a:pPr>
            <a:r>
              <a:rPr lang="en-US" sz="1500">
                <a:latin typeface="Times New Roman"/>
                <a:ea typeface="Times New Roman"/>
                <a:cs typeface="Times New Roman"/>
                <a:sym typeface="Times New Roman"/>
              </a:rPr>
              <a:t>Introduction</a:t>
            </a:r>
          </a:p>
          <a:p>
            <a:pPr marL="457200" lvl="0" indent="-330200" algn="l">
              <a:lnSpc>
                <a:spcPct val="105000"/>
              </a:lnSpc>
              <a:spcBef>
                <a:spcPts val="300"/>
              </a:spcBef>
              <a:spcAft>
                <a:spcPts val="0"/>
              </a:spcAft>
              <a:buSzPts val="1500"/>
              <a:buFont typeface="Times New Roman"/>
              <a:buChar char="●"/>
            </a:pPr>
            <a:r>
              <a:rPr lang="en-US" sz="1500">
                <a:latin typeface="Times New Roman"/>
                <a:ea typeface="Times New Roman"/>
                <a:cs typeface="Times New Roman"/>
                <a:sym typeface="Times New Roman"/>
              </a:rPr>
              <a:t>Literature Survey</a:t>
            </a:r>
          </a:p>
          <a:p>
            <a:pPr marL="457200" lvl="0" indent="-330200" algn="l">
              <a:lnSpc>
                <a:spcPct val="105000"/>
              </a:lnSpc>
              <a:spcBef>
                <a:spcPts val="300"/>
              </a:spcBef>
              <a:spcAft>
                <a:spcPts val="0"/>
              </a:spcAft>
              <a:buSzPts val="1500"/>
              <a:buFont typeface="Times New Roman"/>
              <a:buChar char="●"/>
            </a:pPr>
            <a:r>
              <a:rPr lang="en-US" sz="1500">
                <a:latin typeface="Times New Roman"/>
                <a:ea typeface="Times New Roman"/>
                <a:cs typeface="Times New Roman"/>
                <a:sym typeface="Times New Roman"/>
              </a:rPr>
              <a:t>Problem Statement</a:t>
            </a:r>
          </a:p>
          <a:p>
            <a:pPr marL="457200" lvl="0" indent="-330200" algn="l">
              <a:lnSpc>
                <a:spcPct val="105000"/>
              </a:lnSpc>
              <a:spcBef>
                <a:spcPts val="300"/>
              </a:spcBef>
              <a:spcAft>
                <a:spcPts val="0"/>
              </a:spcAft>
              <a:buSzPts val="1500"/>
              <a:buFont typeface="Times New Roman"/>
              <a:buChar char="●"/>
            </a:pPr>
            <a:r>
              <a:rPr lang="en-US" sz="1500">
                <a:latin typeface="Times New Roman"/>
                <a:ea typeface="Times New Roman"/>
                <a:cs typeface="Times New Roman"/>
                <a:sym typeface="Times New Roman"/>
              </a:rPr>
              <a:t>Objectives and Status at 50%</a:t>
            </a:r>
          </a:p>
          <a:p>
            <a:pPr marL="457200" lvl="0" indent="-330200" algn="l">
              <a:lnSpc>
                <a:spcPct val="105000"/>
              </a:lnSpc>
              <a:spcBef>
                <a:spcPts val="300"/>
              </a:spcBef>
              <a:spcAft>
                <a:spcPts val="0"/>
              </a:spcAft>
              <a:buSzPts val="1500"/>
              <a:buFont typeface="Times New Roman"/>
              <a:buChar char="●"/>
            </a:pPr>
            <a:r>
              <a:rPr lang="en-US" sz="1500">
                <a:latin typeface="Times New Roman"/>
                <a:ea typeface="Times New Roman"/>
                <a:cs typeface="Times New Roman"/>
                <a:sym typeface="Times New Roman"/>
              </a:rPr>
              <a:t>Methodology (as implemented)</a:t>
            </a:r>
          </a:p>
          <a:p>
            <a:pPr marL="457200" lvl="0" indent="-330200" algn="l">
              <a:lnSpc>
                <a:spcPct val="105000"/>
              </a:lnSpc>
              <a:spcBef>
                <a:spcPts val="300"/>
              </a:spcBef>
              <a:spcAft>
                <a:spcPts val="0"/>
              </a:spcAft>
              <a:buSzPts val="1500"/>
              <a:buFont typeface="Times New Roman"/>
              <a:buChar char="●"/>
            </a:pPr>
            <a:r>
              <a:rPr lang="en-US" sz="1500">
                <a:latin typeface="Times New Roman"/>
                <a:ea typeface="Times New Roman"/>
                <a:cs typeface="Times New Roman"/>
                <a:sym typeface="Times New Roman"/>
              </a:rPr>
              <a:t>Dataset and Board-level Split</a:t>
            </a:r>
          </a:p>
          <a:p>
            <a:pPr marL="457200" lvl="0" indent="-330200" algn="l">
              <a:lnSpc>
                <a:spcPct val="105000"/>
              </a:lnSpc>
              <a:spcBef>
                <a:spcPts val="300"/>
              </a:spcBef>
              <a:spcAft>
                <a:spcPts val="0"/>
              </a:spcAft>
              <a:buSzPts val="1500"/>
              <a:buFont typeface="Times New Roman"/>
              <a:buChar char="●"/>
            </a:pPr>
            <a:r>
              <a:rPr lang="en-US" sz="1500">
                <a:latin typeface="Times New Roman"/>
                <a:ea typeface="Times New Roman"/>
                <a:cs typeface="Times New Roman"/>
                <a:sym typeface="Times New Roman"/>
              </a:rPr>
              <a:t>System Design and Implementation</a:t>
            </a:r>
          </a:p>
          <a:p>
            <a:pPr marL="457200" lvl="0" indent="-330200" algn="l">
              <a:lnSpc>
                <a:spcPct val="105000"/>
              </a:lnSpc>
              <a:spcBef>
                <a:spcPts val="300"/>
              </a:spcBef>
              <a:spcAft>
                <a:spcPts val="0"/>
              </a:spcAft>
              <a:buSzPts val="1500"/>
              <a:buFont typeface="Times New Roman"/>
              <a:buChar char="●"/>
            </a:pPr>
            <a:r>
              <a:rPr lang="en-US" sz="1500">
                <a:latin typeface="Times New Roman"/>
                <a:ea typeface="Times New Roman"/>
                <a:cs typeface="Times New Roman"/>
                <a:sym typeface="Times New Roman"/>
              </a:rPr>
              <a:t>Results: Training Runs</a:t>
            </a:r>
          </a:p>
          <a:p>
            <a:pPr marL="457200" lvl="0" indent="-330200" algn="l">
              <a:lnSpc>
                <a:spcPct val="105000"/>
              </a:lnSpc>
              <a:spcBef>
                <a:spcPts val="300"/>
              </a:spcBef>
              <a:spcAft>
                <a:spcPts val="0"/>
              </a:spcAft>
              <a:buSzPts val="1500"/>
              <a:buFont typeface="Times New Roman"/>
              <a:buChar char="●"/>
            </a:pPr>
            <a:r>
              <a:rPr lang="en-US" sz="1500">
                <a:latin typeface="Times New Roman"/>
                <a:ea typeface="Times New Roman"/>
                <a:cs typeface="Times New Roman"/>
                <a:sym typeface="Times New Roman"/>
              </a:rPr>
              <a:t>Plan of Action: Progress</a:t>
            </a:r>
          </a:p>
          <a:p>
            <a:pPr marL="457200" lvl="0" indent="-330200" algn="l">
              <a:lnSpc>
                <a:spcPct val="105000"/>
              </a:lnSpc>
              <a:spcBef>
                <a:spcPts val="300"/>
              </a:spcBef>
              <a:spcAft>
                <a:spcPts val="0"/>
              </a:spcAft>
              <a:buSzPts val="1500"/>
              <a:buFont typeface="Times New Roman"/>
              <a:buChar char="●"/>
            </a:pPr>
            <a:r>
              <a:rPr lang="en-US" sz="1500">
                <a:latin typeface="Times New Roman"/>
                <a:ea typeface="Times New Roman"/>
                <a:cs typeface="Times New Roman"/>
                <a:sym typeface="Times New Roman"/>
              </a:rPr>
              <a:t>Results: Held-out Test</a:t>
            </a:r>
          </a:p>
          <a:p>
            <a:pPr marL="457200" lvl="0" indent="-330200" algn="l">
              <a:lnSpc>
                <a:spcPct val="105000"/>
              </a:lnSpc>
              <a:spcBef>
                <a:spcPts val="300"/>
              </a:spcBef>
              <a:spcAft>
                <a:spcPts val="0"/>
              </a:spcAft>
              <a:buSzPts val="1500"/>
              <a:buFont typeface="Times New Roman"/>
              <a:buChar char="●"/>
            </a:pPr>
            <a:r>
              <a:rPr lang="en-US" sz="1500">
                <a:latin typeface="Times New Roman"/>
                <a:ea typeface="Times New Roman"/>
                <a:cs typeface="Times New Roman"/>
                <a:sym typeface="Times New Roman"/>
              </a:rPr>
              <a:t>Model Comparison</a:t>
            </a:r>
          </a:p>
          <a:p>
            <a:pPr marL="457200" lvl="0" indent="-330200" algn="l">
              <a:lnSpc>
                <a:spcPct val="105000"/>
              </a:lnSpc>
              <a:spcBef>
                <a:spcPts val="300"/>
              </a:spcBef>
              <a:spcAft>
                <a:spcPts val="0"/>
              </a:spcAft>
              <a:buSzPts val="1500"/>
              <a:buFont typeface="Times New Roman"/>
              <a:buChar char="●"/>
            </a:pPr>
            <a:r>
              <a:rPr lang="en-US" sz="1500">
                <a:latin typeface="Times New Roman"/>
                <a:ea typeface="Times New Roman"/>
                <a:cs typeface="Times New Roman"/>
                <a:sym typeface="Times New Roman"/>
              </a:rPr>
              <a:t>Demonstration Application and Remaining Work</a:t>
            </a:r>
          </a:p>
          <a:p>
            <a:pPr marL="457200" lvl="0" indent="-330200" algn="l">
              <a:lnSpc>
                <a:spcPct val="105000"/>
              </a:lnSpc>
              <a:spcBef>
                <a:spcPts val="300"/>
              </a:spcBef>
              <a:spcAft>
                <a:spcPts val="0"/>
              </a:spcAft>
              <a:buSzPts val="1500"/>
              <a:buFont typeface="Times New Roman"/>
              <a:buChar char="●"/>
            </a:pPr>
            <a:r>
              <a:rPr lang="en-US" sz="1500">
                <a:latin typeface="Times New Roman"/>
                <a:ea typeface="Times New Roman"/>
                <a:cs typeface="Times New Roman"/>
                <a:sym typeface="Times New Roman"/>
              </a:rPr>
              <a:t>References</a:t>
            </a:r>
          </a:p>
        </p:txBody>
      </p:sp>
      <p:sp>
        <p:nvSpPr>
          <p:cNvPr id="110" name="Google Shape;110;p14"/>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a:t>
            </a:fld>
            <a:endParaRPr/>
          </a:p>
        </p:txBody>
      </p:sp>
      <p:pic>
        <p:nvPicPr>
          <p:cNvPr id="111" name="Google Shape;111;p14"/>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12" name="Google Shape;112;p14"/>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13" name="Google Shape;113;p14"/>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14" name="Google Shape;114;p14"/>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15" name="Google Shape;115;p14"/>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5"/>
          <p:cNvSpPr txBox="1">
            <a:spLocks noGrp="1"/>
          </p:cNvSpPr>
          <p:nvPr>
            <p:ph type="title"/>
          </p:nvPr>
        </p:nvSpPr>
        <p:spPr>
          <a:xfrm>
            <a:off x="334847" y="141515"/>
            <a:ext cx="7977001" cy="729579"/>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41534B"/>
              </a:buClr>
              <a:buSzPts val="2800"/>
              <a:buFont typeface="Times New Roman"/>
              <a:buNone/>
            </a:pPr>
            <a:r>
              <a:rPr lang="en-US" sz="2800" b="1" cap="none">
                <a:solidFill>
                  <a:srgbClr val="41534B"/>
                </a:solidFill>
                <a:latin typeface="Times New Roman"/>
                <a:ea typeface="Times New Roman"/>
                <a:cs typeface="Times New Roman"/>
                <a:sym typeface="Times New Roman"/>
              </a:rPr>
              <a:t>ABSTRACT</a:t>
            </a:r>
            <a:endParaRPr/>
          </a:p>
        </p:txBody>
      </p:sp>
      <p:sp>
        <p:nvSpPr>
          <p:cNvPr id="121" name="Google Shape;121;p15"/>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3</a:t>
            </a:fld>
            <a:endParaRPr/>
          </a:p>
        </p:txBody>
      </p:sp>
      <p:pic>
        <p:nvPicPr>
          <p:cNvPr id="122" name="Google Shape;122;p15"/>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23" name="Google Shape;123;p15"/>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24" name="Google Shape;124;p15"/>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25" name="Google Shape;125;p15"/>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26" name="Google Shape;126;p15"/>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27" name="Google Shape;127;p15"/>
          <p:cNvSpPr txBox="1">
            <a:spLocks noGrp="1"/>
          </p:cNvSpPr>
          <p:nvPr>
            <p:ph type="body" idx="1"/>
          </p:nvPr>
        </p:nvSpPr>
        <p:spPr>
          <a:xfrm>
            <a:off x="266597" y="994735"/>
            <a:ext cx="8113500" cy="5610600"/>
          </a:xfrm>
          <a:prstGeom prst="rect">
            <a:avLst/>
          </a:prstGeom>
          <a:noFill/>
          <a:ln>
            <a:noFill/>
          </a:ln>
        </p:spPr>
        <p:txBody>
          <a:bodyPr spcFirstLastPara="1" wrap="square" lIns="91425" tIns="45700" rIns="91425" bIns="45700" anchor="ctr" anchorCtr="0">
            <a:spAutoFit/>
          </a:bodyPr>
          <a:lstStyle/>
          <a:p>
            <a:pPr marL="457200" lvl="0" indent="-330200" algn="l">
              <a:lnSpc>
                <a:spcPct val="120000"/>
              </a:lnSpc>
              <a:spcBef>
                <a:spcPts val="600"/>
              </a:spcBef>
              <a:spcAft>
                <a:spcPts val="0"/>
              </a:spcAft>
              <a:buSzPts val="1500"/>
              <a:buFont typeface="Times New Roman"/>
              <a:buChar char="●"/>
            </a:pPr>
            <a:r>
              <a:rPr lang="en-US" sz="1500">
                <a:latin typeface="Times New Roman"/>
                <a:ea typeface="Times New Roman"/>
                <a:cs typeface="Times New Roman"/>
                <a:sym typeface="Times New Roman"/>
              </a:rPr>
              <a:t>Surface defects such as knots, cracks, resin pockets and pith lines reduce the usable portion of sawn timber; manual grading is slow, subjective and inconsistent at scale.</a:t>
            </a:r>
          </a:p>
          <a:p>
            <a:pPr marL="457200" lvl="0" indent="-330200" algn="l">
              <a:lnSpc>
                <a:spcPct val="120000"/>
              </a:lnSpc>
              <a:spcBef>
                <a:spcPts val="600"/>
              </a:spcBef>
              <a:spcAft>
                <a:spcPts val="0"/>
              </a:spcAft>
              <a:buSzPts val="1500"/>
              <a:buFont typeface="Times New Roman"/>
              <a:buChar char="●"/>
            </a:pPr>
            <a:r>
              <a:rPr lang="en-US" sz="1500">
                <a:latin typeface="Times New Roman"/>
                <a:ea typeface="Times New Roman"/>
                <a:cs typeface="Times New Roman"/>
                <a:sym typeface="Times New Roman"/>
              </a:rPr>
              <a:t>The project builds an AI-based computer-vision system that detects, classifies and localises visible defects on board images as the basis for automated quality assessment and usable-area estimation.</a:t>
            </a:r>
          </a:p>
          <a:p>
            <a:pPr marL="457200" lvl="0" indent="-330200" algn="l">
              <a:lnSpc>
                <a:spcPct val="120000"/>
              </a:lnSpc>
              <a:spcBef>
                <a:spcPts val="600"/>
              </a:spcBef>
              <a:spcAft>
                <a:spcPts val="0"/>
              </a:spcAft>
              <a:buSzPts val="1500"/>
              <a:buFont typeface="Times New Roman"/>
              <a:buChar char="●"/>
            </a:pPr>
            <a:r>
              <a:rPr lang="en-US" sz="1500">
                <a:latin typeface="Times New Roman"/>
                <a:ea typeface="Times New Roman"/>
                <a:cs typeface="Times New Roman"/>
                <a:sym typeface="Times New Roman"/>
              </a:rPr>
              <a:t>In the first half we prepared a leakage-free dataset of 4,000 industrial line-scan images (8 defect classes) split by physical board, and trained YOLO11m and YOLO11s under identical, logged settings on Kaggle GPUs.</a:t>
            </a:r>
          </a:p>
          <a:p>
            <a:pPr marL="457200" lvl="0" indent="-330200" algn="l">
              <a:lnSpc>
                <a:spcPct val="120000"/>
              </a:lnSpc>
              <a:spcBef>
                <a:spcPts val="600"/>
              </a:spcBef>
              <a:spcAft>
                <a:spcPts val="0"/>
              </a:spcAft>
              <a:buSzPts val="1500"/>
              <a:buFont typeface="Times New Roman"/>
              <a:buChar char="●"/>
            </a:pPr>
            <a:r>
              <a:rPr lang="en-US" sz="1500">
                <a:latin typeface="Times New Roman"/>
                <a:ea typeface="Times New Roman"/>
                <a:cs typeface="Times New Roman"/>
                <a:sym typeface="Times New Roman"/>
              </a:rPr>
              <a:t>On 12 boards never seen in training, both models reach 63 to 65 mAP50 and 33 to 34 mAP50-95, above 85 mAP50 on the main knot classes, at 30 to 86 frames per second on a Tesla T4.</a:t>
            </a:r>
          </a:p>
          <a:p>
            <a:pPr marL="457200" lvl="0" indent="-330200" algn="l">
              <a:lnSpc>
                <a:spcPct val="120000"/>
              </a:lnSpc>
              <a:spcBef>
                <a:spcPts val="600"/>
              </a:spcBef>
              <a:spcAft>
                <a:spcPts val="0"/>
              </a:spcAft>
              <a:buSzPts val="1500"/>
              <a:buFont typeface="Times New Roman"/>
              <a:buChar char="●"/>
            </a:pPr>
            <a:r>
              <a:rPr lang="en-US" sz="1500">
                <a:latin typeface="Times New Roman"/>
                <a:ea typeface="Times New Roman"/>
                <a:cs typeface="Times New Roman"/>
                <a:sym typeface="Times New Roman"/>
              </a:rPr>
              <a:t>A demonstration web application with bounding boxes, defect heatmaps, per-class statistics and JSON reports is ready; recoverability estimation, image enhancement and architectural experiments form the second half.</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6"/>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4</a:t>
            </a:fld>
            <a:endParaRPr/>
          </a:p>
        </p:txBody>
      </p:sp>
      <p:sp>
        <p:nvSpPr>
          <p:cNvPr id="134" name="Google Shape;134;p16"/>
          <p:cNvSpPr/>
          <p:nvPr/>
        </p:nvSpPr>
        <p:spPr>
          <a:xfrm>
            <a:off x="322730" y="232193"/>
            <a:ext cx="3402105"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INTRODUCTION</a:t>
            </a:r>
            <a:endParaRPr sz="1400" b="0" i="0" u="none" strike="noStrike" cap="none">
              <a:solidFill>
                <a:srgbClr val="000000"/>
              </a:solidFill>
              <a:latin typeface="Arial"/>
              <a:ea typeface="Arial"/>
              <a:cs typeface="Arial"/>
              <a:sym typeface="Arial"/>
            </a:endParaRPr>
          </a:p>
        </p:txBody>
      </p:sp>
      <p:pic>
        <p:nvPicPr>
          <p:cNvPr id="135" name="Google Shape;135;p16"/>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36" name="Google Shape;136;p16"/>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37" name="Google Shape;137;p16"/>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38" name="Google Shape;138;p16"/>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39" name="Google Shape;139;p16"/>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40" name="Google Shape;140;p16"/>
          <p:cNvSpPr txBox="1"/>
          <p:nvPr/>
        </p:nvSpPr>
        <p:spPr>
          <a:xfrm>
            <a:off x="149500" y="849225"/>
            <a:ext cx="8178000" cy="5781000"/>
          </a:xfrm>
          <a:prstGeom prst="rect">
            <a:avLst/>
          </a:prstGeom>
          <a:noFill/>
          <a:ln>
            <a:noFill/>
          </a:ln>
        </p:spPr>
        <p:txBody>
          <a:bodyPr spcFirstLastPara="1" wrap="square" lIns="91425" tIns="45700" rIns="91425" bIns="45700" anchor="t" anchorCtr="0">
            <a:noAutofit/>
          </a:bodyPr>
          <a:lstStyle/>
          <a:p>
            <a:pPr marL="457200" lvl="0" indent="-330200" algn="l">
              <a:lnSpc>
                <a:spcPct val="130000"/>
              </a:lnSpc>
              <a:spcBef>
                <a:spcPts val="800"/>
              </a:spcBef>
              <a:spcAft>
                <a:spcPts val="0"/>
              </a:spcAft>
              <a:buSzPts val="1500"/>
              <a:buFont typeface="Times New Roman"/>
              <a:buChar char="●"/>
            </a:pPr>
            <a:r>
              <a:rPr lang="en-US" sz="1500" b="1">
                <a:latin typeface="Times New Roman"/>
                <a:ea typeface="Times New Roman"/>
                <a:cs typeface="Times New Roman"/>
                <a:sym typeface="Times New Roman"/>
              </a:rPr>
              <a:t>Manual inspection </a:t>
            </a:r>
            <a:r>
              <a:rPr lang="en-US" sz="1500">
                <a:latin typeface="Times New Roman"/>
                <a:ea typeface="Times New Roman"/>
                <a:cs typeface="Times New Roman"/>
                <a:sym typeface="Times New Roman"/>
              </a:rPr>
              <a:t>of timber depends on human graders; fatigue and inter-inspector variation make results inconsistent, and throughput limits line speed.</a:t>
            </a:r>
          </a:p>
          <a:p>
            <a:pPr marL="457200" lvl="0" indent="-330200" algn="l">
              <a:lnSpc>
                <a:spcPct val="130000"/>
              </a:lnSpc>
              <a:spcBef>
                <a:spcPts val="800"/>
              </a:spcBef>
              <a:spcAft>
                <a:spcPts val="0"/>
              </a:spcAft>
              <a:buSzPts val="1500"/>
              <a:buFont typeface="Times New Roman"/>
              <a:buChar char="●"/>
            </a:pPr>
            <a:r>
              <a:rPr lang="en-US" sz="1500" b="1">
                <a:latin typeface="Times New Roman"/>
                <a:ea typeface="Times New Roman"/>
                <a:cs typeface="Times New Roman"/>
                <a:sym typeface="Times New Roman"/>
              </a:rPr>
              <a:t>Defects differ in severity: </a:t>
            </a:r>
            <a:r>
              <a:rPr lang="en-US" sz="1500">
                <a:latin typeface="Times New Roman"/>
                <a:ea typeface="Times New Roman"/>
                <a:cs typeface="Times New Roman"/>
                <a:sym typeface="Times New Roman"/>
              </a:rPr>
              <a:t>a live knot is cosmetic, a dead or missing knot weakens the board, a crack may make a section unusable. Grading needs the defect type and its location, not a yes/no answer.</a:t>
            </a:r>
          </a:p>
          <a:p>
            <a:pPr marL="457200" lvl="0" indent="-330200" algn="l">
              <a:lnSpc>
                <a:spcPct val="130000"/>
              </a:lnSpc>
              <a:spcBef>
                <a:spcPts val="800"/>
              </a:spcBef>
              <a:spcAft>
                <a:spcPts val="0"/>
              </a:spcAft>
              <a:buSzPts val="1500"/>
              <a:buFont typeface="Times New Roman"/>
              <a:buChar char="●"/>
            </a:pPr>
            <a:r>
              <a:rPr lang="en-US" sz="1500" b="1">
                <a:latin typeface="Times New Roman"/>
                <a:ea typeface="Times New Roman"/>
                <a:cs typeface="Times New Roman"/>
                <a:sym typeface="Times New Roman"/>
              </a:rPr>
              <a:t>One-stage detectors </a:t>
            </a:r>
            <a:r>
              <a:rPr lang="en-US" sz="1500">
                <a:latin typeface="Times New Roman"/>
                <a:ea typeface="Times New Roman"/>
                <a:cs typeface="Times New Roman"/>
                <a:sym typeface="Times New Roman"/>
              </a:rPr>
              <a:t>of the YOLO family find and classify small objects in real time, which suits a conveyor-mounted line-scan camera.</a:t>
            </a:r>
          </a:p>
          <a:p>
            <a:pPr marL="457200" lvl="0" indent="-330200" algn="l">
              <a:lnSpc>
                <a:spcPct val="130000"/>
              </a:lnSpc>
              <a:spcBef>
                <a:spcPts val="800"/>
              </a:spcBef>
              <a:spcAft>
                <a:spcPts val="0"/>
              </a:spcAft>
              <a:buSzPts val="1500"/>
              <a:buFont typeface="Times New Roman"/>
              <a:buChar char="●"/>
            </a:pPr>
            <a:r>
              <a:rPr lang="en-US" sz="1500" b="1">
                <a:latin typeface="Times New Roman"/>
                <a:ea typeface="Times New Roman"/>
                <a:cs typeface="Times New Roman"/>
                <a:sym typeface="Times New Roman"/>
              </a:rPr>
              <a:t>Our system </a:t>
            </a:r>
            <a:r>
              <a:rPr lang="en-US" sz="1500">
                <a:latin typeface="Times New Roman"/>
                <a:ea typeface="Times New Roman"/>
                <a:cs typeface="Times New Roman"/>
                <a:sym typeface="Times New Roman"/>
              </a:rPr>
              <a:t>returns every visible defect with class, position, size and confidence, summarises defect coverage per board, and is designed to feed a recoverability estimate in the second half.</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7"/>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5</a:t>
            </a:fld>
            <a:endParaRPr/>
          </a:p>
        </p:txBody>
      </p:sp>
      <p:sp>
        <p:nvSpPr>
          <p:cNvPr id="146" name="Google Shape;146;p17"/>
          <p:cNvSpPr txBox="1"/>
          <p:nvPr/>
        </p:nvSpPr>
        <p:spPr>
          <a:xfrm>
            <a:off x="132875" y="-18871"/>
            <a:ext cx="7717500" cy="1508400"/>
          </a:xfrm>
          <a:prstGeom prst="rect">
            <a:avLst/>
          </a:prstGeom>
          <a:noFill/>
          <a:ln>
            <a:noFill/>
          </a:ln>
        </p:spPr>
        <p:txBody>
          <a:bodyPr spcFirstLastPara="1" wrap="square" lIns="91425" tIns="45700" rIns="91425" bIns="45700" anchor="t" anchorCtr="0">
            <a:spAutoFit/>
          </a:bodyPr>
          <a:lstStyle/>
          <a:p>
            <a:pPr marL="457200" marR="0" lvl="1" indent="-457200" algn="l" rtl="0">
              <a:lnSpc>
                <a:spcPct val="15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LITERATURE SURVEY</a:t>
            </a:r>
            <a:endParaRPr sz="1400" b="0" i="0" u="none" strike="noStrike" cap="none">
              <a:solidFill>
                <a:srgbClr val="000000"/>
              </a:solidFill>
              <a:latin typeface="Arial"/>
              <a:ea typeface="Arial"/>
              <a:cs typeface="Arial"/>
              <a:sym typeface="Arial"/>
            </a:endParaRPr>
          </a:p>
          <a:p>
            <a:pPr marL="0" marR="0" lvl="1" indent="0" algn="l" rtl="0">
              <a:lnSpc>
                <a:spcPct val="150000"/>
              </a:lnSpc>
              <a:spcBef>
                <a:spcPts val="0"/>
              </a:spcBef>
              <a:spcAft>
                <a:spcPts val="0"/>
              </a:spcAft>
              <a:buClr>
                <a:schemeClr val="dk1"/>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a:p>
            <a:pPr marL="0" marR="0" lvl="1" indent="0" algn="l" rtl="0">
              <a:lnSpc>
                <a:spcPct val="150000"/>
              </a:lnSpc>
              <a:spcBef>
                <a:spcPts val="0"/>
              </a:spcBef>
              <a:spcAft>
                <a:spcPts val="0"/>
              </a:spcAft>
              <a:buClr>
                <a:srgbClr val="000000"/>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p:txBody>
      </p:sp>
      <p:pic>
        <p:nvPicPr>
          <p:cNvPr id="147" name="Google Shape;147;p17"/>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48" name="Google Shape;148;p17"/>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49" name="Google Shape;149;p17"/>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50" name="Google Shape;150;p17"/>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51" name="Google Shape;151;p17"/>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graphicFrame>
        <p:nvGraphicFramePr>
          <p:cNvPr id="152" name="Google Shape;152;p17"/>
          <p:cNvGraphicFramePr/>
          <p:nvPr/>
        </p:nvGraphicFramePr>
        <p:xfrm>
          <a:off x="132863" y="532309"/>
          <a:ext cx="8133725" cy="6246710"/>
        </p:xfrm>
        <a:graphic>
          <a:graphicData uri="http://schemas.openxmlformats.org/drawingml/2006/table">
            <a:tbl>
              <a:tblPr firstRow="1" bandRow="1">
                <a:noFill/>
                <a:tableStyleId>{8D8EE20A-88A6-4723-80EF-92F8BEF2DCB8}</a:tableStyleId>
              </a:tblPr>
              <a:tblGrid>
                <a:gridCol w="1357900">
                  <a:extLst>
                    <a:ext uri="{9D8B030D-6E8A-4147-A177-3AD203B41FA5}">
                      <a16:colId xmlns:a16="http://schemas.microsoft.com/office/drawing/2014/main" val="20000"/>
                    </a:ext>
                  </a:extLst>
                </a:gridCol>
                <a:gridCol w="615400">
                  <a:extLst>
                    <a:ext uri="{9D8B030D-6E8A-4147-A177-3AD203B41FA5}">
                      <a16:colId xmlns:a16="http://schemas.microsoft.com/office/drawing/2014/main" val="20001"/>
                    </a:ext>
                  </a:extLst>
                </a:gridCol>
                <a:gridCol w="1893550">
                  <a:extLst>
                    <a:ext uri="{9D8B030D-6E8A-4147-A177-3AD203B41FA5}">
                      <a16:colId xmlns:a16="http://schemas.microsoft.com/office/drawing/2014/main" val="20002"/>
                    </a:ext>
                  </a:extLst>
                </a:gridCol>
                <a:gridCol w="1501150">
                  <a:extLst>
                    <a:ext uri="{9D8B030D-6E8A-4147-A177-3AD203B41FA5}">
                      <a16:colId xmlns:a16="http://schemas.microsoft.com/office/drawing/2014/main" val="20003"/>
                    </a:ext>
                  </a:extLst>
                </a:gridCol>
                <a:gridCol w="1431900">
                  <a:extLst>
                    <a:ext uri="{9D8B030D-6E8A-4147-A177-3AD203B41FA5}">
                      <a16:colId xmlns:a16="http://schemas.microsoft.com/office/drawing/2014/main" val="20004"/>
                    </a:ext>
                  </a:extLst>
                </a:gridCol>
                <a:gridCol w="1333825">
                  <a:extLst>
                    <a:ext uri="{9D8B030D-6E8A-4147-A177-3AD203B41FA5}">
                      <a16:colId xmlns:a16="http://schemas.microsoft.com/office/drawing/2014/main" val="20005"/>
                    </a:ext>
                  </a:extLst>
                </a:gridCol>
              </a:tblGrid>
              <a:tr h="9059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Author(s)</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Year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Title of the Paper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Algorithm/</a:t>
                      </a:r>
                      <a:endParaRPr sz="1400" u="none" strike="noStrike" cap="none"/>
                    </a:p>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Technology used</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Result</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Drawbacks/Issues</a:t>
                      </a:r>
                      <a:endParaRPr sz="1400" u="none" strike="noStrike" cap="none"/>
                    </a:p>
                  </a:txBody>
                  <a:tcPr marL="91450" marR="91450" marT="45725" marB="45725"/>
                </a:tc>
                <a:extLst>
                  <a:ext uri="{0D108BD9-81ED-4DB2-BD59-A6C34878D82A}">
                    <a16:rowId xmlns:a16="http://schemas.microsoft.com/office/drawing/2014/main" val="10000"/>
                  </a:ext>
                </a:extLst>
              </a:tr>
              <a:tr h="15027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Y. Fang, Y. Ma, S. Gao &amp; J. Chen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Recent Advances in Wood Surface Defect Inspection using Deep Learning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Recent Advances in Wood Surface Defect Inspection using Deep Learning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Comprehensive review; supports automated wood-defect inspection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200"/>
                        <a:buFont typeface="Calibri"/>
                        <a:buNone/>
                      </a:pPr>
                      <a:r>
                        <a:rPr lang="en-US" sz="1200">
                          <a:latin typeface="Times New Roman"/>
                          <a:ea typeface="Times New Roman"/>
                          <a:cs typeface="Times New Roman"/>
                          <a:sym typeface="Times New Roman"/>
                        </a:rPr>
                        <a:t>Small datasets, poor generalisation &amp; real-time deployment challenges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1"/>
                  </a:ext>
                </a:extLst>
              </a:tr>
              <a:tr h="11777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J. Zheng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IEL-YOLO: A Low-Light Robust Wood Defect Detection Method Based on YOLOv11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Image Enhancement + YOLOv11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Improves defect visibility in low-light conditions; handles complex wood textures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Generalisation challenges; no multimodal integration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2"/>
                  </a:ext>
                </a:extLst>
              </a:tr>
              <a:tr h="13259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J. Qu, Y. Pang &amp; Z. Wang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WD-SEG: A Deep Learning Framework for Delicate and Accurate Wood Defect Segmentation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AFN + TFN + ICO + Deep Learning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Accurate defect segmentation; handles low contrast and reduces background interference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200"/>
                        <a:buFont typeface="Calibri"/>
                        <a:buNone/>
                      </a:pPr>
                      <a:r>
                        <a:rPr lang="en-US" sz="1200">
                          <a:latin typeface="Times New Roman"/>
                          <a:ea typeface="Times New Roman"/>
                          <a:cs typeface="Times New Roman"/>
                          <a:sym typeface="Times New Roman"/>
                        </a:rPr>
                        <a:t>Noise sensitivity, feature ambiguity &amp; real-time deployment challenges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3"/>
                  </a:ext>
                </a:extLst>
              </a:tr>
              <a:tr h="13259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J. Wang &amp; S. Tang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A Novel IWPT-VMD Denoising Method for Enhancing Air-Coupled Ultrasonic Detection of Wood Defects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IWPT + VMD + Ultrasonic Signal Processing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Reduces noise and improves signal quality and defect detection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Requires ultrasonic signals; limited AI integration and no multimodal fusion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8"/>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6</a:t>
            </a:fld>
            <a:endParaRPr/>
          </a:p>
        </p:txBody>
      </p:sp>
      <p:sp>
        <p:nvSpPr>
          <p:cNvPr id="158" name="Google Shape;158;p18"/>
          <p:cNvSpPr txBox="1"/>
          <p:nvPr/>
        </p:nvSpPr>
        <p:spPr>
          <a:xfrm>
            <a:off x="132875" y="-18871"/>
            <a:ext cx="7717500" cy="1508400"/>
          </a:xfrm>
          <a:prstGeom prst="rect">
            <a:avLst/>
          </a:prstGeom>
          <a:noFill/>
          <a:ln>
            <a:noFill/>
          </a:ln>
        </p:spPr>
        <p:txBody>
          <a:bodyPr spcFirstLastPara="1" wrap="square" lIns="91425" tIns="45700" rIns="91425" bIns="45700" anchor="t" anchorCtr="0">
            <a:spAutoFit/>
          </a:bodyPr>
          <a:lstStyle/>
          <a:p>
            <a:pPr marL="457200" marR="0" lvl="1" indent="-457200" algn="l" rtl="0">
              <a:lnSpc>
                <a:spcPct val="15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LITERATURE SURVEY</a:t>
            </a:r>
            <a:endParaRPr sz="1400" b="0" i="0" u="none" strike="noStrike" cap="none">
              <a:solidFill>
                <a:srgbClr val="000000"/>
              </a:solidFill>
              <a:latin typeface="Arial"/>
              <a:ea typeface="Arial"/>
              <a:cs typeface="Arial"/>
              <a:sym typeface="Arial"/>
            </a:endParaRPr>
          </a:p>
          <a:p>
            <a:pPr marL="0" marR="0" lvl="1" indent="0" algn="l" rtl="0">
              <a:lnSpc>
                <a:spcPct val="150000"/>
              </a:lnSpc>
              <a:spcBef>
                <a:spcPts val="0"/>
              </a:spcBef>
              <a:spcAft>
                <a:spcPts val="0"/>
              </a:spcAft>
              <a:buClr>
                <a:schemeClr val="dk1"/>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a:p>
            <a:pPr marL="0" marR="0" lvl="1" indent="0" algn="l" rtl="0">
              <a:lnSpc>
                <a:spcPct val="150000"/>
              </a:lnSpc>
              <a:spcBef>
                <a:spcPts val="0"/>
              </a:spcBef>
              <a:spcAft>
                <a:spcPts val="0"/>
              </a:spcAft>
              <a:buClr>
                <a:srgbClr val="000000"/>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p:txBody>
      </p:sp>
      <p:pic>
        <p:nvPicPr>
          <p:cNvPr id="159" name="Google Shape;159;p18"/>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60" name="Google Shape;160;p18"/>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61" name="Google Shape;161;p18"/>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62" name="Google Shape;162;p18"/>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63" name="Google Shape;163;p18"/>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graphicFrame>
        <p:nvGraphicFramePr>
          <p:cNvPr id="164" name="Google Shape;164;p18"/>
          <p:cNvGraphicFramePr/>
          <p:nvPr/>
        </p:nvGraphicFramePr>
        <p:xfrm>
          <a:off x="132863" y="532309"/>
          <a:ext cx="8133725" cy="6182375"/>
        </p:xfrm>
        <a:graphic>
          <a:graphicData uri="http://schemas.openxmlformats.org/drawingml/2006/table">
            <a:tbl>
              <a:tblPr firstRow="1" bandRow="1">
                <a:noFill/>
                <a:tableStyleId>{8D8EE20A-88A6-4723-80EF-92F8BEF2DCB8}</a:tableStyleId>
              </a:tblPr>
              <a:tblGrid>
                <a:gridCol w="1357900">
                  <a:extLst>
                    <a:ext uri="{9D8B030D-6E8A-4147-A177-3AD203B41FA5}">
                      <a16:colId xmlns:a16="http://schemas.microsoft.com/office/drawing/2014/main" val="20000"/>
                    </a:ext>
                  </a:extLst>
                </a:gridCol>
                <a:gridCol w="615400">
                  <a:extLst>
                    <a:ext uri="{9D8B030D-6E8A-4147-A177-3AD203B41FA5}">
                      <a16:colId xmlns:a16="http://schemas.microsoft.com/office/drawing/2014/main" val="20001"/>
                    </a:ext>
                  </a:extLst>
                </a:gridCol>
                <a:gridCol w="1893550">
                  <a:extLst>
                    <a:ext uri="{9D8B030D-6E8A-4147-A177-3AD203B41FA5}">
                      <a16:colId xmlns:a16="http://schemas.microsoft.com/office/drawing/2014/main" val="20002"/>
                    </a:ext>
                  </a:extLst>
                </a:gridCol>
                <a:gridCol w="1384525">
                  <a:extLst>
                    <a:ext uri="{9D8B030D-6E8A-4147-A177-3AD203B41FA5}">
                      <a16:colId xmlns:a16="http://schemas.microsoft.com/office/drawing/2014/main" val="20003"/>
                    </a:ext>
                  </a:extLst>
                </a:gridCol>
                <a:gridCol w="1412450">
                  <a:extLst>
                    <a:ext uri="{9D8B030D-6E8A-4147-A177-3AD203B41FA5}">
                      <a16:colId xmlns:a16="http://schemas.microsoft.com/office/drawing/2014/main" val="20004"/>
                    </a:ext>
                  </a:extLst>
                </a:gridCol>
                <a:gridCol w="1469900">
                  <a:extLst>
                    <a:ext uri="{9D8B030D-6E8A-4147-A177-3AD203B41FA5}">
                      <a16:colId xmlns:a16="http://schemas.microsoft.com/office/drawing/2014/main" val="20005"/>
                    </a:ext>
                  </a:extLst>
                </a:gridCol>
              </a:tblGrid>
              <a:tr h="9059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Author(s)</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Year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Title of the Paper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Algorithm/</a:t>
                      </a:r>
                      <a:endParaRPr sz="1400" u="none" strike="noStrike" cap="none"/>
                    </a:p>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Technology used</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Result</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Drawbacks/</a:t>
                      </a:r>
                      <a:endParaRPr sz="1800"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Issues</a:t>
                      </a:r>
                      <a:endParaRPr sz="1400" u="none" strike="noStrike" cap="none"/>
                    </a:p>
                  </a:txBody>
                  <a:tcPr marL="91450" marR="91450" marT="45725" marB="45725"/>
                </a:tc>
                <a:extLst>
                  <a:ext uri="{0D108BD9-81ED-4DB2-BD59-A6C34878D82A}">
                    <a16:rowId xmlns:a16="http://schemas.microsoft.com/office/drawing/2014/main" val="10000"/>
                  </a:ext>
                </a:extLst>
              </a:tr>
              <a:tr h="109587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C. S. Erasmus, D. Drew &amp; M. J. Booysen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2026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A Low-Cost Wireless Dendrometer and Digital Twin for Precision Forestry Applications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IoT + LoRaWAN + Digital Twin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Low-cost, scalable system enabling continuous monitoring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No wood-quality assessment; no harvest optimisation; limited data fusion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1"/>
                  </a:ext>
                </a:extLst>
              </a:tr>
              <a:tr h="1311100">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N. Perry et al. </a:t>
                      </a:r>
                      <a:endParaRPr sz="1200">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2026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Towards Precision Forestry: A Systematic Review of Optimisation Methods for Individual-Tree Decisions in Forest Management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Heuristics, Mathematical Programming &amp; Machine Learning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Supports optimal forest-management decisions across different objectives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Limited real-world implementation; disturbance risks not fully integrated; limited multi-scale planning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2"/>
                  </a:ext>
                </a:extLst>
              </a:tr>
              <a:tr h="13065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E. Z. Başkent, A. Bončina &amp; J. G. Borges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2026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A Review and Conceptual Framework for a New Era of Forest Management Planning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Digital Twin, Monitoring, Simulation &amp; Forecasting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Supports adaptive forest planning and integrates monitoring with forecasting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Limited ML implementation; no harvesting optimisation; no timber-quality assessment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3"/>
                  </a:ext>
                </a:extLst>
              </a:tr>
              <a:tr h="1325925">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J. Tan, H. Zhang, J. Yang, Y. Liu, D. Zheng &amp; X. Liu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2025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ForestryBERT: Continual Learning Adapted to Forestry Text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BERT + NLP + Continual Learning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Provides domain-specific forestry knowledge management and adapts to continuously growing forestry text data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Catastrophic forgetting; limited application to wood-quality assessment; no defect-detection component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9"/>
          <p:cNvSpPr/>
          <p:nvPr/>
        </p:nvSpPr>
        <p:spPr>
          <a:xfrm>
            <a:off x="662852" y="266533"/>
            <a:ext cx="7680960" cy="738664"/>
          </a:xfrm>
          <a:prstGeom prst="rect">
            <a:avLst/>
          </a:prstGeom>
          <a:noFill/>
          <a:ln>
            <a:noFill/>
          </a:ln>
        </p:spPr>
        <p:txBody>
          <a:bodyPr spcFirstLastPara="1" wrap="square" lIns="91425" tIns="45700" rIns="91425" bIns="45700" anchor="t" anchorCtr="0">
            <a:noAutofit/>
          </a:bodyPr>
          <a:lstStyle/>
          <a:p>
            <a:pPr marL="457200" marR="0" lvl="1" indent="-457200" algn="l" rtl="0">
              <a:lnSpc>
                <a:spcPct val="15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PROBLEM STATEMENT</a:t>
            </a:r>
            <a:endParaRPr sz="1400" b="0" i="0" u="none" strike="noStrike" cap="none">
              <a:solidFill>
                <a:srgbClr val="000000"/>
              </a:solidFill>
              <a:latin typeface="Arial"/>
              <a:ea typeface="Arial"/>
              <a:cs typeface="Arial"/>
              <a:sym typeface="Arial"/>
            </a:endParaRPr>
          </a:p>
        </p:txBody>
      </p:sp>
      <p:sp>
        <p:nvSpPr>
          <p:cNvPr id="170" name="Google Shape;170;p1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7</a:t>
            </a:fld>
            <a:endParaRPr/>
          </a:p>
        </p:txBody>
      </p:sp>
      <p:pic>
        <p:nvPicPr>
          <p:cNvPr id="171" name="Google Shape;171;p19"/>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72" name="Google Shape;172;p19"/>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73" name="Google Shape;173;p19"/>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74" name="Google Shape;174;p19"/>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75" name="Google Shape;175;p1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76" name="Google Shape;176;p19"/>
          <p:cNvSpPr txBox="1"/>
          <p:nvPr/>
        </p:nvSpPr>
        <p:spPr>
          <a:xfrm>
            <a:off x="526802" y="1312978"/>
            <a:ext cx="7543800" cy="2924400"/>
          </a:xfrm>
          <a:prstGeom prst="rect">
            <a:avLst/>
          </a:prstGeom>
          <a:noFill/>
          <a:ln>
            <a:noFill/>
          </a:ln>
        </p:spPr>
        <p:txBody>
          <a:bodyPr spcFirstLastPara="1" wrap="square" lIns="91425" tIns="45700" rIns="91425" bIns="45700" anchor="t" anchorCtr="0">
            <a:spAutoFit/>
          </a:bodyPr>
          <a:lstStyle/>
          <a:p>
            <a:pPr marL="0" lvl="0" indent="0" algn="just">
              <a:lnSpc>
                <a:spcPct val="140000"/>
              </a:lnSpc>
              <a:spcBef>
                <a:spcPts val="600"/>
              </a:spcBef>
              <a:spcAft>
                <a:spcPts val="0"/>
              </a:spcAft>
              <a:buNone/>
            </a:pPr>
            <a:r>
              <a:rPr lang="en-US" sz="1600">
                <a:latin typeface="Times New Roman"/>
                <a:ea typeface="Times New Roman"/>
                <a:cs typeface="Times New Roman"/>
                <a:sym typeface="Times New Roman"/>
              </a:rPr>
              <a:t>Manual wood quality inspection is time-consuming and subjective, and existing AI approaches mostly stop at detecting defects without a leakage-free evaluation or a path to usable-area estimation.</a:t>
            </a:r>
          </a:p>
          <a:p>
            <a:pPr marL="0" lvl="0" indent="0" algn="just">
              <a:lnSpc>
                <a:spcPct val="140000"/>
              </a:lnSpc>
              <a:spcBef>
                <a:spcPts val="1400"/>
              </a:spcBef>
              <a:spcAft>
                <a:spcPts val="0"/>
              </a:spcAft>
              <a:buNone/>
            </a:pPr>
            <a:r>
              <a:rPr lang="en-US" sz="1600">
                <a:latin typeface="Times New Roman"/>
                <a:ea typeface="Times New Roman"/>
                <a:cs typeface="Times New Roman"/>
                <a:sym typeface="Times New Roman"/>
              </a:rPr>
              <a:t>The project aims to develop an AI-based computer-vision system that detects, classifies and localises visible surface defects on timber boards, evaluates the detector on boards it has never seen, and uses the detections to estimate the recoverable portion of each board.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0"/>
          <p:cNvSpPr/>
          <p:nvPr/>
        </p:nvSpPr>
        <p:spPr>
          <a:xfrm>
            <a:off x="283778" y="326538"/>
            <a:ext cx="8625745" cy="1046440"/>
          </a:xfrm>
          <a:prstGeom prst="rect">
            <a:avLst/>
          </a:prstGeom>
          <a:noFill/>
          <a:ln>
            <a:noFill/>
          </a:ln>
        </p:spPr>
        <p:txBody>
          <a:bodyPr spcFirstLastPara="1" wrap="square" lIns="91425" tIns="45700" rIns="91425" bIns="45700" anchor="ctr" anchorCtr="0">
            <a:noAutofit/>
          </a:bodyPr>
          <a:lstStyle/>
          <a:p>
            <a:pPr marL="457200" marR="0" lvl="1" indent="-457200" algn="l" rtl="0">
              <a:lnSpc>
                <a:spcPct val="150000"/>
              </a:lnSpc>
              <a:spcBef>
                <a:spcPts val="0"/>
              </a:spcBef>
              <a:spcAft>
                <a:spcPts val="0"/>
              </a:spcAft>
              <a:buClr>
                <a:srgbClr val="000000"/>
              </a:buClr>
              <a:buSzPts val="2200"/>
              <a:buFont typeface="Arial"/>
              <a:buNone/>
            </a:pPr>
            <a:r>
              <a:rPr lang="en-US" sz="2200" b="1" i="0" u="none" strike="noStrike" cap="none">
                <a:solidFill>
                  <a:srgbClr val="41534B"/>
                </a:solidFill>
                <a:latin typeface="Times New Roman"/>
                <a:ea typeface="Times New Roman"/>
                <a:cs typeface="Times New Roman"/>
                <a:sym typeface="Times New Roman"/>
              </a:rPr>
              <a:t>   OBJECTIVES AND STATUS AT 50%</a:t>
            </a:r>
            <a:endParaRPr sz="1400" b="0" i="0" u="none" strike="noStrike" cap="none">
              <a:solidFill>
                <a:srgbClr val="000000"/>
              </a:solidFill>
              <a:latin typeface="Arial"/>
              <a:ea typeface="Arial"/>
              <a:cs typeface="Arial"/>
              <a:sym typeface="Arial"/>
            </a:endParaRPr>
          </a:p>
        </p:txBody>
      </p:sp>
      <p:sp>
        <p:nvSpPr>
          <p:cNvPr id="182" name="Google Shape;182;p20"/>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8</a:t>
            </a:fld>
            <a:endParaRPr/>
          </a:p>
        </p:txBody>
      </p:sp>
      <p:pic>
        <p:nvPicPr>
          <p:cNvPr id="183" name="Google Shape;183;p20"/>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84" name="Google Shape;184;p20"/>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85" name="Google Shape;185;p20"/>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86" name="Google Shape;186;p20"/>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87" name="Google Shape;187;p20"/>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88" name="Google Shape;188;p20"/>
          <p:cNvSpPr txBox="1"/>
          <p:nvPr/>
        </p:nvSpPr>
        <p:spPr>
          <a:xfrm>
            <a:off x="190245" y="1234440"/>
            <a:ext cx="7887000" cy="5120640"/>
          </a:xfrm>
          <a:prstGeom prst="rect">
            <a:avLst/>
          </a:prstGeom>
          <a:noFill/>
          <a:ln>
            <a:noFill/>
          </a:ln>
        </p:spPr>
        <p:txBody>
          <a:bodyPr spcFirstLastPara="1" wrap="square" lIns="91425" tIns="45700" rIns="91425" bIns="45700" anchor="t" anchorCtr="0">
            <a:spAutoFit/>
          </a:bodyPr>
          <a:lstStyle/>
          <a:p>
            <a:pPr marL="457200" lvl="0" indent="-330200" algn="l">
              <a:lnSpc>
                <a:spcPct val="125000"/>
              </a:lnSpc>
              <a:spcBef>
                <a:spcPts val="1000"/>
              </a:spcBef>
              <a:spcAft>
                <a:spcPts val="0"/>
              </a:spcAft>
              <a:buSzPts val="1500"/>
              <a:buFont typeface="Times New Roman"/>
              <a:buChar char="●"/>
            </a:pPr>
            <a:r>
              <a:rPr lang="en-US" sz="1500" b="1">
                <a:latin typeface="Times New Roman"/>
                <a:ea typeface="Times New Roman"/>
                <a:cs typeface="Times New Roman"/>
                <a:sym typeface="Times New Roman"/>
              </a:rPr>
              <a:t>Objective 1 (done, enhancement pending): </a:t>
            </a:r>
            <a:r>
              <a:rPr lang="en-US" sz="1500">
                <a:latin typeface="Times New Roman"/>
                <a:ea typeface="Times New Roman"/>
                <a:cs typeface="Times New Roman"/>
                <a:sym typeface="Times New Roman"/>
              </a:rPr>
              <a:t>a well-annotated dataset: 4,000 line-scan board images, 8 classes, 9,053 boxes after cleaning, split by physical board with zero overlap.</a:t>
            </a:r>
          </a:p>
          <a:p>
            <a:pPr marL="457200" lvl="0" indent="-330200" algn="l">
              <a:lnSpc>
                <a:spcPct val="125000"/>
              </a:lnSpc>
              <a:spcBef>
                <a:spcPts val="1000"/>
              </a:spcBef>
              <a:spcAft>
                <a:spcPts val="0"/>
              </a:spcAft>
              <a:buSzPts val="1500"/>
              <a:buFont typeface="Times New Roman"/>
              <a:buChar char="●"/>
            </a:pPr>
            <a:r>
              <a:rPr lang="en-US" sz="1500" b="1">
                <a:latin typeface="Times New Roman"/>
                <a:ea typeface="Times New Roman"/>
                <a:cs typeface="Times New Roman"/>
                <a:sym typeface="Times New Roman"/>
              </a:rPr>
              <a:t>Objective 2 (done): </a:t>
            </a:r>
            <a:r>
              <a:rPr lang="en-US" sz="1500">
                <a:latin typeface="Times New Roman"/>
                <a:ea typeface="Times New Roman"/>
                <a:cs typeface="Times New Roman"/>
                <a:sym typeface="Times New Roman"/>
              </a:rPr>
              <a:t>a deep-learning framework for detecting and localising defects: reproducible preparation, training and evaluation scripts; YOLO11m and YOLO11s trained and evaluated on held-out boards.</a:t>
            </a:r>
          </a:p>
          <a:p>
            <a:pPr marL="457200" lvl="0" indent="-330200" algn="l">
              <a:lnSpc>
                <a:spcPct val="125000"/>
              </a:lnSpc>
              <a:spcBef>
                <a:spcPts val="1000"/>
              </a:spcBef>
              <a:spcAft>
                <a:spcPts val="0"/>
              </a:spcAft>
              <a:buSzPts val="1500"/>
              <a:buFont typeface="Times New Roman"/>
              <a:buChar char="●"/>
            </a:pPr>
            <a:r>
              <a:rPr lang="en-US" sz="1500" b="1">
                <a:latin typeface="Times New Roman"/>
                <a:ea typeface="Times New Roman"/>
                <a:cs typeface="Times New Roman"/>
                <a:sym typeface="Times New Roman"/>
              </a:rPr>
              <a:t>Objective 3 (started): </a:t>
            </a:r>
            <a:r>
              <a:rPr lang="en-US" sz="1500">
                <a:latin typeface="Times New Roman"/>
                <a:ea typeface="Times New Roman"/>
                <a:cs typeface="Times New Roman"/>
                <a:sym typeface="Times New Roman"/>
              </a:rPr>
              <a:t>recoverable-area estimation: per-defect area and per-board defect coverage are computed in the application; the grading rule is second-half work.</a:t>
            </a:r>
          </a:p>
          <a:p>
            <a:pPr marL="457200" lvl="0" indent="-330200" algn="l">
              <a:lnSpc>
                <a:spcPct val="125000"/>
              </a:lnSpc>
              <a:spcBef>
                <a:spcPts val="1000"/>
              </a:spcBef>
              <a:spcAft>
                <a:spcPts val="0"/>
              </a:spcAft>
              <a:buSzPts val="1500"/>
              <a:buFont typeface="Times New Roman"/>
              <a:buChar char="●"/>
            </a:pPr>
            <a:r>
              <a:rPr lang="en-US" sz="1500" b="1">
                <a:latin typeface="Times New Roman"/>
                <a:ea typeface="Times New Roman"/>
                <a:cs typeface="Times New Roman"/>
                <a:sym typeface="Times New Roman"/>
              </a:rPr>
              <a:t>Objective 4 (done for two models): </a:t>
            </a:r>
            <a:r>
              <a:rPr lang="en-US" sz="1500">
                <a:latin typeface="Times New Roman"/>
                <a:ea typeface="Times New Roman"/>
                <a:cs typeface="Times New Roman"/>
                <a:sym typeface="Times New Roman"/>
              </a:rPr>
              <a:t>comparison with precision, recall, F1, mAP50, mAP50-95 and inference time at identical data and settings.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1"/>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 METHODOLOGY</a:t>
            </a:r>
            <a:endParaRPr sz="1400" b="0" i="0" u="none" strike="noStrike" cap="none">
              <a:solidFill>
                <a:srgbClr val="000000"/>
              </a:solidFill>
              <a:latin typeface="Arial"/>
              <a:ea typeface="Arial"/>
              <a:cs typeface="Arial"/>
              <a:sym typeface="Arial"/>
            </a:endParaRPr>
          </a:p>
        </p:txBody>
      </p:sp>
      <p:sp>
        <p:nvSpPr>
          <p:cNvPr id="194" name="Google Shape;194;p2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9</a:t>
            </a:fld>
            <a:endParaRPr/>
          </a:p>
        </p:txBody>
      </p:sp>
      <p:pic>
        <p:nvPicPr>
          <p:cNvPr id="195" name="Google Shape;195;p21"/>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96" name="Google Shape;196;p21"/>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97" name="Google Shape;197;p21"/>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98" name="Google Shape;198;p21"/>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99" name="Google Shape;199;p2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00" name="Google Shape;200;p21"/>
          <p:cNvSpPr txBox="1"/>
          <p:nvPr/>
        </p:nvSpPr>
        <p:spPr>
          <a:xfrm>
            <a:off x="914400" y="5973314"/>
            <a:ext cx="73152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Fig. Methodology with completion status at the 50% review</a:t>
            </a:r>
            <a:endParaRPr sz="1400" b="0" i="0" u="none" strike="noStrike" cap="none">
              <a:solidFill>
                <a:srgbClr val="000000"/>
              </a:solidFill>
              <a:latin typeface="Arial"/>
              <a:ea typeface="Arial"/>
              <a:cs typeface="Arial"/>
              <a:sym typeface="Arial"/>
            </a:endParaRPr>
          </a:p>
        </p:txBody>
      </p:sp>
      <p:pic>
        <p:nvPicPr>
          <p:cNvPr id="201" name="Picture 200" descr="methodology_50.png"/>
          <p:cNvPicPr>
            <a:picLocks noChangeAspect="1"/>
          </p:cNvPicPr>
          <p:nvPr/>
        </p:nvPicPr>
        <p:blipFill>
          <a:blip r:embed="rId7"/>
          <a:stretch>
            <a:fillRect/>
          </a:stretch>
        </p:blipFill>
        <p:spPr>
          <a:xfrm>
            <a:off x="1473500" y="841980"/>
            <a:ext cx="5496476" cy="494386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10</a:t>
            </a:fld>
            <a:endParaRPr/>
          </a:p>
        </p:txBody>
      </p:sp>
      <p:sp>
        <p:nvSpPr>
          <p:cNvPr id="207" name="Google Shape;207;p22"/>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 METHODOLOGY</a:t>
            </a:r>
            <a:endParaRPr sz="1400" b="0" i="0" u="none" strike="noStrike" cap="none">
              <a:solidFill>
                <a:srgbClr val="000000"/>
              </a:solidFill>
              <a:latin typeface="Arial"/>
              <a:ea typeface="Arial"/>
              <a:cs typeface="Arial"/>
              <a:sym typeface="Arial"/>
            </a:endParaRPr>
          </a:p>
        </p:txBody>
      </p:sp>
      <p:sp>
        <p:nvSpPr>
          <p:cNvPr id="208" name="Google Shape;208;p22"/>
          <p:cNvSpPr txBox="1"/>
          <p:nvPr/>
        </p:nvSpPr>
        <p:spPr>
          <a:xfrm>
            <a:off x="63572" y="735150"/>
            <a:ext cx="8199000" cy="6381600"/>
          </a:xfrm>
          <a:prstGeom prst="rect">
            <a:avLst/>
          </a:prstGeom>
          <a:noFill/>
          <a:ln>
            <a:noFill/>
          </a:ln>
        </p:spPr>
        <p:txBody>
          <a:bodyPr spcFirstLastPara="1" wrap="square" lIns="91425" tIns="45700" rIns="91425" bIns="45700" anchor="t" anchorCtr="0">
            <a:noAutofit/>
          </a:bodyPr>
          <a:lstStyle/>
          <a:p>
            <a:pPr marL="457200" lvl="0" indent="-330200" algn="l">
              <a:lnSpc>
                <a:spcPct val="115000"/>
              </a:lnSpc>
              <a:spcBef>
                <a:spcPts val="900"/>
              </a:spcBef>
              <a:spcAft>
                <a:spcPts val="0"/>
              </a:spcAft>
              <a:buSzPts val="1400"/>
              <a:buFont typeface="Times New Roman"/>
              <a:buChar char="●"/>
            </a:pPr>
            <a:r>
              <a:rPr lang="en-US" sz="1400" b="1">
                <a:latin typeface="Times New Roman"/>
                <a:ea typeface="Times New Roman"/>
                <a:cs typeface="Times New Roman"/>
                <a:sym typeface="Times New Roman"/>
              </a:rPr>
              <a:t>Dataset preparation. </a:t>
            </a:r>
            <a:r>
              <a:rPr lang="en-US" sz="1400">
                <a:latin typeface="Times New Roman"/>
                <a:ea typeface="Times New Roman"/>
                <a:cs typeface="Times New Roman"/>
                <a:sym typeface="Times New Roman"/>
              </a:rPr>
              <a:t>Public industrial line-scan dataset; label cleaning; class mapping verified; group-stratified split by board id (52 / 17 / 12 boards).</a:t>
            </a:r>
          </a:p>
          <a:p>
            <a:pPr marL="457200" lvl="0" indent="-330200" algn="l">
              <a:lnSpc>
                <a:spcPct val="115000"/>
              </a:lnSpc>
              <a:spcBef>
                <a:spcPts val="900"/>
              </a:spcBef>
              <a:spcAft>
                <a:spcPts val="0"/>
              </a:spcAft>
              <a:buSzPts val="1400"/>
              <a:buFont typeface="Times New Roman"/>
              <a:buChar char="●"/>
            </a:pPr>
            <a:r>
              <a:rPr lang="en-US" sz="1400" b="1">
                <a:latin typeface="Times New Roman"/>
                <a:ea typeface="Times New Roman"/>
                <a:cs typeface="Times New Roman"/>
                <a:sym typeface="Times New Roman"/>
              </a:rPr>
              <a:t>Input handling. </a:t>
            </a:r>
            <a:r>
              <a:rPr lang="en-US" sz="1400">
                <a:latin typeface="Times New Roman"/>
                <a:ea typeface="Times New Roman"/>
                <a:cs typeface="Times New Roman"/>
                <a:sym typeface="Times New Roman"/>
              </a:rPr>
              <a:t>Boards are 2800 x 1024 (2.73:1); training and inference at 1024 px with rectangular batches (1024 x 384 effective) keep thin defects resolvable.</a:t>
            </a:r>
          </a:p>
          <a:p>
            <a:pPr marL="457200" lvl="0" indent="-330200" algn="l">
              <a:lnSpc>
                <a:spcPct val="115000"/>
              </a:lnSpc>
              <a:spcBef>
                <a:spcPts val="900"/>
              </a:spcBef>
              <a:spcAft>
                <a:spcPts val="0"/>
              </a:spcAft>
              <a:buSzPts val="1400"/>
              <a:buFont typeface="Times New Roman"/>
              <a:buChar char="●"/>
            </a:pPr>
            <a:r>
              <a:rPr lang="en-US" sz="1400" b="1">
                <a:latin typeface="Times New Roman"/>
                <a:ea typeface="Times New Roman"/>
                <a:cs typeface="Times New Roman"/>
                <a:sym typeface="Times New Roman"/>
              </a:rPr>
              <a:t>Detection. </a:t>
            </a:r>
            <a:r>
              <a:rPr lang="en-US" sz="1400">
                <a:latin typeface="Times New Roman"/>
                <a:ea typeface="Times New Roman"/>
                <a:cs typeface="Times New Roman"/>
                <a:sym typeface="Times New Roman"/>
              </a:rPr>
              <a:t>Ultralytics YOLO11 fine-tuned from COCO: YOLO11m as proposed model, YOLO11s trained with the identical recipe as baseline.</a:t>
            </a:r>
          </a:p>
          <a:p>
            <a:pPr marL="457200" lvl="0" indent="-330200" algn="l">
              <a:lnSpc>
                <a:spcPct val="115000"/>
              </a:lnSpc>
              <a:spcBef>
                <a:spcPts val="900"/>
              </a:spcBef>
              <a:spcAft>
                <a:spcPts val="0"/>
              </a:spcAft>
              <a:buSzPts val="1400"/>
              <a:buFont typeface="Times New Roman"/>
              <a:buChar char="●"/>
            </a:pPr>
            <a:r>
              <a:rPr lang="en-US" sz="1400" b="1">
                <a:latin typeface="Times New Roman"/>
                <a:ea typeface="Times New Roman"/>
                <a:cs typeface="Times New Roman"/>
                <a:sym typeface="Times New Roman"/>
              </a:rPr>
              <a:t>Grain-aware augmentation. </a:t>
            </a:r>
            <a:r>
              <a:rPr lang="en-US" sz="1400">
                <a:latin typeface="Times New Roman"/>
                <a:ea typeface="Times New Roman"/>
                <a:cs typeface="Times New Roman"/>
                <a:sym typeface="Times New Roman"/>
              </a:rPr>
              <a:t>Horizontal flip, mild translation, scale and colour jitter; no rotation or vertical flip; no random erasing of small regions.</a:t>
            </a:r>
          </a:p>
          <a:p>
            <a:pPr marL="457200" lvl="0" indent="-330200" algn="l">
              <a:lnSpc>
                <a:spcPct val="115000"/>
              </a:lnSpc>
              <a:spcBef>
                <a:spcPts val="900"/>
              </a:spcBef>
              <a:spcAft>
                <a:spcPts val="0"/>
              </a:spcAft>
              <a:buSzPts val="1400"/>
              <a:buFont typeface="Times New Roman"/>
              <a:buChar char="●"/>
            </a:pPr>
            <a:r>
              <a:rPr lang="en-US" sz="1400" b="1">
                <a:latin typeface="Times New Roman"/>
                <a:ea typeface="Times New Roman"/>
                <a:cs typeface="Times New Roman"/>
                <a:sym typeface="Times New Roman"/>
              </a:rPr>
              <a:t>Evaluation protocol. </a:t>
            </a:r>
            <a:r>
              <a:rPr lang="en-US" sz="1400">
                <a:latin typeface="Times New Roman"/>
                <a:ea typeface="Times New Roman"/>
                <a:cs typeface="Times New Roman"/>
                <a:sym typeface="Times New Roman"/>
              </a:rPr>
              <a:t>Model selection on validation boards only; test boards evaluated exactly once per model: P, R, F1, mAP50, mAP50-95, ms per image.</a:t>
            </a:r>
          </a:p>
          <a:p>
            <a:pPr marL="457200" lvl="0" indent="-330200" algn="l">
              <a:lnSpc>
                <a:spcPct val="115000"/>
              </a:lnSpc>
              <a:spcBef>
                <a:spcPts val="900"/>
              </a:spcBef>
              <a:spcAft>
                <a:spcPts val="0"/>
              </a:spcAft>
              <a:buSzPts val="1400"/>
              <a:buFont typeface="Times New Roman"/>
              <a:buChar char="●"/>
            </a:pPr>
            <a:r>
              <a:rPr lang="en-US" sz="1400" b="1">
                <a:latin typeface="Times New Roman"/>
                <a:ea typeface="Times New Roman"/>
                <a:cs typeface="Times New Roman"/>
                <a:sym typeface="Times New Roman"/>
              </a:rPr>
              <a:t>Defect analysis and application. </a:t>
            </a:r>
            <a:r>
              <a:rPr lang="en-US" sz="1400">
                <a:latin typeface="Times New Roman"/>
                <a:ea typeface="Times New Roman"/>
                <a:cs typeface="Times New Roman"/>
                <a:sym typeface="Times New Roman"/>
              </a:rPr>
              <a:t>Per-defect class, box, size and confidence; per-class counts and area; defect coverage; heatmap; JSON report; web application.</a:t>
            </a:r>
          </a:p>
        </p:txBody>
      </p:sp>
      <p:sp>
        <p:nvSpPr>
          <p:cNvPr id="209" name="Google Shape;209;p22"/>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10" name="Google Shape;210;p22"/>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11" name="Google Shape;211;p22"/>
          <p:cNvPicPr preferRelativeResize="0"/>
          <p:nvPr/>
        </p:nvPicPr>
        <p:blipFill rotWithShape="1">
          <a:blip r:embed="rId4">
            <a:alphaModFix/>
          </a:blip>
          <a:srcRect/>
          <a:stretch/>
        </p:blipFill>
        <p:spPr>
          <a:xfrm>
            <a:off x="8450860" y="2542563"/>
            <a:ext cx="693139" cy="1233357"/>
          </a:xfrm>
          <a:prstGeom prst="rect">
            <a:avLst/>
          </a:prstGeom>
          <a:noFill/>
          <a:ln>
            <a:noFill/>
          </a:ln>
        </p:spPr>
      </p:pic>
      <p:pic>
        <p:nvPicPr>
          <p:cNvPr id="212" name="Google Shape;212;p22"/>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13" name="Google Shape;213;p22"/>
          <p:cNvPicPr preferRelativeResize="0"/>
          <p:nvPr/>
        </p:nvPicPr>
        <p:blipFill rotWithShape="1">
          <a:blip r:embed="rId6">
            <a:alphaModFix/>
          </a:blip>
          <a:srcRect/>
          <a:stretch/>
        </p:blipFill>
        <p:spPr>
          <a:xfrm>
            <a:off x="8450861" y="6157980"/>
            <a:ext cx="680353" cy="70361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3"/>
          <p:cNvSpPr txBox="1"/>
          <p:nvPr/>
        </p:nvSpPr>
        <p:spPr>
          <a:xfrm>
            <a:off x="341431" y="11871"/>
            <a:ext cx="83151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 DATASET AND BOARD-LEVEL SPLIT</a:t>
            </a:r>
            <a:endParaRPr sz="1400" b="0" i="0" u="none" strike="noStrike" cap="none">
              <a:solidFill>
                <a:srgbClr val="000000"/>
              </a:solidFill>
              <a:latin typeface="Arial"/>
              <a:ea typeface="Arial"/>
              <a:cs typeface="Arial"/>
              <a:sym typeface="Arial"/>
            </a:endParaRPr>
          </a:p>
        </p:txBody>
      </p:sp>
      <p:sp>
        <p:nvSpPr>
          <p:cNvPr id="219" name="Google Shape;219;p23"/>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11</a:t>
            </a:fld>
            <a:endParaRPr/>
          </a:p>
        </p:txBody>
      </p:sp>
      <p:pic>
        <p:nvPicPr>
          <p:cNvPr id="220" name="Google Shape;220;p23"/>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21" name="Google Shape;221;p23"/>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22" name="Google Shape;222;p23"/>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23" name="Google Shape;223;p23"/>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24" name="Google Shape;224;p23"/>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25" name="TextBox 224"/>
          <p:cNvSpPr txBox="1"/>
          <p:nvPr/>
        </p:nvSpPr>
        <p:spPr>
          <a:xfrm>
            <a:off x="228600" y="685800"/>
            <a:ext cx="8046720" cy="2103120"/>
          </a:xfrm>
          <a:prstGeom prst="rect">
            <a:avLst/>
          </a:prstGeom>
          <a:noFill/>
        </p:spPr>
        <p:txBody>
          <a:bodyPr wrap="square">
            <a:spAutoFit/>
          </a:bodyPr>
          <a:lstStyle/>
          <a:p>
            <a:pPr marL="457200" lvl="0" indent="-330200" algn="l">
              <a:lnSpc>
                <a:spcPct val="112000"/>
              </a:lnSpc>
              <a:spcBef>
                <a:spcPts val="500"/>
              </a:spcBef>
              <a:spcAft>
                <a:spcPts val="0"/>
              </a:spcAft>
              <a:buSzPts val="1300"/>
              <a:buFont typeface="Times New Roman"/>
              <a:buChar char="●"/>
            </a:pPr>
            <a:r>
              <a:rPr lang="en-US" sz="1300" b="1">
                <a:latin typeface="Times New Roman"/>
                <a:ea typeface="Times New Roman"/>
                <a:cs typeface="Times New Roman"/>
                <a:sym typeface="Times New Roman"/>
              </a:rPr>
              <a:t>Source: </a:t>
            </a:r>
            <a:r>
              <a:rPr lang="en-US" sz="1300">
                <a:latin typeface="Times New Roman"/>
                <a:ea typeface="Times New Roman"/>
                <a:cs typeface="Times New Roman"/>
                <a:sym typeface="Times New Roman"/>
              </a:rPr>
              <a:t>Kodytek, Bodzas and Bilik (2022), F1000Research 10:581; 4,000-image Kaggle subset, 2800 x 1024 line-scan strips, YOLO boxes, CC BY 4.0.</a:t>
            </a:r>
          </a:p>
          <a:p>
            <a:pPr marL="457200" lvl="0" indent="-330200" algn="l">
              <a:lnSpc>
                <a:spcPct val="112000"/>
              </a:lnSpc>
              <a:spcBef>
                <a:spcPts val="500"/>
              </a:spcBef>
              <a:spcAft>
                <a:spcPts val="0"/>
              </a:spcAft>
              <a:buSzPts val="1300"/>
              <a:buFont typeface="Times New Roman"/>
              <a:buChar char="●"/>
            </a:pPr>
            <a:r>
              <a:rPr lang="en-US" sz="1300" b="1">
                <a:latin typeface="Times New Roman"/>
                <a:ea typeface="Times New Roman"/>
                <a:cs typeface="Times New Roman"/>
                <a:sym typeface="Times New Roman"/>
              </a:rPr>
              <a:t>Content: </a:t>
            </a:r>
            <a:r>
              <a:rPr lang="en-US" sz="1300">
                <a:latin typeface="Times New Roman"/>
                <a:ea typeface="Times New Roman"/>
                <a:cs typeface="Times New Roman"/>
                <a:sym typeface="Times New Roman"/>
              </a:rPr>
              <a:t>9,053 boxes after removing 158 zero-size labels; 388 background images (9.7%); 81 physical boards; 8 classes: Quartzity, Live_Knot, Marrow, Resin, Dead_Knot, Knot_with_crack, Knot_missing, Crack.</a:t>
            </a:r>
          </a:p>
          <a:p>
            <a:pPr marL="457200" lvl="0" indent="-330200" algn="l">
              <a:lnSpc>
                <a:spcPct val="112000"/>
              </a:lnSpc>
              <a:spcBef>
                <a:spcPts val="500"/>
              </a:spcBef>
              <a:spcAft>
                <a:spcPts val="0"/>
              </a:spcAft>
              <a:buSzPts val="1300"/>
              <a:buFont typeface="Times New Roman"/>
              <a:buChar char="●"/>
            </a:pPr>
            <a:r>
              <a:rPr lang="en-US" sz="1300" b="1">
                <a:latin typeface="Times New Roman"/>
                <a:ea typeface="Times New Roman"/>
                <a:cs typeface="Times New Roman"/>
                <a:sym typeface="Times New Roman"/>
              </a:rPr>
              <a:t>Why split by board: </a:t>
            </a:r>
            <a:r>
              <a:rPr lang="en-US" sz="1300">
                <a:latin typeface="Times New Roman"/>
                <a:ea typeface="Times New Roman"/>
                <a:cs typeface="Times New Roman"/>
                <a:sym typeface="Times New Roman"/>
              </a:rPr>
              <a:t>consecutive images come from the same board and share grain and lighting; a per-image split would leak boards into the test set. Zero overlap is asserted by the preparation script.</a:t>
            </a:r>
          </a:p>
        </p:txBody>
      </p:sp>
      <p:graphicFrame>
        <p:nvGraphicFramePr>
          <p:cNvPr id="226" name="Table 225"/>
          <p:cNvGraphicFramePr>
            <a:graphicFrameLocks noGrp="1"/>
          </p:cNvGraphicFramePr>
          <p:nvPr/>
        </p:nvGraphicFramePr>
        <p:xfrm>
          <a:off x="228600" y="2880360"/>
          <a:ext cx="7818120" cy="1554480"/>
        </p:xfrm>
        <a:graphic>
          <a:graphicData uri="http://schemas.openxmlformats.org/drawingml/2006/table">
            <a:tbl>
              <a:tblPr firstRow="1" bandRow="1">
                <a:tableStyleId>{5C22544A-7EE6-4342-B048-85BDC9FD1C3A}</a:tableStyleId>
              </a:tblPr>
              <a:tblGrid>
                <a:gridCol w="50292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gridCol w="548640">
                  <a:extLst>
                    <a:ext uri="{9D8B030D-6E8A-4147-A177-3AD203B41FA5}">
                      <a16:colId xmlns:a16="http://schemas.microsoft.com/office/drawing/2014/main" val="20007"/>
                    </a:ext>
                  </a:extLst>
                </a:gridCol>
                <a:gridCol w="731520">
                  <a:extLst>
                    <a:ext uri="{9D8B030D-6E8A-4147-A177-3AD203B41FA5}">
                      <a16:colId xmlns:a16="http://schemas.microsoft.com/office/drawing/2014/main" val="20008"/>
                    </a:ext>
                  </a:extLst>
                </a:gridCol>
                <a:gridCol w="868680">
                  <a:extLst>
                    <a:ext uri="{9D8B030D-6E8A-4147-A177-3AD203B41FA5}">
                      <a16:colId xmlns:a16="http://schemas.microsoft.com/office/drawing/2014/main" val="20009"/>
                    </a:ext>
                  </a:extLst>
                </a:gridCol>
                <a:gridCol w="868680">
                  <a:extLst>
                    <a:ext uri="{9D8B030D-6E8A-4147-A177-3AD203B41FA5}">
                      <a16:colId xmlns:a16="http://schemas.microsoft.com/office/drawing/2014/main" val="20010"/>
                    </a:ext>
                  </a:extLst>
                </a:gridCol>
                <a:gridCol w="548640">
                  <a:extLst>
                    <a:ext uri="{9D8B030D-6E8A-4147-A177-3AD203B41FA5}">
                      <a16:colId xmlns:a16="http://schemas.microsoft.com/office/drawing/2014/main" val="20011"/>
                    </a:ext>
                  </a:extLst>
                </a:gridCol>
              </a:tblGrid>
              <a:tr h="388620">
                <a:tc>
                  <a:txBody>
                    <a:bodyPr/>
                    <a:lstStyle/>
                    <a:p>
                      <a:pPr algn="l"/>
                      <a:r>
                        <a:rPr sz="900" b="1">
                          <a:solidFill>
                            <a:srgbClr val="FFFFFF"/>
                          </a:solidFill>
                          <a:latin typeface="Times New Roman"/>
                        </a:rPr>
                        <a:t>Split</a:t>
                      </a:r>
                    </a:p>
                  </a:txBody>
                  <a:tcPr marL="36576" marR="36576" marT="18288" marB="18288">
                    <a:solidFill>
                      <a:srgbClr val="41534B"/>
                    </a:solidFill>
                  </a:tcPr>
                </a:tc>
                <a:tc>
                  <a:txBody>
                    <a:bodyPr/>
                    <a:lstStyle/>
                    <a:p>
                      <a:pPr algn="ctr"/>
                      <a:r>
                        <a:rPr sz="900" b="1">
                          <a:solidFill>
                            <a:srgbClr val="FFFFFF"/>
                          </a:solidFill>
                          <a:latin typeface="Times New Roman"/>
                        </a:rPr>
                        <a:t>Boards</a:t>
                      </a:r>
                    </a:p>
                  </a:txBody>
                  <a:tcPr marL="36576" marR="36576" marT="18288" marB="18288">
                    <a:solidFill>
                      <a:srgbClr val="41534B"/>
                    </a:solidFill>
                  </a:tcPr>
                </a:tc>
                <a:tc>
                  <a:txBody>
                    <a:bodyPr/>
                    <a:lstStyle/>
                    <a:p>
                      <a:pPr algn="ctr"/>
                      <a:r>
                        <a:rPr sz="900" b="1">
                          <a:solidFill>
                            <a:srgbClr val="FFFFFF"/>
                          </a:solidFill>
                          <a:latin typeface="Times New Roman"/>
                        </a:rPr>
                        <a:t>Images</a:t>
                      </a:r>
                    </a:p>
                  </a:txBody>
                  <a:tcPr marL="36576" marR="36576" marT="18288" marB="18288">
                    <a:solidFill>
                      <a:srgbClr val="41534B"/>
                    </a:solidFill>
                  </a:tcPr>
                </a:tc>
                <a:tc>
                  <a:txBody>
                    <a:bodyPr/>
                    <a:lstStyle/>
                    <a:p>
                      <a:pPr algn="ctr"/>
                      <a:r>
                        <a:rPr sz="900" b="1">
                          <a:solidFill>
                            <a:srgbClr val="FFFFFF"/>
                          </a:solidFill>
                          <a:latin typeface="Times New Roman"/>
                        </a:rPr>
                        <a:t>Backgr.</a:t>
                      </a:r>
                    </a:p>
                  </a:txBody>
                  <a:tcPr marL="36576" marR="36576" marT="18288" marB="18288">
                    <a:solidFill>
                      <a:srgbClr val="41534B"/>
                    </a:solidFill>
                  </a:tcPr>
                </a:tc>
                <a:tc>
                  <a:txBody>
                    <a:bodyPr/>
                    <a:lstStyle/>
                    <a:p>
                      <a:pPr algn="ctr"/>
                      <a:r>
                        <a:rPr sz="900" b="1">
                          <a:solidFill>
                            <a:srgbClr val="FFFFFF"/>
                          </a:solidFill>
                          <a:latin typeface="Times New Roman"/>
                        </a:rPr>
                        <a:t>Quartzity</a:t>
                      </a:r>
                    </a:p>
                  </a:txBody>
                  <a:tcPr marL="36576" marR="36576" marT="18288" marB="18288">
                    <a:solidFill>
                      <a:srgbClr val="41534B"/>
                    </a:solidFill>
                  </a:tcPr>
                </a:tc>
                <a:tc>
                  <a:txBody>
                    <a:bodyPr/>
                    <a:lstStyle/>
                    <a:p>
                      <a:pPr algn="ctr"/>
                      <a:r>
                        <a:rPr sz="900" b="1">
                          <a:solidFill>
                            <a:srgbClr val="FFFFFF"/>
                          </a:solidFill>
                          <a:latin typeface="Times New Roman"/>
                        </a:rPr>
                        <a:t>Live_Knot</a:t>
                      </a:r>
                    </a:p>
                  </a:txBody>
                  <a:tcPr marL="36576" marR="36576" marT="18288" marB="18288">
                    <a:solidFill>
                      <a:srgbClr val="41534B"/>
                    </a:solidFill>
                  </a:tcPr>
                </a:tc>
                <a:tc>
                  <a:txBody>
                    <a:bodyPr/>
                    <a:lstStyle/>
                    <a:p>
                      <a:pPr algn="ctr"/>
                      <a:r>
                        <a:rPr sz="900" b="1">
                          <a:solidFill>
                            <a:srgbClr val="FFFFFF"/>
                          </a:solidFill>
                          <a:latin typeface="Times New Roman"/>
                        </a:rPr>
                        <a:t>Marrow</a:t>
                      </a:r>
                    </a:p>
                  </a:txBody>
                  <a:tcPr marL="36576" marR="36576" marT="18288" marB="18288">
                    <a:solidFill>
                      <a:srgbClr val="41534B"/>
                    </a:solidFill>
                  </a:tcPr>
                </a:tc>
                <a:tc>
                  <a:txBody>
                    <a:bodyPr/>
                    <a:lstStyle/>
                    <a:p>
                      <a:pPr algn="ctr"/>
                      <a:r>
                        <a:rPr sz="900" b="1">
                          <a:solidFill>
                            <a:srgbClr val="FFFFFF"/>
                          </a:solidFill>
                          <a:latin typeface="Times New Roman"/>
                        </a:rPr>
                        <a:t>Resin</a:t>
                      </a:r>
                    </a:p>
                  </a:txBody>
                  <a:tcPr marL="36576" marR="36576" marT="18288" marB="18288">
                    <a:solidFill>
                      <a:srgbClr val="41534B"/>
                    </a:solidFill>
                  </a:tcPr>
                </a:tc>
                <a:tc>
                  <a:txBody>
                    <a:bodyPr/>
                    <a:lstStyle/>
                    <a:p>
                      <a:pPr algn="ctr"/>
                      <a:r>
                        <a:rPr sz="900" b="1">
                          <a:solidFill>
                            <a:srgbClr val="FFFFFF"/>
                          </a:solidFill>
                          <a:latin typeface="Times New Roman"/>
                        </a:rPr>
                        <a:t>Dead_Knot</a:t>
                      </a:r>
                    </a:p>
                  </a:txBody>
                  <a:tcPr marL="36576" marR="36576" marT="18288" marB="18288">
                    <a:solidFill>
                      <a:srgbClr val="41534B"/>
                    </a:solidFill>
                  </a:tcPr>
                </a:tc>
                <a:tc>
                  <a:txBody>
                    <a:bodyPr/>
                    <a:lstStyle/>
                    <a:p>
                      <a:pPr algn="ctr"/>
                      <a:r>
                        <a:rPr sz="900" b="1">
                          <a:solidFill>
                            <a:srgbClr val="FFFFFF"/>
                          </a:solidFill>
                          <a:latin typeface="Times New Roman"/>
                        </a:rPr>
                        <a:t>Knot_w_crack</a:t>
                      </a:r>
                    </a:p>
                  </a:txBody>
                  <a:tcPr marL="36576" marR="36576" marT="18288" marB="18288">
                    <a:solidFill>
                      <a:srgbClr val="41534B"/>
                    </a:solidFill>
                  </a:tcPr>
                </a:tc>
                <a:tc>
                  <a:txBody>
                    <a:bodyPr/>
                    <a:lstStyle/>
                    <a:p>
                      <a:pPr algn="ctr"/>
                      <a:r>
                        <a:rPr sz="900" b="1">
                          <a:solidFill>
                            <a:srgbClr val="FFFFFF"/>
                          </a:solidFill>
                          <a:latin typeface="Times New Roman"/>
                        </a:rPr>
                        <a:t>Knot_missing</a:t>
                      </a:r>
                    </a:p>
                  </a:txBody>
                  <a:tcPr marL="36576" marR="36576" marT="18288" marB="18288">
                    <a:solidFill>
                      <a:srgbClr val="41534B"/>
                    </a:solidFill>
                  </a:tcPr>
                </a:tc>
                <a:tc>
                  <a:txBody>
                    <a:bodyPr/>
                    <a:lstStyle/>
                    <a:p>
                      <a:pPr algn="ctr"/>
                      <a:r>
                        <a:rPr sz="900" b="1">
                          <a:solidFill>
                            <a:srgbClr val="FFFFFF"/>
                          </a:solidFill>
                          <a:latin typeface="Times New Roman"/>
                        </a:rPr>
                        <a:t>Crack</a:t>
                      </a:r>
                    </a:p>
                  </a:txBody>
                  <a:tcPr marL="36576" marR="36576" marT="18288" marB="18288">
                    <a:solidFill>
                      <a:srgbClr val="41534B"/>
                    </a:solidFill>
                  </a:tcPr>
                </a:tc>
                <a:extLst>
                  <a:ext uri="{0D108BD9-81ED-4DB2-BD59-A6C34878D82A}">
                    <a16:rowId xmlns:a16="http://schemas.microsoft.com/office/drawing/2014/main" val="10000"/>
                  </a:ext>
                </a:extLst>
              </a:tr>
              <a:tr h="388620">
                <a:tc>
                  <a:txBody>
                    <a:bodyPr/>
                    <a:lstStyle/>
                    <a:p>
                      <a:pPr algn="l"/>
                      <a:r>
                        <a:rPr sz="900" b="0">
                          <a:latin typeface="Times New Roman"/>
                        </a:rPr>
                        <a:t>train</a:t>
                      </a:r>
                    </a:p>
                  </a:txBody>
                  <a:tcPr marL="36576" marR="36576" marT="18288" marB="18288">
                    <a:solidFill>
                      <a:srgbClr val="F7F3EC"/>
                    </a:solidFill>
                  </a:tcPr>
                </a:tc>
                <a:tc>
                  <a:txBody>
                    <a:bodyPr/>
                    <a:lstStyle/>
                    <a:p>
                      <a:pPr algn="ctr"/>
                      <a:r>
                        <a:rPr sz="900" b="0">
                          <a:latin typeface="Times New Roman"/>
                        </a:rPr>
                        <a:t>52</a:t>
                      </a:r>
                    </a:p>
                  </a:txBody>
                  <a:tcPr marL="36576" marR="36576" marT="18288" marB="18288">
                    <a:solidFill>
                      <a:srgbClr val="F7F3EC"/>
                    </a:solidFill>
                  </a:tcPr>
                </a:tc>
                <a:tc>
                  <a:txBody>
                    <a:bodyPr/>
                    <a:lstStyle/>
                    <a:p>
                      <a:pPr algn="ctr"/>
                      <a:r>
                        <a:rPr sz="900" b="0">
                          <a:latin typeface="Times New Roman"/>
                        </a:rPr>
                        <a:t>2817</a:t>
                      </a:r>
                    </a:p>
                  </a:txBody>
                  <a:tcPr marL="36576" marR="36576" marT="18288" marB="18288">
                    <a:solidFill>
                      <a:srgbClr val="F7F3EC"/>
                    </a:solidFill>
                  </a:tcPr>
                </a:tc>
                <a:tc>
                  <a:txBody>
                    <a:bodyPr/>
                    <a:lstStyle/>
                    <a:p>
                      <a:pPr algn="ctr"/>
                      <a:r>
                        <a:rPr sz="900" b="0">
                          <a:latin typeface="Times New Roman"/>
                        </a:rPr>
                        <a:t>272</a:t>
                      </a:r>
                    </a:p>
                  </a:txBody>
                  <a:tcPr marL="36576" marR="36576" marT="18288" marB="18288">
                    <a:solidFill>
                      <a:srgbClr val="F7F3EC"/>
                    </a:solidFill>
                  </a:tcPr>
                </a:tc>
                <a:tc>
                  <a:txBody>
                    <a:bodyPr/>
                    <a:lstStyle/>
                    <a:p>
                      <a:pPr algn="ctr"/>
                      <a:r>
                        <a:rPr sz="900" b="0">
                          <a:latin typeface="Times New Roman"/>
                        </a:rPr>
                        <a:t>125</a:t>
                      </a:r>
                    </a:p>
                  </a:txBody>
                  <a:tcPr marL="36576" marR="36576" marT="18288" marB="18288">
                    <a:solidFill>
                      <a:srgbClr val="F7F3EC"/>
                    </a:solidFill>
                  </a:tcPr>
                </a:tc>
                <a:tc>
                  <a:txBody>
                    <a:bodyPr/>
                    <a:lstStyle/>
                    <a:p>
                      <a:pPr algn="ctr"/>
                      <a:r>
                        <a:rPr sz="900" b="0">
                          <a:latin typeface="Times New Roman"/>
                        </a:rPr>
                        <a:t>2899</a:t>
                      </a:r>
                    </a:p>
                  </a:txBody>
                  <a:tcPr marL="36576" marR="36576" marT="18288" marB="18288">
                    <a:solidFill>
                      <a:srgbClr val="F7F3EC"/>
                    </a:solidFill>
                  </a:tcPr>
                </a:tc>
                <a:tc>
                  <a:txBody>
                    <a:bodyPr/>
                    <a:lstStyle/>
                    <a:p>
                      <a:pPr algn="ctr"/>
                      <a:r>
                        <a:rPr sz="900" b="0">
                          <a:latin typeface="Times New Roman"/>
                        </a:rPr>
                        <a:t>94</a:t>
                      </a:r>
                    </a:p>
                  </a:txBody>
                  <a:tcPr marL="36576" marR="36576" marT="18288" marB="18288">
                    <a:solidFill>
                      <a:srgbClr val="F7F3EC"/>
                    </a:solidFill>
                  </a:tcPr>
                </a:tc>
                <a:tc>
                  <a:txBody>
                    <a:bodyPr/>
                    <a:lstStyle/>
                    <a:p>
                      <a:pPr algn="ctr"/>
                      <a:r>
                        <a:rPr sz="900" b="0">
                          <a:latin typeface="Times New Roman"/>
                        </a:rPr>
                        <a:t>489</a:t>
                      </a:r>
                    </a:p>
                  </a:txBody>
                  <a:tcPr marL="36576" marR="36576" marT="18288" marB="18288">
                    <a:solidFill>
                      <a:srgbClr val="F7F3EC"/>
                    </a:solidFill>
                  </a:tcPr>
                </a:tc>
                <a:tc>
                  <a:txBody>
                    <a:bodyPr/>
                    <a:lstStyle/>
                    <a:p>
                      <a:pPr algn="ctr"/>
                      <a:r>
                        <a:rPr sz="900" b="0">
                          <a:latin typeface="Times New Roman"/>
                        </a:rPr>
                        <a:t>2071</a:t>
                      </a:r>
                    </a:p>
                  </a:txBody>
                  <a:tcPr marL="36576" marR="36576" marT="18288" marB="18288">
                    <a:solidFill>
                      <a:srgbClr val="F7F3EC"/>
                    </a:solidFill>
                  </a:tcPr>
                </a:tc>
                <a:tc>
                  <a:txBody>
                    <a:bodyPr/>
                    <a:lstStyle/>
                    <a:p>
                      <a:pPr algn="ctr"/>
                      <a:r>
                        <a:rPr sz="900" b="0">
                          <a:latin typeface="Times New Roman"/>
                        </a:rPr>
                        <a:t>377</a:t>
                      </a:r>
                    </a:p>
                  </a:txBody>
                  <a:tcPr marL="36576" marR="36576" marT="18288" marB="18288">
                    <a:solidFill>
                      <a:srgbClr val="F7F3EC"/>
                    </a:solidFill>
                  </a:tcPr>
                </a:tc>
                <a:tc>
                  <a:txBody>
                    <a:bodyPr/>
                    <a:lstStyle/>
                    <a:p>
                      <a:pPr algn="ctr"/>
                      <a:r>
                        <a:rPr sz="900" b="0">
                          <a:latin typeface="Times New Roman"/>
                        </a:rPr>
                        <a:t>78</a:t>
                      </a:r>
                    </a:p>
                  </a:txBody>
                  <a:tcPr marL="36576" marR="36576" marT="18288" marB="18288">
                    <a:solidFill>
                      <a:srgbClr val="F7F3EC"/>
                    </a:solidFill>
                  </a:tcPr>
                </a:tc>
                <a:tc>
                  <a:txBody>
                    <a:bodyPr/>
                    <a:lstStyle/>
                    <a:p>
                      <a:pPr algn="ctr"/>
                      <a:r>
                        <a:rPr sz="900" b="0">
                          <a:latin typeface="Times New Roman"/>
                        </a:rPr>
                        <a:t>306</a:t>
                      </a:r>
                    </a:p>
                  </a:txBody>
                  <a:tcPr marL="36576" marR="36576" marT="18288" marB="18288">
                    <a:solidFill>
                      <a:srgbClr val="F7F3EC"/>
                    </a:solidFill>
                  </a:tcPr>
                </a:tc>
                <a:extLst>
                  <a:ext uri="{0D108BD9-81ED-4DB2-BD59-A6C34878D82A}">
                    <a16:rowId xmlns:a16="http://schemas.microsoft.com/office/drawing/2014/main" val="10001"/>
                  </a:ext>
                </a:extLst>
              </a:tr>
              <a:tr h="388620">
                <a:tc>
                  <a:txBody>
                    <a:bodyPr/>
                    <a:lstStyle/>
                    <a:p>
                      <a:pPr algn="l"/>
                      <a:r>
                        <a:rPr sz="900" b="0">
                          <a:latin typeface="Times New Roman"/>
                        </a:rPr>
                        <a:t>val</a:t>
                      </a:r>
                    </a:p>
                  </a:txBody>
                  <a:tcPr marL="36576" marR="36576" marT="18288" marB="18288">
                    <a:solidFill>
                      <a:srgbClr val="FFFFFF"/>
                    </a:solidFill>
                  </a:tcPr>
                </a:tc>
                <a:tc>
                  <a:txBody>
                    <a:bodyPr/>
                    <a:lstStyle/>
                    <a:p>
                      <a:pPr algn="ctr"/>
                      <a:r>
                        <a:rPr sz="900" b="0">
                          <a:latin typeface="Times New Roman"/>
                        </a:rPr>
                        <a:t>17</a:t>
                      </a:r>
                    </a:p>
                  </a:txBody>
                  <a:tcPr marL="36576" marR="36576" marT="18288" marB="18288">
                    <a:solidFill>
                      <a:srgbClr val="FFFFFF"/>
                    </a:solidFill>
                  </a:tcPr>
                </a:tc>
                <a:tc>
                  <a:txBody>
                    <a:bodyPr/>
                    <a:lstStyle/>
                    <a:p>
                      <a:pPr algn="ctr"/>
                      <a:r>
                        <a:rPr sz="900" b="0">
                          <a:latin typeface="Times New Roman"/>
                        </a:rPr>
                        <a:t>714</a:t>
                      </a:r>
                    </a:p>
                  </a:txBody>
                  <a:tcPr marL="36576" marR="36576" marT="18288" marB="18288">
                    <a:solidFill>
                      <a:srgbClr val="FFFFFF"/>
                    </a:solidFill>
                  </a:tcPr>
                </a:tc>
                <a:tc>
                  <a:txBody>
                    <a:bodyPr/>
                    <a:lstStyle/>
                    <a:p>
                      <a:pPr algn="ctr"/>
                      <a:r>
                        <a:rPr sz="900" b="0">
                          <a:latin typeface="Times New Roman"/>
                        </a:rPr>
                        <a:t>71</a:t>
                      </a:r>
                    </a:p>
                  </a:txBody>
                  <a:tcPr marL="36576" marR="36576" marT="18288" marB="18288">
                    <a:solidFill>
                      <a:srgbClr val="FFFFFF"/>
                    </a:solidFill>
                  </a:tcPr>
                </a:tc>
                <a:tc>
                  <a:txBody>
                    <a:bodyPr/>
                    <a:lstStyle/>
                    <a:p>
                      <a:pPr algn="ctr"/>
                      <a:r>
                        <a:rPr sz="900" b="0">
                          <a:latin typeface="Times New Roman"/>
                        </a:rPr>
                        <a:t>20</a:t>
                      </a:r>
                    </a:p>
                  </a:txBody>
                  <a:tcPr marL="36576" marR="36576" marT="18288" marB="18288">
                    <a:solidFill>
                      <a:srgbClr val="FFFFFF"/>
                    </a:solidFill>
                  </a:tcPr>
                </a:tc>
                <a:tc>
                  <a:txBody>
                    <a:bodyPr/>
                    <a:lstStyle/>
                    <a:p>
                      <a:pPr algn="ctr"/>
                      <a:r>
                        <a:rPr sz="900" b="0">
                          <a:latin typeface="Times New Roman"/>
                        </a:rPr>
                        <a:t>713</a:t>
                      </a:r>
                    </a:p>
                  </a:txBody>
                  <a:tcPr marL="36576" marR="36576" marT="18288" marB="18288">
                    <a:solidFill>
                      <a:srgbClr val="FFFFFF"/>
                    </a:solidFill>
                  </a:tcPr>
                </a:tc>
                <a:tc>
                  <a:txBody>
                    <a:bodyPr/>
                    <a:lstStyle/>
                    <a:p>
                      <a:pPr algn="ctr"/>
                      <a:r>
                        <a:rPr sz="900" b="0">
                          <a:latin typeface="Times New Roman"/>
                        </a:rPr>
                        <a:t>64</a:t>
                      </a:r>
                    </a:p>
                  </a:txBody>
                  <a:tcPr marL="36576" marR="36576" marT="18288" marB="18288">
                    <a:solidFill>
                      <a:srgbClr val="FFFFFF"/>
                    </a:solidFill>
                  </a:tcPr>
                </a:tc>
                <a:tc>
                  <a:txBody>
                    <a:bodyPr/>
                    <a:lstStyle/>
                    <a:p>
                      <a:pPr algn="ctr"/>
                      <a:r>
                        <a:rPr sz="900" b="0">
                          <a:latin typeface="Times New Roman"/>
                        </a:rPr>
                        <a:t>88</a:t>
                      </a:r>
                    </a:p>
                  </a:txBody>
                  <a:tcPr marL="36576" marR="36576" marT="18288" marB="18288">
                    <a:solidFill>
                      <a:srgbClr val="FFFFFF"/>
                    </a:solidFill>
                  </a:tcPr>
                </a:tc>
                <a:tc>
                  <a:txBody>
                    <a:bodyPr/>
                    <a:lstStyle/>
                    <a:p>
                      <a:pPr algn="ctr"/>
                      <a:r>
                        <a:rPr sz="900" b="0">
                          <a:latin typeface="Times New Roman"/>
                        </a:rPr>
                        <a:t>482</a:t>
                      </a:r>
                    </a:p>
                  </a:txBody>
                  <a:tcPr marL="36576" marR="36576" marT="18288" marB="18288">
                    <a:solidFill>
                      <a:srgbClr val="FFFFFF"/>
                    </a:solidFill>
                  </a:tcPr>
                </a:tc>
                <a:tc>
                  <a:txBody>
                    <a:bodyPr/>
                    <a:lstStyle/>
                    <a:p>
                      <a:pPr algn="ctr"/>
                      <a:r>
                        <a:rPr sz="900" b="0">
                          <a:latin typeface="Times New Roman"/>
                        </a:rPr>
                        <a:t>98</a:t>
                      </a:r>
                    </a:p>
                  </a:txBody>
                  <a:tcPr marL="36576" marR="36576" marT="18288" marB="18288">
                    <a:solidFill>
                      <a:srgbClr val="FFFFFF"/>
                    </a:solidFill>
                  </a:tcPr>
                </a:tc>
                <a:tc>
                  <a:txBody>
                    <a:bodyPr/>
                    <a:lstStyle/>
                    <a:p>
                      <a:pPr algn="ctr"/>
                      <a:r>
                        <a:rPr sz="900" b="0">
                          <a:latin typeface="Times New Roman"/>
                        </a:rPr>
                        <a:t>15</a:t>
                      </a:r>
                    </a:p>
                  </a:txBody>
                  <a:tcPr marL="36576" marR="36576" marT="18288" marB="18288">
                    <a:solidFill>
                      <a:srgbClr val="FFFFFF"/>
                    </a:solidFill>
                  </a:tcPr>
                </a:tc>
                <a:tc>
                  <a:txBody>
                    <a:bodyPr/>
                    <a:lstStyle/>
                    <a:p>
                      <a:pPr algn="ctr"/>
                      <a:r>
                        <a:rPr sz="900" b="0">
                          <a:latin typeface="Times New Roman"/>
                        </a:rPr>
                        <a:t>111</a:t>
                      </a:r>
                    </a:p>
                  </a:txBody>
                  <a:tcPr marL="36576" marR="36576" marT="18288" marB="18288">
                    <a:solidFill>
                      <a:srgbClr val="FFFFFF"/>
                    </a:solidFill>
                  </a:tcPr>
                </a:tc>
                <a:extLst>
                  <a:ext uri="{0D108BD9-81ED-4DB2-BD59-A6C34878D82A}">
                    <a16:rowId xmlns:a16="http://schemas.microsoft.com/office/drawing/2014/main" val="10002"/>
                  </a:ext>
                </a:extLst>
              </a:tr>
              <a:tr h="388620">
                <a:tc>
                  <a:txBody>
                    <a:bodyPr/>
                    <a:lstStyle/>
                    <a:p>
                      <a:pPr algn="l"/>
                      <a:r>
                        <a:rPr sz="900" b="0">
                          <a:latin typeface="Times New Roman"/>
                        </a:rPr>
                        <a:t>test</a:t>
                      </a:r>
                    </a:p>
                  </a:txBody>
                  <a:tcPr marL="36576" marR="36576" marT="18288" marB="18288">
                    <a:solidFill>
                      <a:srgbClr val="F7F3EC"/>
                    </a:solidFill>
                  </a:tcPr>
                </a:tc>
                <a:tc>
                  <a:txBody>
                    <a:bodyPr/>
                    <a:lstStyle/>
                    <a:p>
                      <a:pPr algn="ctr"/>
                      <a:r>
                        <a:rPr sz="900" b="0">
                          <a:latin typeface="Times New Roman"/>
                        </a:rPr>
                        <a:t>12</a:t>
                      </a:r>
                    </a:p>
                  </a:txBody>
                  <a:tcPr marL="36576" marR="36576" marT="18288" marB="18288">
                    <a:solidFill>
                      <a:srgbClr val="F7F3EC"/>
                    </a:solidFill>
                  </a:tcPr>
                </a:tc>
                <a:tc>
                  <a:txBody>
                    <a:bodyPr/>
                    <a:lstStyle/>
                    <a:p>
                      <a:pPr algn="ctr"/>
                      <a:r>
                        <a:rPr sz="900" b="0">
                          <a:latin typeface="Times New Roman"/>
                        </a:rPr>
                        <a:t>469</a:t>
                      </a:r>
                    </a:p>
                  </a:txBody>
                  <a:tcPr marL="36576" marR="36576" marT="18288" marB="18288">
                    <a:solidFill>
                      <a:srgbClr val="F7F3EC"/>
                    </a:solidFill>
                  </a:tcPr>
                </a:tc>
                <a:tc>
                  <a:txBody>
                    <a:bodyPr/>
                    <a:lstStyle/>
                    <a:p>
                      <a:pPr algn="ctr"/>
                      <a:r>
                        <a:rPr sz="900" b="0">
                          <a:latin typeface="Times New Roman"/>
                        </a:rPr>
                        <a:t>45</a:t>
                      </a:r>
                    </a:p>
                  </a:txBody>
                  <a:tcPr marL="36576" marR="36576" marT="18288" marB="18288">
                    <a:solidFill>
                      <a:srgbClr val="F7F3EC"/>
                    </a:solidFill>
                  </a:tcPr>
                </a:tc>
                <a:tc>
                  <a:txBody>
                    <a:bodyPr/>
                    <a:lstStyle/>
                    <a:p>
                      <a:pPr algn="ctr"/>
                      <a:r>
                        <a:rPr sz="900" b="0">
                          <a:latin typeface="Times New Roman"/>
                        </a:rPr>
                        <a:t>10</a:t>
                      </a:r>
                    </a:p>
                  </a:txBody>
                  <a:tcPr marL="36576" marR="36576" marT="18288" marB="18288">
                    <a:solidFill>
                      <a:srgbClr val="F7F3EC"/>
                    </a:solidFill>
                  </a:tcPr>
                </a:tc>
                <a:tc>
                  <a:txBody>
                    <a:bodyPr/>
                    <a:lstStyle/>
                    <a:p>
                      <a:pPr algn="ctr"/>
                      <a:r>
                        <a:rPr sz="900" b="0">
                          <a:latin typeface="Times New Roman"/>
                        </a:rPr>
                        <a:t>406</a:t>
                      </a:r>
                    </a:p>
                  </a:txBody>
                  <a:tcPr marL="36576" marR="36576" marT="18288" marB="18288">
                    <a:solidFill>
                      <a:srgbClr val="F7F3EC"/>
                    </a:solidFill>
                  </a:tcPr>
                </a:tc>
                <a:tc>
                  <a:txBody>
                    <a:bodyPr/>
                    <a:lstStyle/>
                    <a:p>
                      <a:pPr algn="ctr"/>
                      <a:r>
                        <a:rPr sz="900" b="0">
                          <a:latin typeface="Times New Roman"/>
                        </a:rPr>
                        <a:t>46</a:t>
                      </a:r>
                    </a:p>
                  </a:txBody>
                  <a:tcPr marL="36576" marR="36576" marT="18288" marB="18288">
                    <a:solidFill>
                      <a:srgbClr val="F7F3EC"/>
                    </a:solidFill>
                  </a:tcPr>
                </a:tc>
                <a:tc>
                  <a:txBody>
                    <a:bodyPr/>
                    <a:lstStyle/>
                    <a:p>
                      <a:pPr algn="ctr"/>
                      <a:r>
                        <a:rPr sz="900" b="0">
                          <a:latin typeface="Times New Roman"/>
                        </a:rPr>
                        <a:t>69</a:t>
                      </a:r>
                    </a:p>
                  </a:txBody>
                  <a:tcPr marL="36576" marR="36576" marT="18288" marB="18288">
                    <a:solidFill>
                      <a:srgbClr val="F7F3EC"/>
                    </a:solidFill>
                  </a:tcPr>
                </a:tc>
                <a:tc>
                  <a:txBody>
                    <a:bodyPr/>
                    <a:lstStyle/>
                    <a:p>
                      <a:pPr algn="ctr"/>
                      <a:r>
                        <a:rPr sz="900" b="0">
                          <a:latin typeface="Times New Roman"/>
                        </a:rPr>
                        <a:t>343</a:t>
                      </a:r>
                    </a:p>
                  </a:txBody>
                  <a:tcPr marL="36576" marR="36576" marT="18288" marB="18288">
                    <a:solidFill>
                      <a:srgbClr val="F7F3EC"/>
                    </a:solidFill>
                  </a:tcPr>
                </a:tc>
                <a:tc>
                  <a:txBody>
                    <a:bodyPr/>
                    <a:lstStyle/>
                    <a:p>
                      <a:pPr algn="ctr"/>
                      <a:r>
                        <a:rPr sz="900" b="0">
                          <a:latin typeface="Times New Roman"/>
                        </a:rPr>
                        <a:t>30</a:t>
                      </a:r>
                    </a:p>
                  </a:txBody>
                  <a:tcPr marL="36576" marR="36576" marT="18288" marB="18288">
                    <a:solidFill>
                      <a:srgbClr val="F7F3EC"/>
                    </a:solidFill>
                  </a:tcPr>
                </a:tc>
                <a:tc>
                  <a:txBody>
                    <a:bodyPr/>
                    <a:lstStyle/>
                    <a:p>
                      <a:pPr algn="ctr"/>
                      <a:r>
                        <a:rPr sz="900" b="0">
                          <a:latin typeface="Times New Roman"/>
                        </a:rPr>
                        <a:t>24</a:t>
                      </a:r>
                    </a:p>
                  </a:txBody>
                  <a:tcPr marL="36576" marR="36576" marT="18288" marB="18288">
                    <a:solidFill>
                      <a:srgbClr val="F7F3EC"/>
                    </a:solidFill>
                  </a:tcPr>
                </a:tc>
                <a:tc>
                  <a:txBody>
                    <a:bodyPr/>
                    <a:lstStyle/>
                    <a:p>
                      <a:pPr algn="ctr"/>
                      <a:r>
                        <a:rPr sz="900" b="0">
                          <a:latin typeface="Times New Roman"/>
                        </a:rPr>
                        <a:t>95</a:t>
                      </a:r>
                    </a:p>
                  </a:txBody>
                  <a:tcPr marL="36576" marR="36576" marT="18288" marB="18288">
                    <a:solidFill>
                      <a:srgbClr val="F7F3EC"/>
                    </a:solidFill>
                  </a:tcPr>
                </a:tc>
                <a:extLst>
                  <a:ext uri="{0D108BD9-81ED-4DB2-BD59-A6C34878D82A}">
                    <a16:rowId xmlns:a16="http://schemas.microsoft.com/office/drawing/2014/main" val="10003"/>
                  </a:ext>
                </a:extLst>
              </a:tr>
            </a:tbl>
          </a:graphicData>
        </a:graphic>
      </p:graphicFrame>
      <p:sp>
        <p:nvSpPr>
          <p:cNvPr id="227" name="TextBox 226"/>
          <p:cNvSpPr txBox="1"/>
          <p:nvPr/>
        </p:nvSpPr>
        <p:spPr>
          <a:xfrm>
            <a:off x="228600" y="4572000"/>
            <a:ext cx="8046720" cy="1463040"/>
          </a:xfrm>
          <a:prstGeom prst="rect">
            <a:avLst/>
          </a:prstGeom>
          <a:noFill/>
        </p:spPr>
        <p:txBody>
          <a:bodyPr wrap="square">
            <a:spAutoFit/>
          </a:bodyPr>
          <a:lstStyle/>
          <a:p>
            <a:pPr marL="457200" lvl="0" indent="-330200" algn="l">
              <a:lnSpc>
                <a:spcPct val="110000"/>
              </a:lnSpc>
              <a:spcBef>
                <a:spcPts val="400"/>
              </a:spcBef>
              <a:spcAft>
                <a:spcPts val="0"/>
              </a:spcAft>
              <a:buSzPts val="1200"/>
              <a:buFont typeface="Times New Roman"/>
              <a:buChar char="●"/>
            </a:pPr>
            <a:r>
              <a:rPr lang="en-US" sz="1200" b="1">
                <a:latin typeface="Times New Roman"/>
                <a:ea typeface="Times New Roman"/>
                <a:cs typeface="Times New Roman"/>
                <a:sym typeface="Times New Roman"/>
              </a:rPr>
              <a:t>Class imbalance: </a:t>
            </a:r>
            <a:r>
              <a:rPr lang="en-US" sz="1200">
                <a:latin typeface="Times New Roman"/>
                <a:ea typeface="Times New Roman"/>
                <a:cs typeface="Times New Roman"/>
                <a:sym typeface="Times New Roman"/>
              </a:rPr>
              <a:t>Live_Knot 44% and Dead_Knot 32% of boxes; Knot_missing 1.3%, Quartzity 1.9%, Marrow 2.2%. Test has only 10 Quartzity and 24 Knot_missing boxes, so those per-class figures are indicative only.</a:t>
            </a:r>
          </a:p>
          <a:p>
            <a:pPr marL="457200" lvl="0" indent="-330200" algn="l">
              <a:lnSpc>
                <a:spcPct val="110000"/>
              </a:lnSpc>
              <a:spcBef>
                <a:spcPts val="400"/>
              </a:spcBef>
              <a:spcAft>
                <a:spcPts val="0"/>
              </a:spcAft>
              <a:buSzPts val="1200"/>
              <a:buFont typeface="Times New Roman"/>
              <a:buChar char="●"/>
            </a:pPr>
            <a:r>
              <a:rPr lang="en-US" sz="1200" b="1">
                <a:latin typeface="Times New Roman"/>
                <a:ea typeface="Times New Roman"/>
                <a:cs typeface="Times New Roman"/>
                <a:sym typeface="Times New Roman"/>
              </a:rPr>
              <a:t>Every class </a:t>
            </a:r>
            <a:r>
              <a:rPr lang="en-US" sz="1200">
                <a:latin typeface="Times New Roman"/>
                <a:ea typeface="Times New Roman"/>
                <a:cs typeface="Times New Roman"/>
                <a:sym typeface="Times New Roman"/>
              </a:rPr>
              <a:t>is present in all three splits; file names carry a seeded hash prefix so that rectangular batches still mix boards.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4"/>
          <p:cNvSpPr txBox="1"/>
          <p:nvPr/>
        </p:nvSpPr>
        <p:spPr>
          <a:xfrm>
            <a:off x="135690" y="234748"/>
            <a:ext cx="83151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SYSTEM DESIGN</a:t>
            </a:r>
            <a:endParaRPr sz="1400" b="0" i="0" u="none" strike="noStrike" cap="none">
              <a:solidFill>
                <a:srgbClr val="000000"/>
              </a:solidFill>
              <a:latin typeface="Arial"/>
              <a:ea typeface="Arial"/>
              <a:cs typeface="Arial"/>
              <a:sym typeface="Arial"/>
            </a:endParaRPr>
          </a:p>
        </p:txBody>
      </p:sp>
      <p:sp>
        <p:nvSpPr>
          <p:cNvPr id="231" name="Google Shape;231;p24"/>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12</a:t>
            </a:fld>
            <a:endParaRPr/>
          </a:p>
        </p:txBody>
      </p:sp>
      <p:pic>
        <p:nvPicPr>
          <p:cNvPr id="232" name="Google Shape;232;p24"/>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33" name="Google Shape;233;p24"/>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34" name="Google Shape;234;p24"/>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35" name="Google Shape;235;p24"/>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36" name="Google Shape;236;p24"/>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37" name="Google Shape;237;p24"/>
          <p:cNvSpPr txBox="1"/>
          <p:nvPr/>
        </p:nvSpPr>
        <p:spPr>
          <a:xfrm>
            <a:off x="314790" y="1132100"/>
            <a:ext cx="8217000" cy="4968600"/>
          </a:xfrm>
          <a:prstGeom prst="rect">
            <a:avLst/>
          </a:prstGeom>
          <a:noFill/>
          <a:ln>
            <a:noFill/>
          </a:ln>
        </p:spPr>
        <p:txBody>
          <a:bodyPr spcFirstLastPara="1" wrap="square" lIns="91425" tIns="45700" rIns="91425" bIns="45700" anchor="t" anchorCtr="0">
            <a:spAutoFit/>
          </a:bodyPr>
          <a:lstStyle/>
          <a:p>
            <a:pPr marL="457200" lvl="0" indent="-330200" algn="l">
              <a:lnSpc>
                <a:spcPct val="112000"/>
              </a:lnSpc>
              <a:spcBef>
                <a:spcPts val="700"/>
              </a:spcBef>
              <a:spcAft>
                <a:spcPts val="0"/>
              </a:spcAft>
              <a:buSzPts val="1300"/>
              <a:buFont typeface="Times New Roman"/>
              <a:buChar char="●"/>
            </a:pPr>
            <a:r>
              <a:rPr lang="en-US" sz="1300" b="1">
                <a:latin typeface="Times New Roman"/>
                <a:ea typeface="Times New Roman"/>
                <a:cs typeface="Times New Roman"/>
                <a:sym typeface="Times New Roman"/>
              </a:rPr>
              <a:t>1. Data / input layer (done): </a:t>
            </a:r>
            <a:r>
              <a:rPr lang="en-US" sz="1300">
                <a:latin typeface="Times New Roman"/>
                <a:ea typeface="Times New Roman"/>
                <a:cs typeface="Times New Roman"/>
                <a:sym typeface="Times New Roman"/>
              </a:rPr>
              <a:t>board images, cleaned labels, board-level train / val / test sets on Kaggle.</a:t>
            </a:r>
          </a:p>
          <a:p>
            <a:pPr marL="457200" lvl="0" indent="-330200" algn="l">
              <a:lnSpc>
                <a:spcPct val="112000"/>
              </a:lnSpc>
              <a:spcBef>
                <a:spcPts val="700"/>
              </a:spcBef>
              <a:spcAft>
                <a:spcPts val="0"/>
              </a:spcAft>
              <a:buSzPts val="1300"/>
              <a:buFont typeface="Times New Roman"/>
              <a:buChar char="●"/>
            </a:pPr>
            <a:r>
              <a:rPr lang="en-US" sz="1300" b="1">
                <a:latin typeface="Times New Roman"/>
                <a:ea typeface="Times New Roman"/>
                <a:cs typeface="Times New Roman"/>
                <a:sym typeface="Times New Roman"/>
              </a:rPr>
              <a:t>2. Input processing (partly): </a:t>
            </a:r>
            <a:r>
              <a:rPr lang="en-US" sz="1300">
                <a:latin typeface="Times New Roman"/>
                <a:ea typeface="Times New Roman"/>
                <a:cs typeface="Times New Roman"/>
                <a:sym typeface="Times New Roman"/>
              </a:rPr>
              <a:t>1024-px rectangular input and grain-aware augmentation in place; CLAHE / denoising / brightness experiments planned.</a:t>
            </a:r>
          </a:p>
          <a:p>
            <a:pPr marL="457200" lvl="0" indent="-330200" algn="l">
              <a:lnSpc>
                <a:spcPct val="112000"/>
              </a:lnSpc>
              <a:spcBef>
                <a:spcPts val="700"/>
              </a:spcBef>
              <a:spcAft>
                <a:spcPts val="0"/>
              </a:spcAft>
              <a:buSzPts val="1300"/>
              <a:buFont typeface="Times New Roman"/>
              <a:buChar char="●"/>
            </a:pPr>
            <a:r>
              <a:rPr lang="en-US" sz="1300" b="1">
                <a:latin typeface="Times New Roman"/>
                <a:ea typeface="Times New Roman"/>
                <a:cs typeface="Times New Roman"/>
                <a:sym typeface="Times New Roman"/>
              </a:rPr>
              <a:t>3. Detection model (done): </a:t>
            </a:r>
            <a:r>
              <a:rPr lang="en-US" sz="1300">
                <a:latin typeface="Times New Roman"/>
                <a:ea typeface="Times New Roman"/>
                <a:cs typeface="Times New Roman"/>
                <a:sym typeface="Times New Roman"/>
              </a:rPr>
              <a:t>YOLO11m (20.0 M parameters) and YOLO11s (9.4 M) fine-tuned from COCO with one logged recipe; architectural additions (CWB-style modules) planned.</a:t>
            </a:r>
          </a:p>
          <a:p>
            <a:pPr marL="457200" lvl="0" indent="-330200" algn="l">
              <a:lnSpc>
                <a:spcPct val="112000"/>
              </a:lnSpc>
              <a:spcBef>
                <a:spcPts val="700"/>
              </a:spcBef>
              <a:spcAft>
                <a:spcPts val="0"/>
              </a:spcAft>
              <a:buSzPts val="1300"/>
              <a:buFont typeface="Times New Roman"/>
              <a:buChar char="●"/>
            </a:pPr>
            <a:r>
              <a:rPr lang="en-US" sz="1300" b="1">
                <a:latin typeface="Times New Roman"/>
                <a:ea typeface="Times New Roman"/>
                <a:cs typeface="Times New Roman"/>
                <a:sym typeface="Times New Roman"/>
              </a:rPr>
              <a:t>4. Defect analysis (done): </a:t>
            </a:r>
            <a:r>
              <a:rPr lang="en-US" sz="1300">
                <a:latin typeface="Times New Roman"/>
                <a:ea typeface="Times New Roman"/>
                <a:cs typeface="Times New Roman"/>
                <a:sym typeface="Times New Roman"/>
              </a:rPr>
              <a:t>class, position, size, confidence per defect; per-class counts and area; defect coverage per board.</a:t>
            </a:r>
          </a:p>
          <a:p>
            <a:pPr marL="457200" lvl="0" indent="-330200" algn="l">
              <a:lnSpc>
                <a:spcPct val="112000"/>
              </a:lnSpc>
              <a:spcBef>
                <a:spcPts val="700"/>
              </a:spcBef>
              <a:spcAft>
                <a:spcPts val="0"/>
              </a:spcAft>
              <a:buSzPts val="1300"/>
              <a:buFont typeface="Times New Roman"/>
              <a:buChar char="●"/>
            </a:pPr>
            <a:r>
              <a:rPr lang="en-US" sz="1300" b="1">
                <a:latin typeface="Times New Roman"/>
                <a:ea typeface="Times New Roman"/>
                <a:cs typeface="Times New Roman"/>
                <a:sym typeface="Times New Roman"/>
              </a:rPr>
              <a:t>5. Recoverability estimation (planned): </a:t>
            </a:r>
            <a:r>
              <a:rPr lang="en-US" sz="1300">
                <a:latin typeface="Times New Roman"/>
                <a:ea typeface="Times New Roman"/>
                <a:cs typeface="Times New Roman"/>
                <a:sym typeface="Times New Roman"/>
              </a:rPr>
              <a:t>grading rule from coverage, defect type and position; validation against expert-graded boards.</a:t>
            </a:r>
          </a:p>
          <a:p>
            <a:pPr marL="457200" lvl="0" indent="-330200" algn="l">
              <a:lnSpc>
                <a:spcPct val="112000"/>
              </a:lnSpc>
              <a:spcBef>
                <a:spcPts val="700"/>
              </a:spcBef>
              <a:spcAft>
                <a:spcPts val="0"/>
              </a:spcAft>
              <a:buSzPts val="1300"/>
              <a:buFont typeface="Times New Roman"/>
              <a:buChar char="●"/>
            </a:pPr>
            <a:r>
              <a:rPr lang="en-US" sz="1300" b="1">
                <a:latin typeface="Times New Roman"/>
                <a:ea typeface="Times New Roman"/>
                <a:cs typeface="Times New Roman"/>
                <a:sym typeface="Times New Roman"/>
              </a:rPr>
              <a:t>6. Training and evaluation (done): </a:t>
            </a:r>
            <a:r>
              <a:rPr lang="en-US" sz="1300">
                <a:latin typeface="Times New Roman"/>
                <a:ea typeface="Times New Roman"/>
                <a:cs typeface="Times New Roman"/>
                <a:sym typeface="Times New Roman"/>
              </a:rPr>
              <a:t>P, R, F1, mAP50, mAP50-95, ms per image; single-shot test on 12 unseen boards; YOLO11m vs YOLO11s.</a:t>
            </a:r>
          </a:p>
          <a:p>
            <a:pPr marL="457200" lvl="0" indent="-330200" algn="l">
              <a:lnSpc>
                <a:spcPct val="112000"/>
              </a:lnSpc>
              <a:spcBef>
                <a:spcPts val="700"/>
              </a:spcBef>
              <a:spcAft>
                <a:spcPts val="0"/>
              </a:spcAft>
              <a:buSzPts val="1300"/>
              <a:buFont typeface="Times New Roman"/>
              <a:buChar char="●"/>
            </a:pPr>
            <a:r>
              <a:rPr lang="en-US" sz="1300" b="1">
                <a:latin typeface="Times New Roman"/>
                <a:ea typeface="Times New Roman"/>
                <a:cs typeface="Times New Roman"/>
                <a:sym typeface="Times New Roman"/>
              </a:rPr>
              <a:t>7. Application (done): </a:t>
            </a:r>
            <a:r>
              <a:rPr lang="en-US" sz="1300">
                <a:latin typeface="Times New Roman"/>
                <a:ea typeface="Times New Roman"/>
                <a:cs typeface="Times New Roman"/>
                <a:sym typeface="Times New Roman"/>
              </a:rPr>
              <a:t>web interface with boxes, heatmap, per-class table, JSON report; deployable on Hugging Face Spaces.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5"/>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13</a:t>
            </a:fld>
            <a:endParaRPr/>
          </a:p>
        </p:txBody>
      </p:sp>
      <p:pic>
        <p:nvPicPr>
          <p:cNvPr id="243" name="Google Shape;243;p25"/>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44" name="Google Shape;244;p25"/>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45" name="Google Shape;245;p25"/>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46" name="Google Shape;246;p25"/>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47" name="Google Shape;247;p25"/>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49" name="Google Shape;249;p25"/>
          <p:cNvSpPr txBox="1"/>
          <p:nvPr/>
        </p:nvSpPr>
        <p:spPr>
          <a:xfrm>
            <a:off x="135690" y="234748"/>
            <a:ext cx="83151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TRAINING CONFIGURATION</a:t>
            </a:r>
            <a:endParaRPr sz="1400" b="0" i="0" u="none" strike="noStrike" cap="none">
              <a:solidFill>
                <a:srgbClr val="000000"/>
              </a:solidFill>
              <a:latin typeface="Arial"/>
              <a:ea typeface="Arial"/>
              <a:cs typeface="Arial"/>
              <a:sym typeface="Arial"/>
            </a:endParaRPr>
          </a:p>
        </p:txBody>
      </p:sp>
      <p:graphicFrame>
        <p:nvGraphicFramePr>
          <p:cNvPr id="250" name="Table 249"/>
          <p:cNvGraphicFramePr>
            <a:graphicFrameLocks noGrp="1"/>
          </p:cNvGraphicFramePr>
          <p:nvPr/>
        </p:nvGraphicFramePr>
        <p:xfrm>
          <a:off x="274320" y="914400"/>
          <a:ext cx="7955280" cy="32918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tblGrid>
              <a:tr h="365760">
                <a:tc>
                  <a:txBody>
                    <a:bodyPr/>
                    <a:lstStyle/>
                    <a:p>
                      <a:pPr algn="l"/>
                      <a:r>
                        <a:rPr sz="1050" b="1">
                          <a:solidFill>
                            <a:srgbClr val="FFFFFF"/>
                          </a:solidFill>
                          <a:latin typeface="Times New Roman"/>
                        </a:rPr>
                        <a:t>Setting</a:t>
                      </a:r>
                    </a:p>
                  </a:txBody>
                  <a:tcPr marL="36576" marR="36576" marT="18288" marB="18288">
                    <a:solidFill>
                      <a:srgbClr val="41534B"/>
                    </a:solidFill>
                  </a:tcPr>
                </a:tc>
                <a:tc>
                  <a:txBody>
                    <a:bodyPr/>
                    <a:lstStyle/>
                    <a:p>
                      <a:pPr algn="ctr"/>
                      <a:r>
                        <a:rPr sz="1050" b="1">
                          <a:solidFill>
                            <a:srgbClr val="FFFFFF"/>
                          </a:solidFill>
                          <a:latin typeface="Times New Roman"/>
                        </a:rPr>
                        <a:t>Value (identical for YOLO11m and YOLO11s)</a:t>
                      </a:r>
                    </a:p>
                  </a:txBody>
                  <a:tcPr marL="36576" marR="36576" marT="18288" marB="18288">
                    <a:solidFill>
                      <a:srgbClr val="41534B"/>
                    </a:solidFill>
                  </a:tcPr>
                </a:tc>
                <a:extLst>
                  <a:ext uri="{0D108BD9-81ED-4DB2-BD59-A6C34878D82A}">
                    <a16:rowId xmlns:a16="http://schemas.microsoft.com/office/drawing/2014/main" val="10000"/>
                  </a:ext>
                </a:extLst>
              </a:tr>
              <a:tr h="365760">
                <a:tc>
                  <a:txBody>
                    <a:bodyPr/>
                    <a:lstStyle/>
                    <a:p>
                      <a:pPr algn="l"/>
                      <a:r>
                        <a:rPr sz="1050" b="0">
                          <a:latin typeface="Times New Roman"/>
                        </a:rPr>
                        <a:t>Pretrained weights</a:t>
                      </a:r>
                    </a:p>
                  </a:txBody>
                  <a:tcPr marL="36576" marR="36576" marT="18288" marB="18288">
                    <a:solidFill>
                      <a:srgbClr val="F7F3EC"/>
                    </a:solidFill>
                  </a:tcPr>
                </a:tc>
                <a:tc>
                  <a:txBody>
                    <a:bodyPr/>
                    <a:lstStyle/>
                    <a:p>
                      <a:pPr algn="ctr"/>
                      <a:r>
                        <a:rPr sz="1050" b="0">
                          <a:latin typeface="Times New Roman"/>
                        </a:rPr>
                        <a:t>COCO yolo11m.pt (20.0 M params, 68 GFLOPs) / yolo11s.pt (9.4 M, 21 GFLOPs)</a:t>
                      </a:r>
                    </a:p>
                  </a:txBody>
                  <a:tcPr marL="36576" marR="36576" marT="18288" marB="18288">
                    <a:solidFill>
                      <a:srgbClr val="F7F3EC"/>
                    </a:solidFill>
                  </a:tcPr>
                </a:tc>
                <a:extLst>
                  <a:ext uri="{0D108BD9-81ED-4DB2-BD59-A6C34878D82A}">
                    <a16:rowId xmlns:a16="http://schemas.microsoft.com/office/drawing/2014/main" val="10001"/>
                  </a:ext>
                </a:extLst>
              </a:tr>
              <a:tr h="365760">
                <a:tc>
                  <a:txBody>
                    <a:bodyPr/>
                    <a:lstStyle/>
                    <a:p>
                      <a:pPr algn="l"/>
                      <a:r>
                        <a:rPr sz="1050" b="0">
                          <a:latin typeface="Times New Roman"/>
                        </a:rPr>
                        <a:t>Input</a:t>
                      </a:r>
                    </a:p>
                  </a:txBody>
                  <a:tcPr marL="36576" marR="36576" marT="18288" marB="18288">
                    <a:solidFill>
                      <a:srgbClr val="FFFFFF"/>
                    </a:solidFill>
                  </a:tcPr>
                </a:tc>
                <a:tc>
                  <a:txBody>
                    <a:bodyPr/>
                    <a:lstStyle/>
                    <a:p>
                      <a:pPr algn="ctr"/>
                      <a:r>
                        <a:rPr sz="1050" b="0">
                          <a:latin typeface="Times New Roman"/>
                        </a:rPr>
                        <a:t>imgsz 1024, rectangular batches (effective 1024 x 384)</a:t>
                      </a:r>
                    </a:p>
                  </a:txBody>
                  <a:tcPr marL="36576" marR="36576" marT="18288" marB="18288">
                    <a:solidFill>
                      <a:srgbClr val="FFFFFF"/>
                    </a:solidFill>
                  </a:tcPr>
                </a:tc>
                <a:extLst>
                  <a:ext uri="{0D108BD9-81ED-4DB2-BD59-A6C34878D82A}">
                    <a16:rowId xmlns:a16="http://schemas.microsoft.com/office/drawing/2014/main" val="10002"/>
                  </a:ext>
                </a:extLst>
              </a:tr>
              <a:tr h="365760">
                <a:tc>
                  <a:txBody>
                    <a:bodyPr/>
                    <a:lstStyle/>
                    <a:p>
                      <a:pPr algn="l"/>
                      <a:r>
                        <a:rPr sz="1050" b="0">
                          <a:latin typeface="Times New Roman"/>
                        </a:rPr>
                        <a:t>Optimiser / schedule</a:t>
                      </a:r>
                    </a:p>
                  </a:txBody>
                  <a:tcPr marL="36576" marR="36576" marT="18288" marB="18288">
                    <a:solidFill>
                      <a:srgbClr val="F7F3EC"/>
                    </a:solidFill>
                  </a:tcPr>
                </a:tc>
                <a:tc>
                  <a:txBody>
                    <a:bodyPr/>
                    <a:lstStyle/>
                    <a:p>
                      <a:pPr algn="ctr"/>
                      <a:r>
                        <a:rPr sz="1050" b="0">
                          <a:latin typeface="Times New Roman"/>
                        </a:rPr>
                        <a:t>AdamW, lr0 0.001, lrf 0.01, cosine, 3 warm-up epochs, weight decay 5e-4</a:t>
                      </a:r>
                    </a:p>
                  </a:txBody>
                  <a:tcPr marL="36576" marR="36576" marT="18288" marB="18288">
                    <a:solidFill>
                      <a:srgbClr val="F7F3EC"/>
                    </a:solidFill>
                  </a:tcPr>
                </a:tc>
                <a:extLst>
                  <a:ext uri="{0D108BD9-81ED-4DB2-BD59-A6C34878D82A}">
                    <a16:rowId xmlns:a16="http://schemas.microsoft.com/office/drawing/2014/main" val="10003"/>
                  </a:ext>
                </a:extLst>
              </a:tr>
              <a:tr h="365760">
                <a:tc>
                  <a:txBody>
                    <a:bodyPr/>
                    <a:lstStyle/>
                    <a:p>
                      <a:pPr algn="l"/>
                      <a:r>
                        <a:rPr sz="1050" b="0">
                          <a:latin typeface="Times New Roman"/>
                        </a:rPr>
                        <a:t>Batch / epochs / patience</a:t>
                      </a:r>
                    </a:p>
                  </a:txBody>
                  <a:tcPr marL="36576" marR="36576" marT="18288" marB="18288">
                    <a:solidFill>
                      <a:srgbClr val="FFFFFF"/>
                    </a:solidFill>
                  </a:tcPr>
                </a:tc>
                <a:tc>
                  <a:txBody>
                    <a:bodyPr/>
                    <a:lstStyle/>
                    <a:p>
                      <a:pPr algn="ctr"/>
                      <a:r>
                        <a:rPr sz="1050" b="0">
                          <a:latin typeface="Times New Roman"/>
                        </a:rPr>
                        <a:t>32 / 100 / 40 (early stopping on validation)</a:t>
                      </a:r>
                    </a:p>
                  </a:txBody>
                  <a:tcPr marL="36576" marR="36576" marT="18288" marB="18288">
                    <a:solidFill>
                      <a:srgbClr val="FFFFFF"/>
                    </a:solidFill>
                  </a:tcPr>
                </a:tc>
                <a:extLst>
                  <a:ext uri="{0D108BD9-81ED-4DB2-BD59-A6C34878D82A}">
                    <a16:rowId xmlns:a16="http://schemas.microsoft.com/office/drawing/2014/main" val="10004"/>
                  </a:ext>
                </a:extLst>
              </a:tr>
              <a:tr h="365760">
                <a:tc>
                  <a:txBody>
                    <a:bodyPr/>
                    <a:lstStyle/>
                    <a:p>
                      <a:pPr algn="l"/>
                      <a:r>
                        <a:rPr sz="1050" b="0">
                          <a:latin typeface="Times New Roman"/>
                        </a:rPr>
                        <a:t>Loss gains</a:t>
                      </a:r>
                    </a:p>
                  </a:txBody>
                  <a:tcPr marL="36576" marR="36576" marT="18288" marB="18288">
                    <a:solidFill>
                      <a:srgbClr val="F7F3EC"/>
                    </a:solidFill>
                  </a:tcPr>
                </a:tc>
                <a:tc>
                  <a:txBody>
                    <a:bodyPr/>
                    <a:lstStyle/>
                    <a:p>
                      <a:pPr algn="ctr"/>
                      <a:r>
                        <a:rPr sz="1050" b="0">
                          <a:latin typeface="Times New Roman"/>
                        </a:rPr>
                        <a:t>cls 1.0, box 7.5, dfl 1.5</a:t>
                      </a:r>
                    </a:p>
                  </a:txBody>
                  <a:tcPr marL="36576" marR="36576" marT="18288" marB="18288">
                    <a:solidFill>
                      <a:srgbClr val="F7F3EC"/>
                    </a:solidFill>
                  </a:tcPr>
                </a:tc>
                <a:extLst>
                  <a:ext uri="{0D108BD9-81ED-4DB2-BD59-A6C34878D82A}">
                    <a16:rowId xmlns:a16="http://schemas.microsoft.com/office/drawing/2014/main" val="10005"/>
                  </a:ext>
                </a:extLst>
              </a:tr>
              <a:tr h="365760">
                <a:tc>
                  <a:txBody>
                    <a:bodyPr/>
                    <a:lstStyle/>
                    <a:p>
                      <a:pPr algn="l"/>
                      <a:r>
                        <a:rPr sz="1050" b="0">
                          <a:latin typeface="Times New Roman"/>
                        </a:rPr>
                        <a:t>Augmentation</a:t>
                      </a:r>
                    </a:p>
                  </a:txBody>
                  <a:tcPr marL="36576" marR="36576" marT="18288" marB="18288">
                    <a:solidFill>
                      <a:srgbClr val="FFFFFF"/>
                    </a:solidFill>
                  </a:tcPr>
                </a:tc>
                <a:tc>
                  <a:txBody>
                    <a:bodyPr/>
                    <a:lstStyle/>
                    <a:p>
                      <a:pPr algn="ctr"/>
                      <a:r>
                        <a:rPr sz="1050" b="0">
                          <a:latin typeface="Times New Roman"/>
                        </a:rPr>
                        <a:t>hsv 0.01 / 0.3 / 0.2, translate 0.08, scale 0.3, fliplr 0.5, degrees 0, flipud 0, mosaic 0, erasing 0.05</a:t>
                      </a:r>
                    </a:p>
                  </a:txBody>
                  <a:tcPr marL="36576" marR="36576" marT="18288" marB="18288">
                    <a:solidFill>
                      <a:srgbClr val="FFFFFF"/>
                    </a:solidFill>
                  </a:tcPr>
                </a:tc>
                <a:extLst>
                  <a:ext uri="{0D108BD9-81ED-4DB2-BD59-A6C34878D82A}">
                    <a16:rowId xmlns:a16="http://schemas.microsoft.com/office/drawing/2014/main" val="10006"/>
                  </a:ext>
                </a:extLst>
              </a:tr>
              <a:tr h="365760">
                <a:tc>
                  <a:txBody>
                    <a:bodyPr/>
                    <a:lstStyle/>
                    <a:p>
                      <a:pPr algn="l"/>
                      <a:r>
                        <a:rPr sz="1050" b="0">
                          <a:latin typeface="Times New Roman"/>
                        </a:rPr>
                        <a:t>Reproducibility</a:t>
                      </a:r>
                    </a:p>
                  </a:txBody>
                  <a:tcPr marL="36576" marR="36576" marT="18288" marB="18288">
                    <a:solidFill>
                      <a:srgbClr val="F7F3EC"/>
                    </a:solidFill>
                  </a:tcPr>
                </a:tc>
                <a:tc>
                  <a:txBody>
                    <a:bodyPr/>
                    <a:lstStyle/>
                    <a:p>
                      <a:pPr algn="ctr"/>
                      <a:r>
                        <a:rPr sz="1050" b="0">
                          <a:latin typeface="Times New Roman"/>
                        </a:rPr>
                        <a:t>seed 42, deterministic; configuration and results logged per run</a:t>
                      </a:r>
                    </a:p>
                  </a:txBody>
                  <a:tcPr marL="36576" marR="36576" marT="18288" marB="18288">
                    <a:solidFill>
                      <a:srgbClr val="F7F3EC"/>
                    </a:solidFill>
                  </a:tcPr>
                </a:tc>
                <a:extLst>
                  <a:ext uri="{0D108BD9-81ED-4DB2-BD59-A6C34878D82A}">
                    <a16:rowId xmlns:a16="http://schemas.microsoft.com/office/drawing/2014/main" val="10007"/>
                  </a:ext>
                </a:extLst>
              </a:tr>
              <a:tr h="365760">
                <a:tc>
                  <a:txBody>
                    <a:bodyPr/>
                    <a:lstStyle/>
                    <a:p>
                      <a:pPr algn="l"/>
                      <a:r>
                        <a:rPr sz="1050" b="0">
                          <a:latin typeface="Times New Roman"/>
                        </a:rPr>
                        <a:t>Model selection / test</a:t>
                      </a:r>
                    </a:p>
                  </a:txBody>
                  <a:tcPr marL="36576" marR="36576" marT="18288" marB="18288">
                    <a:solidFill>
                      <a:srgbClr val="FFFFFF"/>
                    </a:solidFill>
                  </a:tcPr>
                </a:tc>
                <a:tc>
                  <a:txBody>
                    <a:bodyPr/>
                    <a:lstStyle/>
                    <a:p>
                      <a:pPr algn="ctr"/>
                      <a:r>
                        <a:rPr sz="1050" b="0">
                          <a:latin typeface="Times New Roman"/>
                        </a:rPr>
                        <a:t>best.pt by validation fitness; test split evaluated once per model (conf 0.001, NMS IoU 0.6)</a:t>
                      </a:r>
                    </a:p>
                  </a:txBody>
                  <a:tcPr marL="36576" marR="36576" marT="18288" marB="18288">
                    <a:solidFill>
                      <a:srgbClr val="FFFFFF"/>
                    </a:solidFill>
                  </a:tcPr>
                </a:tc>
                <a:extLst>
                  <a:ext uri="{0D108BD9-81ED-4DB2-BD59-A6C34878D82A}">
                    <a16:rowId xmlns:a16="http://schemas.microsoft.com/office/drawing/2014/main" val="10008"/>
                  </a:ext>
                </a:extLst>
              </a:tr>
            </a:tbl>
          </a:graphicData>
        </a:graphic>
      </p:graphicFrame>
      <p:sp>
        <p:nvSpPr>
          <p:cNvPr id="251" name="TextBox 250"/>
          <p:cNvSpPr txBox="1"/>
          <p:nvPr/>
        </p:nvSpPr>
        <p:spPr>
          <a:xfrm>
            <a:off x="274320" y="4434840"/>
            <a:ext cx="7955279" cy="1737360"/>
          </a:xfrm>
          <a:prstGeom prst="rect">
            <a:avLst/>
          </a:prstGeom>
          <a:noFill/>
        </p:spPr>
        <p:txBody>
          <a:bodyPr wrap="square">
            <a:spAutoFit/>
          </a:bodyPr>
          <a:lstStyle/>
          <a:p>
            <a:pPr marL="457200" lvl="0" indent="-330200" algn="l">
              <a:lnSpc>
                <a:spcPct val="110000"/>
              </a:lnSpc>
              <a:spcBef>
                <a:spcPts val="400"/>
              </a:spcBef>
              <a:spcAft>
                <a:spcPts val="0"/>
              </a:spcAft>
              <a:buSzPts val="1200"/>
              <a:buFont typeface="Times New Roman"/>
              <a:buChar char="●"/>
            </a:pPr>
            <a:r>
              <a:rPr lang="en-US" sz="1200" b="1">
                <a:latin typeface="Times New Roman"/>
                <a:ea typeface="Times New Roman"/>
                <a:cs typeface="Times New Roman"/>
                <a:sym typeface="Times New Roman"/>
              </a:rPr>
              <a:t>Compute: </a:t>
            </a:r>
            <a:r>
              <a:rPr lang="en-US" sz="1200">
                <a:latin typeface="Times New Roman"/>
                <a:ea typeface="Times New Roman"/>
                <a:cs typeface="Times New Roman"/>
                <a:sym typeface="Times New Roman"/>
              </a:rPr>
              <a:t>Kaggle, one NVIDIA Tesla T4 (15 GB). Multi-GPU was rejected because the framework disables rectangular batching under DDP. YOLO11m: about 2.6 GPU-hours per 100 epochs; YOLO11s: 1.4. Total used: 6.8 of 30 weekly hours.</a:t>
            </a:r>
          </a:p>
          <a:p>
            <a:pPr marL="457200" lvl="0" indent="-330200" algn="l">
              <a:lnSpc>
                <a:spcPct val="110000"/>
              </a:lnSpc>
              <a:spcBef>
                <a:spcPts val="400"/>
              </a:spcBef>
              <a:spcAft>
                <a:spcPts val="0"/>
              </a:spcAft>
              <a:buSzPts val="1200"/>
              <a:buFont typeface="Times New Roman"/>
              <a:buChar char="●"/>
            </a:pPr>
            <a:r>
              <a:rPr lang="en-US" sz="1200" b="1">
                <a:latin typeface="Times New Roman"/>
                <a:ea typeface="Times New Roman"/>
                <a:cs typeface="Times New Roman"/>
                <a:sym typeface="Times New Roman"/>
              </a:rPr>
              <a:t>Software: </a:t>
            </a:r>
            <a:r>
              <a:rPr lang="en-US" sz="1200">
                <a:latin typeface="Times New Roman"/>
                <a:ea typeface="Times New Roman"/>
                <a:cs typeface="Times New Roman"/>
                <a:sym typeface="Times New Roman"/>
              </a:rPr>
              <a:t>Python 3.12, PyTorch 2.10, Ultralytics 8.4.142, OpenCV, Gradio. Scripts: prepare_dataset.py, train_yolo11m.py, evaluate.py, app.py; decision log in NOTES.md; all results version-controlled.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6"/>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14</a:t>
            </a:fld>
            <a:endParaRPr/>
          </a:p>
        </p:txBody>
      </p:sp>
      <p:sp>
        <p:nvSpPr>
          <p:cNvPr id="255" name="Google Shape;255;p26"/>
          <p:cNvSpPr txBox="1"/>
          <p:nvPr/>
        </p:nvSpPr>
        <p:spPr>
          <a:xfrm>
            <a:off x="914400" y="5973482"/>
            <a:ext cx="73152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Fig. System design as implemented at the 50% review</a:t>
            </a:r>
            <a:endParaRPr sz="1400" b="0" i="0" u="none" strike="noStrike" cap="none">
              <a:solidFill>
                <a:srgbClr val="000000"/>
              </a:solidFill>
              <a:latin typeface="Arial"/>
              <a:ea typeface="Arial"/>
              <a:cs typeface="Arial"/>
              <a:sym typeface="Arial"/>
            </a:endParaRPr>
          </a:p>
        </p:txBody>
      </p:sp>
      <p:pic>
        <p:nvPicPr>
          <p:cNvPr id="257" name="Google Shape;257;p26"/>
          <p:cNvPicPr preferRelativeResize="0"/>
          <p:nvPr/>
        </p:nvPicPr>
        <p:blipFill rotWithShape="1">
          <a:blip r:embed="rId3">
            <a:alphaModFix/>
          </a:blip>
          <a:srcRect/>
          <a:stretch/>
        </p:blipFill>
        <p:spPr>
          <a:xfrm>
            <a:off x="8450861" y="6157980"/>
            <a:ext cx="680353" cy="703613"/>
          </a:xfrm>
          <a:prstGeom prst="rect">
            <a:avLst/>
          </a:prstGeom>
          <a:noFill/>
          <a:ln>
            <a:noFill/>
          </a:ln>
        </p:spPr>
      </p:pic>
      <p:sp>
        <p:nvSpPr>
          <p:cNvPr id="258" name="Google Shape;258;p26"/>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59" name="Google Shape;259;p26"/>
          <p:cNvPicPr preferRelativeResize="0"/>
          <p:nvPr/>
        </p:nvPicPr>
        <p:blipFill rotWithShape="1">
          <a:blip r:embed="rId4">
            <a:alphaModFix/>
          </a:blip>
          <a:srcRect/>
          <a:stretch/>
        </p:blipFill>
        <p:spPr>
          <a:xfrm>
            <a:off x="8450861" y="1377538"/>
            <a:ext cx="677790" cy="1129400"/>
          </a:xfrm>
          <a:prstGeom prst="rect">
            <a:avLst/>
          </a:prstGeom>
          <a:noFill/>
          <a:ln>
            <a:noFill/>
          </a:ln>
        </p:spPr>
      </p:pic>
      <p:pic>
        <p:nvPicPr>
          <p:cNvPr id="260" name="Google Shape;260;p26"/>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61" name="Google Shape;261;p26"/>
          <p:cNvPicPr preferRelativeResize="0"/>
          <p:nvPr/>
        </p:nvPicPr>
        <p:blipFill rotWithShape="1">
          <a:blip r:embed="rId6">
            <a:alphaModFix/>
          </a:blip>
          <a:srcRect/>
          <a:stretch/>
        </p:blipFill>
        <p:spPr>
          <a:xfrm>
            <a:off x="8450860" y="2542563"/>
            <a:ext cx="693139" cy="1233357"/>
          </a:xfrm>
          <a:prstGeom prst="rect">
            <a:avLst/>
          </a:prstGeom>
          <a:noFill/>
          <a:ln>
            <a:noFill/>
          </a:ln>
        </p:spPr>
      </p:pic>
      <p:pic>
        <p:nvPicPr>
          <p:cNvPr id="262" name="Picture 261" descr="system_design_50.png"/>
          <p:cNvPicPr>
            <a:picLocks noChangeAspect="1"/>
          </p:cNvPicPr>
          <p:nvPr/>
        </p:nvPicPr>
        <p:blipFill>
          <a:blip r:embed="rId7"/>
          <a:stretch>
            <a:fillRect/>
          </a:stretch>
        </p:blipFill>
        <p:spPr>
          <a:xfrm>
            <a:off x="1298625" y="413281"/>
            <a:ext cx="6005525" cy="529021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7"/>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RESULTS: TRAINING RUNS</a:t>
            </a:r>
            <a:endParaRPr sz="1400" b="0" i="0" u="none" strike="noStrike" cap="none">
              <a:solidFill>
                <a:srgbClr val="000000"/>
              </a:solidFill>
              <a:latin typeface="Arial"/>
              <a:ea typeface="Arial"/>
              <a:cs typeface="Arial"/>
              <a:sym typeface="Arial"/>
            </a:endParaRPr>
          </a:p>
        </p:txBody>
      </p:sp>
      <p:sp>
        <p:nvSpPr>
          <p:cNvPr id="267" name="Google Shape;267;p27"/>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15</a:t>
            </a:fld>
            <a:endParaRPr/>
          </a:p>
        </p:txBody>
      </p:sp>
      <p:pic>
        <p:nvPicPr>
          <p:cNvPr id="268" name="Google Shape;268;p27"/>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69" name="Google Shape;269;p27"/>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70" name="Google Shape;270;p27"/>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71" name="Google Shape;271;p27"/>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72" name="Google Shape;272;p27"/>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graphicFrame>
        <p:nvGraphicFramePr>
          <p:cNvPr id="273" name="Table 272"/>
          <p:cNvGraphicFramePr>
            <a:graphicFrameLocks noGrp="1"/>
          </p:cNvGraphicFramePr>
          <p:nvPr/>
        </p:nvGraphicFramePr>
        <p:xfrm>
          <a:off x="274320" y="777240"/>
          <a:ext cx="7955280" cy="1335786"/>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tblGrid>
              <a:tr h="331470">
                <a:tc>
                  <a:txBody>
                    <a:bodyPr/>
                    <a:lstStyle/>
                    <a:p>
                      <a:pPr algn="l"/>
                      <a:r>
                        <a:rPr sz="1000" b="1">
                          <a:solidFill>
                            <a:srgbClr val="FFFFFF"/>
                          </a:solidFill>
                          <a:latin typeface="Times New Roman"/>
                        </a:rPr>
                        <a:t>Run</a:t>
                      </a:r>
                    </a:p>
                  </a:txBody>
                  <a:tcPr marL="36576" marR="36576" marT="18288" marB="18288">
                    <a:solidFill>
                      <a:srgbClr val="41534B"/>
                    </a:solidFill>
                  </a:tcPr>
                </a:tc>
                <a:tc>
                  <a:txBody>
                    <a:bodyPr/>
                    <a:lstStyle/>
                    <a:p>
                      <a:pPr algn="ctr"/>
                      <a:r>
                        <a:rPr sz="1000" b="1">
                          <a:solidFill>
                            <a:srgbClr val="FFFFFF"/>
                          </a:solidFill>
                          <a:latin typeface="Times New Roman"/>
                        </a:rPr>
                        <a:t>Model</a:t>
                      </a:r>
                    </a:p>
                  </a:txBody>
                  <a:tcPr marL="36576" marR="36576" marT="18288" marB="18288">
                    <a:solidFill>
                      <a:srgbClr val="41534B"/>
                    </a:solidFill>
                  </a:tcPr>
                </a:tc>
                <a:tc>
                  <a:txBody>
                    <a:bodyPr/>
                    <a:lstStyle/>
                    <a:p>
                      <a:pPr algn="ctr"/>
                      <a:r>
                        <a:rPr sz="1000" b="1">
                          <a:solidFill>
                            <a:srgbClr val="FFFFFF"/>
                          </a:solidFill>
                          <a:latin typeface="Times New Roman"/>
                        </a:rPr>
                        <a:t>Settings</a:t>
                      </a:r>
                    </a:p>
                  </a:txBody>
                  <a:tcPr marL="36576" marR="36576" marT="18288" marB="18288">
                    <a:solidFill>
                      <a:srgbClr val="41534B"/>
                    </a:solidFill>
                  </a:tcPr>
                </a:tc>
                <a:tc>
                  <a:txBody>
                    <a:bodyPr/>
                    <a:lstStyle/>
                    <a:p>
                      <a:pPr algn="ctr"/>
                      <a:r>
                        <a:rPr sz="1000" b="1">
                          <a:solidFill>
                            <a:srgbClr val="FFFFFF"/>
                          </a:solidFill>
                          <a:latin typeface="Times New Roman"/>
                        </a:rPr>
                        <a:t>Epochs / GPU time</a:t>
                      </a:r>
                    </a:p>
                  </a:txBody>
                  <a:tcPr marL="36576" marR="36576" marT="18288" marB="18288">
                    <a:solidFill>
                      <a:srgbClr val="41534B"/>
                    </a:solidFill>
                  </a:tcPr>
                </a:tc>
                <a:tc>
                  <a:txBody>
                    <a:bodyPr/>
                    <a:lstStyle/>
                    <a:p>
                      <a:pPr algn="ctr"/>
                      <a:r>
                        <a:rPr sz="1000" b="1">
                          <a:solidFill>
                            <a:srgbClr val="FFFFFF"/>
                          </a:solidFill>
                          <a:latin typeface="Times New Roman"/>
                        </a:rPr>
                        <a:t>Best epoch</a:t>
                      </a:r>
                    </a:p>
                  </a:txBody>
                  <a:tcPr marL="36576" marR="36576" marT="18288" marB="18288">
                    <a:solidFill>
                      <a:srgbClr val="41534B"/>
                    </a:solidFill>
                  </a:tcPr>
                </a:tc>
                <a:tc>
                  <a:txBody>
                    <a:bodyPr/>
                    <a:lstStyle/>
                    <a:p>
                      <a:pPr algn="ctr"/>
                      <a:r>
                        <a:rPr sz="1000" b="1">
                          <a:solidFill>
                            <a:srgbClr val="FFFFFF"/>
                          </a:solidFill>
                          <a:latin typeface="Times New Roman"/>
                        </a:rPr>
                        <a:t>Val mAP50</a:t>
                      </a:r>
                    </a:p>
                  </a:txBody>
                  <a:tcPr marL="36576" marR="36576" marT="18288" marB="18288">
                    <a:solidFill>
                      <a:srgbClr val="41534B"/>
                    </a:solidFill>
                  </a:tcPr>
                </a:tc>
                <a:tc>
                  <a:txBody>
                    <a:bodyPr/>
                    <a:lstStyle/>
                    <a:p>
                      <a:pPr algn="ctr"/>
                      <a:r>
                        <a:rPr sz="1000" b="1">
                          <a:solidFill>
                            <a:srgbClr val="FFFFFF"/>
                          </a:solidFill>
                          <a:latin typeface="Times New Roman"/>
                        </a:rPr>
                        <a:t>Val mAP50-95</a:t>
                      </a:r>
                    </a:p>
                  </a:txBody>
                  <a:tcPr marL="36576" marR="36576" marT="18288" marB="18288">
                    <a:solidFill>
                      <a:srgbClr val="41534B"/>
                    </a:solidFill>
                  </a:tcPr>
                </a:tc>
                <a:extLst>
                  <a:ext uri="{0D108BD9-81ED-4DB2-BD59-A6C34878D82A}">
                    <a16:rowId xmlns:a16="http://schemas.microsoft.com/office/drawing/2014/main" val="10000"/>
                  </a:ext>
                </a:extLst>
              </a:tr>
              <a:tr h="331470">
                <a:tc>
                  <a:txBody>
                    <a:bodyPr/>
                    <a:lstStyle/>
                    <a:p>
                      <a:pPr algn="l"/>
                      <a:r>
                        <a:rPr sz="1000" b="0">
                          <a:latin typeface="Times New Roman"/>
                        </a:rPr>
                        <a:t>1</a:t>
                      </a:r>
                    </a:p>
                  </a:txBody>
                  <a:tcPr marL="36576" marR="36576" marT="18288" marB="18288">
                    <a:solidFill>
                      <a:srgbClr val="F7F3EC"/>
                    </a:solidFill>
                  </a:tcPr>
                </a:tc>
                <a:tc>
                  <a:txBody>
                    <a:bodyPr/>
                    <a:lstStyle/>
                    <a:p>
                      <a:pPr algn="ctr"/>
                      <a:r>
                        <a:rPr sz="1000" b="0">
                          <a:latin typeface="Times New Roman"/>
                        </a:rPr>
                        <a:t>YOLO11m</a:t>
                      </a:r>
                    </a:p>
                  </a:txBody>
                  <a:tcPr marL="36576" marR="36576" marT="18288" marB="18288">
                    <a:solidFill>
                      <a:srgbClr val="F7F3EC"/>
                    </a:solidFill>
                  </a:tcPr>
                </a:tc>
                <a:tc>
                  <a:txBody>
                    <a:bodyPr/>
                    <a:lstStyle/>
                    <a:p>
                      <a:pPr algn="ctr"/>
                      <a:r>
                        <a:rPr sz="1000" b="0">
                          <a:latin typeface="Times New Roman"/>
                        </a:rPr>
                        <a:t>batch 16, lr0 0.002, patience 25</a:t>
                      </a:r>
                    </a:p>
                  </a:txBody>
                  <a:tcPr marL="36576" marR="36576" marT="18288" marB="18288">
                    <a:solidFill>
                      <a:srgbClr val="F7F3EC"/>
                    </a:solidFill>
                  </a:tcPr>
                </a:tc>
                <a:tc>
                  <a:txBody>
                    <a:bodyPr/>
                    <a:lstStyle/>
                    <a:p>
                      <a:pPr algn="ctr"/>
                      <a:r>
                        <a:rPr sz="1000" b="0">
                          <a:latin typeface="Times New Roman"/>
                        </a:rPr>
                        <a:t>89 (early stop) / 2.54 h</a:t>
                      </a:r>
                    </a:p>
                  </a:txBody>
                  <a:tcPr marL="36576" marR="36576" marT="18288" marB="18288">
                    <a:solidFill>
                      <a:srgbClr val="F7F3EC"/>
                    </a:solidFill>
                  </a:tcPr>
                </a:tc>
                <a:tc>
                  <a:txBody>
                    <a:bodyPr/>
                    <a:lstStyle/>
                    <a:p>
                      <a:pPr algn="ctr"/>
                      <a:r>
                        <a:rPr sz="1000" b="0">
                          <a:latin typeface="Times New Roman"/>
                        </a:rPr>
                        <a:t>64</a:t>
                      </a:r>
                    </a:p>
                  </a:txBody>
                  <a:tcPr marL="36576" marR="36576" marT="18288" marB="18288">
                    <a:solidFill>
                      <a:srgbClr val="F7F3EC"/>
                    </a:solidFill>
                  </a:tcPr>
                </a:tc>
                <a:tc>
                  <a:txBody>
                    <a:bodyPr/>
                    <a:lstStyle/>
                    <a:p>
                      <a:pPr algn="ctr"/>
                      <a:r>
                        <a:rPr sz="1000" b="0">
                          <a:latin typeface="Times New Roman"/>
                        </a:rPr>
                        <a:t>62.6</a:t>
                      </a:r>
                    </a:p>
                  </a:txBody>
                  <a:tcPr marL="36576" marR="36576" marT="18288" marB="18288">
                    <a:solidFill>
                      <a:srgbClr val="F7F3EC"/>
                    </a:solidFill>
                  </a:tcPr>
                </a:tc>
                <a:tc>
                  <a:txBody>
                    <a:bodyPr/>
                    <a:lstStyle/>
                    <a:p>
                      <a:pPr algn="ctr"/>
                      <a:r>
                        <a:rPr sz="1000" b="0">
                          <a:latin typeface="Times New Roman"/>
                        </a:rPr>
                        <a:t>33.7</a:t>
                      </a:r>
                    </a:p>
                  </a:txBody>
                  <a:tcPr marL="36576" marR="36576" marT="18288" marB="18288">
                    <a:solidFill>
                      <a:srgbClr val="F7F3EC"/>
                    </a:solidFill>
                  </a:tcPr>
                </a:tc>
                <a:extLst>
                  <a:ext uri="{0D108BD9-81ED-4DB2-BD59-A6C34878D82A}">
                    <a16:rowId xmlns:a16="http://schemas.microsoft.com/office/drawing/2014/main" val="10001"/>
                  </a:ext>
                </a:extLst>
              </a:tr>
              <a:tr h="331470">
                <a:tc>
                  <a:txBody>
                    <a:bodyPr/>
                    <a:lstStyle/>
                    <a:p>
                      <a:pPr algn="l"/>
                      <a:r>
                        <a:rPr sz="1000" b="0">
                          <a:latin typeface="Times New Roman"/>
                        </a:rPr>
                        <a:t>2</a:t>
                      </a:r>
                    </a:p>
                  </a:txBody>
                  <a:tcPr marL="36576" marR="36576" marT="18288" marB="18288">
                    <a:solidFill>
                      <a:srgbClr val="FFFFFF"/>
                    </a:solidFill>
                  </a:tcPr>
                </a:tc>
                <a:tc>
                  <a:txBody>
                    <a:bodyPr/>
                    <a:lstStyle/>
                    <a:p>
                      <a:pPr algn="ctr"/>
                      <a:r>
                        <a:rPr sz="1000" b="0">
                          <a:latin typeface="Times New Roman"/>
                        </a:rPr>
                        <a:t>YOLO11m</a:t>
                      </a:r>
                    </a:p>
                  </a:txBody>
                  <a:tcPr marL="36576" marR="36576" marT="18288" marB="18288">
                    <a:solidFill>
                      <a:srgbClr val="FFFFFF"/>
                    </a:solidFill>
                  </a:tcPr>
                </a:tc>
                <a:tc>
                  <a:txBody>
                    <a:bodyPr/>
                    <a:lstStyle/>
                    <a:p>
                      <a:pPr algn="ctr"/>
                      <a:r>
                        <a:rPr sz="1000" b="0">
                          <a:latin typeface="Times New Roman"/>
                        </a:rPr>
                        <a:t>batch 32, lr0 0.001, patience 40 (adopted)</a:t>
                      </a:r>
                    </a:p>
                  </a:txBody>
                  <a:tcPr marL="36576" marR="36576" marT="18288" marB="18288">
                    <a:solidFill>
                      <a:srgbClr val="FFFFFF"/>
                    </a:solidFill>
                  </a:tcPr>
                </a:tc>
                <a:tc>
                  <a:txBody>
                    <a:bodyPr/>
                    <a:lstStyle/>
                    <a:p>
                      <a:pPr algn="ctr"/>
                      <a:r>
                        <a:rPr sz="1000" b="0">
                          <a:latin typeface="Times New Roman"/>
                        </a:rPr>
                        <a:t>100 / 2.64 h</a:t>
                      </a:r>
                    </a:p>
                  </a:txBody>
                  <a:tcPr marL="36576" marR="36576" marT="18288" marB="18288">
                    <a:solidFill>
                      <a:srgbClr val="FFFFFF"/>
                    </a:solidFill>
                  </a:tcPr>
                </a:tc>
                <a:tc>
                  <a:txBody>
                    <a:bodyPr/>
                    <a:lstStyle/>
                    <a:p>
                      <a:pPr algn="ctr"/>
                      <a:r>
                        <a:rPr sz="1000" b="0">
                          <a:latin typeface="Times New Roman"/>
                        </a:rPr>
                        <a:t>73</a:t>
                      </a:r>
                    </a:p>
                  </a:txBody>
                  <a:tcPr marL="36576" marR="36576" marT="18288" marB="18288">
                    <a:solidFill>
                      <a:srgbClr val="FFFFFF"/>
                    </a:solidFill>
                  </a:tcPr>
                </a:tc>
                <a:tc>
                  <a:txBody>
                    <a:bodyPr/>
                    <a:lstStyle/>
                    <a:p>
                      <a:pPr algn="ctr"/>
                      <a:r>
                        <a:rPr sz="1000" b="0">
                          <a:latin typeface="Times New Roman"/>
                        </a:rPr>
                        <a:t>65.7</a:t>
                      </a:r>
                    </a:p>
                  </a:txBody>
                  <a:tcPr marL="36576" marR="36576" marT="18288" marB="18288">
                    <a:solidFill>
                      <a:srgbClr val="FFFFFF"/>
                    </a:solidFill>
                  </a:tcPr>
                </a:tc>
                <a:tc>
                  <a:txBody>
                    <a:bodyPr/>
                    <a:lstStyle/>
                    <a:p>
                      <a:pPr algn="ctr"/>
                      <a:r>
                        <a:rPr sz="1000" b="0">
                          <a:latin typeface="Times New Roman"/>
                        </a:rPr>
                        <a:t>36.2</a:t>
                      </a:r>
                    </a:p>
                  </a:txBody>
                  <a:tcPr marL="36576" marR="36576" marT="18288" marB="18288">
                    <a:solidFill>
                      <a:srgbClr val="FFFFFF"/>
                    </a:solidFill>
                  </a:tcPr>
                </a:tc>
                <a:extLst>
                  <a:ext uri="{0D108BD9-81ED-4DB2-BD59-A6C34878D82A}">
                    <a16:rowId xmlns:a16="http://schemas.microsoft.com/office/drawing/2014/main" val="10002"/>
                  </a:ext>
                </a:extLst>
              </a:tr>
              <a:tr h="331470">
                <a:tc>
                  <a:txBody>
                    <a:bodyPr/>
                    <a:lstStyle/>
                    <a:p>
                      <a:pPr algn="l"/>
                      <a:r>
                        <a:rPr sz="1000" b="0">
                          <a:latin typeface="Times New Roman"/>
                        </a:rPr>
                        <a:t>3</a:t>
                      </a:r>
                    </a:p>
                  </a:txBody>
                  <a:tcPr marL="36576" marR="36576" marT="18288" marB="18288">
                    <a:solidFill>
                      <a:srgbClr val="F7F3EC"/>
                    </a:solidFill>
                  </a:tcPr>
                </a:tc>
                <a:tc>
                  <a:txBody>
                    <a:bodyPr/>
                    <a:lstStyle/>
                    <a:p>
                      <a:pPr algn="ctr"/>
                      <a:r>
                        <a:rPr sz="1000" b="0">
                          <a:latin typeface="Times New Roman"/>
                        </a:rPr>
                        <a:t>YOLO11s</a:t>
                      </a:r>
                    </a:p>
                  </a:txBody>
                  <a:tcPr marL="36576" marR="36576" marT="18288" marB="18288">
                    <a:solidFill>
                      <a:srgbClr val="F7F3EC"/>
                    </a:solidFill>
                  </a:tcPr>
                </a:tc>
                <a:tc>
                  <a:txBody>
                    <a:bodyPr/>
                    <a:lstStyle/>
                    <a:p>
                      <a:pPr algn="ctr"/>
                      <a:r>
                        <a:rPr sz="1000" b="0">
                          <a:latin typeface="Times New Roman"/>
                        </a:rPr>
                        <a:t>as run 2</a:t>
                      </a:r>
                    </a:p>
                  </a:txBody>
                  <a:tcPr marL="36576" marR="36576" marT="18288" marB="18288">
                    <a:solidFill>
                      <a:srgbClr val="F7F3EC"/>
                    </a:solidFill>
                  </a:tcPr>
                </a:tc>
                <a:tc>
                  <a:txBody>
                    <a:bodyPr/>
                    <a:lstStyle/>
                    <a:p>
                      <a:pPr algn="ctr"/>
                      <a:r>
                        <a:rPr sz="1000" b="0">
                          <a:latin typeface="Times New Roman"/>
                        </a:rPr>
                        <a:t>90 (early stop) / 1.43 h</a:t>
                      </a:r>
                    </a:p>
                  </a:txBody>
                  <a:tcPr marL="36576" marR="36576" marT="18288" marB="18288">
                    <a:solidFill>
                      <a:srgbClr val="F7F3EC"/>
                    </a:solidFill>
                  </a:tcPr>
                </a:tc>
                <a:tc>
                  <a:txBody>
                    <a:bodyPr/>
                    <a:lstStyle/>
                    <a:p>
                      <a:pPr algn="ctr"/>
                      <a:r>
                        <a:rPr sz="1000" b="0">
                          <a:latin typeface="Times New Roman"/>
                        </a:rPr>
                        <a:t>50</a:t>
                      </a:r>
                    </a:p>
                  </a:txBody>
                  <a:tcPr marL="36576" marR="36576" marT="18288" marB="18288">
                    <a:solidFill>
                      <a:srgbClr val="F7F3EC"/>
                    </a:solidFill>
                  </a:tcPr>
                </a:tc>
                <a:tc>
                  <a:txBody>
                    <a:bodyPr/>
                    <a:lstStyle/>
                    <a:p>
                      <a:pPr algn="ctr"/>
                      <a:r>
                        <a:rPr sz="1000" b="0">
                          <a:latin typeface="Times New Roman"/>
                        </a:rPr>
                        <a:t>65.3</a:t>
                      </a:r>
                    </a:p>
                  </a:txBody>
                  <a:tcPr marL="36576" marR="36576" marT="18288" marB="18288">
                    <a:solidFill>
                      <a:srgbClr val="F7F3EC"/>
                    </a:solidFill>
                  </a:tcPr>
                </a:tc>
                <a:tc>
                  <a:txBody>
                    <a:bodyPr/>
                    <a:lstStyle/>
                    <a:p>
                      <a:pPr algn="ctr"/>
                      <a:r>
                        <a:rPr sz="1000" b="0">
                          <a:latin typeface="Times New Roman"/>
                        </a:rPr>
                        <a:t>36.0</a:t>
                      </a:r>
                    </a:p>
                  </a:txBody>
                  <a:tcPr marL="36576" marR="36576" marT="18288" marB="18288">
                    <a:solidFill>
                      <a:srgbClr val="F7F3EC"/>
                    </a:solidFill>
                  </a:tcPr>
                </a:tc>
                <a:extLst>
                  <a:ext uri="{0D108BD9-81ED-4DB2-BD59-A6C34878D82A}">
                    <a16:rowId xmlns:a16="http://schemas.microsoft.com/office/drawing/2014/main" val="10003"/>
                  </a:ext>
                </a:extLst>
              </a:tr>
            </a:tbl>
          </a:graphicData>
        </a:graphic>
      </p:graphicFrame>
      <p:pic>
        <p:nvPicPr>
          <p:cNvPr id="274" name="Picture 273" descr="results.png"/>
          <p:cNvPicPr>
            <a:picLocks noChangeAspect="1"/>
          </p:cNvPicPr>
          <p:nvPr/>
        </p:nvPicPr>
        <p:blipFill>
          <a:blip r:embed="rId7"/>
          <a:stretch>
            <a:fillRect/>
          </a:stretch>
        </p:blipFill>
        <p:spPr>
          <a:xfrm>
            <a:off x="274320" y="2354580"/>
            <a:ext cx="5120640" cy="2560320"/>
          </a:xfrm>
          <a:prstGeom prst="rect">
            <a:avLst/>
          </a:prstGeom>
        </p:spPr>
      </p:pic>
      <p:sp>
        <p:nvSpPr>
          <p:cNvPr id="275" name="TextBox 274"/>
          <p:cNvSpPr txBox="1"/>
          <p:nvPr/>
        </p:nvSpPr>
        <p:spPr>
          <a:xfrm>
            <a:off x="5486400" y="2240280"/>
            <a:ext cx="2834640" cy="3108960"/>
          </a:xfrm>
          <a:prstGeom prst="rect">
            <a:avLst/>
          </a:prstGeom>
          <a:noFill/>
        </p:spPr>
        <p:txBody>
          <a:bodyPr wrap="square">
            <a:spAutoFit/>
          </a:bodyPr>
          <a:lstStyle/>
          <a:p>
            <a:pPr marL="457200" lvl="0" indent="-330200" algn="l">
              <a:lnSpc>
                <a:spcPct val="108000"/>
              </a:lnSpc>
              <a:spcBef>
                <a:spcPts val="500"/>
              </a:spcBef>
              <a:spcAft>
                <a:spcPts val="0"/>
              </a:spcAft>
              <a:buSzPts val="1200"/>
              <a:buFont typeface="Times New Roman"/>
              <a:buChar char="●"/>
            </a:pPr>
            <a:r>
              <a:rPr lang="en-US" sz="1200">
                <a:latin typeface="Times New Roman"/>
                <a:ea typeface="Times New Roman"/>
                <a:cs typeface="Times New Roman"/>
                <a:sym typeface="Times New Roman"/>
              </a:rPr>
              <a:t>Run 1 showed an unstable validation curve (10-15 point drops in mAP50).</a:t>
            </a:r>
          </a:p>
          <a:p>
            <a:pPr marL="457200" lvl="0" indent="-330200" algn="l">
              <a:lnSpc>
                <a:spcPct val="108000"/>
              </a:lnSpc>
              <a:spcBef>
                <a:spcPts val="500"/>
              </a:spcBef>
              <a:spcAft>
                <a:spcPts val="0"/>
              </a:spcAft>
              <a:buSzPts val="1200"/>
              <a:buFont typeface="Times New Roman"/>
              <a:buChar char="●"/>
            </a:pPr>
            <a:r>
              <a:rPr lang="en-US" sz="1200">
                <a:latin typeface="Times New Roman"/>
                <a:ea typeface="Times New Roman"/>
                <a:cs typeface="Times New Roman"/>
                <a:sym typeface="Times New Roman"/>
              </a:rPr>
              <a:t>Batch 32 with lr0 0.001 and longer patience removed the instability and improved every class on validation; adopted for both models.</a:t>
            </a:r>
          </a:p>
          <a:p>
            <a:pPr marL="457200" lvl="0" indent="-330200" algn="l">
              <a:lnSpc>
                <a:spcPct val="108000"/>
              </a:lnSpc>
              <a:spcBef>
                <a:spcPts val="500"/>
              </a:spcBef>
              <a:spcAft>
                <a:spcPts val="0"/>
              </a:spcAft>
              <a:buSzPts val="1200"/>
              <a:buFont typeface="Times New Roman"/>
              <a:buChar char="●"/>
            </a:pPr>
            <a:r>
              <a:rPr lang="en-US" sz="1200">
                <a:latin typeface="Times New Roman"/>
                <a:ea typeface="Times New Roman"/>
                <a:cs typeface="Times New Roman"/>
                <a:sym typeface="Times New Roman"/>
              </a:rPr>
              <a:t>Decision made on validation only; the test split was not touched.</a:t>
            </a:r>
          </a:p>
          <a:p>
            <a:pPr marL="457200" lvl="0" indent="-330200" algn="l">
              <a:lnSpc>
                <a:spcPct val="108000"/>
              </a:lnSpc>
              <a:spcBef>
                <a:spcPts val="500"/>
              </a:spcBef>
              <a:spcAft>
                <a:spcPts val="0"/>
              </a:spcAft>
              <a:buSzPts val="1200"/>
              <a:buFont typeface="Times New Roman"/>
              <a:buChar char="●"/>
            </a:pPr>
            <a:r>
              <a:rPr lang="en-US" sz="1200">
                <a:latin typeface="Times New Roman"/>
                <a:ea typeface="Times New Roman"/>
                <a:cs typeface="Times New Roman"/>
                <a:sym typeface="Times New Roman"/>
              </a:rPr>
              <a:t>About 100 s per epoch on one T4.</a:t>
            </a:r>
          </a:p>
        </p:txBody>
      </p:sp>
      <p:sp>
        <p:nvSpPr>
          <p:cNvPr id="276" name="TextBox 275"/>
          <p:cNvSpPr txBox="1"/>
          <p:nvPr/>
        </p:nvSpPr>
        <p:spPr>
          <a:xfrm>
            <a:off x="274320" y="5074920"/>
            <a:ext cx="5120640" cy="320040"/>
          </a:xfrm>
          <a:prstGeom prst="rect">
            <a:avLst/>
          </a:prstGeom>
          <a:noFill/>
        </p:spPr>
        <p:txBody>
          <a:bodyPr wrap="none">
            <a:spAutoFit/>
          </a:bodyPr>
          <a:lstStyle/>
          <a:p>
            <a:pPr marL="0" lvl="0" indent="0" algn="ctr">
              <a:lnSpc>
                <a:spcPct val="115000"/>
              </a:lnSpc>
              <a:spcBef>
                <a:spcPts val="600"/>
              </a:spcBef>
              <a:spcAft>
                <a:spcPts val="0"/>
              </a:spcAft>
              <a:buNone/>
            </a:pPr>
            <a:r>
              <a:rPr lang="en-US" sz="1100">
                <a:latin typeface="Times New Roman"/>
                <a:ea typeface="Times New Roman"/>
                <a:cs typeface="Times New Roman"/>
                <a:sym typeface="Times New Roman"/>
              </a:rPr>
              <a:t>Fig. Training and validation curves, YOLO11m (adopted run 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8"/>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PLAN OF ACTION: PROGRESS</a:t>
            </a:r>
            <a:endParaRPr sz="1400" b="0" i="0" u="none" strike="noStrike" cap="none">
              <a:solidFill>
                <a:srgbClr val="000000"/>
              </a:solidFill>
              <a:latin typeface="Arial"/>
              <a:ea typeface="Arial"/>
              <a:cs typeface="Arial"/>
              <a:sym typeface="Arial"/>
            </a:endParaRPr>
          </a:p>
        </p:txBody>
      </p:sp>
      <p:sp>
        <p:nvSpPr>
          <p:cNvPr id="279" name="Google Shape;279;p28"/>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16</a:t>
            </a:fld>
            <a:endParaRPr/>
          </a:p>
        </p:txBody>
      </p:sp>
      <p:pic>
        <p:nvPicPr>
          <p:cNvPr id="280" name="Google Shape;280;p28"/>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81" name="Google Shape;281;p28"/>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82" name="Google Shape;282;p28"/>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83" name="Google Shape;283;p28"/>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84" name="Google Shape;284;p28"/>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85" name="Google Shape;285;p28"/>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pic>
        <p:nvPicPr>
          <p:cNvPr id="286" name="Picture 285" descr="plan_50.png"/>
          <p:cNvPicPr>
            <a:picLocks noChangeAspect="1"/>
          </p:cNvPicPr>
          <p:nvPr/>
        </p:nvPicPr>
        <p:blipFill>
          <a:blip r:embed="rId7"/>
          <a:stretch>
            <a:fillRect/>
          </a:stretch>
        </p:blipFill>
        <p:spPr>
          <a:xfrm>
            <a:off x="320040" y="1400326"/>
            <a:ext cx="7955279" cy="3508708"/>
          </a:xfrm>
          <a:prstGeom prst="rect">
            <a:avLst/>
          </a:prstGeom>
        </p:spPr>
      </p:pic>
      <p:sp>
        <p:nvSpPr>
          <p:cNvPr id="287" name="TextBox 286"/>
          <p:cNvSpPr txBox="1"/>
          <p:nvPr/>
        </p:nvSpPr>
        <p:spPr>
          <a:xfrm>
            <a:off x="320040" y="5532120"/>
            <a:ext cx="7955279" cy="822960"/>
          </a:xfrm>
          <a:prstGeom prst="rect">
            <a:avLst/>
          </a:prstGeom>
          <a:noFill/>
        </p:spPr>
        <p:txBody>
          <a:bodyPr wrap="square">
            <a:spAutoFit/>
          </a:bodyPr>
          <a:lstStyle/>
          <a:p>
            <a:pPr marL="0" lvl="0" indent="0" algn="l">
              <a:lnSpc>
                <a:spcPct val="110000"/>
              </a:lnSpc>
              <a:spcBef>
                <a:spcPts val="400"/>
              </a:spcBef>
              <a:spcAft>
                <a:spcPts val="0"/>
              </a:spcAft>
              <a:buNone/>
            </a:pPr>
            <a:r>
              <a:rPr lang="en-US" sz="1200">
                <a:latin typeface="Times New Roman"/>
                <a:ea typeface="Times New Roman"/>
                <a:cs typeface="Times New Roman"/>
                <a:sym typeface="Times New Roman"/>
              </a:rPr>
              <a:t>Completed: planning, dataset and preprocessing, defect detection (both models, held-out evaluation), demo application. Planned: enhancement and architecture experiments, recoverability estimation, final evaluation and report.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9"/>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RESULTS: HELD-OUT TEST</a:t>
            </a:r>
            <a:endParaRPr sz="1400" b="0" i="0" u="none" strike="noStrike" cap="none">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nvGraphicFramePr>
        <p:xfrm>
          <a:off x="274320" y="777240"/>
          <a:ext cx="7955280" cy="96012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548640">
                  <a:extLst>
                    <a:ext uri="{9D8B030D-6E8A-4147-A177-3AD203B41FA5}">
                      <a16:colId xmlns:a16="http://schemas.microsoft.com/office/drawing/2014/main" val="20007"/>
                    </a:ext>
                  </a:extLst>
                </a:gridCol>
                <a:gridCol w="822960">
                  <a:extLst>
                    <a:ext uri="{9D8B030D-6E8A-4147-A177-3AD203B41FA5}">
                      <a16:colId xmlns:a16="http://schemas.microsoft.com/office/drawing/2014/main" val="20008"/>
                    </a:ext>
                  </a:extLst>
                </a:gridCol>
              </a:tblGrid>
              <a:tr h="320040">
                <a:tc>
                  <a:txBody>
                    <a:bodyPr/>
                    <a:lstStyle/>
                    <a:p>
                      <a:pPr algn="l"/>
                      <a:r>
                        <a:rPr sz="1050" b="1">
                          <a:solidFill>
                            <a:srgbClr val="FFFFFF"/>
                          </a:solidFill>
                          <a:latin typeface="Times New Roman"/>
                        </a:rPr>
                        <a:t>Model</a:t>
                      </a:r>
                    </a:p>
                  </a:txBody>
                  <a:tcPr marL="36576" marR="36576" marT="18288" marB="18288">
                    <a:solidFill>
                      <a:srgbClr val="41534B"/>
                    </a:solidFill>
                  </a:tcPr>
                </a:tc>
                <a:tc>
                  <a:txBody>
                    <a:bodyPr/>
                    <a:lstStyle/>
                    <a:p>
                      <a:pPr algn="ctr"/>
                      <a:r>
                        <a:rPr sz="1050" b="1">
                          <a:solidFill>
                            <a:srgbClr val="FFFFFF"/>
                          </a:solidFill>
                          <a:latin typeface="Times New Roman"/>
                        </a:rPr>
                        <a:t>Precision</a:t>
                      </a:r>
                    </a:p>
                  </a:txBody>
                  <a:tcPr marL="36576" marR="36576" marT="18288" marB="18288">
                    <a:solidFill>
                      <a:srgbClr val="41534B"/>
                    </a:solidFill>
                  </a:tcPr>
                </a:tc>
                <a:tc>
                  <a:txBody>
                    <a:bodyPr/>
                    <a:lstStyle/>
                    <a:p>
                      <a:pPr algn="ctr"/>
                      <a:r>
                        <a:rPr sz="1050" b="1">
                          <a:solidFill>
                            <a:srgbClr val="FFFFFF"/>
                          </a:solidFill>
                          <a:latin typeface="Times New Roman"/>
                        </a:rPr>
                        <a:t>Recall</a:t>
                      </a:r>
                    </a:p>
                  </a:txBody>
                  <a:tcPr marL="36576" marR="36576" marT="18288" marB="18288">
                    <a:solidFill>
                      <a:srgbClr val="41534B"/>
                    </a:solidFill>
                  </a:tcPr>
                </a:tc>
                <a:tc>
                  <a:txBody>
                    <a:bodyPr/>
                    <a:lstStyle/>
                    <a:p>
                      <a:pPr algn="ctr"/>
                      <a:r>
                        <a:rPr sz="1050" b="1">
                          <a:solidFill>
                            <a:srgbClr val="FFFFFF"/>
                          </a:solidFill>
                          <a:latin typeface="Times New Roman"/>
                        </a:rPr>
                        <a:t>F1</a:t>
                      </a:r>
                    </a:p>
                  </a:txBody>
                  <a:tcPr marL="36576" marR="36576" marT="18288" marB="18288">
                    <a:solidFill>
                      <a:srgbClr val="41534B"/>
                    </a:solidFill>
                  </a:tcPr>
                </a:tc>
                <a:tc>
                  <a:txBody>
                    <a:bodyPr/>
                    <a:lstStyle/>
                    <a:p>
                      <a:pPr algn="ctr"/>
                      <a:r>
                        <a:rPr sz="1050" b="1">
                          <a:solidFill>
                            <a:srgbClr val="FFFFFF"/>
                          </a:solidFill>
                          <a:latin typeface="Times New Roman"/>
                        </a:rPr>
                        <a:t>mAP50</a:t>
                      </a:r>
                    </a:p>
                  </a:txBody>
                  <a:tcPr marL="36576" marR="36576" marT="18288" marB="18288">
                    <a:solidFill>
                      <a:srgbClr val="41534B"/>
                    </a:solidFill>
                  </a:tcPr>
                </a:tc>
                <a:tc>
                  <a:txBody>
                    <a:bodyPr/>
                    <a:lstStyle/>
                    <a:p>
                      <a:pPr algn="ctr"/>
                      <a:r>
                        <a:rPr sz="1050" b="1">
                          <a:solidFill>
                            <a:srgbClr val="FFFFFF"/>
                          </a:solidFill>
                          <a:latin typeface="Times New Roman"/>
                        </a:rPr>
                        <a:t>mAP50-95</a:t>
                      </a:r>
                    </a:p>
                  </a:txBody>
                  <a:tcPr marL="36576" marR="36576" marT="18288" marB="18288">
                    <a:solidFill>
                      <a:srgbClr val="41534B"/>
                    </a:solidFill>
                  </a:tcPr>
                </a:tc>
                <a:tc>
                  <a:txBody>
                    <a:bodyPr/>
                    <a:lstStyle/>
                    <a:p>
                      <a:pPr algn="ctr"/>
                      <a:r>
                        <a:rPr sz="1050" b="1">
                          <a:solidFill>
                            <a:srgbClr val="FFFFFF"/>
                          </a:solidFill>
                          <a:latin typeface="Times New Roman"/>
                        </a:rPr>
                        <a:t>ms / image (T4)</a:t>
                      </a:r>
                    </a:p>
                  </a:txBody>
                  <a:tcPr marL="36576" marR="36576" marT="18288" marB="18288">
                    <a:solidFill>
                      <a:srgbClr val="41534B"/>
                    </a:solidFill>
                  </a:tcPr>
                </a:tc>
                <a:tc>
                  <a:txBody>
                    <a:bodyPr/>
                    <a:lstStyle/>
                    <a:p>
                      <a:pPr algn="ctr"/>
                      <a:r>
                        <a:rPr sz="1050" b="1">
                          <a:solidFill>
                            <a:srgbClr val="FFFFFF"/>
                          </a:solidFill>
                          <a:latin typeface="Times New Roman"/>
                        </a:rPr>
                        <a:t>FPS</a:t>
                      </a:r>
                    </a:p>
                  </a:txBody>
                  <a:tcPr marL="36576" marR="36576" marT="18288" marB="18288">
                    <a:solidFill>
                      <a:srgbClr val="41534B"/>
                    </a:solidFill>
                  </a:tcPr>
                </a:tc>
                <a:tc>
                  <a:txBody>
                    <a:bodyPr/>
                    <a:lstStyle/>
                    <a:p>
                      <a:pPr algn="ctr"/>
                      <a:r>
                        <a:rPr sz="1050" b="1">
                          <a:solidFill>
                            <a:srgbClr val="FFFFFF"/>
                          </a:solidFill>
                          <a:latin typeface="Times New Roman"/>
                        </a:rPr>
                        <a:t>Params</a:t>
                      </a:r>
                    </a:p>
                  </a:txBody>
                  <a:tcPr marL="36576" marR="36576" marT="18288" marB="18288">
                    <a:solidFill>
                      <a:srgbClr val="41534B"/>
                    </a:solidFill>
                  </a:tcPr>
                </a:tc>
                <a:extLst>
                  <a:ext uri="{0D108BD9-81ED-4DB2-BD59-A6C34878D82A}">
                    <a16:rowId xmlns:a16="http://schemas.microsoft.com/office/drawing/2014/main" val="10000"/>
                  </a:ext>
                </a:extLst>
              </a:tr>
              <a:tr h="320040">
                <a:tc>
                  <a:txBody>
                    <a:bodyPr/>
                    <a:lstStyle/>
                    <a:p>
                      <a:pPr algn="l"/>
                      <a:r>
                        <a:rPr sz="1050" b="0">
                          <a:latin typeface="Times New Roman"/>
                        </a:rPr>
                        <a:t>YOLO11m (proposed)</a:t>
                      </a:r>
                    </a:p>
                  </a:txBody>
                  <a:tcPr marL="36576" marR="36576" marT="18288" marB="18288">
                    <a:solidFill>
                      <a:srgbClr val="F7F3EC"/>
                    </a:solidFill>
                  </a:tcPr>
                </a:tc>
                <a:tc>
                  <a:txBody>
                    <a:bodyPr/>
                    <a:lstStyle/>
                    <a:p>
                      <a:pPr algn="ctr"/>
                      <a:r>
                        <a:rPr sz="1050" b="0">
                          <a:latin typeface="Times New Roman"/>
                        </a:rPr>
                        <a:t>63.4</a:t>
                      </a:r>
                    </a:p>
                  </a:txBody>
                  <a:tcPr marL="36576" marR="36576" marT="18288" marB="18288">
                    <a:solidFill>
                      <a:srgbClr val="F7F3EC"/>
                    </a:solidFill>
                  </a:tcPr>
                </a:tc>
                <a:tc>
                  <a:txBody>
                    <a:bodyPr/>
                    <a:lstStyle/>
                    <a:p>
                      <a:pPr algn="ctr"/>
                      <a:r>
                        <a:rPr sz="1050" b="0">
                          <a:latin typeface="Times New Roman"/>
                        </a:rPr>
                        <a:t>66.2</a:t>
                      </a:r>
                    </a:p>
                  </a:txBody>
                  <a:tcPr marL="36576" marR="36576" marT="18288" marB="18288">
                    <a:solidFill>
                      <a:srgbClr val="F7F3EC"/>
                    </a:solidFill>
                  </a:tcPr>
                </a:tc>
                <a:tc>
                  <a:txBody>
                    <a:bodyPr/>
                    <a:lstStyle/>
                    <a:p>
                      <a:pPr algn="ctr"/>
                      <a:r>
                        <a:rPr sz="1050" b="0">
                          <a:latin typeface="Times New Roman"/>
                        </a:rPr>
                        <a:t>64.7</a:t>
                      </a:r>
                    </a:p>
                  </a:txBody>
                  <a:tcPr marL="36576" marR="36576" marT="18288" marB="18288">
                    <a:solidFill>
                      <a:srgbClr val="F7F3EC"/>
                    </a:solidFill>
                  </a:tcPr>
                </a:tc>
                <a:tc>
                  <a:txBody>
                    <a:bodyPr/>
                    <a:lstStyle/>
                    <a:p>
                      <a:pPr algn="ctr"/>
                      <a:r>
                        <a:rPr sz="1050" b="0">
                          <a:latin typeface="Times New Roman"/>
                        </a:rPr>
                        <a:t>63.0</a:t>
                      </a:r>
                    </a:p>
                  </a:txBody>
                  <a:tcPr marL="36576" marR="36576" marT="18288" marB="18288">
                    <a:solidFill>
                      <a:srgbClr val="F7F3EC"/>
                    </a:solidFill>
                  </a:tcPr>
                </a:tc>
                <a:tc>
                  <a:txBody>
                    <a:bodyPr/>
                    <a:lstStyle/>
                    <a:p>
                      <a:pPr algn="ctr"/>
                      <a:r>
                        <a:rPr sz="1050" b="0">
                          <a:latin typeface="Times New Roman"/>
                        </a:rPr>
                        <a:t>34.0</a:t>
                      </a:r>
                    </a:p>
                  </a:txBody>
                  <a:tcPr marL="36576" marR="36576" marT="18288" marB="18288">
                    <a:solidFill>
                      <a:srgbClr val="F7F3EC"/>
                    </a:solidFill>
                  </a:tcPr>
                </a:tc>
                <a:tc>
                  <a:txBody>
                    <a:bodyPr/>
                    <a:lstStyle/>
                    <a:p>
                      <a:pPr algn="ctr"/>
                      <a:r>
                        <a:rPr sz="1050" b="0">
                          <a:latin typeface="Times New Roman"/>
                        </a:rPr>
                        <a:t>33.2</a:t>
                      </a:r>
                    </a:p>
                  </a:txBody>
                  <a:tcPr marL="36576" marR="36576" marT="18288" marB="18288">
                    <a:solidFill>
                      <a:srgbClr val="F7F3EC"/>
                    </a:solidFill>
                  </a:tcPr>
                </a:tc>
                <a:tc>
                  <a:txBody>
                    <a:bodyPr/>
                    <a:lstStyle/>
                    <a:p>
                      <a:pPr algn="ctr"/>
                      <a:r>
                        <a:rPr sz="1050" b="0">
                          <a:latin typeface="Times New Roman"/>
                        </a:rPr>
                        <a:t>30</a:t>
                      </a:r>
                    </a:p>
                  </a:txBody>
                  <a:tcPr marL="36576" marR="36576" marT="18288" marB="18288">
                    <a:solidFill>
                      <a:srgbClr val="F7F3EC"/>
                    </a:solidFill>
                  </a:tcPr>
                </a:tc>
                <a:tc>
                  <a:txBody>
                    <a:bodyPr/>
                    <a:lstStyle/>
                    <a:p>
                      <a:pPr algn="ctr"/>
                      <a:r>
                        <a:rPr sz="1050" b="0">
                          <a:latin typeface="Times New Roman"/>
                        </a:rPr>
                        <a:t>20.0 M</a:t>
                      </a:r>
                    </a:p>
                  </a:txBody>
                  <a:tcPr marL="36576" marR="36576" marT="18288" marB="18288">
                    <a:solidFill>
                      <a:srgbClr val="F7F3EC"/>
                    </a:solidFill>
                  </a:tcPr>
                </a:tc>
                <a:extLst>
                  <a:ext uri="{0D108BD9-81ED-4DB2-BD59-A6C34878D82A}">
                    <a16:rowId xmlns:a16="http://schemas.microsoft.com/office/drawing/2014/main" val="10001"/>
                  </a:ext>
                </a:extLst>
              </a:tr>
              <a:tr h="320040">
                <a:tc>
                  <a:txBody>
                    <a:bodyPr/>
                    <a:lstStyle/>
                    <a:p>
                      <a:pPr algn="l"/>
                      <a:r>
                        <a:rPr sz="1050" b="0">
                          <a:latin typeface="Times New Roman"/>
                        </a:rPr>
                        <a:t>YOLO11s (baseline)</a:t>
                      </a:r>
                    </a:p>
                  </a:txBody>
                  <a:tcPr marL="36576" marR="36576" marT="18288" marB="18288">
                    <a:solidFill>
                      <a:srgbClr val="FFFFFF"/>
                    </a:solidFill>
                  </a:tcPr>
                </a:tc>
                <a:tc>
                  <a:txBody>
                    <a:bodyPr/>
                    <a:lstStyle/>
                    <a:p>
                      <a:pPr algn="ctr"/>
                      <a:r>
                        <a:rPr sz="1050" b="0">
                          <a:latin typeface="Times New Roman"/>
                        </a:rPr>
                        <a:t>71.0</a:t>
                      </a:r>
                    </a:p>
                  </a:txBody>
                  <a:tcPr marL="36576" marR="36576" marT="18288" marB="18288">
                    <a:solidFill>
                      <a:srgbClr val="FFFFFF"/>
                    </a:solidFill>
                  </a:tcPr>
                </a:tc>
                <a:tc>
                  <a:txBody>
                    <a:bodyPr/>
                    <a:lstStyle/>
                    <a:p>
                      <a:pPr algn="ctr"/>
                      <a:r>
                        <a:rPr sz="1050" b="0">
                          <a:latin typeface="Times New Roman"/>
                        </a:rPr>
                        <a:t>64.1</a:t>
                      </a:r>
                    </a:p>
                  </a:txBody>
                  <a:tcPr marL="36576" marR="36576" marT="18288" marB="18288">
                    <a:solidFill>
                      <a:srgbClr val="FFFFFF"/>
                    </a:solidFill>
                  </a:tcPr>
                </a:tc>
                <a:tc>
                  <a:txBody>
                    <a:bodyPr/>
                    <a:lstStyle/>
                    <a:p>
                      <a:pPr algn="ctr"/>
                      <a:r>
                        <a:rPr sz="1050" b="0">
                          <a:latin typeface="Times New Roman"/>
                        </a:rPr>
                        <a:t>67.4</a:t>
                      </a:r>
                    </a:p>
                  </a:txBody>
                  <a:tcPr marL="36576" marR="36576" marT="18288" marB="18288">
                    <a:solidFill>
                      <a:srgbClr val="FFFFFF"/>
                    </a:solidFill>
                  </a:tcPr>
                </a:tc>
                <a:tc>
                  <a:txBody>
                    <a:bodyPr/>
                    <a:lstStyle/>
                    <a:p>
                      <a:pPr algn="ctr"/>
                      <a:r>
                        <a:rPr sz="1050" b="0">
                          <a:latin typeface="Times New Roman"/>
                        </a:rPr>
                        <a:t>64.6</a:t>
                      </a:r>
                    </a:p>
                  </a:txBody>
                  <a:tcPr marL="36576" marR="36576" marT="18288" marB="18288">
                    <a:solidFill>
                      <a:srgbClr val="FFFFFF"/>
                    </a:solidFill>
                  </a:tcPr>
                </a:tc>
                <a:tc>
                  <a:txBody>
                    <a:bodyPr/>
                    <a:lstStyle/>
                    <a:p>
                      <a:pPr algn="ctr"/>
                      <a:r>
                        <a:rPr sz="1050" b="0">
                          <a:latin typeface="Times New Roman"/>
                        </a:rPr>
                        <a:t>33.4</a:t>
                      </a:r>
                    </a:p>
                  </a:txBody>
                  <a:tcPr marL="36576" marR="36576" marT="18288" marB="18288">
                    <a:solidFill>
                      <a:srgbClr val="FFFFFF"/>
                    </a:solidFill>
                  </a:tcPr>
                </a:tc>
                <a:tc>
                  <a:txBody>
                    <a:bodyPr/>
                    <a:lstStyle/>
                    <a:p>
                      <a:pPr algn="ctr"/>
                      <a:r>
                        <a:rPr sz="1050" b="0">
                          <a:latin typeface="Times New Roman"/>
                        </a:rPr>
                        <a:t>11.7</a:t>
                      </a:r>
                    </a:p>
                  </a:txBody>
                  <a:tcPr marL="36576" marR="36576" marT="18288" marB="18288">
                    <a:solidFill>
                      <a:srgbClr val="FFFFFF"/>
                    </a:solidFill>
                  </a:tcPr>
                </a:tc>
                <a:tc>
                  <a:txBody>
                    <a:bodyPr/>
                    <a:lstStyle/>
                    <a:p>
                      <a:pPr algn="ctr"/>
                      <a:r>
                        <a:rPr sz="1050" b="0">
                          <a:latin typeface="Times New Roman"/>
                        </a:rPr>
                        <a:t>86</a:t>
                      </a:r>
                    </a:p>
                  </a:txBody>
                  <a:tcPr marL="36576" marR="36576" marT="18288" marB="18288">
                    <a:solidFill>
                      <a:srgbClr val="FFFFFF"/>
                    </a:solidFill>
                  </a:tcPr>
                </a:tc>
                <a:tc>
                  <a:txBody>
                    <a:bodyPr/>
                    <a:lstStyle/>
                    <a:p>
                      <a:pPr algn="ctr"/>
                      <a:r>
                        <a:rPr sz="1050" b="0">
                          <a:latin typeface="Times New Roman"/>
                        </a:rPr>
                        <a:t>9.4 M</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graphicFrame>
        <p:nvGraphicFramePr>
          <p:cNvPr id="300" name="Table 299"/>
          <p:cNvGraphicFramePr>
            <a:graphicFrameLocks noGrp="1"/>
          </p:cNvGraphicFramePr>
          <p:nvPr/>
        </p:nvGraphicFramePr>
        <p:xfrm>
          <a:off x="274320" y="1874519"/>
          <a:ext cx="8275320" cy="3108960"/>
        </p:xfrm>
        <a:graphic>
          <a:graphicData uri="http://schemas.openxmlformats.org/drawingml/2006/table">
            <a:tbl>
              <a:tblPr firstRow="1" bandRow="1">
                <a:tableStyleId>{5C22544A-7EE6-4342-B048-85BDC9FD1C3A}</a:tableStyleId>
              </a:tblPr>
              <a:tblGrid>
                <a:gridCol w="13258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gridCol w="640080">
                  <a:extLst>
                    <a:ext uri="{9D8B030D-6E8A-4147-A177-3AD203B41FA5}">
                      <a16:colId xmlns:a16="http://schemas.microsoft.com/office/drawing/2014/main" val="20006"/>
                    </a:ext>
                  </a:extLst>
                </a:gridCol>
                <a:gridCol w="640080">
                  <a:extLst>
                    <a:ext uri="{9D8B030D-6E8A-4147-A177-3AD203B41FA5}">
                      <a16:colId xmlns:a16="http://schemas.microsoft.com/office/drawing/2014/main" val="20007"/>
                    </a:ext>
                  </a:extLst>
                </a:gridCol>
                <a:gridCol w="868680">
                  <a:extLst>
                    <a:ext uri="{9D8B030D-6E8A-4147-A177-3AD203B41FA5}">
                      <a16:colId xmlns:a16="http://schemas.microsoft.com/office/drawing/2014/main" val="20008"/>
                    </a:ext>
                  </a:extLst>
                </a:gridCol>
                <a:gridCol w="960120">
                  <a:extLst>
                    <a:ext uri="{9D8B030D-6E8A-4147-A177-3AD203B41FA5}">
                      <a16:colId xmlns:a16="http://schemas.microsoft.com/office/drawing/2014/main" val="20009"/>
                    </a:ext>
                  </a:extLst>
                </a:gridCol>
              </a:tblGrid>
              <a:tr h="310896">
                <a:tc>
                  <a:txBody>
                    <a:bodyPr/>
                    <a:lstStyle/>
                    <a:p>
                      <a:pPr algn="l"/>
                      <a:r>
                        <a:rPr sz="950" b="1">
                          <a:solidFill>
                            <a:srgbClr val="FFFFFF"/>
                          </a:solidFill>
                          <a:latin typeface="Times New Roman"/>
                        </a:rPr>
                        <a:t>Class</a:t>
                      </a:r>
                    </a:p>
                  </a:txBody>
                  <a:tcPr marL="36576" marR="36576" marT="18288" marB="18288">
                    <a:solidFill>
                      <a:srgbClr val="41534B"/>
                    </a:solidFill>
                  </a:tcPr>
                </a:tc>
                <a:tc>
                  <a:txBody>
                    <a:bodyPr/>
                    <a:lstStyle/>
                    <a:p>
                      <a:pPr algn="ctr"/>
                      <a:r>
                        <a:rPr sz="950" b="1">
                          <a:solidFill>
                            <a:srgbClr val="FFFFFF"/>
                          </a:solidFill>
                          <a:latin typeface="Times New Roman"/>
                        </a:rPr>
                        <a:t>Test boxes</a:t>
                      </a:r>
                    </a:p>
                  </a:txBody>
                  <a:tcPr marL="36576" marR="36576" marT="18288" marB="18288">
                    <a:solidFill>
                      <a:srgbClr val="41534B"/>
                    </a:solidFill>
                  </a:tcPr>
                </a:tc>
                <a:tc>
                  <a:txBody>
                    <a:bodyPr/>
                    <a:lstStyle/>
                    <a:p>
                      <a:pPr algn="ctr"/>
                      <a:r>
                        <a:rPr sz="950" b="1">
                          <a:solidFill>
                            <a:srgbClr val="FFFFFF"/>
                          </a:solidFill>
                          <a:latin typeface="Times New Roman"/>
                        </a:rPr>
                        <a:t>11m P</a:t>
                      </a:r>
                    </a:p>
                  </a:txBody>
                  <a:tcPr marL="36576" marR="36576" marT="18288" marB="18288">
                    <a:solidFill>
                      <a:srgbClr val="41534B"/>
                    </a:solidFill>
                  </a:tcPr>
                </a:tc>
                <a:tc>
                  <a:txBody>
                    <a:bodyPr/>
                    <a:lstStyle/>
                    <a:p>
                      <a:pPr algn="ctr"/>
                      <a:r>
                        <a:rPr sz="950" b="1">
                          <a:solidFill>
                            <a:srgbClr val="FFFFFF"/>
                          </a:solidFill>
                          <a:latin typeface="Times New Roman"/>
                        </a:rPr>
                        <a:t>11m R</a:t>
                      </a:r>
                    </a:p>
                  </a:txBody>
                  <a:tcPr marL="36576" marR="36576" marT="18288" marB="18288">
                    <a:solidFill>
                      <a:srgbClr val="41534B"/>
                    </a:solidFill>
                  </a:tcPr>
                </a:tc>
                <a:tc>
                  <a:txBody>
                    <a:bodyPr/>
                    <a:lstStyle/>
                    <a:p>
                      <a:pPr algn="ctr"/>
                      <a:r>
                        <a:rPr sz="950" b="1">
                          <a:solidFill>
                            <a:srgbClr val="FFFFFF"/>
                          </a:solidFill>
                          <a:latin typeface="Times New Roman"/>
                        </a:rPr>
                        <a:t>11m mAP50</a:t>
                      </a:r>
                    </a:p>
                  </a:txBody>
                  <a:tcPr marL="36576" marR="36576" marT="18288" marB="18288">
                    <a:solidFill>
                      <a:srgbClr val="41534B"/>
                    </a:solidFill>
                  </a:tcPr>
                </a:tc>
                <a:tc>
                  <a:txBody>
                    <a:bodyPr/>
                    <a:lstStyle/>
                    <a:p>
                      <a:pPr algn="ctr"/>
                      <a:r>
                        <a:rPr sz="950" b="1">
                          <a:solidFill>
                            <a:srgbClr val="FFFFFF"/>
                          </a:solidFill>
                          <a:latin typeface="Times New Roman"/>
                        </a:rPr>
                        <a:t>11m mAP50-95</a:t>
                      </a:r>
                    </a:p>
                  </a:txBody>
                  <a:tcPr marL="36576" marR="36576" marT="18288" marB="18288">
                    <a:solidFill>
                      <a:srgbClr val="41534B"/>
                    </a:solidFill>
                  </a:tcPr>
                </a:tc>
                <a:tc>
                  <a:txBody>
                    <a:bodyPr/>
                    <a:lstStyle/>
                    <a:p>
                      <a:pPr algn="ctr"/>
                      <a:r>
                        <a:rPr sz="950" b="1">
                          <a:solidFill>
                            <a:srgbClr val="FFFFFF"/>
                          </a:solidFill>
                          <a:latin typeface="Times New Roman"/>
                        </a:rPr>
                        <a:t>11s P</a:t>
                      </a:r>
                    </a:p>
                  </a:txBody>
                  <a:tcPr marL="36576" marR="36576" marT="18288" marB="18288">
                    <a:solidFill>
                      <a:srgbClr val="41534B"/>
                    </a:solidFill>
                  </a:tcPr>
                </a:tc>
                <a:tc>
                  <a:txBody>
                    <a:bodyPr/>
                    <a:lstStyle/>
                    <a:p>
                      <a:pPr algn="ctr"/>
                      <a:r>
                        <a:rPr sz="950" b="1">
                          <a:solidFill>
                            <a:srgbClr val="FFFFFF"/>
                          </a:solidFill>
                          <a:latin typeface="Times New Roman"/>
                        </a:rPr>
                        <a:t>11s R</a:t>
                      </a:r>
                    </a:p>
                  </a:txBody>
                  <a:tcPr marL="36576" marR="36576" marT="18288" marB="18288">
                    <a:solidFill>
                      <a:srgbClr val="41534B"/>
                    </a:solidFill>
                  </a:tcPr>
                </a:tc>
                <a:tc>
                  <a:txBody>
                    <a:bodyPr/>
                    <a:lstStyle/>
                    <a:p>
                      <a:pPr algn="ctr"/>
                      <a:r>
                        <a:rPr sz="950" b="1">
                          <a:solidFill>
                            <a:srgbClr val="FFFFFF"/>
                          </a:solidFill>
                          <a:latin typeface="Times New Roman"/>
                        </a:rPr>
                        <a:t>11s mAP50</a:t>
                      </a:r>
                    </a:p>
                  </a:txBody>
                  <a:tcPr marL="36576" marR="36576" marT="18288" marB="18288">
                    <a:solidFill>
                      <a:srgbClr val="41534B"/>
                    </a:solidFill>
                  </a:tcPr>
                </a:tc>
                <a:tc>
                  <a:txBody>
                    <a:bodyPr/>
                    <a:lstStyle/>
                    <a:p>
                      <a:pPr algn="ctr"/>
                      <a:r>
                        <a:rPr sz="950" b="1">
                          <a:solidFill>
                            <a:srgbClr val="FFFFFF"/>
                          </a:solidFill>
                          <a:latin typeface="Times New Roman"/>
                        </a:rPr>
                        <a:t>11s mAP50-95</a:t>
                      </a:r>
                    </a:p>
                  </a:txBody>
                  <a:tcPr marL="36576" marR="36576" marT="18288" marB="18288">
                    <a:solidFill>
                      <a:srgbClr val="41534B"/>
                    </a:solidFill>
                  </a:tcPr>
                </a:tc>
                <a:extLst>
                  <a:ext uri="{0D108BD9-81ED-4DB2-BD59-A6C34878D82A}">
                    <a16:rowId xmlns:a16="http://schemas.microsoft.com/office/drawing/2014/main" val="10000"/>
                  </a:ext>
                </a:extLst>
              </a:tr>
              <a:tr h="310896">
                <a:tc>
                  <a:txBody>
                    <a:bodyPr/>
                    <a:lstStyle/>
                    <a:p>
                      <a:pPr algn="l"/>
                      <a:r>
                        <a:rPr sz="950" b="0">
                          <a:latin typeface="Times New Roman"/>
                        </a:rPr>
                        <a:t>Dead_Knot</a:t>
                      </a:r>
                    </a:p>
                  </a:txBody>
                  <a:tcPr marL="36576" marR="36576" marT="18288" marB="18288">
                    <a:solidFill>
                      <a:srgbClr val="F7F3EC"/>
                    </a:solidFill>
                  </a:tcPr>
                </a:tc>
                <a:tc>
                  <a:txBody>
                    <a:bodyPr/>
                    <a:lstStyle/>
                    <a:p>
                      <a:pPr algn="ctr"/>
                      <a:r>
                        <a:rPr sz="950" b="0">
                          <a:latin typeface="Times New Roman"/>
                        </a:rPr>
                        <a:t>343</a:t>
                      </a:r>
                    </a:p>
                  </a:txBody>
                  <a:tcPr marL="36576" marR="36576" marT="18288" marB="18288">
                    <a:solidFill>
                      <a:srgbClr val="F7F3EC"/>
                    </a:solidFill>
                  </a:tcPr>
                </a:tc>
                <a:tc>
                  <a:txBody>
                    <a:bodyPr/>
                    <a:lstStyle/>
                    <a:p>
                      <a:pPr algn="ctr"/>
                      <a:r>
                        <a:rPr sz="950" b="0">
                          <a:latin typeface="Times New Roman"/>
                        </a:rPr>
                        <a:t>77.2</a:t>
                      </a:r>
                    </a:p>
                  </a:txBody>
                  <a:tcPr marL="36576" marR="36576" marT="18288" marB="18288">
                    <a:solidFill>
                      <a:srgbClr val="F7F3EC"/>
                    </a:solidFill>
                  </a:tcPr>
                </a:tc>
                <a:tc>
                  <a:txBody>
                    <a:bodyPr/>
                    <a:lstStyle/>
                    <a:p>
                      <a:pPr algn="ctr"/>
                      <a:r>
                        <a:rPr sz="950" b="0">
                          <a:latin typeface="Times New Roman"/>
                        </a:rPr>
                        <a:t>88.0</a:t>
                      </a:r>
                    </a:p>
                  </a:txBody>
                  <a:tcPr marL="36576" marR="36576" marT="18288" marB="18288">
                    <a:solidFill>
                      <a:srgbClr val="F7F3EC"/>
                    </a:solidFill>
                  </a:tcPr>
                </a:tc>
                <a:tc>
                  <a:txBody>
                    <a:bodyPr/>
                    <a:lstStyle/>
                    <a:p>
                      <a:pPr algn="ctr"/>
                      <a:r>
                        <a:rPr sz="950" b="0">
                          <a:latin typeface="Times New Roman"/>
                        </a:rPr>
                        <a:t>86.8</a:t>
                      </a:r>
                    </a:p>
                  </a:txBody>
                  <a:tcPr marL="36576" marR="36576" marT="18288" marB="18288">
                    <a:solidFill>
                      <a:srgbClr val="F7F3EC"/>
                    </a:solidFill>
                  </a:tcPr>
                </a:tc>
                <a:tc>
                  <a:txBody>
                    <a:bodyPr/>
                    <a:lstStyle/>
                    <a:p>
                      <a:pPr algn="ctr"/>
                      <a:r>
                        <a:rPr sz="950" b="0">
                          <a:latin typeface="Times New Roman"/>
                        </a:rPr>
                        <a:t>41.8</a:t>
                      </a:r>
                    </a:p>
                  </a:txBody>
                  <a:tcPr marL="36576" marR="36576" marT="18288" marB="18288">
                    <a:solidFill>
                      <a:srgbClr val="F7F3EC"/>
                    </a:solidFill>
                  </a:tcPr>
                </a:tc>
                <a:tc>
                  <a:txBody>
                    <a:bodyPr/>
                    <a:lstStyle/>
                    <a:p>
                      <a:pPr algn="ctr"/>
                      <a:r>
                        <a:rPr sz="950" b="0">
                          <a:latin typeface="Times New Roman"/>
                        </a:rPr>
                        <a:t>83.0</a:t>
                      </a:r>
                    </a:p>
                  </a:txBody>
                  <a:tcPr marL="36576" marR="36576" marT="18288" marB="18288">
                    <a:solidFill>
                      <a:srgbClr val="F7F3EC"/>
                    </a:solidFill>
                  </a:tcPr>
                </a:tc>
                <a:tc>
                  <a:txBody>
                    <a:bodyPr/>
                    <a:lstStyle/>
                    <a:p>
                      <a:pPr algn="ctr"/>
                      <a:r>
                        <a:rPr sz="950" b="0">
                          <a:latin typeface="Times New Roman"/>
                        </a:rPr>
                        <a:t>84.3</a:t>
                      </a:r>
                    </a:p>
                  </a:txBody>
                  <a:tcPr marL="36576" marR="36576" marT="18288" marB="18288">
                    <a:solidFill>
                      <a:srgbClr val="F7F3EC"/>
                    </a:solidFill>
                  </a:tcPr>
                </a:tc>
                <a:tc>
                  <a:txBody>
                    <a:bodyPr/>
                    <a:lstStyle/>
                    <a:p>
                      <a:pPr algn="ctr"/>
                      <a:r>
                        <a:rPr sz="950" b="0">
                          <a:latin typeface="Times New Roman"/>
                        </a:rPr>
                        <a:t>89.1</a:t>
                      </a:r>
                    </a:p>
                  </a:txBody>
                  <a:tcPr marL="36576" marR="36576" marT="18288" marB="18288">
                    <a:solidFill>
                      <a:srgbClr val="F7F3EC"/>
                    </a:solidFill>
                  </a:tcPr>
                </a:tc>
                <a:tc>
                  <a:txBody>
                    <a:bodyPr/>
                    <a:lstStyle/>
                    <a:p>
                      <a:pPr algn="ctr"/>
                      <a:r>
                        <a:rPr sz="950" b="0">
                          <a:latin typeface="Times New Roman"/>
                        </a:rPr>
                        <a:t>43.3</a:t>
                      </a:r>
                    </a:p>
                  </a:txBody>
                  <a:tcPr marL="36576" marR="36576" marT="18288" marB="18288">
                    <a:solidFill>
                      <a:srgbClr val="F7F3EC"/>
                    </a:solidFill>
                  </a:tcPr>
                </a:tc>
                <a:extLst>
                  <a:ext uri="{0D108BD9-81ED-4DB2-BD59-A6C34878D82A}">
                    <a16:rowId xmlns:a16="http://schemas.microsoft.com/office/drawing/2014/main" val="10001"/>
                  </a:ext>
                </a:extLst>
              </a:tr>
              <a:tr h="310896">
                <a:tc>
                  <a:txBody>
                    <a:bodyPr/>
                    <a:lstStyle/>
                    <a:p>
                      <a:pPr algn="l"/>
                      <a:r>
                        <a:rPr sz="950" b="0">
                          <a:latin typeface="Times New Roman"/>
                        </a:rPr>
                        <a:t>Marrow</a:t>
                      </a:r>
                    </a:p>
                  </a:txBody>
                  <a:tcPr marL="36576" marR="36576" marT="18288" marB="18288">
                    <a:solidFill>
                      <a:srgbClr val="FFFFFF"/>
                    </a:solidFill>
                  </a:tcPr>
                </a:tc>
                <a:tc>
                  <a:txBody>
                    <a:bodyPr/>
                    <a:lstStyle/>
                    <a:p>
                      <a:pPr algn="ctr"/>
                      <a:r>
                        <a:rPr sz="950" b="0">
                          <a:latin typeface="Times New Roman"/>
                        </a:rPr>
                        <a:t>46</a:t>
                      </a:r>
                    </a:p>
                  </a:txBody>
                  <a:tcPr marL="36576" marR="36576" marT="18288" marB="18288">
                    <a:solidFill>
                      <a:srgbClr val="FFFFFF"/>
                    </a:solidFill>
                  </a:tcPr>
                </a:tc>
                <a:tc>
                  <a:txBody>
                    <a:bodyPr/>
                    <a:lstStyle/>
                    <a:p>
                      <a:pPr algn="ctr"/>
                      <a:r>
                        <a:rPr sz="950" b="0">
                          <a:latin typeface="Times New Roman"/>
                        </a:rPr>
                        <a:t>79.6</a:t>
                      </a:r>
                    </a:p>
                  </a:txBody>
                  <a:tcPr marL="36576" marR="36576" marT="18288" marB="18288">
                    <a:solidFill>
                      <a:srgbClr val="FFFFFF"/>
                    </a:solidFill>
                  </a:tcPr>
                </a:tc>
                <a:tc>
                  <a:txBody>
                    <a:bodyPr/>
                    <a:lstStyle/>
                    <a:p>
                      <a:pPr algn="ctr"/>
                      <a:r>
                        <a:rPr sz="950" b="0">
                          <a:latin typeface="Times New Roman"/>
                        </a:rPr>
                        <a:t>84.9</a:t>
                      </a:r>
                    </a:p>
                  </a:txBody>
                  <a:tcPr marL="36576" marR="36576" marT="18288" marB="18288">
                    <a:solidFill>
                      <a:srgbClr val="FFFFFF"/>
                    </a:solidFill>
                  </a:tcPr>
                </a:tc>
                <a:tc>
                  <a:txBody>
                    <a:bodyPr/>
                    <a:lstStyle/>
                    <a:p>
                      <a:pPr algn="ctr"/>
                      <a:r>
                        <a:rPr sz="950" b="0">
                          <a:latin typeface="Times New Roman"/>
                        </a:rPr>
                        <a:t>85.8</a:t>
                      </a:r>
                    </a:p>
                  </a:txBody>
                  <a:tcPr marL="36576" marR="36576" marT="18288" marB="18288">
                    <a:solidFill>
                      <a:srgbClr val="FFFFFF"/>
                    </a:solidFill>
                  </a:tcPr>
                </a:tc>
                <a:tc>
                  <a:txBody>
                    <a:bodyPr/>
                    <a:lstStyle/>
                    <a:p>
                      <a:pPr algn="ctr"/>
                      <a:r>
                        <a:rPr sz="950" b="0">
                          <a:latin typeface="Times New Roman"/>
                        </a:rPr>
                        <a:t>57.4</a:t>
                      </a:r>
                    </a:p>
                  </a:txBody>
                  <a:tcPr marL="36576" marR="36576" marT="18288" marB="18288">
                    <a:solidFill>
                      <a:srgbClr val="FFFFFF"/>
                    </a:solidFill>
                  </a:tcPr>
                </a:tc>
                <a:tc>
                  <a:txBody>
                    <a:bodyPr/>
                    <a:lstStyle/>
                    <a:p>
                      <a:pPr algn="ctr"/>
                      <a:r>
                        <a:rPr sz="950" b="0">
                          <a:latin typeface="Times New Roman"/>
                        </a:rPr>
                        <a:t>89.3</a:t>
                      </a:r>
                    </a:p>
                  </a:txBody>
                  <a:tcPr marL="36576" marR="36576" marT="18288" marB="18288">
                    <a:solidFill>
                      <a:srgbClr val="FFFFFF"/>
                    </a:solidFill>
                  </a:tcPr>
                </a:tc>
                <a:tc>
                  <a:txBody>
                    <a:bodyPr/>
                    <a:lstStyle/>
                    <a:p>
                      <a:pPr algn="ctr"/>
                      <a:r>
                        <a:rPr sz="950" b="0">
                          <a:latin typeface="Times New Roman"/>
                        </a:rPr>
                        <a:t>72.7</a:t>
                      </a:r>
                    </a:p>
                  </a:txBody>
                  <a:tcPr marL="36576" marR="36576" marT="18288" marB="18288">
                    <a:solidFill>
                      <a:srgbClr val="FFFFFF"/>
                    </a:solidFill>
                  </a:tcPr>
                </a:tc>
                <a:tc>
                  <a:txBody>
                    <a:bodyPr/>
                    <a:lstStyle/>
                    <a:p>
                      <a:pPr algn="ctr"/>
                      <a:r>
                        <a:rPr sz="950" b="0">
                          <a:latin typeface="Times New Roman"/>
                        </a:rPr>
                        <a:t>87.7</a:t>
                      </a:r>
                    </a:p>
                  </a:txBody>
                  <a:tcPr marL="36576" marR="36576" marT="18288" marB="18288">
                    <a:solidFill>
                      <a:srgbClr val="FFFFFF"/>
                    </a:solidFill>
                  </a:tcPr>
                </a:tc>
                <a:tc>
                  <a:txBody>
                    <a:bodyPr/>
                    <a:lstStyle/>
                    <a:p>
                      <a:pPr algn="ctr"/>
                      <a:r>
                        <a:rPr sz="950" b="0">
                          <a:latin typeface="Times New Roman"/>
                        </a:rPr>
                        <a:t>55.2</a:t>
                      </a:r>
                    </a:p>
                  </a:txBody>
                  <a:tcPr marL="36576" marR="36576" marT="18288" marB="18288">
                    <a:solidFill>
                      <a:srgbClr val="FFFFFF"/>
                    </a:solidFill>
                  </a:tcPr>
                </a:tc>
                <a:extLst>
                  <a:ext uri="{0D108BD9-81ED-4DB2-BD59-A6C34878D82A}">
                    <a16:rowId xmlns:a16="http://schemas.microsoft.com/office/drawing/2014/main" val="10002"/>
                  </a:ext>
                </a:extLst>
              </a:tr>
              <a:tr h="310896">
                <a:tc>
                  <a:txBody>
                    <a:bodyPr/>
                    <a:lstStyle/>
                    <a:p>
                      <a:pPr algn="l"/>
                      <a:r>
                        <a:rPr sz="950" b="0">
                          <a:latin typeface="Times New Roman"/>
                        </a:rPr>
                        <a:t>Live_Knot</a:t>
                      </a:r>
                    </a:p>
                  </a:txBody>
                  <a:tcPr marL="36576" marR="36576" marT="18288" marB="18288">
                    <a:solidFill>
                      <a:srgbClr val="F7F3EC"/>
                    </a:solidFill>
                  </a:tcPr>
                </a:tc>
                <a:tc>
                  <a:txBody>
                    <a:bodyPr/>
                    <a:lstStyle/>
                    <a:p>
                      <a:pPr algn="ctr"/>
                      <a:r>
                        <a:rPr sz="950" b="0">
                          <a:latin typeface="Times New Roman"/>
                        </a:rPr>
                        <a:t>406</a:t>
                      </a:r>
                    </a:p>
                  </a:txBody>
                  <a:tcPr marL="36576" marR="36576" marT="18288" marB="18288">
                    <a:solidFill>
                      <a:srgbClr val="F7F3EC"/>
                    </a:solidFill>
                  </a:tcPr>
                </a:tc>
                <a:tc>
                  <a:txBody>
                    <a:bodyPr/>
                    <a:lstStyle/>
                    <a:p>
                      <a:pPr algn="ctr"/>
                      <a:r>
                        <a:rPr sz="950" b="0">
                          <a:latin typeface="Times New Roman"/>
                        </a:rPr>
                        <a:t>73.5</a:t>
                      </a:r>
                    </a:p>
                  </a:txBody>
                  <a:tcPr marL="36576" marR="36576" marT="18288" marB="18288">
                    <a:solidFill>
                      <a:srgbClr val="F7F3EC"/>
                    </a:solidFill>
                  </a:tcPr>
                </a:tc>
                <a:tc>
                  <a:txBody>
                    <a:bodyPr/>
                    <a:lstStyle/>
                    <a:p>
                      <a:pPr algn="ctr"/>
                      <a:r>
                        <a:rPr sz="950" b="0">
                          <a:latin typeface="Times New Roman"/>
                        </a:rPr>
                        <a:t>79.2</a:t>
                      </a:r>
                    </a:p>
                  </a:txBody>
                  <a:tcPr marL="36576" marR="36576" marT="18288" marB="18288">
                    <a:solidFill>
                      <a:srgbClr val="F7F3EC"/>
                    </a:solidFill>
                  </a:tcPr>
                </a:tc>
                <a:tc>
                  <a:txBody>
                    <a:bodyPr/>
                    <a:lstStyle/>
                    <a:p>
                      <a:pPr algn="ctr"/>
                      <a:r>
                        <a:rPr sz="950" b="0">
                          <a:latin typeface="Times New Roman"/>
                        </a:rPr>
                        <a:t>74.8</a:t>
                      </a:r>
                    </a:p>
                  </a:txBody>
                  <a:tcPr marL="36576" marR="36576" marT="18288" marB="18288">
                    <a:solidFill>
                      <a:srgbClr val="F7F3EC"/>
                    </a:solidFill>
                  </a:tcPr>
                </a:tc>
                <a:tc>
                  <a:txBody>
                    <a:bodyPr/>
                    <a:lstStyle/>
                    <a:p>
                      <a:pPr algn="ctr"/>
                      <a:r>
                        <a:rPr sz="950" b="0">
                          <a:latin typeface="Times New Roman"/>
                        </a:rPr>
                        <a:t>32.0</a:t>
                      </a:r>
                    </a:p>
                  </a:txBody>
                  <a:tcPr marL="36576" marR="36576" marT="18288" marB="18288">
                    <a:solidFill>
                      <a:srgbClr val="F7F3EC"/>
                    </a:solidFill>
                  </a:tcPr>
                </a:tc>
                <a:tc>
                  <a:txBody>
                    <a:bodyPr/>
                    <a:lstStyle/>
                    <a:p>
                      <a:pPr algn="ctr"/>
                      <a:r>
                        <a:rPr sz="950" b="0">
                          <a:latin typeface="Times New Roman"/>
                        </a:rPr>
                        <a:t>75.2</a:t>
                      </a:r>
                    </a:p>
                  </a:txBody>
                  <a:tcPr marL="36576" marR="36576" marT="18288" marB="18288">
                    <a:solidFill>
                      <a:srgbClr val="F7F3EC"/>
                    </a:solidFill>
                  </a:tcPr>
                </a:tc>
                <a:tc>
                  <a:txBody>
                    <a:bodyPr/>
                    <a:lstStyle/>
                    <a:p>
                      <a:pPr algn="ctr"/>
                      <a:r>
                        <a:rPr sz="950" b="0">
                          <a:latin typeface="Times New Roman"/>
                        </a:rPr>
                        <a:t>75.1</a:t>
                      </a:r>
                    </a:p>
                  </a:txBody>
                  <a:tcPr marL="36576" marR="36576" marT="18288" marB="18288">
                    <a:solidFill>
                      <a:srgbClr val="F7F3EC"/>
                    </a:solidFill>
                  </a:tcPr>
                </a:tc>
                <a:tc>
                  <a:txBody>
                    <a:bodyPr/>
                    <a:lstStyle/>
                    <a:p>
                      <a:pPr algn="ctr"/>
                      <a:r>
                        <a:rPr sz="950" b="0">
                          <a:latin typeface="Times New Roman"/>
                        </a:rPr>
                        <a:t>75.8</a:t>
                      </a:r>
                    </a:p>
                  </a:txBody>
                  <a:tcPr marL="36576" marR="36576" marT="18288" marB="18288">
                    <a:solidFill>
                      <a:srgbClr val="F7F3EC"/>
                    </a:solidFill>
                  </a:tcPr>
                </a:tc>
                <a:tc>
                  <a:txBody>
                    <a:bodyPr/>
                    <a:lstStyle/>
                    <a:p>
                      <a:pPr algn="ctr"/>
                      <a:r>
                        <a:rPr sz="950" b="0">
                          <a:latin typeface="Times New Roman"/>
                        </a:rPr>
                        <a:t>32.6</a:t>
                      </a:r>
                    </a:p>
                  </a:txBody>
                  <a:tcPr marL="36576" marR="36576" marT="18288" marB="18288">
                    <a:solidFill>
                      <a:srgbClr val="F7F3EC"/>
                    </a:solidFill>
                  </a:tcPr>
                </a:tc>
                <a:extLst>
                  <a:ext uri="{0D108BD9-81ED-4DB2-BD59-A6C34878D82A}">
                    <a16:rowId xmlns:a16="http://schemas.microsoft.com/office/drawing/2014/main" val="10003"/>
                  </a:ext>
                </a:extLst>
              </a:tr>
              <a:tr h="310896">
                <a:tc>
                  <a:txBody>
                    <a:bodyPr/>
                    <a:lstStyle/>
                    <a:p>
                      <a:pPr algn="l"/>
                      <a:r>
                        <a:rPr sz="950" b="0">
                          <a:latin typeface="Times New Roman"/>
                        </a:rPr>
                        <a:t>Knot_missing *</a:t>
                      </a:r>
                    </a:p>
                  </a:txBody>
                  <a:tcPr marL="36576" marR="36576" marT="18288" marB="18288">
                    <a:solidFill>
                      <a:srgbClr val="FFFFFF"/>
                    </a:solidFill>
                  </a:tcPr>
                </a:tc>
                <a:tc>
                  <a:txBody>
                    <a:bodyPr/>
                    <a:lstStyle/>
                    <a:p>
                      <a:pPr algn="ctr"/>
                      <a:r>
                        <a:rPr sz="950" b="0">
                          <a:latin typeface="Times New Roman"/>
                        </a:rPr>
                        <a:t>24</a:t>
                      </a:r>
                    </a:p>
                  </a:txBody>
                  <a:tcPr marL="36576" marR="36576" marT="18288" marB="18288">
                    <a:solidFill>
                      <a:srgbClr val="FFFFFF"/>
                    </a:solidFill>
                  </a:tcPr>
                </a:tc>
                <a:tc>
                  <a:txBody>
                    <a:bodyPr/>
                    <a:lstStyle/>
                    <a:p>
                      <a:pPr algn="ctr"/>
                      <a:r>
                        <a:rPr sz="950" b="0">
                          <a:latin typeface="Times New Roman"/>
                        </a:rPr>
                        <a:t>57.9</a:t>
                      </a:r>
                    </a:p>
                  </a:txBody>
                  <a:tcPr marL="36576" marR="36576" marT="18288" marB="18288">
                    <a:solidFill>
                      <a:srgbClr val="FFFFFF"/>
                    </a:solidFill>
                  </a:tcPr>
                </a:tc>
                <a:tc>
                  <a:txBody>
                    <a:bodyPr/>
                    <a:lstStyle/>
                    <a:p>
                      <a:pPr algn="ctr"/>
                      <a:r>
                        <a:rPr sz="950" b="0">
                          <a:latin typeface="Times New Roman"/>
                        </a:rPr>
                        <a:t>62.5</a:t>
                      </a:r>
                    </a:p>
                  </a:txBody>
                  <a:tcPr marL="36576" marR="36576" marT="18288" marB="18288">
                    <a:solidFill>
                      <a:srgbClr val="FFFFFF"/>
                    </a:solidFill>
                  </a:tcPr>
                </a:tc>
                <a:tc>
                  <a:txBody>
                    <a:bodyPr/>
                    <a:lstStyle/>
                    <a:p>
                      <a:pPr algn="ctr"/>
                      <a:r>
                        <a:rPr sz="950" b="0">
                          <a:latin typeface="Times New Roman"/>
                        </a:rPr>
                        <a:t>62.7</a:t>
                      </a:r>
                    </a:p>
                  </a:txBody>
                  <a:tcPr marL="36576" marR="36576" marT="18288" marB="18288">
                    <a:solidFill>
                      <a:srgbClr val="FFFFFF"/>
                    </a:solidFill>
                  </a:tcPr>
                </a:tc>
                <a:tc>
                  <a:txBody>
                    <a:bodyPr/>
                    <a:lstStyle/>
                    <a:p>
                      <a:pPr algn="ctr"/>
                      <a:r>
                        <a:rPr sz="950" b="0">
                          <a:latin typeface="Times New Roman"/>
                        </a:rPr>
                        <a:t>35.7</a:t>
                      </a:r>
                    </a:p>
                  </a:txBody>
                  <a:tcPr marL="36576" marR="36576" marT="18288" marB="18288">
                    <a:solidFill>
                      <a:srgbClr val="FFFFFF"/>
                    </a:solidFill>
                  </a:tcPr>
                </a:tc>
                <a:tc>
                  <a:txBody>
                    <a:bodyPr/>
                    <a:lstStyle/>
                    <a:p>
                      <a:pPr algn="ctr"/>
                      <a:r>
                        <a:rPr sz="950" b="0">
                          <a:latin typeface="Times New Roman"/>
                        </a:rPr>
                        <a:t>80.8</a:t>
                      </a:r>
                    </a:p>
                  </a:txBody>
                  <a:tcPr marL="36576" marR="36576" marT="18288" marB="18288">
                    <a:solidFill>
                      <a:srgbClr val="FFFFFF"/>
                    </a:solidFill>
                  </a:tcPr>
                </a:tc>
                <a:tc>
                  <a:txBody>
                    <a:bodyPr/>
                    <a:lstStyle/>
                    <a:p>
                      <a:pPr algn="ctr"/>
                      <a:r>
                        <a:rPr sz="950" b="0">
                          <a:latin typeface="Times New Roman"/>
                        </a:rPr>
                        <a:t>70.8</a:t>
                      </a:r>
                    </a:p>
                  </a:txBody>
                  <a:tcPr marL="36576" marR="36576" marT="18288" marB="18288">
                    <a:solidFill>
                      <a:srgbClr val="FFFFFF"/>
                    </a:solidFill>
                  </a:tcPr>
                </a:tc>
                <a:tc>
                  <a:txBody>
                    <a:bodyPr/>
                    <a:lstStyle/>
                    <a:p>
                      <a:pPr algn="ctr"/>
                      <a:r>
                        <a:rPr sz="950" b="0">
                          <a:latin typeface="Times New Roman"/>
                        </a:rPr>
                        <a:t>69.6</a:t>
                      </a:r>
                    </a:p>
                  </a:txBody>
                  <a:tcPr marL="36576" marR="36576" marT="18288" marB="18288">
                    <a:solidFill>
                      <a:srgbClr val="FFFFFF"/>
                    </a:solidFill>
                  </a:tcPr>
                </a:tc>
                <a:tc>
                  <a:txBody>
                    <a:bodyPr/>
                    <a:lstStyle/>
                    <a:p>
                      <a:pPr algn="ctr"/>
                      <a:r>
                        <a:rPr sz="950" b="0">
                          <a:latin typeface="Times New Roman"/>
                        </a:rPr>
                        <a:t>34.1</a:t>
                      </a:r>
                    </a:p>
                  </a:txBody>
                  <a:tcPr marL="36576" marR="36576" marT="18288" marB="18288">
                    <a:solidFill>
                      <a:srgbClr val="FFFFFF"/>
                    </a:solidFill>
                  </a:tcPr>
                </a:tc>
                <a:extLst>
                  <a:ext uri="{0D108BD9-81ED-4DB2-BD59-A6C34878D82A}">
                    <a16:rowId xmlns:a16="http://schemas.microsoft.com/office/drawing/2014/main" val="10004"/>
                  </a:ext>
                </a:extLst>
              </a:tr>
              <a:tr h="310896">
                <a:tc>
                  <a:txBody>
                    <a:bodyPr/>
                    <a:lstStyle/>
                    <a:p>
                      <a:pPr algn="l"/>
                      <a:r>
                        <a:rPr sz="950" b="0">
                          <a:latin typeface="Times New Roman"/>
                        </a:rPr>
                        <a:t>Knot_with_crack</a:t>
                      </a:r>
                    </a:p>
                  </a:txBody>
                  <a:tcPr marL="36576" marR="36576" marT="18288" marB="18288">
                    <a:solidFill>
                      <a:srgbClr val="F7F3EC"/>
                    </a:solidFill>
                  </a:tcPr>
                </a:tc>
                <a:tc>
                  <a:txBody>
                    <a:bodyPr/>
                    <a:lstStyle/>
                    <a:p>
                      <a:pPr algn="ctr"/>
                      <a:r>
                        <a:rPr sz="950" b="0">
                          <a:latin typeface="Times New Roman"/>
                        </a:rPr>
                        <a:t>30</a:t>
                      </a:r>
                    </a:p>
                  </a:txBody>
                  <a:tcPr marL="36576" marR="36576" marT="18288" marB="18288">
                    <a:solidFill>
                      <a:srgbClr val="F7F3EC"/>
                    </a:solidFill>
                  </a:tcPr>
                </a:tc>
                <a:tc>
                  <a:txBody>
                    <a:bodyPr/>
                    <a:lstStyle/>
                    <a:p>
                      <a:pPr algn="ctr"/>
                      <a:r>
                        <a:rPr sz="950" b="0">
                          <a:latin typeface="Times New Roman"/>
                        </a:rPr>
                        <a:t>63.2</a:t>
                      </a:r>
                    </a:p>
                  </a:txBody>
                  <a:tcPr marL="36576" marR="36576" marT="18288" marB="18288">
                    <a:solidFill>
                      <a:srgbClr val="F7F3EC"/>
                    </a:solidFill>
                  </a:tcPr>
                </a:tc>
                <a:tc>
                  <a:txBody>
                    <a:bodyPr/>
                    <a:lstStyle/>
                    <a:p>
                      <a:pPr algn="ctr"/>
                      <a:r>
                        <a:rPr sz="950" b="0">
                          <a:latin typeface="Times New Roman"/>
                        </a:rPr>
                        <a:t>63.3</a:t>
                      </a:r>
                    </a:p>
                  </a:txBody>
                  <a:tcPr marL="36576" marR="36576" marT="18288" marB="18288">
                    <a:solidFill>
                      <a:srgbClr val="F7F3EC"/>
                    </a:solidFill>
                  </a:tcPr>
                </a:tc>
                <a:tc>
                  <a:txBody>
                    <a:bodyPr/>
                    <a:lstStyle/>
                    <a:p>
                      <a:pPr algn="ctr"/>
                      <a:r>
                        <a:rPr sz="950" b="0">
                          <a:latin typeface="Times New Roman"/>
                        </a:rPr>
                        <a:t>61.7</a:t>
                      </a:r>
                    </a:p>
                  </a:txBody>
                  <a:tcPr marL="36576" marR="36576" marT="18288" marB="18288">
                    <a:solidFill>
                      <a:srgbClr val="F7F3EC"/>
                    </a:solidFill>
                  </a:tcPr>
                </a:tc>
                <a:tc>
                  <a:txBody>
                    <a:bodyPr/>
                    <a:lstStyle/>
                    <a:p>
                      <a:pPr algn="ctr"/>
                      <a:r>
                        <a:rPr sz="950" b="0">
                          <a:latin typeface="Times New Roman"/>
                        </a:rPr>
                        <a:t>38.4</a:t>
                      </a:r>
                    </a:p>
                  </a:txBody>
                  <a:tcPr marL="36576" marR="36576" marT="18288" marB="18288">
                    <a:solidFill>
                      <a:srgbClr val="F7F3EC"/>
                    </a:solidFill>
                  </a:tcPr>
                </a:tc>
                <a:tc>
                  <a:txBody>
                    <a:bodyPr/>
                    <a:lstStyle/>
                    <a:p>
                      <a:pPr algn="ctr"/>
                      <a:r>
                        <a:rPr sz="950" b="0">
                          <a:latin typeface="Times New Roman"/>
                        </a:rPr>
                        <a:t>80.9</a:t>
                      </a:r>
                    </a:p>
                  </a:txBody>
                  <a:tcPr marL="36576" marR="36576" marT="18288" marB="18288">
                    <a:solidFill>
                      <a:srgbClr val="F7F3EC"/>
                    </a:solidFill>
                  </a:tcPr>
                </a:tc>
                <a:tc>
                  <a:txBody>
                    <a:bodyPr/>
                    <a:lstStyle/>
                    <a:p>
                      <a:pPr algn="ctr"/>
                      <a:r>
                        <a:rPr sz="950" b="0">
                          <a:latin typeface="Times New Roman"/>
                        </a:rPr>
                        <a:t>63.3</a:t>
                      </a:r>
                    </a:p>
                  </a:txBody>
                  <a:tcPr marL="36576" marR="36576" marT="18288" marB="18288">
                    <a:solidFill>
                      <a:srgbClr val="F7F3EC"/>
                    </a:solidFill>
                  </a:tcPr>
                </a:tc>
                <a:tc>
                  <a:txBody>
                    <a:bodyPr/>
                    <a:lstStyle/>
                    <a:p>
                      <a:pPr algn="ctr"/>
                      <a:r>
                        <a:rPr sz="950" b="0">
                          <a:latin typeface="Times New Roman"/>
                        </a:rPr>
                        <a:t>67.5</a:t>
                      </a:r>
                    </a:p>
                  </a:txBody>
                  <a:tcPr marL="36576" marR="36576" marT="18288" marB="18288">
                    <a:solidFill>
                      <a:srgbClr val="F7F3EC"/>
                    </a:solidFill>
                  </a:tcPr>
                </a:tc>
                <a:tc>
                  <a:txBody>
                    <a:bodyPr/>
                    <a:lstStyle/>
                    <a:p>
                      <a:pPr algn="ctr"/>
                      <a:r>
                        <a:rPr sz="950" b="0">
                          <a:latin typeface="Times New Roman"/>
                        </a:rPr>
                        <a:t>42.8</a:t>
                      </a:r>
                    </a:p>
                  </a:txBody>
                  <a:tcPr marL="36576" marR="36576" marT="18288" marB="18288">
                    <a:solidFill>
                      <a:srgbClr val="F7F3EC"/>
                    </a:solidFill>
                  </a:tcPr>
                </a:tc>
                <a:extLst>
                  <a:ext uri="{0D108BD9-81ED-4DB2-BD59-A6C34878D82A}">
                    <a16:rowId xmlns:a16="http://schemas.microsoft.com/office/drawing/2014/main" val="10005"/>
                  </a:ext>
                </a:extLst>
              </a:tr>
              <a:tr h="310896">
                <a:tc>
                  <a:txBody>
                    <a:bodyPr/>
                    <a:lstStyle/>
                    <a:p>
                      <a:pPr algn="l"/>
                      <a:r>
                        <a:rPr sz="950" b="0">
                          <a:latin typeface="Times New Roman"/>
                        </a:rPr>
                        <a:t>Resin</a:t>
                      </a:r>
                    </a:p>
                  </a:txBody>
                  <a:tcPr marL="36576" marR="36576" marT="18288" marB="18288">
                    <a:solidFill>
                      <a:srgbClr val="FFFFFF"/>
                    </a:solidFill>
                  </a:tcPr>
                </a:tc>
                <a:tc>
                  <a:txBody>
                    <a:bodyPr/>
                    <a:lstStyle/>
                    <a:p>
                      <a:pPr algn="ctr"/>
                      <a:r>
                        <a:rPr sz="950" b="0">
                          <a:latin typeface="Times New Roman"/>
                        </a:rPr>
                        <a:t>69</a:t>
                      </a:r>
                    </a:p>
                  </a:txBody>
                  <a:tcPr marL="36576" marR="36576" marT="18288" marB="18288">
                    <a:solidFill>
                      <a:srgbClr val="FFFFFF"/>
                    </a:solidFill>
                  </a:tcPr>
                </a:tc>
                <a:tc>
                  <a:txBody>
                    <a:bodyPr/>
                    <a:lstStyle/>
                    <a:p>
                      <a:pPr algn="ctr"/>
                      <a:r>
                        <a:rPr sz="950" b="0">
                          <a:latin typeface="Times New Roman"/>
                        </a:rPr>
                        <a:t>68.0</a:t>
                      </a:r>
                    </a:p>
                  </a:txBody>
                  <a:tcPr marL="36576" marR="36576" marT="18288" marB="18288">
                    <a:solidFill>
                      <a:srgbClr val="FFFFFF"/>
                    </a:solidFill>
                  </a:tcPr>
                </a:tc>
                <a:tc>
                  <a:txBody>
                    <a:bodyPr/>
                    <a:lstStyle/>
                    <a:p>
                      <a:pPr algn="ctr"/>
                      <a:r>
                        <a:rPr sz="950" b="0">
                          <a:latin typeface="Times New Roman"/>
                        </a:rPr>
                        <a:t>56.5</a:t>
                      </a:r>
                    </a:p>
                  </a:txBody>
                  <a:tcPr marL="36576" marR="36576" marT="18288" marB="18288">
                    <a:solidFill>
                      <a:srgbClr val="FFFFFF"/>
                    </a:solidFill>
                  </a:tcPr>
                </a:tc>
                <a:tc>
                  <a:txBody>
                    <a:bodyPr/>
                    <a:lstStyle/>
                    <a:p>
                      <a:pPr algn="ctr"/>
                      <a:r>
                        <a:rPr sz="950" b="0">
                          <a:latin typeface="Times New Roman"/>
                        </a:rPr>
                        <a:t>59.5</a:t>
                      </a:r>
                    </a:p>
                  </a:txBody>
                  <a:tcPr marL="36576" marR="36576" marT="18288" marB="18288">
                    <a:solidFill>
                      <a:srgbClr val="FFFFFF"/>
                    </a:solidFill>
                  </a:tcPr>
                </a:tc>
                <a:tc>
                  <a:txBody>
                    <a:bodyPr/>
                    <a:lstStyle/>
                    <a:p>
                      <a:pPr algn="ctr"/>
                      <a:r>
                        <a:rPr sz="950" b="0">
                          <a:latin typeface="Times New Roman"/>
                        </a:rPr>
                        <a:t>29.9</a:t>
                      </a:r>
                    </a:p>
                  </a:txBody>
                  <a:tcPr marL="36576" marR="36576" marT="18288" marB="18288">
                    <a:solidFill>
                      <a:srgbClr val="FFFFFF"/>
                    </a:solidFill>
                  </a:tcPr>
                </a:tc>
                <a:tc>
                  <a:txBody>
                    <a:bodyPr/>
                    <a:lstStyle/>
                    <a:p>
                      <a:pPr algn="ctr"/>
                      <a:r>
                        <a:rPr sz="950" b="0">
                          <a:latin typeface="Times New Roman"/>
                        </a:rPr>
                        <a:t>81.9</a:t>
                      </a:r>
                    </a:p>
                  </a:txBody>
                  <a:tcPr marL="36576" marR="36576" marT="18288" marB="18288">
                    <a:solidFill>
                      <a:srgbClr val="FFFFFF"/>
                    </a:solidFill>
                  </a:tcPr>
                </a:tc>
                <a:tc>
                  <a:txBody>
                    <a:bodyPr/>
                    <a:lstStyle/>
                    <a:p>
                      <a:pPr algn="ctr"/>
                      <a:r>
                        <a:rPr sz="950" b="0">
                          <a:latin typeface="Times New Roman"/>
                        </a:rPr>
                        <a:t>53.6</a:t>
                      </a:r>
                    </a:p>
                  </a:txBody>
                  <a:tcPr marL="36576" marR="36576" marT="18288" marB="18288">
                    <a:solidFill>
                      <a:srgbClr val="FFFFFF"/>
                    </a:solidFill>
                  </a:tcPr>
                </a:tc>
                <a:tc>
                  <a:txBody>
                    <a:bodyPr/>
                    <a:lstStyle/>
                    <a:p>
                      <a:pPr algn="ctr"/>
                      <a:r>
                        <a:rPr sz="950" b="0">
                          <a:latin typeface="Times New Roman"/>
                        </a:rPr>
                        <a:t>60.4</a:t>
                      </a:r>
                    </a:p>
                  </a:txBody>
                  <a:tcPr marL="36576" marR="36576" marT="18288" marB="18288">
                    <a:solidFill>
                      <a:srgbClr val="FFFFFF"/>
                    </a:solidFill>
                  </a:tcPr>
                </a:tc>
                <a:tc>
                  <a:txBody>
                    <a:bodyPr/>
                    <a:lstStyle/>
                    <a:p>
                      <a:pPr algn="ctr"/>
                      <a:r>
                        <a:rPr sz="950" b="0">
                          <a:latin typeface="Times New Roman"/>
                        </a:rPr>
                        <a:t>29.5</a:t>
                      </a:r>
                    </a:p>
                  </a:txBody>
                  <a:tcPr marL="36576" marR="36576" marT="18288" marB="18288">
                    <a:solidFill>
                      <a:srgbClr val="FFFFFF"/>
                    </a:solidFill>
                  </a:tcPr>
                </a:tc>
                <a:extLst>
                  <a:ext uri="{0D108BD9-81ED-4DB2-BD59-A6C34878D82A}">
                    <a16:rowId xmlns:a16="http://schemas.microsoft.com/office/drawing/2014/main" val="10006"/>
                  </a:ext>
                </a:extLst>
              </a:tr>
              <a:tr h="310896">
                <a:tc>
                  <a:txBody>
                    <a:bodyPr/>
                    <a:lstStyle/>
                    <a:p>
                      <a:pPr algn="l"/>
                      <a:r>
                        <a:rPr sz="950" b="0">
                          <a:latin typeface="Times New Roman"/>
                        </a:rPr>
                        <a:t>Crack</a:t>
                      </a:r>
                    </a:p>
                  </a:txBody>
                  <a:tcPr marL="36576" marR="36576" marT="18288" marB="18288">
                    <a:solidFill>
                      <a:srgbClr val="F7F3EC"/>
                    </a:solidFill>
                  </a:tcPr>
                </a:tc>
                <a:tc>
                  <a:txBody>
                    <a:bodyPr/>
                    <a:lstStyle/>
                    <a:p>
                      <a:pPr algn="ctr"/>
                      <a:r>
                        <a:rPr sz="950" b="0">
                          <a:latin typeface="Times New Roman"/>
                        </a:rPr>
                        <a:t>95</a:t>
                      </a:r>
                    </a:p>
                  </a:txBody>
                  <a:tcPr marL="36576" marR="36576" marT="18288" marB="18288">
                    <a:solidFill>
                      <a:srgbClr val="F7F3EC"/>
                    </a:solidFill>
                  </a:tcPr>
                </a:tc>
                <a:tc>
                  <a:txBody>
                    <a:bodyPr/>
                    <a:lstStyle/>
                    <a:p>
                      <a:pPr algn="ctr"/>
                      <a:r>
                        <a:rPr sz="950" b="0">
                          <a:latin typeface="Times New Roman"/>
                        </a:rPr>
                        <a:t>56.8</a:t>
                      </a:r>
                    </a:p>
                  </a:txBody>
                  <a:tcPr marL="36576" marR="36576" marT="18288" marB="18288">
                    <a:solidFill>
                      <a:srgbClr val="F7F3EC"/>
                    </a:solidFill>
                  </a:tcPr>
                </a:tc>
                <a:tc>
                  <a:txBody>
                    <a:bodyPr/>
                    <a:lstStyle/>
                    <a:p>
                      <a:pPr algn="ctr"/>
                      <a:r>
                        <a:rPr sz="950" b="0">
                          <a:latin typeface="Times New Roman"/>
                        </a:rPr>
                        <a:t>72.6</a:t>
                      </a:r>
                    </a:p>
                  </a:txBody>
                  <a:tcPr marL="36576" marR="36576" marT="18288" marB="18288">
                    <a:solidFill>
                      <a:srgbClr val="F7F3EC"/>
                    </a:solidFill>
                  </a:tcPr>
                </a:tc>
                <a:tc>
                  <a:txBody>
                    <a:bodyPr/>
                    <a:lstStyle/>
                    <a:p>
                      <a:pPr algn="ctr"/>
                      <a:r>
                        <a:rPr sz="950" b="0">
                          <a:latin typeface="Times New Roman"/>
                        </a:rPr>
                        <a:t>57.7</a:t>
                      </a:r>
                    </a:p>
                  </a:txBody>
                  <a:tcPr marL="36576" marR="36576" marT="18288" marB="18288">
                    <a:solidFill>
                      <a:srgbClr val="F7F3EC"/>
                    </a:solidFill>
                  </a:tcPr>
                </a:tc>
                <a:tc>
                  <a:txBody>
                    <a:bodyPr/>
                    <a:lstStyle/>
                    <a:p>
                      <a:pPr algn="ctr"/>
                      <a:r>
                        <a:rPr sz="950" b="0">
                          <a:latin typeface="Times New Roman"/>
                        </a:rPr>
                        <a:t>31.0</a:t>
                      </a:r>
                    </a:p>
                  </a:txBody>
                  <a:tcPr marL="36576" marR="36576" marT="18288" marB="18288">
                    <a:solidFill>
                      <a:srgbClr val="F7F3EC"/>
                    </a:solidFill>
                  </a:tcPr>
                </a:tc>
                <a:tc>
                  <a:txBody>
                    <a:bodyPr/>
                    <a:lstStyle/>
                    <a:p>
                      <a:pPr algn="ctr"/>
                      <a:r>
                        <a:rPr sz="950" b="0">
                          <a:latin typeface="Times New Roman"/>
                        </a:rPr>
                        <a:t>60.5</a:t>
                      </a:r>
                    </a:p>
                  </a:txBody>
                  <a:tcPr marL="36576" marR="36576" marT="18288" marB="18288">
                    <a:solidFill>
                      <a:srgbClr val="F7F3EC"/>
                    </a:solidFill>
                  </a:tcPr>
                </a:tc>
                <a:tc>
                  <a:txBody>
                    <a:bodyPr/>
                    <a:lstStyle/>
                    <a:p>
                      <a:pPr algn="ctr"/>
                      <a:r>
                        <a:rPr sz="950" b="0">
                          <a:latin typeface="Times New Roman"/>
                        </a:rPr>
                        <a:t>63.2</a:t>
                      </a:r>
                    </a:p>
                  </a:txBody>
                  <a:tcPr marL="36576" marR="36576" marT="18288" marB="18288">
                    <a:solidFill>
                      <a:srgbClr val="F7F3EC"/>
                    </a:solidFill>
                  </a:tcPr>
                </a:tc>
                <a:tc>
                  <a:txBody>
                    <a:bodyPr/>
                    <a:lstStyle/>
                    <a:p>
                      <a:pPr algn="ctr"/>
                      <a:r>
                        <a:rPr sz="950" b="0">
                          <a:latin typeface="Times New Roman"/>
                        </a:rPr>
                        <a:t>53.0</a:t>
                      </a:r>
                    </a:p>
                  </a:txBody>
                  <a:tcPr marL="36576" marR="36576" marT="18288" marB="18288">
                    <a:solidFill>
                      <a:srgbClr val="F7F3EC"/>
                    </a:solidFill>
                  </a:tcPr>
                </a:tc>
                <a:tc>
                  <a:txBody>
                    <a:bodyPr/>
                    <a:lstStyle/>
                    <a:p>
                      <a:pPr algn="ctr"/>
                      <a:r>
                        <a:rPr sz="950" b="0">
                          <a:latin typeface="Times New Roman"/>
                        </a:rPr>
                        <a:t>26.3</a:t>
                      </a:r>
                    </a:p>
                  </a:txBody>
                  <a:tcPr marL="36576" marR="36576" marT="18288" marB="18288">
                    <a:solidFill>
                      <a:srgbClr val="F7F3EC"/>
                    </a:solidFill>
                  </a:tcPr>
                </a:tc>
                <a:extLst>
                  <a:ext uri="{0D108BD9-81ED-4DB2-BD59-A6C34878D82A}">
                    <a16:rowId xmlns:a16="http://schemas.microsoft.com/office/drawing/2014/main" val="10007"/>
                  </a:ext>
                </a:extLst>
              </a:tr>
              <a:tr h="310896">
                <a:tc>
                  <a:txBody>
                    <a:bodyPr/>
                    <a:lstStyle/>
                    <a:p>
                      <a:pPr algn="l"/>
                      <a:r>
                        <a:rPr sz="950" b="0">
                          <a:latin typeface="Times New Roman"/>
                        </a:rPr>
                        <a:t>Quartzity *</a:t>
                      </a:r>
                    </a:p>
                  </a:txBody>
                  <a:tcPr marL="36576" marR="36576" marT="18288" marB="18288">
                    <a:solidFill>
                      <a:srgbClr val="FFFFFF"/>
                    </a:solidFill>
                  </a:tcPr>
                </a:tc>
                <a:tc>
                  <a:txBody>
                    <a:bodyPr/>
                    <a:lstStyle/>
                    <a:p>
                      <a:pPr algn="ctr"/>
                      <a:r>
                        <a:rPr sz="950" b="0">
                          <a:latin typeface="Times New Roman"/>
                        </a:rPr>
                        <a:t>10</a:t>
                      </a:r>
                    </a:p>
                  </a:txBody>
                  <a:tcPr marL="36576" marR="36576" marT="18288" marB="18288">
                    <a:solidFill>
                      <a:srgbClr val="FFFFFF"/>
                    </a:solidFill>
                  </a:tcPr>
                </a:tc>
                <a:tc>
                  <a:txBody>
                    <a:bodyPr/>
                    <a:lstStyle/>
                    <a:p>
                      <a:pPr algn="ctr"/>
                      <a:r>
                        <a:rPr sz="950" b="0">
                          <a:latin typeface="Times New Roman"/>
                        </a:rPr>
                        <a:t>30.7</a:t>
                      </a:r>
                    </a:p>
                  </a:txBody>
                  <a:tcPr marL="36576" marR="36576" marT="18288" marB="18288">
                    <a:solidFill>
                      <a:srgbClr val="FFFFFF"/>
                    </a:solidFill>
                  </a:tcPr>
                </a:tc>
                <a:tc>
                  <a:txBody>
                    <a:bodyPr/>
                    <a:lstStyle/>
                    <a:p>
                      <a:pPr algn="ctr"/>
                      <a:r>
                        <a:rPr sz="950" b="0">
                          <a:latin typeface="Times New Roman"/>
                        </a:rPr>
                        <a:t>22.3</a:t>
                      </a:r>
                    </a:p>
                  </a:txBody>
                  <a:tcPr marL="36576" marR="36576" marT="18288" marB="18288">
                    <a:solidFill>
                      <a:srgbClr val="FFFFFF"/>
                    </a:solidFill>
                  </a:tcPr>
                </a:tc>
                <a:tc>
                  <a:txBody>
                    <a:bodyPr/>
                    <a:lstStyle/>
                    <a:p>
                      <a:pPr algn="ctr"/>
                      <a:r>
                        <a:rPr sz="950" b="0">
                          <a:latin typeface="Times New Roman"/>
                        </a:rPr>
                        <a:t>15.4</a:t>
                      </a:r>
                    </a:p>
                  </a:txBody>
                  <a:tcPr marL="36576" marR="36576" marT="18288" marB="18288">
                    <a:solidFill>
                      <a:srgbClr val="FFFFFF"/>
                    </a:solidFill>
                  </a:tcPr>
                </a:tc>
                <a:tc>
                  <a:txBody>
                    <a:bodyPr/>
                    <a:lstStyle/>
                    <a:p>
                      <a:pPr algn="ctr"/>
                      <a:r>
                        <a:rPr sz="950" b="0">
                          <a:latin typeface="Times New Roman"/>
                        </a:rPr>
                        <a:t>5.7</a:t>
                      </a:r>
                    </a:p>
                  </a:txBody>
                  <a:tcPr marL="36576" marR="36576" marT="18288" marB="18288">
                    <a:solidFill>
                      <a:srgbClr val="FFFFFF"/>
                    </a:solidFill>
                  </a:tcPr>
                </a:tc>
                <a:tc>
                  <a:txBody>
                    <a:bodyPr/>
                    <a:lstStyle/>
                    <a:p>
                      <a:pPr algn="ctr"/>
                      <a:r>
                        <a:rPr sz="950" b="0">
                          <a:latin typeface="Times New Roman"/>
                        </a:rPr>
                        <a:t>16.7</a:t>
                      </a:r>
                    </a:p>
                  </a:txBody>
                  <a:tcPr marL="36576" marR="36576" marT="18288" marB="18288">
                    <a:solidFill>
                      <a:srgbClr val="FFFFFF"/>
                    </a:solidFill>
                  </a:tcPr>
                </a:tc>
                <a:tc>
                  <a:txBody>
                    <a:bodyPr/>
                    <a:lstStyle/>
                    <a:p>
                      <a:pPr algn="ctr"/>
                      <a:r>
                        <a:rPr sz="950" b="0">
                          <a:latin typeface="Times New Roman"/>
                        </a:rPr>
                        <a:t>30.0</a:t>
                      </a:r>
                    </a:p>
                  </a:txBody>
                  <a:tcPr marL="36576" marR="36576" marT="18288" marB="18288">
                    <a:solidFill>
                      <a:srgbClr val="FFFFFF"/>
                    </a:solidFill>
                  </a:tcPr>
                </a:tc>
                <a:tc>
                  <a:txBody>
                    <a:bodyPr/>
                    <a:lstStyle/>
                    <a:p>
                      <a:pPr algn="ctr"/>
                      <a:r>
                        <a:rPr sz="950" b="0">
                          <a:latin typeface="Times New Roman"/>
                        </a:rPr>
                        <a:t>13.4</a:t>
                      </a:r>
                    </a:p>
                  </a:txBody>
                  <a:tcPr marL="36576" marR="36576" marT="18288" marB="18288">
                    <a:solidFill>
                      <a:srgbClr val="FFFFFF"/>
                    </a:solidFill>
                  </a:tcPr>
                </a:tc>
                <a:tc>
                  <a:txBody>
                    <a:bodyPr/>
                    <a:lstStyle/>
                    <a:p>
                      <a:pPr algn="ctr"/>
                      <a:r>
                        <a:rPr sz="950" b="0">
                          <a:latin typeface="Times New Roman"/>
                        </a:rPr>
                        <a:t>3.0</a:t>
                      </a:r>
                    </a:p>
                  </a:txBody>
                  <a:tcPr marL="36576" marR="36576" marT="18288" marB="18288">
                    <a:solidFill>
                      <a:srgbClr val="FFFFFF"/>
                    </a:solidFill>
                  </a:tcPr>
                </a:tc>
                <a:extLst>
                  <a:ext uri="{0D108BD9-81ED-4DB2-BD59-A6C34878D82A}">
                    <a16:rowId xmlns:a16="http://schemas.microsoft.com/office/drawing/2014/main" val="10008"/>
                  </a:ext>
                </a:extLst>
              </a:tr>
              <a:tr h="310896">
                <a:tc>
                  <a:txBody>
                    <a:bodyPr/>
                    <a:lstStyle/>
                    <a:p>
                      <a:pPr algn="l"/>
                      <a:r>
                        <a:rPr sz="950" b="1">
                          <a:latin typeface="Times New Roman"/>
                        </a:rPr>
                        <a:t>ALL</a:t>
                      </a:r>
                    </a:p>
                  </a:txBody>
                  <a:tcPr marL="36576" marR="36576" marT="18288" marB="18288">
                    <a:solidFill>
                      <a:srgbClr val="F7F3EC"/>
                    </a:solidFill>
                  </a:tcPr>
                </a:tc>
                <a:tc>
                  <a:txBody>
                    <a:bodyPr/>
                    <a:lstStyle/>
                    <a:p>
                      <a:pPr algn="ctr"/>
                      <a:r>
                        <a:rPr sz="950" b="1">
                          <a:latin typeface="Times New Roman"/>
                        </a:rPr>
                        <a:t>1023</a:t>
                      </a:r>
                    </a:p>
                  </a:txBody>
                  <a:tcPr marL="36576" marR="36576" marT="18288" marB="18288">
                    <a:solidFill>
                      <a:srgbClr val="F7F3EC"/>
                    </a:solidFill>
                  </a:tcPr>
                </a:tc>
                <a:tc>
                  <a:txBody>
                    <a:bodyPr/>
                    <a:lstStyle/>
                    <a:p>
                      <a:pPr algn="ctr"/>
                      <a:r>
                        <a:rPr sz="950" b="1">
                          <a:latin typeface="Times New Roman"/>
                        </a:rPr>
                        <a:t>63.4</a:t>
                      </a:r>
                    </a:p>
                  </a:txBody>
                  <a:tcPr marL="36576" marR="36576" marT="18288" marB="18288">
                    <a:solidFill>
                      <a:srgbClr val="F7F3EC"/>
                    </a:solidFill>
                  </a:tcPr>
                </a:tc>
                <a:tc>
                  <a:txBody>
                    <a:bodyPr/>
                    <a:lstStyle/>
                    <a:p>
                      <a:pPr algn="ctr"/>
                      <a:r>
                        <a:rPr sz="950" b="1">
                          <a:latin typeface="Times New Roman"/>
                        </a:rPr>
                        <a:t>66.2</a:t>
                      </a:r>
                    </a:p>
                  </a:txBody>
                  <a:tcPr marL="36576" marR="36576" marT="18288" marB="18288">
                    <a:solidFill>
                      <a:srgbClr val="F7F3EC"/>
                    </a:solidFill>
                  </a:tcPr>
                </a:tc>
                <a:tc>
                  <a:txBody>
                    <a:bodyPr/>
                    <a:lstStyle/>
                    <a:p>
                      <a:pPr algn="ctr"/>
                      <a:r>
                        <a:rPr sz="950" b="1">
                          <a:latin typeface="Times New Roman"/>
                        </a:rPr>
                        <a:t>63.0</a:t>
                      </a:r>
                    </a:p>
                  </a:txBody>
                  <a:tcPr marL="36576" marR="36576" marT="18288" marB="18288">
                    <a:solidFill>
                      <a:srgbClr val="F7F3EC"/>
                    </a:solidFill>
                  </a:tcPr>
                </a:tc>
                <a:tc>
                  <a:txBody>
                    <a:bodyPr/>
                    <a:lstStyle/>
                    <a:p>
                      <a:pPr algn="ctr"/>
                      <a:r>
                        <a:rPr sz="950" b="1">
                          <a:latin typeface="Times New Roman"/>
                        </a:rPr>
                        <a:t>34.0</a:t>
                      </a:r>
                    </a:p>
                  </a:txBody>
                  <a:tcPr marL="36576" marR="36576" marT="18288" marB="18288">
                    <a:solidFill>
                      <a:srgbClr val="F7F3EC"/>
                    </a:solidFill>
                  </a:tcPr>
                </a:tc>
                <a:tc>
                  <a:txBody>
                    <a:bodyPr/>
                    <a:lstStyle/>
                    <a:p>
                      <a:pPr algn="ctr"/>
                      <a:r>
                        <a:rPr sz="950" b="1">
                          <a:latin typeface="Times New Roman"/>
                        </a:rPr>
                        <a:t>71.0</a:t>
                      </a:r>
                    </a:p>
                  </a:txBody>
                  <a:tcPr marL="36576" marR="36576" marT="18288" marB="18288">
                    <a:solidFill>
                      <a:srgbClr val="F7F3EC"/>
                    </a:solidFill>
                  </a:tcPr>
                </a:tc>
                <a:tc>
                  <a:txBody>
                    <a:bodyPr/>
                    <a:lstStyle/>
                    <a:p>
                      <a:pPr algn="ctr"/>
                      <a:r>
                        <a:rPr sz="950" b="1">
                          <a:latin typeface="Times New Roman"/>
                        </a:rPr>
                        <a:t>64.1</a:t>
                      </a:r>
                    </a:p>
                  </a:txBody>
                  <a:tcPr marL="36576" marR="36576" marT="18288" marB="18288">
                    <a:solidFill>
                      <a:srgbClr val="F7F3EC"/>
                    </a:solidFill>
                  </a:tcPr>
                </a:tc>
                <a:tc>
                  <a:txBody>
                    <a:bodyPr/>
                    <a:lstStyle/>
                    <a:p>
                      <a:pPr algn="ctr"/>
                      <a:r>
                        <a:rPr sz="950" b="1">
                          <a:latin typeface="Times New Roman"/>
                        </a:rPr>
                        <a:t>64.6</a:t>
                      </a:r>
                    </a:p>
                  </a:txBody>
                  <a:tcPr marL="36576" marR="36576" marT="18288" marB="18288">
                    <a:solidFill>
                      <a:srgbClr val="F7F3EC"/>
                    </a:solidFill>
                  </a:tcPr>
                </a:tc>
                <a:tc>
                  <a:txBody>
                    <a:bodyPr/>
                    <a:lstStyle/>
                    <a:p>
                      <a:pPr algn="ctr"/>
                      <a:r>
                        <a:rPr sz="950" b="1">
                          <a:latin typeface="Times New Roman"/>
                        </a:rPr>
                        <a:t>33.4</a:t>
                      </a:r>
                    </a:p>
                  </a:txBody>
                  <a:tcPr marL="36576" marR="36576" marT="18288" marB="18288">
                    <a:solidFill>
                      <a:srgbClr val="F7F3EC"/>
                    </a:solidFill>
                  </a:tcPr>
                </a:tc>
                <a:extLst>
                  <a:ext uri="{0D108BD9-81ED-4DB2-BD59-A6C34878D82A}">
                    <a16:rowId xmlns:a16="http://schemas.microsoft.com/office/drawing/2014/main" val="10009"/>
                  </a:ext>
                </a:extLst>
              </a:tr>
            </a:tbl>
          </a:graphicData>
        </a:graphic>
      </p:graphicFrame>
      <p:sp>
        <p:nvSpPr>
          <p:cNvPr id="301" name="TextBox 300"/>
          <p:cNvSpPr txBox="1"/>
          <p:nvPr/>
        </p:nvSpPr>
        <p:spPr>
          <a:xfrm>
            <a:off x="274320" y="5074920"/>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100">
                <a:latin typeface="Times New Roman"/>
                <a:ea typeface="Times New Roman"/>
                <a:cs typeface="Times New Roman"/>
                <a:sym typeface="Times New Roman"/>
              </a:rPr>
              <a:t>Each model evaluated exactly once on boards never used for training, validation or threshold choice. * fewer than 25 test boxes: indicative only.</a:t>
            </a:r>
          </a:p>
          <a:p>
            <a:pPr marL="0" lvl="0" indent="0" algn="l">
              <a:lnSpc>
                <a:spcPct val="105000"/>
              </a:lnSpc>
              <a:spcBef>
                <a:spcPts val="200"/>
              </a:spcBef>
              <a:spcAft>
                <a:spcPts val="0"/>
              </a:spcAft>
              <a:buNone/>
            </a:pPr>
            <a:r>
              <a:rPr lang="en-US" sz="1100">
                <a:latin typeface="Times New Roman"/>
                <a:ea typeface="Times New Roman"/>
                <a:cs typeface="Times New Roman"/>
                <a:sym typeface="Times New Roman"/>
              </a:rPr>
              <a:t>Knot classes above 85 mAP50; Crack 53-58; Quartzity (125 training boxes) not yet learned; remaining errors are between visually similar knot sub-types.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0"/>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18</a:t>
            </a:fld>
            <a:endParaRPr/>
          </a:p>
        </p:txBody>
      </p:sp>
      <p:sp>
        <p:nvSpPr>
          <p:cNvPr id="305" name="Google Shape;305;p30"/>
          <p:cNvSpPr txBox="1"/>
          <p:nvPr/>
        </p:nvSpPr>
        <p:spPr>
          <a:xfrm>
            <a:off x="573740" y="340659"/>
            <a:ext cx="786384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41534B"/>
                </a:solidFill>
                <a:latin typeface="Times New Roman"/>
                <a:ea typeface="Times New Roman"/>
                <a:cs typeface="Times New Roman"/>
                <a:sym typeface="Times New Roman"/>
              </a:rPr>
              <a:t>MODEL COMPARISON: YOLO11m vs YOLO11s</a:t>
            </a:r>
            <a:endParaRPr sz="1400" b="0" i="0" u="none" strike="noStrike" cap="none">
              <a:solidFill>
                <a:srgbClr val="000000"/>
              </a:solidFill>
              <a:latin typeface="Arial"/>
              <a:ea typeface="Arial"/>
              <a:cs typeface="Arial"/>
              <a:sym typeface="Arial"/>
            </a:endParaRPr>
          </a:p>
        </p:txBody>
      </p:sp>
      <p:sp>
        <p:nvSpPr>
          <p:cNvPr id="307" name="Google Shape;307;p30"/>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308" name="Google Shape;308;p30"/>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309" name="Google Shape;309;p30"/>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310" name="Google Shape;310;p30"/>
          <p:cNvPicPr preferRelativeResize="0"/>
          <p:nvPr/>
        </p:nvPicPr>
        <p:blipFill rotWithShape="1">
          <a:blip r:embed="rId5">
            <a:alphaModFix/>
          </a:blip>
          <a:srcRect/>
          <a:stretch/>
        </p:blipFill>
        <p:spPr>
          <a:xfrm>
            <a:off x="8450860" y="2542563"/>
            <a:ext cx="693139" cy="1233357"/>
          </a:xfrm>
          <a:prstGeom prst="rect">
            <a:avLst/>
          </a:prstGeom>
          <a:noFill/>
          <a:ln>
            <a:noFill/>
          </a:ln>
        </p:spPr>
      </p:pic>
      <p:pic>
        <p:nvPicPr>
          <p:cNvPr id="311" name="Google Shape;311;p30"/>
          <p:cNvPicPr preferRelativeResize="0"/>
          <p:nvPr/>
        </p:nvPicPr>
        <p:blipFill rotWithShape="1">
          <a:blip r:embed="rId6">
            <a:alphaModFix/>
          </a:blip>
          <a:srcRect/>
          <a:stretch/>
        </p:blipFill>
        <p:spPr>
          <a:xfrm>
            <a:off x="8450861" y="6157980"/>
            <a:ext cx="680353" cy="703613"/>
          </a:xfrm>
          <a:prstGeom prst="rect">
            <a:avLst/>
          </a:prstGeom>
          <a:noFill/>
          <a:ln>
            <a:noFill/>
          </a:ln>
        </p:spPr>
      </p:pic>
      <p:graphicFrame>
        <p:nvGraphicFramePr>
          <p:cNvPr id="312" name="Table 311"/>
          <p:cNvGraphicFramePr>
            <a:graphicFrameLocks noGrp="1"/>
          </p:cNvGraphicFramePr>
          <p:nvPr/>
        </p:nvGraphicFramePr>
        <p:xfrm>
          <a:off x="274320" y="868680"/>
          <a:ext cx="4846320" cy="356616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56616">
                <a:tc>
                  <a:txBody>
                    <a:bodyPr/>
                    <a:lstStyle/>
                    <a:p>
                      <a:pPr algn="l"/>
                      <a:r>
                        <a:rPr sz="1000" b="1">
                          <a:solidFill>
                            <a:srgbClr val="FFFFFF"/>
                          </a:solidFill>
                          <a:latin typeface="Times New Roman"/>
                        </a:rPr>
                        <a:t>Aspect</a:t>
                      </a:r>
                    </a:p>
                  </a:txBody>
                  <a:tcPr marL="36576" marR="36576" marT="18288" marB="18288">
                    <a:solidFill>
                      <a:srgbClr val="41534B"/>
                    </a:solidFill>
                  </a:tcPr>
                </a:tc>
                <a:tc>
                  <a:txBody>
                    <a:bodyPr/>
                    <a:lstStyle/>
                    <a:p>
                      <a:pPr algn="ctr"/>
                      <a:r>
                        <a:rPr sz="1000" b="1">
                          <a:solidFill>
                            <a:srgbClr val="FFFFFF"/>
                          </a:solidFill>
                          <a:latin typeface="Times New Roman"/>
                        </a:rPr>
                        <a:t>YOLO11m</a:t>
                      </a:r>
                    </a:p>
                  </a:txBody>
                  <a:tcPr marL="36576" marR="36576" marT="18288" marB="18288">
                    <a:solidFill>
                      <a:srgbClr val="41534B"/>
                    </a:solidFill>
                  </a:tcPr>
                </a:tc>
                <a:tc>
                  <a:txBody>
                    <a:bodyPr/>
                    <a:lstStyle/>
                    <a:p>
                      <a:pPr algn="ctr"/>
                      <a:r>
                        <a:rPr sz="1000" b="1">
                          <a:solidFill>
                            <a:srgbClr val="FFFFFF"/>
                          </a:solidFill>
                          <a:latin typeface="Times New Roman"/>
                        </a:rPr>
                        <a:t>YOLO11s</a:t>
                      </a:r>
                    </a:p>
                  </a:txBody>
                  <a:tcPr marL="36576" marR="36576" marT="18288" marB="18288">
                    <a:solidFill>
                      <a:srgbClr val="41534B"/>
                    </a:solidFill>
                  </a:tcPr>
                </a:tc>
                <a:tc>
                  <a:txBody>
                    <a:bodyPr/>
                    <a:lstStyle/>
                    <a:p>
                      <a:pPr algn="ctr"/>
                      <a:r>
                        <a:rPr sz="1000" b="1">
                          <a:solidFill>
                            <a:srgbClr val="FFFFFF"/>
                          </a:solidFill>
                          <a:latin typeface="Times New Roman"/>
                        </a:rPr>
                        <a:t>m - s</a:t>
                      </a:r>
                    </a:p>
                  </a:txBody>
                  <a:tcPr marL="36576" marR="36576" marT="18288" marB="18288">
                    <a:solidFill>
                      <a:srgbClr val="41534B"/>
                    </a:solidFill>
                  </a:tcPr>
                </a:tc>
                <a:extLst>
                  <a:ext uri="{0D108BD9-81ED-4DB2-BD59-A6C34878D82A}">
                    <a16:rowId xmlns:a16="http://schemas.microsoft.com/office/drawing/2014/main" val="10000"/>
                  </a:ext>
                </a:extLst>
              </a:tr>
              <a:tr h="356616">
                <a:tc>
                  <a:txBody>
                    <a:bodyPr/>
                    <a:lstStyle/>
                    <a:p>
                      <a:pPr algn="l"/>
                      <a:r>
                        <a:rPr sz="1000" b="0">
                          <a:latin typeface="Times New Roman"/>
                        </a:rPr>
                        <a:t>mAP50</a:t>
                      </a:r>
                    </a:p>
                  </a:txBody>
                  <a:tcPr marL="36576" marR="36576" marT="18288" marB="18288">
                    <a:solidFill>
                      <a:srgbClr val="F7F3EC"/>
                    </a:solidFill>
                  </a:tcPr>
                </a:tc>
                <a:tc>
                  <a:txBody>
                    <a:bodyPr/>
                    <a:lstStyle/>
                    <a:p>
                      <a:pPr algn="ctr"/>
                      <a:r>
                        <a:rPr sz="1000" b="0">
                          <a:latin typeface="Times New Roman"/>
                        </a:rPr>
                        <a:t>63.0</a:t>
                      </a:r>
                    </a:p>
                  </a:txBody>
                  <a:tcPr marL="36576" marR="36576" marT="18288" marB="18288">
                    <a:solidFill>
                      <a:srgbClr val="F7F3EC"/>
                    </a:solidFill>
                  </a:tcPr>
                </a:tc>
                <a:tc>
                  <a:txBody>
                    <a:bodyPr/>
                    <a:lstStyle/>
                    <a:p>
                      <a:pPr algn="ctr"/>
                      <a:r>
                        <a:rPr sz="1000" b="0">
                          <a:latin typeface="Times New Roman"/>
                        </a:rPr>
                        <a:t>64.6</a:t>
                      </a:r>
                    </a:p>
                  </a:txBody>
                  <a:tcPr marL="36576" marR="36576" marT="18288" marB="18288">
                    <a:solidFill>
                      <a:srgbClr val="F7F3EC"/>
                    </a:solidFill>
                  </a:tcPr>
                </a:tc>
                <a:tc>
                  <a:txBody>
                    <a:bodyPr/>
                    <a:lstStyle/>
                    <a:p>
                      <a:pPr algn="ctr"/>
                      <a:r>
                        <a:rPr sz="1000" b="0">
                          <a:latin typeface="Times New Roman"/>
                        </a:rPr>
                        <a:t>-1.6</a:t>
                      </a:r>
                    </a:p>
                  </a:txBody>
                  <a:tcPr marL="36576" marR="36576" marT="18288" marB="18288">
                    <a:solidFill>
                      <a:srgbClr val="F7F3EC"/>
                    </a:solidFill>
                  </a:tcPr>
                </a:tc>
                <a:extLst>
                  <a:ext uri="{0D108BD9-81ED-4DB2-BD59-A6C34878D82A}">
                    <a16:rowId xmlns:a16="http://schemas.microsoft.com/office/drawing/2014/main" val="10001"/>
                  </a:ext>
                </a:extLst>
              </a:tr>
              <a:tr h="356616">
                <a:tc>
                  <a:txBody>
                    <a:bodyPr/>
                    <a:lstStyle/>
                    <a:p>
                      <a:pPr algn="l"/>
                      <a:r>
                        <a:rPr sz="1000" b="0">
                          <a:latin typeface="Times New Roman"/>
                        </a:rPr>
                        <a:t>mAP50-95</a:t>
                      </a:r>
                    </a:p>
                  </a:txBody>
                  <a:tcPr marL="36576" marR="36576" marT="18288" marB="18288">
                    <a:solidFill>
                      <a:srgbClr val="FFFFFF"/>
                    </a:solidFill>
                  </a:tcPr>
                </a:tc>
                <a:tc>
                  <a:txBody>
                    <a:bodyPr/>
                    <a:lstStyle/>
                    <a:p>
                      <a:pPr algn="ctr"/>
                      <a:r>
                        <a:rPr sz="1000" b="0">
                          <a:latin typeface="Times New Roman"/>
                        </a:rPr>
                        <a:t>34.0</a:t>
                      </a:r>
                    </a:p>
                  </a:txBody>
                  <a:tcPr marL="36576" marR="36576" marT="18288" marB="18288">
                    <a:solidFill>
                      <a:srgbClr val="FFFFFF"/>
                    </a:solidFill>
                  </a:tcPr>
                </a:tc>
                <a:tc>
                  <a:txBody>
                    <a:bodyPr/>
                    <a:lstStyle/>
                    <a:p>
                      <a:pPr algn="ctr"/>
                      <a:r>
                        <a:rPr sz="1000" b="0">
                          <a:latin typeface="Times New Roman"/>
                        </a:rPr>
                        <a:t>33.4</a:t>
                      </a:r>
                    </a:p>
                  </a:txBody>
                  <a:tcPr marL="36576" marR="36576" marT="18288" marB="18288">
                    <a:solidFill>
                      <a:srgbClr val="FFFFFF"/>
                    </a:solidFill>
                  </a:tcPr>
                </a:tc>
                <a:tc>
                  <a:txBody>
                    <a:bodyPr/>
                    <a:lstStyle/>
                    <a:p>
                      <a:pPr algn="ctr"/>
                      <a:r>
                        <a:rPr sz="1000" b="0">
                          <a:latin typeface="Times New Roman"/>
                        </a:rPr>
                        <a:t>+0.6</a:t>
                      </a:r>
                    </a:p>
                  </a:txBody>
                  <a:tcPr marL="36576" marR="36576" marT="18288" marB="18288">
                    <a:solidFill>
                      <a:srgbClr val="FFFFFF"/>
                    </a:solidFill>
                  </a:tcPr>
                </a:tc>
                <a:extLst>
                  <a:ext uri="{0D108BD9-81ED-4DB2-BD59-A6C34878D82A}">
                    <a16:rowId xmlns:a16="http://schemas.microsoft.com/office/drawing/2014/main" val="10002"/>
                  </a:ext>
                </a:extLst>
              </a:tr>
              <a:tr h="356616">
                <a:tc>
                  <a:txBody>
                    <a:bodyPr/>
                    <a:lstStyle/>
                    <a:p>
                      <a:pPr algn="l"/>
                      <a:r>
                        <a:rPr sz="1000" b="0">
                          <a:latin typeface="Times New Roman"/>
                        </a:rPr>
                        <a:t>Precision</a:t>
                      </a:r>
                    </a:p>
                  </a:txBody>
                  <a:tcPr marL="36576" marR="36576" marT="18288" marB="18288">
                    <a:solidFill>
                      <a:srgbClr val="F7F3EC"/>
                    </a:solidFill>
                  </a:tcPr>
                </a:tc>
                <a:tc>
                  <a:txBody>
                    <a:bodyPr/>
                    <a:lstStyle/>
                    <a:p>
                      <a:pPr algn="ctr"/>
                      <a:r>
                        <a:rPr sz="1000" b="0">
                          <a:latin typeface="Times New Roman"/>
                        </a:rPr>
                        <a:t>63.4</a:t>
                      </a:r>
                    </a:p>
                  </a:txBody>
                  <a:tcPr marL="36576" marR="36576" marT="18288" marB="18288">
                    <a:solidFill>
                      <a:srgbClr val="F7F3EC"/>
                    </a:solidFill>
                  </a:tcPr>
                </a:tc>
                <a:tc>
                  <a:txBody>
                    <a:bodyPr/>
                    <a:lstStyle/>
                    <a:p>
                      <a:pPr algn="ctr"/>
                      <a:r>
                        <a:rPr sz="1000" b="0">
                          <a:latin typeface="Times New Roman"/>
                        </a:rPr>
                        <a:t>71.0</a:t>
                      </a:r>
                    </a:p>
                  </a:txBody>
                  <a:tcPr marL="36576" marR="36576" marT="18288" marB="18288">
                    <a:solidFill>
                      <a:srgbClr val="F7F3EC"/>
                    </a:solidFill>
                  </a:tcPr>
                </a:tc>
                <a:tc>
                  <a:txBody>
                    <a:bodyPr/>
                    <a:lstStyle/>
                    <a:p>
                      <a:pPr algn="ctr"/>
                      <a:r>
                        <a:rPr sz="1000" b="0">
                          <a:latin typeface="Times New Roman"/>
                        </a:rPr>
                        <a:t>-7.6</a:t>
                      </a:r>
                    </a:p>
                  </a:txBody>
                  <a:tcPr marL="36576" marR="36576" marT="18288" marB="18288">
                    <a:solidFill>
                      <a:srgbClr val="F7F3EC"/>
                    </a:solidFill>
                  </a:tcPr>
                </a:tc>
                <a:extLst>
                  <a:ext uri="{0D108BD9-81ED-4DB2-BD59-A6C34878D82A}">
                    <a16:rowId xmlns:a16="http://schemas.microsoft.com/office/drawing/2014/main" val="10003"/>
                  </a:ext>
                </a:extLst>
              </a:tr>
              <a:tr h="356616">
                <a:tc>
                  <a:txBody>
                    <a:bodyPr/>
                    <a:lstStyle/>
                    <a:p>
                      <a:pPr algn="l"/>
                      <a:r>
                        <a:rPr sz="1000" b="0">
                          <a:latin typeface="Times New Roman"/>
                        </a:rPr>
                        <a:t>Recall</a:t>
                      </a:r>
                    </a:p>
                  </a:txBody>
                  <a:tcPr marL="36576" marR="36576" marT="18288" marB="18288">
                    <a:solidFill>
                      <a:srgbClr val="FFFFFF"/>
                    </a:solidFill>
                  </a:tcPr>
                </a:tc>
                <a:tc>
                  <a:txBody>
                    <a:bodyPr/>
                    <a:lstStyle/>
                    <a:p>
                      <a:pPr algn="ctr"/>
                      <a:r>
                        <a:rPr sz="1000" b="0">
                          <a:latin typeface="Times New Roman"/>
                        </a:rPr>
                        <a:t>66.2</a:t>
                      </a:r>
                    </a:p>
                  </a:txBody>
                  <a:tcPr marL="36576" marR="36576" marT="18288" marB="18288">
                    <a:solidFill>
                      <a:srgbClr val="FFFFFF"/>
                    </a:solidFill>
                  </a:tcPr>
                </a:tc>
                <a:tc>
                  <a:txBody>
                    <a:bodyPr/>
                    <a:lstStyle/>
                    <a:p>
                      <a:pPr algn="ctr"/>
                      <a:r>
                        <a:rPr sz="1000" b="0">
                          <a:latin typeface="Times New Roman"/>
                        </a:rPr>
                        <a:t>64.1</a:t>
                      </a:r>
                    </a:p>
                  </a:txBody>
                  <a:tcPr marL="36576" marR="36576" marT="18288" marB="18288">
                    <a:solidFill>
                      <a:srgbClr val="FFFFFF"/>
                    </a:solidFill>
                  </a:tcPr>
                </a:tc>
                <a:tc>
                  <a:txBody>
                    <a:bodyPr/>
                    <a:lstStyle/>
                    <a:p>
                      <a:pPr algn="ctr"/>
                      <a:r>
                        <a:rPr sz="1000" b="0">
                          <a:latin typeface="Times New Roman"/>
                        </a:rPr>
                        <a:t>+2.1</a:t>
                      </a:r>
                    </a:p>
                  </a:txBody>
                  <a:tcPr marL="36576" marR="36576" marT="18288" marB="18288">
                    <a:solidFill>
                      <a:srgbClr val="FFFFFF"/>
                    </a:solidFill>
                  </a:tcPr>
                </a:tc>
                <a:extLst>
                  <a:ext uri="{0D108BD9-81ED-4DB2-BD59-A6C34878D82A}">
                    <a16:rowId xmlns:a16="http://schemas.microsoft.com/office/drawing/2014/main" val="10004"/>
                  </a:ext>
                </a:extLst>
              </a:tr>
              <a:tr h="356616">
                <a:tc>
                  <a:txBody>
                    <a:bodyPr/>
                    <a:lstStyle/>
                    <a:p>
                      <a:pPr algn="l"/>
                      <a:r>
                        <a:rPr sz="1000" b="0">
                          <a:latin typeface="Times New Roman"/>
                        </a:rPr>
                        <a:t>F1</a:t>
                      </a:r>
                    </a:p>
                  </a:txBody>
                  <a:tcPr marL="36576" marR="36576" marT="18288" marB="18288">
                    <a:solidFill>
                      <a:srgbClr val="F7F3EC"/>
                    </a:solidFill>
                  </a:tcPr>
                </a:tc>
                <a:tc>
                  <a:txBody>
                    <a:bodyPr/>
                    <a:lstStyle/>
                    <a:p>
                      <a:pPr algn="ctr"/>
                      <a:r>
                        <a:rPr sz="1000" b="0">
                          <a:latin typeface="Times New Roman"/>
                        </a:rPr>
                        <a:t>64.7</a:t>
                      </a:r>
                    </a:p>
                  </a:txBody>
                  <a:tcPr marL="36576" marR="36576" marT="18288" marB="18288">
                    <a:solidFill>
                      <a:srgbClr val="F7F3EC"/>
                    </a:solidFill>
                  </a:tcPr>
                </a:tc>
                <a:tc>
                  <a:txBody>
                    <a:bodyPr/>
                    <a:lstStyle/>
                    <a:p>
                      <a:pPr algn="ctr"/>
                      <a:r>
                        <a:rPr sz="1000" b="0">
                          <a:latin typeface="Times New Roman"/>
                        </a:rPr>
                        <a:t>67.4</a:t>
                      </a:r>
                    </a:p>
                  </a:txBody>
                  <a:tcPr marL="36576" marR="36576" marT="18288" marB="18288">
                    <a:solidFill>
                      <a:srgbClr val="F7F3EC"/>
                    </a:solidFill>
                  </a:tcPr>
                </a:tc>
                <a:tc>
                  <a:txBody>
                    <a:bodyPr/>
                    <a:lstStyle/>
                    <a:p>
                      <a:pPr algn="ctr"/>
                      <a:r>
                        <a:rPr sz="1000" b="0">
                          <a:latin typeface="Times New Roman"/>
                        </a:rPr>
                        <a:t>-2.7</a:t>
                      </a:r>
                    </a:p>
                  </a:txBody>
                  <a:tcPr marL="36576" marR="36576" marT="18288" marB="18288">
                    <a:solidFill>
                      <a:srgbClr val="F7F3EC"/>
                    </a:solidFill>
                  </a:tcPr>
                </a:tc>
                <a:extLst>
                  <a:ext uri="{0D108BD9-81ED-4DB2-BD59-A6C34878D82A}">
                    <a16:rowId xmlns:a16="http://schemas.microsoft.com/office/drawing/2014/main" val="10005"/>
                  </a:ext>
                </a:extLst>
              </a:tr>
              <a:tr h="356616">
                <a:tc>
                  <a:txBody>
                    <a:bodyPr/>
                    <a:lstStyle/>
                    <a:p>
                      <a:pPr algn="l"/>
                      <a:r>
                        <a:rPr sz="1000" b="0">
                          <a:latin typeface="Times New Roman"/>
                        </a:rPr>
                        <a:t>Crack mAP50 / recall</a:t>
                      </a:r>
                    </a:p>
                  </a:txBody>
                  <a:tcPr marL="36576" marR="36576" marT="18288" marB="18288">
                    <a:solidFill>
                      <a:srgbClr val="FFFFFF"/>
                    </a:solidFill>
                  </a:tcPr>
                </a:tc>
                <a:tc>
                  <a:txBody>
                    <a:bodyPr/>
                    <a:lstStyle/>
                    <a:p>
                      <a:pPr algn="ctr"/>
                      <a:r>
                        <a:rPr sz="1000" b="0">
                          <a:latin typeface="Times New Roman"/>
                        </a:rPr>
                        <a:t>57.7 / 72.6</a:t>
                      </a:r>
                    </a:p>
                  </a:txBody>
                  <a:tcPr marL="36576" marR="36576" marT="18288" marB="18288">
                    <a:solidFill>
                      <a:srgbClr val="FFFFFF"/>
                    </a:solidFill>
                  </a:tcPr>
                </a:tc>
                <a:tc>
                  <a:txBody>
                    <a:bodyPr/>
                    <a:lstStyle/>
                    <a:p>
                      <a:pPr algn="ctr"/>
                      <a:r>
                        <a:rPr sz="1000" b="0">
                          <a:latin typeface="Times New Roman"/>
                        </a:rPr>
                        <a:t>53.0 / 63.2</a:t>
                      </a:r>
                    </a:p>
                  </a:txBody>
                  <a:tcPr marL="36576" marR="36576" marT="18288" marB="18288">
                    <a:solidFill>
                      <a:srgbClr val="FFFFFF"/>
                    </a:solidFill>
                  </a:tcPr>
                </a:tc>
                <a:tc>
                  <a:txBody>
                    <a:bodyPr/>
                    <a:lstStyle/>
                    <a:p>
                      <a:pPr algn="ctr"/>
                      <a:r>
                        <a:rPr sz="1000" b="0">
                          <a:latin typeface="Times New Roman"/>
                        </a:rPr>
                        <a:t>+4.7 / +9.4</a:t>
                      </a:r>
                    </a:p>
                  </a:txBody>
                  <a:tcPr marL="36576" marR="36576" marT="18288" marB="18288">
                    <a:solidFill>
                      <a:srgbClr val="FFFFFF"/>
                    </a:solidFill>
                  </a:tcPr>
                </a:tc>
                <a:extLst>
                  <a:ext uri="{0D108BD9-81ED-4DB2-BD59-A6C34878D82A}">
                    <a16:rowId xmlns:a16="http://schemas.microsoft.com/office/drawing/2014/main" val="10006"/>
                  </a:ext>
                </a:extLst>
              </a:tr>
              <a:tr h="356616">
                <a:tc>
                  <a:txBody>
                    <a:bodyPr/>
                    <a:lstStyle/>
                    <a:p>
                      <a:pPr algn="l"/>
                      <a:r>
                        <a:rPr sz="1000" b="0">
                          <a:latin typeface="Times New Roman"/>
                        </a:rPr>
                        <a:t>Inference, T4</a:t>
                      </a:r>
                    </a:p>
                  </a:txBody>
                  <a:tcPr marL="36576" marR="36576" marT="18288" marB="18288">
                    <a:solidFill>
                      <a:srgbClr val="F7F3EC"/>
                    </a:solidFill>
                  </a:tcPr>
                </a:tc>
                <a:tc>
                  <a:txBody>
                    <a:bodyPr/>
                    <a:lstStyle/>
                    <a:p>
                      <a:pPr algn="ctr"/>
                      <a:r>
                        <a:rPr sz="1000" b="0">
                          <a:latin typeface="Times New Roman"/>
                        </a:rPr>
                        <a:t>33.2 ms (30 FPS)</a:t>
                      </a:r>
                    </a:p>
                  </a:txBody>
                  <a:tcPr marL="36576" marR="36576" marT="18288" marB="18288">
                    <a:solidFill>
                      <a:srgbClr val="F7F3EC"/>
                    </a:solidFill>
                  </a:tcPr>
                </a:tc>
                <a:tc>
                  <a:txBody>
                    <a:bodyPr/>
                    <a:lstStyle/>
                    <a:p>
                      <a:pPr algn="ctr"/>
                      <a:r>
                        <a:rPr sz="1000" b="0">
                          <a:latin typeface="Times New Roman"/>
                        </a:rPr>
                        <a:t>11.7 ms (86 FPS)</a:t>
                      </a:r>
                    </a:p>
                  </a:txBody>
                  <a:tcPr marL="36576" marR="36576" marT="18288" marB="18288">
                    <a:solidFill>
                      <a:srgbClr val="F7F3EC"/>
                    </a:solidFill>
                  </a:tcPr>
                </a:tc>
                <a:tc>
                  <a:txBody>
                    <a:bodyPr/>
                    <a:lstStyle/>
                    <a:p>
                      <a:pPr algn="ctr"/>
                      <a:r>
                        <a:rPr sz="1000" b="0">
                          <a:latin typeface="Times New Roman"/>
                        </a:rPr>
                        <a:t>2.8x slower</a:t>
                      </a:r>
                    </a:p>
                  </a:txBody>
                  <a:tcPr marL="36576" marR="36576" marT="18288" marB="18288">
                    <a:solidFill>
                      <a:srgbClr val="F7F3EC"/>
                    </a:solidFill>
                  </a:tcPr>
                </a:tc>
                <a:extLst>
                  <a:ext uri="{0D108BD9-81ED-4DB2-BD59-A6C34878D82A}">
                    <a16:rowId xmlns:a16="http://schemas.microsoft.com/office/drawing/2014/main" val="10007"/>
                  </a:ext>
                </a:extLst>
              </a:tr>
              <a:tr h="356616">
                <a:tc>
                  <a:txBody>
                    <a:bodyPr/>
                    <a:lstStyle/>
                    <a:p>
                      <a:pPr algn="l"/>
                      <a:r>
                        <a:rPr sz="1000" b="0">
                          <a:latin typeface="Times New Roman"/>
                        </a:rPr>
                        <a:t>Training cost</a:t>
                      </a:r>
                    </a:p>
                  </a:txBody>
                  <a:tcPr marL="36576" marR="36576" marT="18288" marB="18288">
                    <a:solidFill>
                      <a:srgbClr val="FFFFFF"/>
                    </a:solidFill>
                  </a:tcPr>
                </a:tc>
                <a:tc>
                  <a:txBody>
                    <a:bodyPr/>
                    <a:lstStyle/>
                    <a:p>
                      <a:pPr algn="ctr"/>
                      <a:r>
                        <a:rPr sz="1000" b="0">
                          <a:latin typeface="Times New Roman"/>
                        </a:rPr>
                        <a:t>2.64 h</a:t>
                      </a:r>
                    </a:p>
                  </a:txBody>
                  <a:tcPr marL="36576" marR="36576" marT="18288" marB="18288">
                    <a:solidFill>
                      <a:srgbClr val="FFFFFF"/>
                    </a:solidFill>
                  </a:tcPr>
                </a:tc>
                <a:tc>
                  <a:txBody>
                    <a:bodyPr/>
                    <a:lstStyle/>
                    <a:p>
                      <a:pPr algn="ctr"/>
                      <a:r>
                        <a:rPr sz="1000" b="0">
                          <a:latin typeface="Times New Roman"/>
                        </a:rPr>
                        <a:t>1.43 h</a:t>
                      </a:r>
                    </a:p>
                  </a:txBody>
                  <a:tcPr marL="36576" marR="36576" marT="18288" marB="18288">
                    <a:solidFill>
                      <a:srgbClr val="FFFFFF"/>
                    </a:solidFill>
                  </a:tcPr>
                </a:tc>
                <a:tc>
                  <a:txBody>
                    <a:bodyPr/>
                    <a:lstStyle/>
                    <a:p>
                      <a:pPr algn="ctr"/>
                      <a:r>
                        <a:rPr sz="1000" b="0">
                          <a:latin typeface="Times New Roman"/>
                        </a:rPr>
                        <a:t>1.8x</a:t>
                      </a:r>
                    </a:p>
                  </a:txBody>
                  <a:tcPr marL="36576" marR="36576" marT="18288" marB="18288">
                    <a:solidFill>
                      <a:srgbClr val="FFFFFF"/>
                    </a:solidFill>
                  </a:tcPr>
                </a:tc>
                <a:extLst>
                  <a:ext uri="{0D108BD9-81ED-4DB2-BD59-A6C34878D82A}">
                    <a16:rowId xmlns:a16="http://schemas.microsoft.com/office/drawing/2014/main" val="10008"/>
                  </a:ext>
                </a:extLst>
              </a:tr>
              <a:tr h="356616">
                <a:tc>
                  <a:txBody>
                    <a:bodyPr/>
                    <a:lstStyle/>
                    <a:p>
                      <a:pPr algn="l"/>
                      <a:r>
                        <a:rPr sz="1000" b="0">
                          <a:latin typeface="Times New Roman"/>
                        </a:rPr>
                        <a:t>Parameters</a:t>
                      </a:r>
                    </a:p>
                  </a:txBody>
                  <a:tcPr marL="36576" marR="36576" marT="18288" marB="18288">
                    <a:solidFill>
                      <a:srgbClr val="F7F3EC"/>
                    </a:solidFill>
                  </a:tcPr>
                </a:tc>
                <a:tc>
                  <a:txBody>
                    <a:bodyPr/>
                    <a:lstStyle/>
                    <a:p>
                      <a:pPr algn="ctr"/>
                      <a:r>
                        <a:rPr sz="1000" b="0">
                          <a:latin typeface="Times New Roman"/>
                        </a:rPr>
                        <a:t>20.0 M</a:t>
                      </a:r>
                    </a:p>
                  </a:txBody>
                  <a:tcPr marL="36576" marR="36576" marT="18288" marB="18288">
                    <a:solidFill>
                      <a:srgbClr val="F7F3EC"/>
                    </a:solidFill>
                  </a:tcPr>
                </a:tc>
                <a:tc>
                  <a:txBody>
                    <a:bodyPr/>
                    <a:lstStyle/>
                    <a:p>
                      <a:pPr algn="ctr"/>
                      <a:r>
                        <a:rPr sz="1000" b="0">
                          <a:latin typeface="Times New Roman"/>
                        </a:rPr>
                        <a:t>9.4 M</a:t>
                      </a:r>
                    </a:p>
                  </a:txBody>
                  <a:tcPr marL="36576" marR="36576" marT="18288" marB="18288">
                    <a:solidFill>
                      <a:srgbClr val="F7F3EC"/>
                    </a:solidFill>
                  </a:tcPr>
                </a:tc>
                <a:tc>
                  <a:txBody>
                    <a:bodyPr/>
                    <a:lstStyle/>
                    <a:p>
                      <a:pPr algn="ctr"/>
                      <a:r>
                        <a:rPr sz="1000" b="0">
                          <a:latin typeface="Times New Roman"/>
                        </a:rPr>
                        <a:t>2.1x</a:t>
                      </a:r>
                    </a:p>
                  </a:txBody>
                  <a:tcPr marL="36576" marR="36576" marT="18288" marB="18288">
                    <a:solidFill>
                      <a:srgbClr val="F7F3EC"/>
                    </a:solidFill>
                  </a:tcPr>
                </a:tc>
                <a:extLst>
                  <a:ext uri="{0D108BD9-81ED-4DB2-BD59-A6C34878D82A}">
                    <a16:rowId xmlns:a16="http://schemas.microsoft.com/office/drawing/2014/main" val="10009"/>
                  </a:ext>
                </a:extLst>
              </a:tr>
            </a:tbl>
          </a:graphicData>
        </a:graphic>
      </p:graphicFrame>
      <p:pic>
        <p:nvPicPr>
          <p:cNvPr id="313" name="Picture 312" descr="confusion_matrix_normalized.png"/>
          <p:cNvPicPr>
            <a:picLocks noChangeAspect="1"/>
          </p:cNvPicPr>
          <p:nvPr/>
        </p:nvPicPr>
        <p:blipFill>
          <a:blip r:embed="rId7"/>
          <a:stretch>
            <a:fillRect/>
          </a:stretch>
        </p:blipFill>
        <p:spPr>
          <a:xfrm>
            <a:off x="5212080" y="1468755"/>
            <a:ext cx="3154680" cy="2366010"/>
          </a:xfrm>
          <a:prstGeom prst="rect">
            <a:avLst/>
          </a:prstGeom>
        </p:spPr>
      </p:pic>
      <p:sp>
        <p:nvSpPr>
          <p:cNvPr id="314" name="TextBox 313"/>
          <p:cNvSpPr txBox="1"/>
          <p:nvPr/>
        </p:nvSpPr>
        <p:spPr>
          <a:xfrm>
            <a:off x="5212080" y="4434840"/>
            <a:ext cx="3154680" cy="320040"/>
          </a:xfrm>
          <a:prstGeom prst="rect">
            <a:avLst/>
          </a:prstGeom>
          <a:noFill/>
        </p:spPr>
        <p:txBody>
          <a:bodyPr wrap="none">
            <a:spAutoFit/>
          </a:bodyPr>
          <a:lstStyle/>
          <a:p>
            <a:pPr marL="0" lvl="0" indent="0" algn="ctr">
              <a:lnSpc>
                <a:spcPct val="115000"/>
              </a:lnSpc>
              <a:spcBef>
                <a:spcPts val="600"/>
              </a:spcBef>
              <a:spcAft>
                <a:spcPts val="0"/>
              </a:spcAft>
              <a:buNone/>
            </a:pPr>
            <a:r>
              <a:rPr lang="en-US" sz="1100">
                <a:latin typeface="Times New Roman"/>
                <a:ea typeface="Times New Roman"/>
                <a:cs typeface="Times New Roman"/>
                <a:sym typeface="Times New Roman"/>
              </a:rPr>
              <a:t>Test confusion matrix, YOLO11m</a:t>
            </a:r>
          </a:p>
        </p:txBody>
      </p:sp>
      <p:sp>
        <p:nvSpPr>
          <p:cNvPr id="315" name="TextBox 314"/>
          <p:cNvSpPr txBox="1"/>
          <p:nvPr/>
        </p:nvSpPr>
        <p:spPr>
          <a:xfrm>
            <a:off x="274320" y="4617720"/>
            <a:ext cx="8046720" cy="1737360"/>
          </a:xfrm>
          <a:prstGeom prst="rect">
            <a:avLst/>
          </a:prstGeom>
          <a:noFill/>
        </p:spPr>
        <p:txBody>
          <a:bodyPr wrap="square">
            <a:spAutoFit/>
          </a:bodyPr>
          <a:lstStyle/>
          <a:p>
            <a:pPr marL="457200" lvl="0" indent="-330200" algn="l">
              <a:lnSpc>
                <a:spcPct val="108000"/>
              </a:lnSpc>
              <a:spcBef>
                <a:spcPts val="400"/>
              </a:spcBef>
              <a:spcAft>
                <a:spcPts val="0"/>
              </a:spcAft>
              <a:buSzPts val="1200"/>
              <a:buFont typeface="Times New Roman"/>
              <a:buChar char="●"/>
            </a:pPr>
            <a:r>
              <a:rPr lang="en-US" sz="1200">
                <a:latin typeface="Times New Roman"/>
                <a:ea typeface="Times New Roman"/>
                <a:cs typeface="Times New Roman"/>
                <a:sym typeface="Times New Roman"/>
              </a:rPr>
              <a:t>Same data, split, seed and recipe: differences are due to model size alone. Overall accuracy is tied within the noise of a 12-board test set.</a:t>
            </a:r>
          </a:p>
          <a:p>
            <a:pPr marL="457200" lvl="0" indent="-330200" algn="l">
              <a:lnSpc>
                <a:spcPct val="108000"/>
              </a:lnSpc>
              <a:spcBef>
                <a:spcPts val="400"/>
              </a:spcBef>
              <a:spcAft>
                <a:spcPts val="0"/>
              </a:spcAft>
              <a:buSzPts val="1200"/>
              <a:buFont typeface="Times New Roman"/>
              <a:buChar char="●"/>
            </a:pPr>
            <a:r>
              <a:rPr lang="en-US" sz="1200">
                <a:latin typeface="Times New Roman"/>
                <a:ea typeface="Times New Roman"/>
                <a:cs typeface="Times New Roman"/>
                <a:sym typeface="Times New Roman"/>
              </a:rPr>
              <a:t>YOLO11m trades precision for recall and is stronger on the thin Crack class; YOLO11s is more precise and 2.8x faster.</a:t>
            </a:r>
          </a:p>
          <a:p>
            <a:pPr marL="457200" lvl="0" indent="-330200" algn="l">
              <a:lnSpc>
                <a:spcPct val="108000"/>
              </a:lnSpc>
              <a:spcBef>
                <a:spcPts val="400"/>
              </a:spcBef>
              <a:spcAft>
                <a:spcPts val="0"/>
              </a:spcAft>
              <a:buSzPts val="1200"/>
              <a:buFont typeface="Times New Roman"/>
              <a:buChar char="●"/>
            </a:pPr>
            <a:r>
              <a:rPr lang="en-US" sz="1200">
                <a:latin typeface="Times New Roman"/>
                <a:ea typeface="Times New Roman"/>
                <a:cs typeface="Times New Roman"/>
                <a:sym typeface="Times New Roman"/>
              </a:rPr>
              <a:t>Model capacity is not the bottleneck: rare classes and similar knot sub-types are. Second half focuses on data, input enhancement and targeted architecture changes.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1"/>
          <p:cNvSpPr txBox="1"/>
          <p:nvPr/>
        </p:nvSpPr>
        <p:spPr>
          <a:xfrm>
            <a:off x="395605" y="131445"/>
            <a:ext cx="8054340" cy="53338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DEMO APP AND REMAINING WORK</a:t>
            </a:r>
            <a:endParaRPr sz="1400" b="0" i="0" u="none" strike="noStrike" cap="none">
              <a:solidFill>
                <a:srgbClr val="000000"/>
              </a:solidFill>
              <a:latin typeface="Arial"/>
              <a:ea typeface="Arial"/>
              <a:cs typeface="Arial"/>
              <a:sym typeface="Arial"/>
            </a:endParaRPr>
          </a:p>
        </p:txBody>
      </p:sp>
      <p:sp>
        <p:nvSpPr>
          <p:cNvPr id="317" name="Google Shape;317;p3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19</a:t>
            </a:fld>
            <a:endParaRPr/>
          </a:p>
        </p:txBody>
      </p:sp>
      <p:pic>
        <p:nvPicPr>
          <p:cNvPr id="318" name="Google Shape;318;p31"/>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319" name="Google Shape;319;p31"/>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320" name="Google Shape;320;p31"/>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321" name="Google Shape;321;p31"/>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322" name="Google Shape;322;p3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323" name="Picture 322" descr="p2_1.png"/>
          <p:cNvPicPr>
            <a:picLocks noChangeAspect="1"/>
          </p:cNvPicPr>
          <p:nvPr/>
        </p:nvPicPr>
        <p:blipFill>
          <a:blip r:embed="rId7"/>
          <a:stretch>
            <a:fillRect/>
          </a:stretch>
        </p:blipFill>
        <p:spPr>
          <a:xfrm>
            <a:off x="274320" y="876148"/>
            <a:ext cx="4023359" cy="1768143"/>
          </a:xfrm>
          <a:prstGeom prst="rect">
            <a:avLst/>
          </a:prstGeom>
        </p:spPr>
      </p:pic>
      <p:pic>
        <p:nvPicPr>
          <p:cNvPr id="324" name="Picture 323" descr="heat_m.png"/>
          <p:cNvPicPr>
            <a:picLocks noChangeAspect="1"/>
          </p:cNvPicPr>
          <p:nvPr/>
        </p:nvPicPr>
        <p:blipFill>
          <a:blip r:embed="rId8"/>
          <a:stretch>
            <a:fillRect/>
          </a:stretch>
        </p:blipFill>
        <p:spPr>
          <a:xfrm>
            <a:off x="274320" y="2830460"/>
            <a:ext cx="4023360" cy="1471400"/>
          </a:xfrm>
          <a:prstGeom prst="rect">
            <a:avLst/>
          </a:prstGeom>
        </p:spPr>
      </p:pic>
      <p:sp>
        <p:nvSpPr>
          <p:cNvPr id="325" name="TextBox 324"/>
          <p:cNvSpPr txBox="1"/>
          <p:nvPr/>
        </p:nvSpPr>
        <p:spPr>
          <a:xfrm>
            <a:off x="274320" y="4343400"/>
            <a:ext cx="4023360" cy="320040"/>
          </a:xfrm>
          <a:prstGeom prst="rect">
            <a:avLst/>
          </a:prstGeom>
          <a:noFill/>
        </p:spPr>
        <p:txBody>
          <a:bodyPr wrap="none">
            <a:spAutoFit/>
          </a:bodyPr>
          <a:lstStyle/>
          <a:p>
            <a:pPr marL="0" lvl="0" indent="0" algn="ctr">
              <a:lnSpc>
                <a:spcPct val="115000"/>
              </a:lnSpc>
              <a:spcBef>
                <a:spcPts val="600"/>
              </a:spcBef>
              <a:spcAft>
                <a:spcPts val="0"/>
              </a:spcAft>
              <a:buNone/>
            </a:pPr>
            <a:r>
              <a:rPr lang="en-US" sz="1100">
                <a:latin typeface="Times New Roman"/>
                <a:ea typeface="Times New Roman"/>
                <a:cs typeface="Times New Roman"/>
                <a:sym typeface="Times New Roman"/>
              </a:rPr>
              <a:t>App output: detections on a board and confidence heatmap</a:t>
            </a:r>
          </a:p>
        </p:txBody>
      </p:sp>
      <p:sp>
        <p:nvSpPr>
          <p:cNvPr id="326" name="TextBox 325"/>
          <p:cNvSpPr txBox="1"/>
          <p:nvPr/>
        </p:nvSpPr>
        <p:spPr>
          <a:xfrm>
            <a:off x="4434840" y="777240"/>
            <a:ext cx="3886200" cy="2743200"/>
          </a:xfrm>
          <a:prstGeom prst="rect">
            <a:avLst/>
          </a:prstGeom>
          <a:noFill/>
        </p:spPr>
        <p:txBody>
          <a:bodyPr wrap="square">
            <a:spAutoFit/>
          </a:bodyPr>
          <a:lstStyle/>
          <a:p>
            <a:pPr marL="457200" lvl="0" indent="-330200" algn="l">
              <a:lnSpc>
                <a:spcPct val="108000"/>
              </a:lnSpc>
              <a:spcBef>
                <a:spcPts val="500"/>
              </a:spcBef>
              <a:spcAft>
                <a:spcPts val="0"/>
              </a:spcAft>
              <a:buSzPts val="1200"/>
              <a:buFont typeface="Times New Roman"/>
              <a:buChar char="●"/>
            </a:pPr>
            <a:r>
              <a:rPr lang="en-US" sz="1200" b="1">
                <a:latin typeface="Times New Roman"/>
                <a:ea typeface="Times New Roman"/>
                <a:cs typeface="Times New Roman"/>
                <a:sym typeface="Times New Roman"/>
              </a:rPr>
              <a:t>Application (done): </a:t>
            </a:r>
            <a:r>
              <a:rPr lang="en-US" sz="1200">
                <a:latin typeface="Times New Roman"/>
                <a:ea typeface="Times New Roman"/>
                <a:cs typeface="Times New Roman"/>
                <a:sym typeface="Times New Roman"/>
              </a:rPr>
              <a:t>upload a board, choose YOLO11m / YOLO11s or both, thresholds, automatic input size; colour-coded boxes, heatmap, per-class count and area, defect coverage, JSON report.</a:t>
            </a:r>
          </a:p>
          <a:p>
            <a:pPr marL="457200" lvl="0" indent="-330200" algn="l">
              <a:lnSpc>
                <a:spcPct val="108000"/>
              </a:lnSpc>
              <a:spcBef>
                <a:spcPts val="500"/>
              </a:spcBef>
              <a:spcAft>
                <a:spcPts val="0"/>
              </a:spcAft>
              <a:buSzPts val="1200"/>
              <a:buFont typeface="Times New Roman"/>
              <a:buChar char="●"/>
            </a:pPr>
            <a:r>
              <a:rPr lang="en-US" sz="1200" b="1">
                <a:latin typeface="Times New Roman"/>
                <a:ea typeface="Times New Roman"/>
                <a:cs typeface="Times New Roman"/>
                <a:sym typeface="Times New Roman"/>
              </a:rPr>
              <a:t>Test-board view: </a:t>
            </a:r>
            <a:r>
              <a:rPr lang="en-US" sz="1200">
                <a:latin typeface="Times New Roman"/>
                <a:ea typeface="Times New Roman"/>
                <a:cs typeface="Times New Roman"/>
                <a:sym typeface="Times New Roman"/>
              </a:rPr>
              <a:t>annotator's boxes next to the model's prediction on the 12 unseen boards.</a:t>
            </a:r>
          </a:p>
          <a:p>
            <a:pPr marL="457200" lvl="0" indent="-330200" algn="l">
              <a:lnSpc>
                <a:spcPct val="108000"/>
              </a:lnSpc>
              <a:spcBef>
                <a:spcPts val="500"/>
              </a:spcBef>
              <a:spcAft>
                <a:spcPts val="0"/>
              </a:spcAft>
              <a:buSzPts val="1200"/>
              <a:buFont typeface="Times New Roman"/>
              <a:buChar char="●"/>
            </a:pPr>
            <a:r>
              <a:rPr lang="en-US" sz="1200" b="1">
                <a:latin typeface="Times New Roman"/>
                <a:ea typeface="Times New Roman"/>
                <a:cs typeface="Times New Roman"/>
                <a:sym typeface="Times New Roman"/>
              </a:rPr>
              <a:t>Deployment: </a:t>
            </a:r>
            <a:r>
              <a:rPr lang="en-US" sz="1200">
                <a:latin typeface="Times New Roman"/>
                <a:ea typeface="Times New Roman"/>
                <a:cs typeface="Times New Roman"/>
                <a:sym typeface="Times New Roman"/>
              </a:rPr>
              <a:t>runs on a CPU laptop (0.2-0.6 s per image); packaged for Hugging Face Spaces.</a:t>
            </a:r>
          </a:p>
        </p:txBody>
      </p:sp>
      <p:sp>
        <p:nvSpPr>
          <p:cNvPr id="327" name="TextBox 326"/>
          <p:cNvSpPr txBox="1"/>
          <p:nvPr/>
        </p:nvSpPr>
        <p:spPr>
          <a:xfrm>
            <a:off x="4434840" y="3611880"/>
            <a:ext cx="3886200" cy="2743200"/>
          </a:xfrm>
          <a:prstGeom prst="rect">
            <a:avLst/>
          </a:prstGeom>
          <a:noFill/>
        </p:spPr>
        <p:txBody>
          <a:bodyPr wrap="square">
            <a:spAutoFit/>
          </a:bodyPr>
          <a:lstStyle/>
          <a:p>
            <a:pPr marL="0" lvl="0" indent="0" algn="l">
              <a:lnSpc>
                <a:spcPct val="105000"/>
              </a:lnSpc>
              <a:spcBef>
                <a:spcPts val="400"/>
              </a:spcBef>
              <a:spcAft>
                <a:spcPts val="0"/>
              </a:spcAft>
              <a:buNone/>
            </a:pPr>
            <a:r>
              <a:rPr lang="en-US" sz="1200" b="1">
                <a:latin typeface="Times New Roman"/>
                <a:ea typeface="Times New Roman"/>
                <a:cs typeface="Times New Roman"/>
                <a:sym typeface="Times New Roman"/>
              </a:rPr>
              <a:t>Remaining work: </a:t>
            </a:r>
            <a:endParaRPr lang="en-US" sz="1200">
              <a:latin typeface="Times New Roman"/>
              <a:ea typeface="Times New Roman"/>
              <a:cs typeface="Times New Roman"/>
              <a:sym typeface="Times New Roman"/>
            </a:endParaRPr>
          </a:p>
          <a:p>
            <a:pPr marL="457200" lvl="0" indent="-330200" algn="l">
              <a:lnSpc>
                <a:spcPct val="105000"/>
              </a:lnSpc>
              <a:spcBef>
                <a:spcPts val="200"/>
              </a:spcBef>
              <a:spcAft>
                <a:spcPts val="0"/>
              </a:spcAft>
              <a:buSzPts val="1100"/>
              <a:buFont typeface="Times New Roman"/>
              <a:buChar char="●"/>
            </a:pPr>
            <a:r>
              <a:rPr lang="en-US" sz="1100">
                <a:latin typeface="Times New Roman"/>
                <a:ea typeface="Times New Roman"/>
                <a:cs typeface="Times New Roman"/>
                <a:sym typeface="Times New Roman"/>
              </a:rPr>
              <a:t>image enhancement study (CLAHE, denoising, low-light) on validation</a:t>
            </a:r>
          </a:p>
          <a:p>
            <a:pPr marL="457200" lvl="0" indent="-330200" algn="l">
              <a:lnSpc>
                <a:spcPct val="105000"/>
              </a:lnSpc>
              <a:spcBef>
                <a:spcPts val="200"/>
              </a:spcBef>
              <a:spcAft>
                <a:spcPts val="0"/>
              </a:spcAft>
              <a:buSzPts val="1100"/>
              <a:buFont typeface="Times New Roman"/>
              <a:buChar char="●"/>
            </a:pPr>
            <a:r>
              <a:rPr lang="en-US" sz="1100">
                <a:latin typeface="Times New Roman"/>
                <a:ea typeface="Times New Roman"/>
                <a:cs typeface="Times New Roman"/>
                <a:sym typeface="Times New Roman"/>
              </a:rPr>
              <a:t>rare-class and thin-defect improvements; multi-seed runs</a:t>
            </a:r>
          </a:p>
          <a:p>
            <a:pPr marL="457200" lvl="0" indent="-330200" algn="l">
              <a:lnSpc>
                <a:spcPct val="105000"/>
              </a:lnSpc>
              <a:spcBef>
                <a:spcPts val="200"/>
              </a:spcBef>
              <a:spcAft>
                <a:spcPts val="0"/>
              </a:spcAft>
              <a:buSzPts val="1100"/>
              <a:buFont typeface="Times New Roman"/>
              <a:buChar char="●"/>
            </a:pPr>
            <a:r>
              <a:rPr lang="en-US" sz="1100">
                <a:latin typeface="Times New Roman"/>
                <a:ea typeface="Times New Roman"/>
                <a:cs typeface="Times New Roman"/>
                <a:sym typeface="Times New Roman"/>
              </a:rPr>
              <a:t>CWB-style architectural experiment on the YOLO11 baseline, with ablations</a:t>
            </a:r>
          </a:p>
          <a:p>
            <a:pPr marL="457200" lvl="0" indent="-330200" algn="l">
              <a:lnSpc>
                <a:spcPct val="105000"/>
              </a:lnSpc>
              <a:spcBef>
                <a:spcPts val="200"/>
              </a:spcBef>
              <a:spcAft>
                <a:spcPts val="0"/>
              </a:spcAft>
              <a:buSzPts val="1100"/>
              <a:buFont typeface="Times New Roman"/>
              <a:buChar char="●"/>
            </a:pPr>
            <a:r>
              <a:rPr lang="en-US" sz="1100">
                <a:latin typeface="Times New Roman"/>
                <a:ea typeface="Times New Roman"/>
                <a:cs typeface="Times New Roman"/>
                <a:sym typeface="Times New Roman"/>
              </a:rPr>
              <a:t>recoverability grading rule (coverage, defect type, position) validated on expert-graded boards</a:t>
            </a:r>
          </a:p>
          <a:p>
            <a:pPr marL="457200" lvl="0" indent="-330200" algn="l">
              <a:lnSpc>
                <a:spcPct val="105000"/>
              </a:lnSpc>
              <a:spcBef>
                <a:spcPts val="200"/>
              </a:spcBef>
              <a:spcAft>
                <a:spcPts val="0"/>
              </a:spcAft>
              <a:buSzPts val="1100"/>
              <a:buFont typeface="Times New Roman"/>
              <a:buChar char="●"/>
            </a:pPr>
            <a:r>
              <a:rPr lang="en-US" sz="1100">
                <a:latin typeface="Times New Roman"/>
                <a:ea typeface="Times New Roman"/>
                <a:cs typeface="Times New Roman"/>
                <a:sym typeface="Times New Roman"/>
              </a:rPr>
              <a:t>final single-shot evaluation, synopsis update and report</a:t>
            </a:r>
          </a:p>
        </p:txBody>
      </p:sp>
      <p:sp>
        <p:nvSpPr>
          <p:cNvPr id="328" name="TextBox 327"/>
          <p:cNvSpPr txBox="1"/>
          <p:nvPr/>
        </p:nvSpPr>
        <p:spPr>
          <a:xfrm>
            <a:off x="274320" y="4709160"/>
            <a:ext cx="4023360" cy="1554480"/>
          </a:xfrm>
          <a:prstGeom prst="rect">
            <a:avLst/>
          </a:prstGeom>
          <a:noFill/>
        </p:spPr>
        <p:txBody>
          <a:bodyPr wrap="square">
            <a:spAutoFit/>
          </a:bodyPr>
          <a:lstStyle/>
          <a:p>
            <a:pPr marL="0" lvl="0" indent="0" algn="l">
              <a:lnSpc>
                <a:spcPct val="105000"/>
              </a:lnSpc>
              <a:spcBef>
                <a:spcPts val="400"/>
              </a:spcBef>
              <a:spcAft>
                <a:spcPts val="0"/>
              </a:spcAft>
              <a:buNone/>
            </a:pPr>
            <a:r>
              <a:rPr lang="en-US" sz="1100" b="1">
                <a:latin typeface="Times New Roman"/>
                <a:ea typeface="Times New Roman"/>
                <a:cs typeface="Times New Roman"/>
                <a:sym typeface="Times New Roman"/>
              </a:rPr>
              <a:t>Limitations: </a:t>
            </a:r>
            <a:r>
              <a:rPr lang="en-US" sz="1100">
                <a:latin typeface="Times New Roman"/>
                <a:ea typeface="Times New Roman"/>
                <a:cs typeface="Times New Roman"/>
                <a:sym typeface="Times New Roman"/>
              </a:rPr>
              <a:t>12-board test set; single seed per configuration; trained on controlled line-scan imagery; recoverability not yet estimated.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1"/>
          <p:cNvSpPr txBox="1"/>
          <p:nvPr/>
        </p:nvSpPr>
        <p:spPr>
          <a:xfrm>
            <a:off x="395605" y="131445"/>
            <a:ext cx="8054340" cy="53338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REFERENCES</a:t>
            </a:r>
            <a:endParaRPr sz="1400" b="0" i="0" u="none" strike="noStrike" cap="none">
              <a:solidFill>
                <a:srgbClr val="000000"/>
              </a:solidFill>
              <a:latin typeface="Arial"/>
              <a:ea typeface="Arial"/>
              <a:cs typeface="Arial"/>
              <a:sym typeface="Arial"/>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[1] Y. Fang, Y. Ma, S. Gao, and J. Chen, “Recent advances in wood surface defect inspection using deep learning (2021–2025),” </a:t>
            </a:r>
            <a:r>
              <a:rPr lang="en-US" sz="1100" i="1">
                <a:latin typeface="Times New Roman"/>
                <a:ea typeface="Times New Roman"/>
                <a:cs typeface="Times New Roman"/>
                <a:sym typeface="Times New Roman"/>
              </a:rPr>
              <a:t>BioResources</a:t>
            </a:r>
            <a:r>
              <a:rPr lang="en-US" sz="1100">
                <a:latin typeface="Times New Roman"/>
                <a:ea typeface="Times New Roman"/>
                <a:cs typeface="Times New Roman"/>
                <a:sym typeface="Times New Roman"/>
              </a:rPr>
              <a:t>, vol. 21, no. 3, 2026.</a:t>
            </a:r>
            <a:r>
              <a:rPr lang="en-US" sz="1100">
                <a:uFill>
                  <a:noFill/>
                </a:uFill>
                <a:latin typeface="Times New Roman"/>
                <a:ea typeface="Times New Roman"/>
                <a:cs typeface="Times New Roman"/>
                <a:sym typeface="Times New Roman"/>
                <a:hlinkClick r:id="rId2"/>
              </a:rPr>
              <a:t> </a:t>
            </a:r>
            <a:r>
              <a:rPr lang="en-US" sz="1100" u="sng">
                <a:solidFill>
                  <a:srgbClr val="1155CC"/>
                </a:solidFill>
                <a:latin typeface="Times New Roman"/>
                <a:ea typeface="Times New Roman"/>
                <a:cs typeface="Times New Roman"/>
                <a:sym typeface="Times New Roman"/>
                <a:hlinkClick r:id="rId2">
                  <a:extLst>
                    <a:ext uri="{A12FA001-AC4F-418D-AE19-62706E023703}">
                      <ahyp:hlinkClr xmlns:ahyp="http://schemas.microsoft.com/office/drawing/2018/hyperlinkcolor" val="tx"/>
                    </a:ext>
                  </a:extLst>
                </a:hlinkClick>
              </a:rPr>
              <a:t>https://bioresources.cnr.ncsu.edu/resources/recent-advances-in-wood-surface-defect-inspection-using-deep-learning-2021-2025/</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2">
                  <a:extLst>
                    <a:ext uri="{A12FA001-AC4F-418D-AE19-62706E023703}">
                      <ahyp:hlinkClr xmlns:ahyp="http://schemas.microsoft.com/office/drawing/2018/hyperlinkcolor" val="tx"/>
                    </a:ext>
                  </a:extLst>
                </a:hlinkClick>
              </a:rPr>
              <a:t>BioResources</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[2] J. Zheng, “IEL-YOLO: A low-light robust wood defect detection method based on YOLOv11,” in </a:t>
            </a:r>
            <a:r>
              <a:rPr lang="en-US" sz="1100" i="1">
                <a:latin typeface="Times New Roman"/>
                <a:ea typeface="Times New Roman"/>
                <a:cs typeface="Times New Roman"/>
                <a:sym typeface="Times New Roman"/>
              </a:rPr>
              <a:t>Proc. 2026 3rd Int. Conf. Electrical Technology and Automation Engineering (ETAE)</a:t>
            </a:r>
            <a:r>
              <a:rPr lang="en-US" sz="1100">
                <a:latin typeface="Times New Roman"/>
                <a:ea typeface="Times New Roman"/>
                <a:cs typeface="Times New Roman"/>
                <a:sym typeface="Times New Roman"/>
              </a:rPr>
              <a:t>, 2026, pp. 818–821, doi: 10.1109/ETAE69474.2026.11496073.</a:t>
            </a:r>
            <a:r>
              <a:rPr lang="en-US" sz="1100">
                <a:uFill>
                  <a:noFill/>
                </a:uFill>
                <a:latin typeface="Times New Roman"/>
                <a:ea typeface="Times New Roman"/>
                <a:cs typeface="Times New Roman"/>
                <a:sym typeface="Times New Roman"/>
                <a:hlinkClick r:id="rId3"/>
              </a:rPr>
              <a:t> </a:t>
            </a:r>
            <a:r>
              <a:rPr lang="en-US" sz="1100" u="sng">
                <a:solidFill>
                  <a:srgbClr val="1155CC"/>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https://doi.org/10.1109/ETAE69474.2026.11496073</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ResearchGate</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[3] J. Qu, Y. Pang, and Z. Wang, “WD-SEG: A deep learning framework for delicate and accurate wood defect segmentation,” </a:t>
            </a:r>
            <a:r>
              <a:rPr lang="en-US" sz="1100" i="1">
                <a:latin typeface="Times New Roman"/>
                <a:ea typeface="Times New Roman"/>
                <a:cs typeface="Times New Roman"/>
                <a:sym typeface="Times New Roman"/>
              </a:rPr>
              <a:t>BioResources</a:t>
            </a:r>
            <a:r>
              <a:rPr lang="en-US" sz="1100">
                <a:latin typeface="Times New Roman"/>
                <a:ea typeface="Times New Roman"/>
                <a:cs typeface="Times New Roman"/>
                <a:sym typeface="Times New Roman"/>
              </a:rPr>
              <a:t>, vol. 21, no. 2, pp. 2925–2947, 2026.</a:t>
            </a:r>
            <a:r>
              <a:rPr lang="en-US" sz="1100">
                <a:uFill>
                  <a:noFill/>
                </a:uFill>
                <a:latin typeface="Times New Roman"/>
                <a:ea typeface="Times New Roman"/>
                <a:cs typeface="Times New Roman"/>
                <a:sym typeface="Times New Roman"/>
                <a:hlinkClick r:id="rId5"/>
              </a:rPr>
              <a:t> </a:t>
            </a:r>
            <a:r>
              <a:rPr lang="en-US" sz="1100" u="sng">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https://bioresources.cnr.ncsu.edu/resources/wd-seg-a-deep-learning-framework-for-delicate-and-accurate-wood-defect-segmentation/</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BioResources</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[4] J. Wang and S. Tang, “A novel IWPT-VMD denoising method for enhancing air-coupled ultrasonic detection of wood defects,” </a:t>
            </a:r>
            <a:r>
              <a:rPr lang="en-US" sz="1100" i="1">
                <a:latin typeface="Times New Roman"/>
                <a:ea typeface="Times New Roman"/>
                <a:cs typeface="Times New Roman"/>
                <a:sym typeface="Times New Roman"/>
              </a:rPr>
              <a:t>AIP Advances</a:t>
            </a:r>
            <a:r>
              <a:rPr lang="en-US" sz="1100">
                <a:latin typeface="Times New Roman"/>
                <a:ea typeface="Times New Roman"/>
                <a:cs typeface="Times New Roman"/>
                <a:sym typeface="Times New Roman"/>
              </a:rPr>
              <a:t>, vol. 16, no. 2, Art. no. 025217, 2026, doi: 10.1063/5.0313821.</a:t>
            </a:r>
            <a:r>
              <a:rPr lang="en-US" sz="1100">
                <a:uFill>
                  <a:noFill/>
                </a:uFill>
                <a:latin typeface="Times New Roman"/>
                <a:ea typeface="Times New Roman"/>
                <a:cs typeface="Times New Roman"/>
                <a:sym typeface="Times New Roman"/>
                <a:hlinkClick r:id="rId6"/>
              </a:rPr>
              <a:t> </a:t>
            </a:r>
            <a:r>
              <a:rPr lang="en-US" sz="1100" u="sng">
                <a:solidFill>
                  <a:srgbClr val="1155CC"/>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https://doi.org/10.1063/5.0313821</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7">
                  <a:extLst>
                    <a:ext uri="{A12FA001-AC4F-418D-AE19-62706E023703}">
                      <ahyp:hlinkClr xmlns:ahyp="http://schemas.microsoft.com/office/drawing/2018/hyperlinkcolor" val="tx"/>
                    </a:ext>
                  </a:extLst>
                </a:hlinkClick>
              </a:rPr>
              <a:t>ResearchGate</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[5] C. S. Erasmus, D. M. Drew, and M. J. Booysen, “A low-cost wireless dendrometer and digital twin for precision forestry applications,” </a:t>
            </a:r>
            <a:r>
              <a:rPr lang="en-US" sz="1100" i="1">
                <a:latin typeface="Times New Roman"/>
                <a:ea typeface="Times New Roman"/>
                <a:cs typeface="Times New Roman"/>
                <a:sym typeface="Times New Roman"/>
              </a:rPr>
              <a:t>Measurement</a:t>
            </a:r>
            <a:r>
              <a:rPr lang="en-US" sz="1100">
                <a:latin typeface="Times New Roman"/>
                <a:ea typeface="Times New Roman"/>
                <a:cs typeface="Times New Roman"/>
                <a:sym typeface="Times New Roman"/>
              </a:rPr>
              <a:t>, vol. 276, Art. no. 121442, 2026, doi: 10.1016/j.measurement.2026.121442.</a:t>
            </a:r>
            <a:r>
              <a:rPr lang="en-US" sz="1100">
                <a:uFill>
                  <a:noFill/>
                </a:uFill>
                <a:latin typeface="Times New Roman"/>
                <a:ea typeface="Times New Roman"/>
                <a:cs typeface="Times New Roman"/>
                <a:sym typeface="Times New Roman"/>
                <a:hlinkClick r:id="rId8"/>
              </a:rPr>
              <a:t> </a:t>
            </a:r>
            <a:r>
              <a:rPr lang="en-US" sz="1100" u="sng">
                <a:solidFill>
                  <a:srgbClr val="1155CC"/>
                </a:solidFill>
                <a:latin typeface="Times New Roman"/>
                <a:ea typeface="Times New Roman"/>
                <a:cs typeface="Times New Roman"/>
                <a:sym typeface="Times New Roman"/>
                <a:hlinkClick r:id="rId8">
                  <a:extLst>
                    <a:ext uri="{A12FA001-AC4F-418D-AE19-62706E023703}">
                      <ahyp:hlinkClr xmlns:ahyp="http://schemas.microsoft.com/office/drawing/2018/hyperlinkcolor" val="tx"/>
                    </a:ext>
                  </a:extLst>
                </a:hlinkClick>
              </a:rPr>
              <a:t>https://doi.org/10.1016/j.measurement.2026.121442</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9">
                  <a:extLst>
                    <a:ext uri="{A12FA001-AC4F-418D-AE19-62706E023703}">
                      <ahyp:hlinkClr xmlns:ahyp="http://schemas.microsoft.com/office/drawing/2018/hyperlinkcolor" val="tx"/>
                    </a:ext>
                  </a:extLst>
                </a:hlinkClick>
              </a:rPr>
              <a:t>ScienceDirect</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[6] N. Perry, J. Schweier, L. G. Bont, S. K. Kushwaha, H. Peltola, K. Eyvindson, R. Astrup, M. Chapman, and C. Blattert, “Towards precision forestry: A systematic review of optimisation methods for individual-tree decisions in forest management,” </a:t>
            </a:r>
            <a:r>
              <a:rPr lang="en-US" sz="1100" i="1">
                <a:latin typeface="Times New Roman"/>
                <a:ea typeface="Times New Roman"/>
                <a:cs typeface="Times New Roman"/>
                <a:sym typeface="Times New Roman"/>
              </a:rPr>
              <a:t>Trees, Forests and People</a:t>
            </a:r>
            <a:r>
              <a:rPr lang="en-US" sz="1100">
                <a:latin typeface="Times New Roman"/>
                <a:ea typeface="Times New Roman"/>
                <a:cs typeface="Times New Roman"/>
                <a:sym typeface="Times New Roman"/>
              </a:rPr>
              <a:t>, vol. 24, Art. no. 101226, 2026, doi: 10.1016/j.tfp.2026.101226.</a:t>
            </a:r>
            <a:r>
              <a:rPr lang="en-US" sz="1100">
                <a:uFill>
                  <a:noFill/>
                </a:uFill>
                <a:latin typeface="Times New Roman"/>
                <a:ea typeface="Times New Roman"/>
                <a:cs typeface="Times New Roman"/>
                <a:sym typeface="Times New Roman"/>
                <a:hlinkClick r:id="rId10"/>
              </a:rPr>
              <a:t> </a:t>
            </a:r>
            <a:r>
              <a:rPr lang="en-US" sz="1100" u="sng">
                <a:solidFill>
                  <a:srgbClr val="1155CC"/>
                </a:solidFill>
                <a:latin typeface="Times New Roman"/>
                <a:ea typeface="Times New Roman"/>
                <a:cs typeface="Times New Roman"/>
                <a:sym typeface="Times New Roman"/>
                <a:hlinkClick r:id="rId10">
                  <a:extLst>
                    <a:ext uri="{A12FA001-AC4F-418D-AE19-62706E023703}">
                      <ahyp:hlinkClr xmlns:ahyp="http://schemas.microsoft.com/office/drawing/2018/hyperlinkcolor" val="tx"/>
                    </a:ext>
                  </a:extLst>
                </a:hlinkClick>
              </a:rPr>
              <a:t>https://doi.org/10.1016/j.tfp.2026.101226</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11">
                  <a:extLst>
                    <a:ext uri="{A12FA001-AC4F-418D-AE19-62706E023703}">
                      <ahyp:hlinkClr xmlns:ahyp="http://schemas.microsoft.com/office/drawing/2018/hyperlinkcolor" val="tx"/>
                    </a:ext>
                  </a:extLst>
                </a:hlinkClick>
              </a:rPr>
              <a:t>ScienceDirect</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1200"/>
              </a:spcAft>
              <a:buNone/>
            </a:pPr>
            <a:endParaRPr sz="2800" b="1">
              <a:solidFill>
                <a:srgbClr val="41534B"/>
              </a:solidFill>
              <a:latin typeface="Times New Roman"/>
              <a:ea typeface="Times New Roman"/>
              <a:cs typeface="Times New Roman"/>
              <a:sym typeface="Times New Roman"/>
            </a:endParaRPr>
          </a:p>
        </p:txBody>
      </p:sp>
      <p:sp>
        <p:nvSpPr>
          <p:cNvPr id="317" name="Google Shape;317;p3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20</a:t>
            </a:fld>
            <a:endParaRPr/>
          </a:p>
        </p:txBody>
      </p:sp>
      <p:pic>
        <p:nvPicPr>
          <p:cNvPr id="318" name="Google Shape;318;p31"/>
          <p:cNvPicPr preferRelativeResize="0"/>
          <p:nvPr/>
        </p:nvPicPr>
        <p:blipFill rotWithShape="1">
          <a:blip r:embed="rId12">
            <a:alphaModFix/>
          </a:blip>
          <a:srcRect/>
          <a:stretch/>
        </p:blipFill>
        <p:spPr>
          <a:xfrm>
            <a:off x="8450861" y="1377538"/>
            <a:ext cx="677790" cy="1129400"/>
          </a:xfrm>
          <a:prstGeom prst="rect">
            <a:avLst/>
          </a:prstGeom>
          <a:noFill/>
          <a:ln>
            <a:noFill/>
          </a:ln>
        </p:spPr>
      </p:pic>
      <p:pic>
        <p:nvPicPr>
          <p:cNvPr id="319" name="Google Shape;319;p31"/>
          <p:cNvPicPr preferRelativeResize="0"/>
          <p:nvPr/>
        </p:nvPicPr>
        <p:blipFill rotWithShape="1">
          <a:blip r:embed="rId13">
            <a:alphaModFix/>
          </a:blip>
          <a:srcRect/>
          <a:stretch/>
        </p:blipFill>
        <p:spPr>
          <a:xfrm>
            <a:off x="8450861" y="6157980"/>
            <a:ext cx="680353" cy="703613"/>
          </a:xfrm>
          <a:prstGeom prst="rect">
            <a:avLst/>
          </a:prstGeom>
          <a:noFill/>
          <a:ln>
            <a:noFill/>
          </a:ln>
        </p:spPr>
      </p:pic>
      <p:pic>
        <p:nvPicPr>
          <p:cNvPr id="320" name="Google Shape;320;p31"/>
          <p:cNvPicPr preferRelativeResize="0"/>
          <p:nvPr/>
        </p:nvPicPr>
        <p:blipFill rotWithShape="1">
          <a:blip r:embed="rId14">
            <a:alphaModFix/>
          </a:blip>
          <a:srcRect/>
          <a:stretch/>
        </p:blipFill>
        <p:spPr>
          <a:xfrm>
            <a:off x="8450861" y="3740295"/>
            <a:ext cx="695325" cy="1704975"/>
          </a:xfrm>
          <a:prstGeom prst="rect">
            <a:avLst/>
          </a:prstGeom>
          <a:noFill/>
          <a:ln>
            <a:noFill/>
          </a:ln>
        </p:spPr>
      </p:pic>
      <p:pic>
        <p:nvPicPr>
          <p:cNvPr id="321" name="Google Shape;321;p31"/>
          <p:cNvPicPr preferRelativeResize="0"/>
          <p:nvPr/>
        </p:nvPicPr>
        <p:blipFill rotWithShape="1">
          <a:blip r:embed="rId15">
            <a:alphaModFix/>
          </a:blip>
          <a:srcRect/>
          <a:stretch/>
        </p:blipFill>
        <p:spPr>
          <a:xfrm>
            <a:off x="8450860" y="2542563"/>
            <a:ext cx="693139" cy="1233357"/>
          </a:xfrm>
          <a:prstGeom prst="rect">
            <a:avLst/>
          </a:prstGeom>
          <a:noFill/>
          <a:ln>
            <a:noFill/>
          </a:ln>
        </p:spPr>
      </p:pic>
      <p:sp>
        <p:nvSpPr>
          <p:cNvPr id="322" name="Google Shape;322;p3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2"/>
          <p:cNvSpPr txBox="1"/>
          <p:nvPr/>
        </p:nvSpPr>
        <p:spPr>
          <a:xfrm>
            <a:off x="395605" y="131445"/>
            <a:ext cx="8054400" cy="53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REFERENCES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800" b="1" i="0" u="none" strike="noStrike" cap="none">
              <a:solidFill>
                <a:srgbClr val="41534B"/>
              </a:solidFill>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[7] E. Z. Başkent, A. Bončina, and J. G. Borges, “A review and conceptual framework for a new era of forest management planning: Integrating hybrid digital twin systems toward sustainable forest ecosystems,” </a:t>
            </a:r>
            <a:r>
              <a:rPr lang="en-US" sz="1100" i="1">
                <a:latin typeface="Times New Roman"/>
                <a:ea typeface="Times New Roman"/>
                <a:cs typeface="Times New Roman"/>
                <a:sym typeface="Times New Roman"/>
              </a:rPr>
              <a:t>Ecosystem Services</a:t>
            </a:r>
            <a:r>
              <a:rPr lang="en-US" sz="1100">
                <a:latin typeface="Times New Roman"/>
                <a:ea typeface="Times New Roman"/>
                <a:cs typeface="Times New Roman"/>
                <a:sym typeface="Times New Roman"/>
              </a:rPr>
              <a:t>, vol. 79, Art. no. 101851, 2026, doi: 10.1016/j.ecoser.2026.101851.</a:t>
            </a:r>
            <a:r>
              <a:rPr lang="en-US" sz="1100">
                <a:uFill>
                  <a:noFill/>
                </a:uFill>
                <a:latin typeface="Times New Roman"/>
                <a:ea typeface="Times New Roman"/>
                <a:cs typeface="Times New Roman"/>
                <a:sym typeface="Times New Roman"/>
                <a:hlinkClick r:id="rId3"/>
              </a:rPr>
              <a:t> </a:t>
            </a:r>
            <a:r>
              <a:rPr lang="en-US" sz="1100" u="sng">
                <a:solidFill>
                  <a:srgbClr val="1155CC"/>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https://doi.org/10.1016/j.ecoser.2026.101851</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ScienceDirect</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[8] J. Tan, H. Zhang, J. Yang, Y. Liu, D. Zheng, and X. Liu, “ForestryBERT: A pre-trained language model with continual learning adapted to changing forestry text,” </a:t>
            </a:r>
            <a:r>
              <a:rPr lang="en-US" sz="1100" i="1">
                <a:latin typeface="Times New Roman"/>
                <a:ea typeface="Times New Roman"/>
                <a:cs typeface="Times New Roman"/>
                <a:sym typeface="Times New Roman"/>
              </a:rPr>
              <a:t>Knowledge-Based Systems</a:t>
            </a:r>
            <a:r>
              <a:rPr lang="en-US" sz="1100">
                <a:latin typeface="Times New Roman"/>
                <a:ea typeface="Times New Roman"/>
                <a:cs typeface="Times New Roman"/>
                <a:sym typeface="Times New Roman"/>
              </a:rPr>
              <a:t>, vol. 320, Art. no. 113706, 2025, doi: 10.1016/j.knosys.2025.113706.</a:t>
            </a:r>
            <a:r>
              <a:rPr lang="en-US" sz="1100">
                <a:uFill>
                  <a:noFill/>
                </a:uFill>
                <a:latin typeface="Times New Roman"/>
                <a:ea typeface="Times New Roman"/>
                <a:cs typeface="Times New Roman"/>
                <a:sym typeface="Times New Roman"/>
                <a:hlinkClick r:id="rId5"/>
              </a:rPr>
              <a:t> </a:t>
            </a:r>
            <a:r>
              <a:rPr lang="en-US" sz="1100" u="sng">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https://doi.org/10.1016/j.knosys.2025.113706</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ScienceDirect</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[9] T. I. Zohdi, “A machine-learning enabled digital-twin framework for next generation precision agriculture and forestry,” </a:t>
            </a:r>
            <a:r>
              <a:rPr lang="en-US" sz="1100" i="1">
                <a:latin typeface="Times New Roman"/>
                <a:ea typeface="Times New Roman"/>
                <a:cs typeface="Times New Roman"/>
                <a:sym typeface="Times New Roman"/>
              </a:rPr>
              <a:t>Computer Methods in Applied Mechanics and Engineering</a:t>
            </a:r>
            <a:r>
              <a:rPr lang="en-US" sz="1100">
                <a:latin typeface="Times New Roman"/>
                <a:ea typeface="Times New Roman"/>
                <a:cs typeface="Times New Roman"/>
                <a:sym typeface="Times New Roman"/>
              </a:rPr>
              <a:t>, vol. 431, Art. no. 117250, 2024, doi: 10.1016/j.cma.2024.117250.</a:t>
            </a:r>
            <a:r>
              <a:rPr lang="en-US" sz="1100">
                <a:uFill>
                  <a:noFill/>
                </a:uFill>
                <a:latin typeface="Times New Roman"/>
                <a:ea typeface="Times New Roman"/>
                <a:cs typeface="Times New Roman"/>
                <a:sym typeface="Times New Roman"/>
                <a:hlinkClick r:id="rId7"/>
              </a:rPr>
              <a:t> </a:t>
            </a:r>
            <a:r>
              <a:rPr lang="en-US" sz="1100" u="sng">
                <a:solidFill>
                  <a:srgbClr val="1155CC"/>
                </a:solidFill>
                <a:latin typeface="Times New Roman"/>
                <a:ea typeface="Times New Roman"/>
                <a:cs typeface="Times New Roman"/>
                <a:sym typeface="Times New Roman"/>
                <a:hlinkClick r:id="rId7">
                  <a:extLst>
                    <a:ext uri="{A12FA001-AC4F-418D-AE19-62706E023703}">
                      <ahyp:hlinkClr xmlns:ahyp="http://schemas.microsoft.com/office/drawing/2018/hyperlinkcolor" val="tx"/>
                    </a:ext>
                  </a:extLst>
                </a:hlinkClick>
              </a:rPr>
              <a:t>https://doi.org/10.1016/j.cma.2024.117250</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8">
                  <a:extLst>
                    <a:ext uri="{A12FA001-AC4F-418D-AE19-62706E023703}">
                      <ahyp:hlinkClr xmlns:ahyp="http://schemas.microsoft.com/office/drawing/2018/hyperlinkcolor" val="tx"/>
                    </a:ext>
                  </a:extLst>
                </a:hlinkClick>
              </a:rPr>
              <a:t>ScienceDirect</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[10] H. An, Z. Liang, M. Qin, Y. Huang, F. Xiong, and G. Zeng, “Wood defect detection based on the CWB-YOLOv8 algorithm,” </a:t>
            </a:r>
            <a:r>
              <a:rPr lang="en-US" sz="1100" i="1">
                <a:latin typeface="Times New Roman"/>
                <a:ea typeface="Times New Roman"/>
                <a:cs typeface="Times New Roman"/>
                <a:sym typeface="Times New Roman"/>
              </a:rPr>
              <a:t>Journal of Wood Science</a:t>
            </a:r>
            <a:r>
              <a:rPr lang="en-US" sz="1100">
                <a:latin typeface="Times New Roman"/>
                <a:ea typeface="Times New Roman"/>
                <a:cs typeface="Times New Roman"/>
                <a:sym typeface="Times New Roman"/>
              </a:rPr>
              <a:t>, vol. 70, Art. no. 26, 2024, doi: 10.1186/s10086-024-02139-z.</a:t>
            </a:r>
            <a:r>
              <a:rPr lang="en-US" sz="1100">
                <a:uFill>
                  <a:noFill/>
                </a:uFill>
                <a:latin typeface="Times New Roman"/>
                <a:ea typeface="Times New Roman"/>
                <a:cs typeface="Times New Roman"/>
                <a:sym typeface="Times New Roman"/>
                <a:hlinkClick r:id="rId9"/>
              </a:rPr>
              <a:t> </a:t>
            </a:r>
            <a:r>
              <a:rPr lang="en-US" sz="1100" u="sng">
                <a:solidFill>
                  <a:srgbClr val="1155CC"/>
                </a:solidFill>
                <a:latin typeface="Times New Roman"/>
                <a:ea typeface="Times New Roman"/>
                <a:cs typeface="Times New Roman"/>
                <a:sym typeface="Times New Roman"/>
                <a:hlinkClick r:id="rId9">
                  <a:extLst>
                    <a:ext uri="{A12FA001-AC4F-418D-AE19-62706E023703}">
                      <ahyp:hlinkClr xmlns:ahyp="http://schemas.microsoft.com/office/drawing/2018/hyperlinkcolor" val="tx"/>
                    </a:ext>
                  </a:extLst>
                </a:hlinkClick>
              </a:rPr>
              <a:t>https://doi.org/10.1186/s10086-024-02139-z</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10">
                  <a:extLst>
                    <a:ext uri="{A12FA001-AC4F-418D-AE19-62706E023703}">
                      <ahyp:hlinkClr xmlns:ahyp="http://schemas.microsoft.com/office/drawing/2018/hyperlinkcolor" val="tx"/>
                    </a:ext>
                  </a:extLst>
                </a:hlinkClick>
              </a:rPr>
              <a:t>Springer</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[11] L. P. Yi, M. F. Akbar, M. N. A. Wahab, B. A. Rosdi, M. A. Fauthan, and N. H. M. M. Shrifan, “The prospect of artificial intelligence-based wood surface inspection: A review,” </a:t>
            </a:r>
            <a:r>
              <a:rPr lang="en-US" sz="1100" i="1">
                <a:latin typeface="Times New Roman"/>
                <a:ea typeface="Times New Roman"/>
                <a:cs typeface="Times New Roman"/>
                <a:sym typeface="Times New Roman"/>
              </a:rPr>
              <a:t>IEEE Access</a:t>
            </a:r>
            <a:r>
              <a:rPr lang="en-US" sz="1100">
                <a:latin typeface="Times New Roman"/>
                <a:ea typeface="Times New Roman"/>
                <a:cs typeface="Times New Roman"/>
                <a:sym typeface="Times New Roman"/>
              </a:rPr>
              <a:t>, vol. 12, pp. 84706–84725, 2024, doi: 10.1109/ACCESS.2024.3412928.</a:t>
            </a:r>
            <a:r>
              <a:rPr lang="en-US" sz="1100">
                <a:uFill>
                  <a:noFill/>
                </a:uFill>
                <a:latin typeface="Times New Roman"/>
                <a:ea typeface="Times New Roman"/>
                <a:cs typeface="Times New Roman"/>
                <a:sym typeface="Times New Roman"/>
                <a:hlinkClick r:id="rId11"/>
              </a:rPr>
              <a:t> </a:t>
            </a:r>
            <a:r>
              <a:rPr lang="en-US" sz="1100" u="sng">
                <a:solidFill>
                  <a:srgbClr val="1155CC"/>
                </a:solidFill>
                <a:latin typeface="Times New Roman"/>
                <a:ea typeface="Times New Roman"/>
                <a:cs typeface="Times New Roman"/>
                <a:sym typeface="Times New Roman"/>
                <a:hlinkClick r:id="rId11">
                  <a:extLst>
                    <a:ext uri="{A12FA001-AC4F-418D-AE19-62706E023703}">
                      <ahyp:hlinkClr xmlns:ahyp="http://schemas.microsoft.com/office/drawing/2018/hyperlinkcolor" val="tx"/>
                    </a:ext>
                  </a:extLst>
                </a:hlinkClick>
              </a:rPr>
              <a:t>https://doi.org/10.1109/ACCESS.2024.3412928</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12">
                  <a:extLst>
                    <a:ext uri="{A12FA001-AC4F-418D-AE19-62706E023703}">
                      <ahyp:hlinkClr xmlns:ahyp="http://schemas.microsoft.com/office/drawing/2018/hyperlinkcolor" val="tx"/>
                    </a:ext>
                  </a:extLst>
                </a:hlinkClick>
              </a:rPr>
              <a:t>Ouci</a:t>
            </a:r>
            <a:r>
              <a:rPr lang="en-US" sz="1100">
                <a:latin typeface="Times New Roman"/>
                <a:ea typeface="Times New Roman"/>
                <a:cs typeface="Times New Roman"/>
                <a:sym typeface="Times New Roman"/>
              </a:rPr>
              <a:t>)</a:t>
            </a:r>
            <a:endParaRPr sz="2800" b="1">
              <a:solidFill>
                <a:srgbClr val="41534B"/>
              </a:solidFill>
              <a:latin typeface="Times New Roman"/>
              <a:ea typeface="Times New Roman"/>
              <a:cs typeface="Times New Roman"/>
              <a:sym typeface="Times New Roman"/>
            </a:endParaRPr>
          </a:p>
          <a:p>
            <a:pPr marL="0" lvl="0" indent="0" algn="l" rtl="0">
              <a:lnSpc>
                <a:spcPct val="150000"/>
              </a:lnSpc>
              <a:spcBef>
                <a:spcPts val="1200"/>
              </a:spcBef>
              <a:spcAft>
                <a:spcPts val="0"/>
              </a:spcAft>
              <a:buNone/>
            </a:pPr>
            <a:endParaRPr sz="1100">
              <a:latin typeface="Times New Roman"/>
              <a:ea typeface="Times New Roman"/>
              <a:cs typeface="Times New Roman"/>
              <a:sym typeface="Times New Roman"/>
            </a:endParaRPr>
          </a:p>
          <a:p>
            <a:pPr marL="0" lvl="0" indent="0" algn="l" rtl="0">
              <a:lnSpc>
                <a:spcPct val="150000"/>
              </a:lnSpc>
              <a:spcBef>
                <a:spcPts val="1200"/>
              </a:spcBef>
              <a:spcAft>
                <a:spcPts val="1200"/>
              </a:spcAft>
              <a:buNone/>
            </a:pPr>
            <a:endParaRPr sz="2800" b="1">
              <a:solidFill>
                <a:srgbClr val="41534B"/>
              </a:solidFill>
              <a:latin typeface="Times New Roman"/>
              <a:ea typeface="Times New Roman"/>
              <a:cs typeface="Times New Roman"/>
              <a:sym typeface="Times New Roman"/>
            </a:endParaRPr>
          </a:p>
        </p:txBody>
      </p:sp>
      <p:sp>
        <p:nvSpPr>
          <p:cNvPr id="328" name="Google Shape;328;p32"/>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21</a:t>
            </a:fld>
            <a:endParaRPr/>
          </a:p>
        </p:txBody>
      </p:sp>
      <p:pic>
        <p:nvPicPr>
          <p:cNvPr id="329" name="Google Shape;329;p32"/>
          <p:cNvPicPr preferRelativeResize="0"/>
          <p:nvPr/>
        </p:nvPicPr>
        <p:blipFill rotWithShape="1">
          <a:blip r:embed="rId13">
            <a:alphaModFix/>
          </a:blip>
          <a:srcRect/>
          <a:stretch/>
        </p:blipFill>
        <p:spPr>
          <a:xfrm>
            <a:off x="8450861" y="1377538"/>
            <a:ext cx="677790" cy="1129400"/>
          </a:xfrm>
          <a:prstGeom prst="rect">
            <a:avLst/>
          </a:prstGeom>
          <a:noFill/>
          <a:ln>
            <a:noFill/>
          </a:ln>
        </p:spPr>
      </p:pic>
      <p:pic>
        <p:nvPicPr>
          <p:cNvPr id="330" name="Google Shape;330;p32"/>
          <p:cNvPicPr preferRelativeResize="0"/>
          <p:nvPr/>
        </p:nvPicPr>
        <p:blipFill rotWithShape="1">
          <a:blip r:embed="rId14">
            <a:alphaModFix/>
          </a:blip>
          <a:srcRect/>
          <a:stretch/>
        </p:blipFill>
        <p:spPr>
          <a:xfrm>
            <a:off x="8450861" y="6157980"/>
            <a:ext cx="680353" cy="703613"/>
          </a:xfrm>
          <a:prstGeom prst="rect">
            <a:avLst/>
          </a:prstGeom>
          <a:noFill/>
          <a:ln>
            <a:noFill/>
          </a:ln>
        </p:spPr>
      </p:pic>
      <p:pic>
        <p:nvPicPr>
          <p:cNvPr id="331" name="Google Shape;331;p32"/>
          <p:cNvPicPr preferRelativeResize="0"/>
          <p:nvPr/>
        </p:nvPicPr>
        <p:blipFill rotWithShape="1">
          <a:blip r:embed="rId15">
            <a:alphaModFix/>
          </a:blip>
          <a:srcRect/>
          <a:stretch/>
        </p:blipFill>
        <p:spPr>
          <a:xfrm>
            <a:off x="8450861" y="3740295"/>
            <a:ext cx="695325" cy="1704975"/>
          </a:xfrm>
          <a:prstGeom prst="rect">
            <a:avLst/>
          </a:prstGeom>
          <a:noFill/>
          <a:ln>
            <a:noFill/>
          </a:ln>
        </p:spPr>
      </p:pic>
      <p:pic>
        <p:nvPicPr>
          <p:cNvPr id="332" name="Google Shape;332;p32"/>
          <p:cNvPicPr preferRelativeResize="0"/>
          <p:nvPr/>
        </p:nvPicPr>
        <p:blipFill rotWithShape="1">
          <a:blip r:embed="rId16">
            <a:alphaModFix/>
          </a:blip>
          <a:srcRect/>
          <a:stretch/>
        </p:blipFill>
        <p:spPr>
          <a:xfrm>
            <a:off x="8450860" y="2542563"/>
            <a:ext cx="693139" cy="1233357"/>
          </a:xfrm>
          <a:prstGeom prst="rect">
            <a:avLst/>
          </a:prstGeom>
          <a:noFill/>
          <a:ln>
            <a:noFill/>
          </a:ln>
        </p:spPr>
      </p:pic>
      <p:sp>
        <p:nvSpPr>
          <p:cNvPr id="333" name="Google Shape;333;p32"/>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3"/>
          <p:cNvSpPr/>
          <p:nvPr/>
        </p:nvSpPr>
        <p:spPr>
          <a:xfrm>
            <a:off x="1988956" y="2967335"/>
            <a:ext cx="4692600" cy="923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5400"/>
              <a:buFont typeface="Arial"/>
              <a:buNone/>
            </a:pPr>
            <a:r>
              <a:rPr lang="en-US" sz="5900" b="1" i="0" u="none" strike="noStrike" cap="none">
                <a:solidFill>
                  <a:srgbClr val="F1C232"/>
                </a:solidFill>
                <a:latin typeface="Lobster"/>
                <a:ea typeface="Lobster"/>
                <a:cs typeface="Lobster"/>
                <a:sym typeface="Lobster"/>
              </a:rPr>
              <a:t>Thank You</a:t>
            </a:r>
            <a:r>
              <a:rPr lang="en-US" sz="5900" b="1" i="0" u="none" strike="noStrike" cap="none">
                <a:solidFill>
                  <a:srgbClr val="F1C232"/>
                </a:solidFill>
                <a:latin typeface="Calibri"/>
                <a:ea typeface="Calibri"/>
                <a:cs typeface="Calibri"/>
                <a:sym typeface="Calibri"/>
              </a:rPr>
              <a:t> </a:t>
            </a:r>
            <a:endParaRPr sz="5900" b="1" i="0" u="none" strike="noStrike" cap="none">
              <a:solidFill>
                <a:srgbClr val="F1C232"/>
              </a:solidFill>
              <a:latin typeface="Calibri"/>
              <a:ea typeface="Calibri"/>
              <a:cs typeface="Calibri"/>
              <a:sym typeface="Calibri"/>
            </a:endParaRPr>
          </a:p>
        </p:txBody>
      </p:sp>
      <p:sp>
        <p:nvSpPr>
          <p:cNvPr id="339" name="Google Shape;339;p33"/>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22</a:t>
            </a:fld>
            <a:endParaRPr/>
          </a:p>
        </p:txBody>
      </p:sp>
      <p:pic>
        <p:nvPicPr>
          <p:cNvPr id="340" name="Google Shape;340;p33"/>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341" name="Google Shape;341;p33"/>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342" name="Google Shape;342;p33"/>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343" name="Google Shape;343;p33"/>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344" name="Google Shape;344;p33"/>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3681</Words>
  <Application>Microsoft Office PowerPoint</Application>
  <PresentationFormat>On-screen Show (4:3)</PresentationFormat>
  <Paragraphs>561</Paragraphs>
  <Slides>22</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Times New Roman</vt:lpstr>
      <vt:lpstr>Arial</vt:lpstr>
      <vt:lpstr>Lobster</vt:lpstr>
      <vt:lpstr>Calibri</vt:lpstr>
      <vt:lpstr>Balthazar</vt:lpstr>
      <vt:lpstr>Cambria</vt:lpstr>
      <vt:lpstr>Adjacency</vt:lpstr>
      <vt:lpstr>AI-Based Wood Quality Assessment</vt:lpstr>
      <vt:lpstr>ORGANIZATION OF THE PRESENTATION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Prakyat Shetty</cp:lastModifiedBy>
  <cp:revision>1</cp:revision>
  <dcterms:modified xsi:type="dcterms:W3CDTF">2026-09-11T17:02:02Z</dcterms:modified>
</cp:coreProperties>
</file>