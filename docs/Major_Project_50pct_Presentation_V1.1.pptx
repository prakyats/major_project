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7" r:id="rId30"/>
    <p:sldId id="275" r:id="rId26"/>
    <p:sldId id="276" r:id="rId27"/>
  </p:sldIdLst>
  <p:sldSz cy="6858000" cx="9144000"/>
  <p:notesSz cx="6858000" cy="9144000"/>
  <p:embeddedFontLst>
    <p:embeddedFont>
      <p:font typeface="Lobster"/>
      <p:regular r:id="rId28"/>
    </p:embeddedFont>
    <p:embeddedFont>
      <p:font typeface="Balthazar"/>
      <p:regular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202">
          <p15:clr>
            <a:srgbClr val="A4A3A4"/>
          </p15:clr>
        </p15:guide>
        <p15:guide id="2" pos="2920">
          <p15:clr>
            <a:srgbClr val="A4A3A4"/>
          </p15:clr>
        </p15:guide>
      </p15:sldGuideLst>
    </p:ext>
    <p:ext uri="{2D200454-40CA-4A62-9FC3-DE9A4176ACB9}">
      <p15:notesGuideLst>
        <p15:guide id="1" orient="horz" pos="2936">
          <p15:clr>
            <a:srgbClr val="A4A3A4"/>
          </p15:clr>
        </p15:guide>
        <p15:guide id="2" pos="219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D8EE20A-88A6-4723-80EF-92F8BEF2DCB8}">
  <a:tblStyle styleId="{8D8EE20A-88A6-4723-80EF-92F8BEF2DCB8}"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7E7"/>
          </a:solidFill>
        </a:fill>
      </a:tcStyle>
    </a:wholeTbl>
    <a:band1H>
      <a:tcTxStyle b="off" i="off"/>
      <a:tcStyle>
        <a:fill>
          <a:solidFill>
            <a:srgbClr val="CCCBCB"/>
          </a:solidFill>
        </a:fill>
      </a:tcStyle>
    </a:band1H>
    <a:band2H>
      <a:tcTxStyle b="off" i="off"/>
    </a:band2H>
    <a:band1V>
      <a:tcTxStyle b="off" i="off"/>
      <a:tcStyle>
        <a:fill>
          <a:solidFill>
            <a:srgbClr val="CCCBCB"/>
          </a:solidFill>
        </a:fill>
      </a:tcStyle>
    </a:band1V>
    <a:band2V>
      <a:tcTxStyle b="off" i="off"/>
    </a:band2V>
    <a:lastCol>
      <a:tcTxStyle b="on" i="off">
        <a:font>
          <a:latin typeface="Calibri"/>
          <a:ea typeface="Calibri"/>
          <a:cs typeface="Calibri"/>
        </a:font>
        <a:schemeClr val="lt1"/>
      </a:tcTxStyle>
      <a:tcStyle>
        <a:fill>
          <a:solidFill>
            <a:schemeClr val="dk1"/>
          </a:solidFill>
        </a:fill>
      </a:tcStyle>
    </a:lastCol>
    <a:firstCol>
      <a:tcTxStyle b="on" i="off">
        <a:font>
          <a:latin typeface="Calibri"/>
          <a:ea typeface="Calibri"/>
          <a:cs typeface="Calibri"/>
        </a:font>
        <a:schemeClr val="lt1"/>
      </a:tcTxStyle>
      <a:tcStyle>
        <a:fill>
          <a:solidFill>
            <a:schemeClr val="dk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dk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dk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202" orient="horz"/>
        <p:guide pos="2920"/>
      </p:guideLst>
    </p:cSldViewPr>
  </p:slideViewPr>
  <p:notesViewPr>
    <p:cSldViewPr snapToGrid="0">
      <p:cViewPr varScale="1">
        <p:scale>
          <a:sx n="100" d="100"/>
          <a:sy n="100" d="100"/>
        </p:scale>
        <p:origin x="0" y="0"/>
      </p:cViewPr>
      <p:guideLst>
        <p:guide pos="2936" orient="horz"/>
        <p:guide pos="219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font" Target="fonts/Lobster-regular.fntdata"/><Relationship Id="rId29" Type="http://schemas.openxmlformats.org/officeDocument/2006/relationships/font" Target="fonts/Balthazar-regular.fntdata"/><Relationship Id="rId3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 name="Google Shape;118;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p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 name="Google Shape;143;p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f6a847483f_0_217: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 name="Google Shape;155;g3f6a847483f_0_21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7" name="Google Shape;167;p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7: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9" name="Google Shape;179;p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p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4" name="Google Shape;204;p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1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8" name="Google Shape;228;p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f6ad0d8d00_0_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0" name="Google Shape;240;g3f6ad0d8d00_0_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2" name="Google Shape;252;p1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4" name="Google Shape;264;p1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9" name="Google Shape;289;p1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1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2" name="Google Shape;302;p1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4" name="Google Shape;314;p1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3f6ad0d8d00_0_2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5" name="Google Shape;325;g3f6ad0d8d00_0_2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2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2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7" name="Shape 17"/>
        <p:cNvGrpSpPr/>
        <p:nvPr/>
      </p:nvGrpSpPr>
      <p:grpSpPr>
        <a:xfrm>
          <a:off x="0" y="0"/>
          <a:ext cx="0" cy="0"/>
          <a:chOff x="0" y="0"/>
          <a:chExt cx="0" cy="0"/>
        </a:xfrm>
      </p:grpSpPr>
      <p:sp>
        <p:nvSpPr>
          <p:cNvPr id="18" name="Google Shape;18;p2"/>
          <p:cNvSpPr txBox="1"/>
          <p:nvPr>
            <p:ph type="ctrTitle"/>
          </p:nvPr>
        </p:nvSpPr>
        <p:spPr>
          <a:xfrm>
            <a:off x="685800" y="1905000"/>
            <a:ext cx="7543800" cy="2593975"/>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Clr>
                <a:schemeClr val="dk2"/>
              </a:buClr>
              <a:buSzPts val="6600"/>
              <a:buFont typeface="Cambria"/>
              <a:buNone/>
              <a:defRPr sz="66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
          <p:cNvSpPr txBox="1"/>
          <p:nvPr>
            <p:ph idx="1" type="subTitle"/>
          </p:nvPr>
        </p:nvSpPr>
        <p:spPr>
          <a:xfrm>
            <a:off x="685800" y="4572000"/>
            <a:ext cx="6461760" cy="10668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400"/>
              </a:spcBef>
              <a:spcAft>
                <a:spcPts val="0"/>
              </a:spcAft>
              <a:buSzPts val="2000"/>
              <a:buNone/>
              <a:defRPr sz="2000">
                <a:solidFill>
                  <a:srgbClr val="8C8B8A"/>
                </a:solidFill>
              </a:defRPr>
            </a:lvl1pPr>
            <a:lvl2pPr lvl="1" algn="ctr">
              <a:lnSpc>
                <a:spcPct val="100000"/>
              </a:lnSpc>
              <a:spcBef>
                <a:spcPts val="400"/>
              </a:spcBef>
              <a:spcAft>
                <a:spcPts val="0"/>
              </a:spcAft>
              <a:buSzPts val="2000"/>
              <a:buNone/>
              <a:defRPr>
                <a:solidFill>
                  <a:srgbClr val="8C8B8A"/>
                </a:solidFill>
              </a:defRPr>
            </a:lvl2pPr>
            <a:lvl3pPr lvl="2" algn="ctr">
              <a:lnSpc>
                <a:spcPct val="100000"/>
              </a:lnSpc>
              <a:spcBef>
                <a:spcPts val="360"/>
              </a:spcBef>
              <a:spcAft>
                <a:spcPts val="0"/>
              </a:spcAft>
              <a:buSzPts val="1800"/>
              <a:buNone/>
              <a:defRPr>
                <a:solidFill>
                  <a:srgbClr val="8C8B8A"/>
                </a:solidFill>
              </a:defRPr>
            </a:lvl3pPr>
            <a:lvl4pPr lvl="3" algn="ctr">
              <a:lnSpc>
                <a:spcPct val="100000"/>
              </a:lnSpc>
              <a:spcBef>
                <a:spcPts val="320"/>
              </a:spcBef>
              <a:spcAft>
                <a:spcPts val="0"/>
              </a:spcAft>
              <a:buSzPts val="1600"/>
              <a:buNone/>
              <a:defRPr>
                <a:solidFill>
                  <a:srgbClr val="8C8B8A"/>
                </a:solidFill>
              </a:defRPr>
            </a:lvl4pPr>
            <a:lvl5pPr lvl="4" algn="ctr">
              <a:lnSpc>
                <a:spcPct val="100000"/>
              </a:lnSpc>
              <a:spcBef>
                <a:spcPts val="280"/>
              </a:spcBef>
              <a:spcAft>
                <a:spcPts val="0"/>
              </a:spcAft>
              <a:buSzPts val="1400"/>
              <a:buNone/>
              <a:defRPr>
                <a:solidFill>
                  <a:srgbClr val="8C8B8A"/>
                </a:solidFill>
              </a:defRPr>
            </a:lvl5pPr>
            <a:lvl6pPr lvl="5" algn="ctr">
              <a:lnSpc>
                <a:spcPct val="100000"/>
              </a:lnSpc>
              <a:spcBef>
                <a:spcPts val="280"/>
              </a:spcBef>
              <a:spcAft>
                <a:spcPts val="0"/>
              </a:spcAft>
              <a:buSzPts val="1400"/>
              <a:buNone/>
              <a:defRPr>
                <a:solidFill>
                  <a:srgbClr val="8C8B8A"/>
                </a:solidFill>
              </a:defRPr>
            </a:lvl6pPr>
            <a:lvl7pPr lvl="6" algn="ctr">
              <a:lnSpc>
                <a:spcPct val="100000"/>
              </a:lnSpc>
              <a:spcBef>
                <a:spcPts val="280"/>
              </a:spcBef>
              <a:spcAft>
                <a:spcPts val="0"/>
              </a:spcAft>
              <a:buSzPts val="1400"/>
              <a:buNone/>
              <a:defRPr>
                <a:solidFill>
                  <a:srgbClr val="8C8B8A"/>
                </a:solidFill>
              </a:defRPr>
            </a:lvl7pPr>
            <a:lvl8pPr lvl="7" algn="ctr">
              <a:lnSpc>
                <a:spcPct val="100000"/>
              </a:lnSpc>
              <a:spcBef>
                <a:spcPts val="280"/>
              </a:spcBef>
              <a:spcAft>
                <a:spcPts val="0"/>
              </a:spcAft>
              <a:buSzPts val="1400"/>
              <a:buNone/>
              <a:defRPr>
                <a:solidFill>
                  <a:srgbClr val="8C8B8A"/>
                </a:solidFill>
              </a:defRPr>
            </a:lvl8pPr>
            <a:lvl9pPr lvl="8" algn="ctr">
              <a:lnSpc>
                <a:spcPct val="100000"/>
              </a:lnSpc>
              <a:spcBef>
                <a:spcPts val="280"/>
              </a:spcBef>
              <a:spcAft>
                <a:spcPts val="0"/>
              </a:spcAft>
              <a:buSzPts val="1400"/>
              <a:buNone/>
              <a:defRPr>
                <a:solidFill>
                  <a:srgbClr val="8C8B8A"/>
                </a:solidFill>
              </a:defRPr>
            </a:lvl9pPr>
          </a:lstStyle>
          <a:p/>
        </p:txBody>
      </p:sp>
      <p:sp>
        <p:nvSpPr>
          <p:cNvPr id="20" name="Google Shape;20;p2"/>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2"/>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2"/>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 name="Shape 23"/>
        <p:cNvGrpSpPr/>
        <p:nvPr/>
      </p:nvGrpSpPr>
      <p:grpSpPr>
        <a:xfrm>
          <a:off x="0" y="0"/>
          <a:ext cx="0" cy="0"/>
          <a:chOff x="0" y="0"/>
          <a:chExt cx="0" cy="0"/>
        </a:xfrm>
      </p:grpSpPr>
      <p:sp>
        <p:nvSpPr>
          <p:cNvPr id="24" name="Google Shape;24;p3"/>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3"/>
          <p:cNvSpPr txBox="1"/>
          <p:nvPr>
            <p:ph idx="1" type="body"/>
          </p:nvPr>
        </p:nvSpPr>
        <p:spPr>
          <a:xfrm>
            <a:off x="457200" y="1600200"/>
            <a:ext cx="7620000" cy="4800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26" name="Google Shape;26;p3"/>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3"/>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3"/>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 name="Shape 29"/>
        <p:cNvGrpSpPr/>
        <p:nvPr/>
      </p:nvGrpSpPr>
      <p:grpSpPr>
        <a:xfrm>
          <a:off x="0" y="0"/>
          <a:ext cx="0" cy="0"/>
          <a:chOff x="0" y="0"/>
          <a:chExt cx="0" cy="0"/>
        </a:xfrm>
      </p:grpSpPr>
      <p:sp>
        <p:nvSpPr>
          <p:cNvPr id="30" name="Google Shape;30;p4"/>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4"/>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4"/>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3" name="Shape 33"/>
        <p:cNvGrpSpPr/>
        <p:nvPr/>
      </p:nvGrpSpPr>
      <p:grpSpPr>
        <a:xfrm>
          <a:off x="0" y="0"/>
          <a:ext cx="0" cy="0"/>
          <a:chOff x="0" y="0"/>
          <a:chExt cx="0" cy="0"/>
        </a:xfrm>
      </p:grpSpPr>
      <p:sp>
        <p:nvSpPr>
          <p:cNvPr id="34" name="Google Shape;34;p5"/>
          <p:cNvSpPr txBox="1"/>
          <p:nvPr>
            <p:ph type="title"/>
          </p:nvPr>
        </p:nvSpPr>
        <p:spPr>
          <a:xfrm>
            <a:off x="722313" y="5486400"/>
            <a:ext cx="7659687" cy="1168400"/>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chemeClr val="dk2"/>
              </a:buClr>
              <a:buSzPts val="3600"/>
              <a:buFont typeface="Cambria"/>
              <a:buNone/>
              <a:defRPr b="0" sz="36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5"/>
          <p:cNvSpPr txBox="1"/>
          <p:nvPr>
            <p:ph idx="1" type="body"/>
          </p:nvPr>
        </p:nvSpPr>
        <p:spPr>
          <a:xfrm>
            <a:off x="722313" y="3852863"/>
            <a:ext cx="6135687" cy="1633538"/>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SzPts val="2000"/>
              <a:buNone/>
              <a:defRPr sz="2000">
                <a:solidFill>
                  <a:srgbClr val="8C8B8A"/>
                </a:solidFill>
              </a:defRPr>
            </a:lvl1pPr>
            <a:lvl2pPr indent="-228600" lvl="1" marL="914400" algn="l">
              <a:lnSpc>
                <a:spcPct val="100000"/>
              </a:lnSpc>
              <a:spcBef>
                <a:spcPts val="360"/>
              </a:spcBef>
              <a:spcAft>
                <a:spcPts val="0"/>
              </a:spcAft>
              <a:buSzPts val="1800"/>
              <a:buNone/>
              <a:defRPr sz="1800">
                <a:solidFill>
                  <a:srgbClr val="8C8B8A"/>
                </a:solidFill>
              </a:defRPr>
            </a:lvl2pPr>
            <a:lvl3pPr indent="-228600" lvl="2" marL="1371600" algn="l">
              <a:lnSpc>
                <a:spcPct val="100000"/>
              </a:lnSpc>
              <a:spcBef>
                <a:spcPts val="320"/>
              </a:spcBef>
              <a:spcAft>
                <a:spcPts val="0"/>
              </a:spcAft>
              <a:buSzPts val="1600"/>
              <a:buNone/>
              <a:defRPr sz="1600">
                <a:solidFill>
                  <a:srgbClr val="8C8B8A"/>
                </a:solidFill>
              </a:defRPr>
            </a:lvl3pPr>
            <a:lvl4pPr indent="-228600" lvl="3" marL="1828800" algn="l">
              <a:lnSpc>
                <a:spcPct val="100000"/>
              </a:lnSpc>
              <a:spcBef>
                <a:spcPts val="280"/>
              </a:spcBef>
              <a:spcAft>
                <a:spcPts val="0"/>
              </a:spcAft>
              <a:buSzPts val="1400"/>
              <a:buNone/>
              <a:defRPr sz="1400">
                <a:solidFill>
                  <a:srgbClr val="8C8B8A"/>
                </a:solidFill>
              </a:defRPr>
            </a:lvl4pPr>
            <a:lvl5pPr indent="-228600" lvl="4" marL="2286000" algn="l">
              <a:lnSpc>
                <a:spcPct val="100000"/>
              </a:lnSpc>
              <a:spcBef>
                <a:spcPts val="280"/>
              </a:spcBef>
              <a:spcAft>
                <a:spcPts val="0"/>
              </a:spcAft>
              <a:buSzPts val="1400"/>
              <a:buNone/>
              <a:defRPr sz="1400">
                <a:solidFill>
                  <a:srgbClr val="8C8B8A"/>
                </a:solidFill>
              </a:defRPr>
            </a:lvl5pPr>
            <a:lvl6pPr indent="-228600" lvl="5" marL="2743200" algn="l">
              <a:lnSpc>
                <a:spcPct val="100000"/>
              </a:lnSpc>
              <a:spcBef>
                <a:spcPts val="280"/>
              </a:spcBef>
              <a:spcAft>
                <a:spcPts val="0"/>
              </a:spcAft>
              <a:buSzPts val="1400"/>
              <a:buNone/>
              <a:defRPr sz="1400">
                <a:solidFill>
                  <a:srgbClr val="8C8B8A"/>
                </a:solidFill>
              </a:defRPr>
            </a:lvl6pPr>
            <a:lvl7pPr indent="-228600" lvl="6" marL="3200400" algn="l">
              <a:lnSpc>
                <a:spcPct val="100000"/>
              </a:lnSpc>
              <a:spcBef>
                <a:spcPts val="280"/>
              </a:spcBef>
              <a:spcAft>
                <a:spcPts val="0"/>
              </a:spcAft>
              <a:buSzPts val="1400"/>
              <a:buNone/>
              <a:defRPr sz="1400">
                <a:solidFill>
                  <a:srgbClr val="8C8B8A"/>
                </a:solidFill>
              </a:defRPr>
            </a:lvl7pPr>
            <a:lvl8pPr indent="-228600" lvl="7" marL="3657600" algn="l">
              <a:lnSpc>
                <a:spcPct val="100000"/>
              </a:lnSpc>
              <a:spcBef>
                <a:spcPts val="280"/>
              </a:spcBef>
              <a:spcAft>
                <a:spcPts val="0"/>
              </a:spcAft>
              <a:buSzPts val="1400"/>
              <a:buNone/>
              <a:defRPr sz="1400">
                <a:solidFill>
                  <a:srgbClr val="8C8B8A"/>
                </a:solidFill>
              </a:defRPr>
            </a:lvl8pPr>
            <a:lvl9pPr indent="-228600" lvl="8" marL="4114800" algn="l">
              <a:lnSpc>
                <a:spcPct val="100000"/>
              </a:lnSpc>
              <a:spcBef>
                <a:spcPts val="280"/>
              </a:spcBef>
              <a:spcAft>
                <a:spcPts val="0"/>
              </a:spcAft>
              <a:buSzPts val="1400"/>
              <a:buNone/>
              <a:defRPr sz="1400">
                <a:solidFill>
                  <a:srgbClr val="8C8B8A"/>
                </a:solidFill>
              </a:defRPr>
            </a:lvl9pPr>
          </a:lstStyle>
          <a:p/>
        </p:txBody>
      </p:sp>
      <p:sp>
        <p:nvSpPr>
          <p:cNvPr id="36" name="Google Shape;36;p5"/>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5"/>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9" name="Shape 39"/>
        <p:cNvGrpSpPr/>
        <p:nvPr/>
      </p:nvGrpSpPr>
      <p:grpSpPr>
        <a:xfrm>
          <a:off x="0" y="0"/>
          <a:ext cx="0" cy="0"/>
          <a:chOff x="0" y="0"/>
          <a:chExt cx="0" cy="0"/>
        </a:xfrm>
      </p:grpSpPr>
      <p:sp>
        <p:nvSpPr>
          <p:cNvPr id="40" name="Google Shape;40;p6"/>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6"/>
          <p:cNvSpPr txBox="1"/>
          <p:nvPr>
            <p:ph idx="1" type="body"/>
          </p:nvPr>
        </p:nvSpPr>
        <p:spPr>
          <a:xfrm>
            <a:off x="457200" y="1536192"/>
            <a:ext cx="3657600" cy="4590288"/>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SzPts val="2800"/>
              <a:buChar char="•"/>
              <a:defRPr sz="2800"/>
            </a:lvl1pPr>
            <a:lvl2pPr indent="-381000" lvl="1" marL="914400" algn="l">
              <a:lnSpc>
                <a:spcPct val="100000"/>
              </a:lnSpc>
              <a:spcBef>
                <a:spcPts val="480"/>
              </a:spcBef>
              <a:spcAft>
                <a:spcPts val="0"/>
              </a:spcAft>
              <a:buSzPts val="2400"/>
              <a:buChar char="•"/>
              <a:defRPr sz="2400"/>
            </a:lvl2pPr>
            <a:lvl3pPr indent="-355600" lvl="2" marL="1371600" algn="l">
              <a:lnSpc>
                <a:spcPct val="100000"/>
              </a:lnSpc>
              <a:spcBef>
                <a:spcPts val="400"/>
              </a:spcBef>
              <a:spcAft>
                <a:spcPts val="0"/>
              </a:spcAft>
              <a:buSzPts val="2000"/>
              <a:buChar char="•"/>
              <a:defRPr sz="2000"/>
            </a:lvl3pPr>
            <a:lvl4pPr indent="-342900" lvl="3" marL="1828800" algn="l">
              <a:lnSpc>
                <a:spcPct val="100000"/>
              </a:lnSpc>
              <a:spcBef>
                <a:spcPts val="360"/>
              </a:spcBef>
              <a:spcAft>
                <a:spcPts val="0"/>
              </a:spcAft>
              <a:buSzPts val="1800"/>
              <a:buChar char="•"/>
              <a:defRPr sz="1800"/>
            </a:lvl4pPr>
            <a:lvl5pPr indent="-342900" lvl="4" marL="2286000" algn="l">
              <a:lnSpc>
                <a:spcPct val="100000"/>
              </a:lnSpc>
              <a:spcBef>
                <a:spcPts val="360"/>
              </a:spcBef>
              <a:spcAft>
                <a:spcPts val="0"/>
              </a:spcAft>
              <a:buSzPts val="1800"/>
              <a:buChar char="•"/>
              <a:defRPr sz="1800"/>
            </a:lvl5pPr>
            <a:lvl6pPr indent="-342900" lvl="5" marL="2743200" algn="l">
              <a:lnSpc>
                <a:spcPct val="100000"/>
              </a:lnSpc>
              <a:spcBef>
                <a:spcPts val="360"/>
              </a:spcBef>
              <a:spcAft>
                <a:spcPts val="0"/>
              </a:spcAft>
              <a:buSzPts val="1800"/>
              <a:buChar char="•"/>
              <a:defRPr sz="1800"/>
            </a:lvl6pPr>
            <a:lvl7pPr indent="-342900" lvl="6" marL="3200400" algn="l">
              <a:lnSpc>
                <a:spcPct val="100000"/>
              </a:lnSpc>
              <a:spcBef>
                <a:spcPts val="360"/>
              </a:spcBef>
              <a:spcAft>
                <a:spcPts val="0"/>
              </a:spcAft>
              <a:buSzPts val="1800"/>
              <a:buChar char="•"/>
              <a:defRPr sz="1800"/>
            </a:lvl7pPr>
            <a:lvl8pPr indent="-342900" lvl="7" marL="3657600" algn="l">
              <a:lnSpc>
                <a:spcPct val="100000"/>
              </a:lnSpc>
              <a:spcBef>
                <a:spcPts val="360"/>
              </a:spcBef>
              <a:spcAft>
                <a:spcPts val="0"/>
              </a:spcAft>
              <a:buSzPts val="1800"/>
              <a:buChar char="•"/>
              <a:defRPr sz="1800"/>
            </a:lvl8pPr>
            <a:lvl9pPr indent="-342900" lvl="8" marL="4114800" algn="l">
              <a:lnSpc>
                <a:spcPct val="100000"/>
              </a:lnSpc>
              <a:spcBef>
                <a:spcPts val="360"/>
              </a:spcBef>
              <a:spcAft>
                <a:spcPts val="0"/>
              </a:spcAft>
              <a:buSzPts val="1800"/>
              <a:buChar char="•"/>
              <a:defRPr sz="1800"/>
            </a:lvl9pPr>
          </a:lstStyle>
          <a:p/>
        </p:txBody>
      </p:sp>
      <p:sp>
        <p:nvSpPr>
          <p:cNvPr id="42" name="Google Shape;42;p6"/>
          <p:cNvSpPr txBox="1"/>
          <p:nvPr>
            <p:ph idx="2" type="body"/>
          </p:nvPr>
        </p:nvSpPr>
        <p:spPr>
          <a:xfrm>
            <a:off x="4419600" y="1536192"/>
            <a:ext cx="3657600" cy="4590288"/>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SzPts val="2800"/>
              <a:buChar char="•"/>
              <a:defRPr sz="2800"/>
            </a:lvl1pPr>
            <a:lvl2pPr indent="-381000" lvl="1" marL="914400" algn="l">
              <a:lnSpc>
                <a:spcPct val="100000"/>
              </a:lnSpc>
              <a:spcBef>
                <a:spcPts val="480"/>
              </a:spcBef>
              <a:spcAft>
                <a:spcPts val="0"/>
              </a:spcAft>
              <a:buSzPts val="2400"/>
              <a:buChar char="•"/>
              <a:defRPr sz="2400"/>
            </a:lvl2pPr>
            <a:lvl3pPr indent="-355600" lvl="2" marL="1371600" algn="l">
              <a:lnSpc>
                <a:spcPct val="100000"/>
              </a:lnSpc>
              <a:spcBef>
                <a:spcPts val="400"/>
              </a:spcBef>
              <a:spcAft>
                <a:spcPts val="0"/>
              </a:spcAft>
              <a:buSzPts val="2000"/>
              <a:buChar char="•"/>
              <a:defRPr sz="2000"/>
            </a:lvl3pPr>
            <a:lvl4pPr indent="-342900" lvl="3" marL="1828800" algn="l">
              <a:lnSpc>
                <a:spcPct val="100000"/>
              </a:lnSpc>
              <a:spcBef>
                <a:spcPts val="360"/>
              </a:spcBef>
              <a:spcAft>
                <a:spcPts val="0"/>
              </a:spcAft>
              <a:buSzPts val="1800"/>
              <a:buChar char="•"/>
              <a:defRPr sz="1800"/>
            </a:lvl4pPr>
            <a:lvl5pPr indent="-342900" lvl="4" marL="2286000" algn="l">
              <a:lnSpc>
                <a:spcPct val="100000"/>
              </a:lnSpc>
              <a:spcBef>
                <a:spcPts val="360"/>
              </a:spcBef>
              <a:spcAft>
                <a:spcPts val="0"/>
              </a:spcAft>
              <a:buSzPts val="1800"/>
              <a:buChar char="•"/>
              <a:defRPr sz="1800"/>
            </a:lvl5pPr>
            <a:lvl6pPr indent="-342900" lvl="5" marL="2743200" algn="l">
              <a:lnSpc>
                <a:spcPct val="100000"/>
              </a:lnSpc>
              <a:spcBef>
                <a:spcPts val="360"/>
              </a:spcBef>
              <a:spcAft>
                <a:spcPts val="0"/>
              </a:spcAft>
              <a:buSzPts val="1800"/>
              <a:buChar char="•"/>
              <a:defRPr sz="1800"/>
            </a:lvl6pPr>
            <a:lvl7pPr indent="-342900" lvl="6" marL="3200400" algn="l">
              <a:lnSpc>
                <a:spcPct val="100000"/>
              </a:lnSpc>
              <a:spcBef>
                <a:spcPts val="360"/>
              </a:spcBef>
              <a:spcAft>
                <a:spcPts val="0"/>
              </a:spcAft>
              <a:buSzPts val="1800"/>
              <a:buChar char="•"/>
              <a:defRPr sz="1800"/>
            </a:lvl7pPr>
            <a:lvl8pPr indent="-342900" lvl="7" marL="3657600" algn="l">
              <a:lnSpc>
                <a:spcPct val="100000"/>
              </a:lnSpc>
              <a:spcBef>
                <a:spcPts val="360"/>
              </a:spcBef>
              <a:spcAft>
                <a:spcPts val="0"/>
              </a:spcAft>
              <a:buSzPts val="1800"/>
              <a:buChar char="•"/>
              <a:defRPr sz="1800"/>
            </a:lvl8pPr>
            <a:lvl9pPr indent="-342900" lvl="8" marL="4114800" algn="l">
              <a:lnSpc>
                <a:spcPct val="100000"/>
              </a:lnSpc>
              <a:spcBef>
                <a:spcPts val="360"/>
              </a:spcBef>
              <a:spcAft>
                <a:spcPts val="0"/>
              </a:spcAft>
              <a:buSzPts val="1800"/>
              <a:buChar char="•"/>
              <a:defRPr sz="1800"/>
            </a:lvl9pPr>
          </a:lstStyle>
          <a:p/>
        </p:txBody>
      </p:sp>
      <p:sp>
        <p:nvSpPr>
          <p:cNvPr id="43" name="Google Shape;43;p6"/>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6"/>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6" name="Shape 46"/>
        <p:cNvGrpSpPr/>
        <p:nvPr/>
      </p:nvGrpSpPr>
      <p:grpSpPr>
        <a:xfrm>
          <a:off x="0" y="0"/>
          <a:ext cx="0" cy="0"/>
          <a:chOff x="0" y="0"/>
          <a:chExt cx="0" cy="0"/>
        </a:xfrm>
      </p:grpSpPr>
      <p:sp>
        <p:nvSpPr>
          <p:cNvPr id="47" name="Google Shape;47;p7"/>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4600"/>
              <a:buFont typeface="Cambria"/>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 type="body"/>
          </p:nvPr>
        </p:nvSpPr>
        <p:spPr>
          <a:xfrm>
            <a:off x="457200" y="1535113"/>
            <a:ext cx="3657600" cy="639762"/>
          </a:xfrm>
          <a:prstGeom prst="rect">
            <a:avLst/>
          </a:prstGeom>
          <a:noFill/>
          <a:ln>
            <a:noFill/>
          </a:ln>
        </p:spPr>
        <p:txBody>
          <a:bodyPr anchorCtr="0" anchor="b" bIns="45700" lIns="91425" spcFirstLastPara="1" rIns="91425" wrap="square" tIns="45700">
            <a:noAutofit/>
          </a:bodyPr>
          <a:lstStyle>
            <a:lvl1pPr indent="-228600" lvl="0" marL="457200" algn="ctr">
              <a:lnSpc>
                <a:spcPct val="100000"/>
              </a:lnSpc>
              <a:spcBef>
                <a:spcPts val="400"/>
              </a:spcBef>
              <a:spcAft>
                <a:spcPts val="0"/>
              </a:spcAft>
              <a:buSzPts val="2000"/>
              <a:buNone/>
              <a:defRPr b="1" sz="2000">
                <a:solidFill>
                  <a:schemeClr val="dk2"/>
                </a:solidFill>
              </a:defRPr>
            </a:lvl1pPr>
            <a:lvl2pPr indent="-228600" lvl="1" marL="914400" algn="l">
              <a:lnSpc>
                <a:spcPct val="100000"/>
              </a:lnSpc>
              <a:spcBef>
                <a:spcPts val="400"/>
              </a:spcBef>
              <a:spcAft>
                <a:spcPts val="0"/>
              </a:spcAft>
              <a:buSzPts val="2000"/>
              <a:buNone/>
              <a:defRPr b="1" sz="2000"/>
            </a:lvl2pPr>
            <a:lvl3pPr indent="-228600" lvl="2" marL="1371600" algn="l">
              <a:lnSpc>
                <a:spcPct val="100000"/>
              </a:lnSpc>
              <a:spcBef>
                <a:spcPts val="360"/>
              </a:spcBef>
              <a:spcAft>
                <a:spcPts val="0"/>
              </a:spcAft>
              <a:buSzPts val="1800"/>
              <a:buNone/>
              <a:defRPr b="1" sz="1800"/>
            </a:lvl3pPr>
            <a:lvl4pPr indent="-228600" lvl="3" marL="1828800" algn="l">
              <a:lnSpc>
                <a:spcPct val="100000"/>
              </a:lnSpc>
              <a:spcBef>
                <a:spcPts val="320"/>
              </a:spcBef>
              <a:spcAft>
                <a:spcPts val="0"/>
              </a:spcAft>
              <a:buSzPts val="1600"/>
              <a:buNone/>
              <a:defRPr b="1" sz="1600"/>
            </a:lvl4pPr>
            <a:lvl5pPr indent="-228600" lvl="4" marL="2286000" algn="l">
              <a:lnSpc>
                <a:spcPct val="100000"/>
              </a:lnSpc>
              <a:spcBef>
                <a:spcPts val="320"/>
              </a:spcBef>
              <a:spcAft>
                <a:spcPts val="0"/>
              </a:spcAft>
              <a:buSzPts val="1600"/>
              <a:buNone/>
              <a:defRPr b="1" sz="1600"/>
            </a:lvl5pPr>
            <a:lvl6pPr indent="-228600" lvl="5" marL="2743200" algn="l">
              <a:lnSpc>
                <a:spcPct val="100000"/>
              </a:lnSpc>
              <a:spcBef>
                <a:spcPts val="320"/>
              </a:spcBef>
              <a:spcAft>
                <a:spcPts val="0"/>
              </a:spcAft>
              <a:buSzPts val="1600"/>
              <a:buNone/>
              <a:defRPr b="1" sz="1600"/>
            </a:lvl6pPr>
            <a:lvl7pPr indent="-228600" lvl="6" marL="3200400" algn="l">
              <a:lnSpc>
                <a:spcPct val="100000"/>
              </a:lnSpc>
              <a:spcBef>
                <a:spcPts val="320"/>
              </a:spcBef>
              <a:spcAft>
                <a:spcPts val="0"/>
              </a:spcAft>
              <a:buSzPts val="1600"/>
              <a:buNone/>
              <a:defRPr b="1" sz="1600"/>
            </a:lvl7pPr>
            <a:lvl8pPr indent="-228600" lvl="7" marL="3657600" algn="l">
              <a:lnSpc>
                <a:spcPct val="100000"/>
              </a:lnSpc>
              <a:spcBef>
                <a:spcPts val="320"/>
              </a:spcBef>
              <a:spcAft>
                <a:spcPts val="0"/>
              </a:spcAft>
              <a:buSzPts val="1600"/>
              <a:buNone/>
              <a:defRPr b="1" sz="1600"/>
            </a:lvl8pPr>
            <a:lvl9pPr indent="-228600" lvl="8" marL="4114800" algn="l">
              <a:lnSpc>
                <a:spcPct val="100000"/>
              </a:lnSpc>
              <a:spcBef>
                <a:spcPts val="320"/>
              </a:spcBef>
              <a:spcAft>
                <a:spcPts val="0"/>
              </a:spcAft>
              <a:buSzPts val="1600"/>
              <a:buNone/>
              <a:defRPr b="1" sz="1600"/>
            </a:lvl9pPr>
          </a:lstStyle>
          <a:p/>
        </p:txBody>
      </p:sp>
      <p:sp>
        <p:nvSpPr>
          <p:cNvPr id="49" name="Google Shape;49;p7"/>
          <p:cNvSpPr txBox="1"/>
          <p:nvPr>
            <p:ph idx="2" type="body"/>
          </p:nvPr>
        </p:nvSpPr>
        <p:spPr>
          <a:xfrm>
            <a:off x="457200" y="2174875"/>
            <a:ext cx="365760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SzPts val="2400"/>
              <a:buChar char="•"/>
              <a:defRPr sz="2400"/>
            </a:lvl1pPr>
            <a:lvl2pPr indent="-355600" lvl="1" marL="914400" algn="l">
              <a:lnSpc>
                <a:spcPct val="100000"/>
              </a:lnSpc>
              <a:spcBef>
                <a:spcPts val="400"/>
              </a:spcBef>
              <a:spcAft>
                <a:spcPts val="0"/>
              </a:spcAft>
              <a:buSzPts val="2000"/>
              <a:buChar char="•"/>
              <a:defRPr sz="2000"/>
            </a:lvl2pPr>
            <a:lvl3pPr indent="-342900" lvl="2" marL="1371600" algn="l">
              <a:lnSpc>
                <a:spcPct val="100000"/>
              </a:lnSpc>
              <a:spcBef>
                <a:spcPts val="360"/>
              </a:spcBef>
              <a:spcAft>
                <a:spcPts val="0"/>
              </a:spcAft>
              <a:buSzPts val="1800"/>
              <a:buChar char="•"/>
              <a:defRPr sz="1800"/>
            </a:lvl3pPr>
            <a:lvl4pPr indent="-330200" lvl="3" marL="1828800" algn="l">
              <a:lnSpc>
                <a:spcPct val="100000"/>
              </a:lnSpc>
              <a:spcBef>
                <a:spcPts val="320"/>
              </a:spcBef>
              <a:spcAft>
                <a:spcPts val="0"/>
              </a:spcAft>
              <a:buSzPts val="1600"/>
              <a:buChar char="•"/>
              <a:defRPr sz="1600"/>
            </a:lvl4pPr>
            <a:lvl5pPr indent="-330200" lvl="4" marL="2286000" algn="l">
              <a:lnSpc>
                <a:spcPct val="100000"/>
              </a:lnSpc>
              <a:spcBef>
                <a:spcPts val="320"/>
              </a:spcBef>
              <a:spcAft>
                <a:spcPts val="0"/>
              </a:spcAft>
              <a:buSzPts val="1600"/>
              <a:buChar char="•"/>
              <a:defRPr sz="1600"/>
            </a:lvl5pPr>
            <a:lvl6pPr indent="-330200" lvl="5" marL="2743200" algn="l">
              <a:lnSpc>
                <a:spcPct val="100000"/>
              </a:lnSpc>
              <a:spcBef>
                <a:spcPts val="320"/>
              </a:spcBef>
              <a:spcAft>
                <a:spcPts val="0"/>
              </a:spcAft>
              <a:buSzPts val="1600"/>
              <a:buChar char="•"/>
              <a:defRPr sz="1600"/>
            </a:lvl6pPr>
            <a:lvl7pPr indent="-330200" lvl="6" marL="3200400" algn="l">
              <a:lnSpc>
                <a:spcPct val="100000"/>
              </a:lnSpc>
              <a:spcBef>
                <a:spcPts val="320"/>
              </a:spcBef>
              <a:spcAft>
                <a:spcPts val="0"/>
              </a:spcAft>
              <a:buSzPts val="1600"/>
              <a:buChar char="•"/>
              <a:defRPr sz="1600"/>
            </a:lvl7pPr>
            <a:lvl8pPr indent="-330200" lvl="7" marL="3657600" algn="l">
              <a:lnSpc>
                <a:spcPct val="100000"/>
              </a:lnSpc>
              <a:spcBef>
                <a:spcPts val="320"/>
              </a:spcBef>
              <a:spcAft>
                <a:spcPts val="0"/>
              </a:spcAft>
              <a:buSzPts val="1600"/>
              <a:buChar char="•"/>
              <a:defRPr sz="1600"/>
            </a:lvl8pPr>
            <a:lvl9pPr indent="-330200" lvl="8" marL="4114800" algn="l">
              <a:lnSpc>
                <a:spcPct val="100000"/>
              </a:lnSpc>
              <a:spcBef>
                <a:spcPts val="320"/>
              </a:spcBef>
              <a:spcAft>
                <a:spcPts val="0"/>
              </a:spcAft>
              <a:buSzPts val="1600"/>
              <a:buChar char="•"/>
              <a:defRPr sz="1600"/>
            </a:lvl9pPr>
          </a:lstStyle>
          <a:p/>
        </p:txBody>
      </p:sp>
      <p:sp>
        <p:nvSpPr>
          <p:cNvPr id="50" name="Google Shape;50;p7"/>
          <p:cNvSpPr txBox="1"/>
          <p:nvPr>
            <p:ph idx="3" type="body"/>
          </p:nvPr>
        </p:nvSpPr>
        <p:spPr>
          <a:xfrm>
            <a:off x="4419600" y="1535113"/>
            <a:ext cx="3657600" cy="639762"/>
          </a:xfrm>
          <a:prstGeom prst="rect">
            <a:avLst/>
          </a:prstGeom>
          <a:noFill/>
          <a:ln>
            <a:noFill/>
          </a:ln>
        </p:spPr>
        <p:txBody>
          <a:bodyPr anchorCtr="0" anchor="b" bIns="45700" lIns="91425" spcFirstLastPara="1" rIns="91425" wrap="square" tIns="45700">
            <a:noAutofit/>
          </a:bodyPr>
          <a:lstStyle>
            <a:lvl1pPr indent="-228600" lvl="0" marL="457200" algn="ctr">
              <a:lnSpc>
                <a:spcPct val="100000"/>
              </a:lnSpc>
              <a:spcBef>
                <a:spcPts val="400"/>
              </a:spcBef>
              <a:spcAft>
                <a:spcPts val="0"/>
              </a:spcAft>
              <a:buSzPts val="2000"/>
              <a:buNone/>
              <a:defRPr b="1" sz="2000">
                <a:solidFill>
                  <a:schemeClr val="dk2"/>
                </a:solidFill>
              </a:defRPr>
            </a:lvl1pPr>
            <a:lvl2pPr indent="-228600" lvl="1" marL="914400" algn="l">
              <a:lnSpc>
                <a:spcPct val="100000"/>
              </a:lnSpc>
              <a:spcBef>
                <a:spcPts val="400"/>
              </a:spcBef>
              <a:spcAft>
                <a:spcPts val="0"/>
              </a:spcAft>
              <a:buSzPts val="2000"/>
              <a:buNone/>
              <a:defRPr b="1" sz="2000"/>
            </a:lvl2pPr>
            <a:lvl3pPr indent="-228600" lvl="2" marL="1371600" algn="l">
              <a:lnSpc>
                <a:spcPct val="100000"/>
              </a:lnSpc>
              <a:spcBef>
                <a:spcPts val="360"/>
              </a:spcBef>
              <a:spcAft>
                <a:spcPts val="0"/>
              </a:spcAft>
              <a:buSzPts val="1800"/>
              <a:buNone/>
              <a:defRPr b="1" sz="1800"/>
            </a:lvl3pPr>
            <a:lvl4pPr indent="-228600" lvl="3" marL="1828800" algn="l">
              <a:lnSpc>
                <a:spcPct val="100000"/>
              </a:lnSpc>
              <a:spcBef>
                <a:spcPts val="320"/>
              </a:spcBef>
              <a:spcAft>
                <a:spcPts val="0"/>
              </a:spcAft>
              <a:buSzPts val="1600"/>
              <a:buNone/>
              <a:defRPr b="1" sz="1600"/>
            </a:lvl4pPr>
            <a:lvl5pPr indent="-228600" lvl="4" marL="2286000" algn="l">
              <a:lnSpc>
                <a:spcPct val="100000"/>
              </a:lnSpc>
              <a:spcBef>
                <a:spcPts val="320"/>
              </a:spcBef>
              <a:spcAft>
                <a:spcPts val="0"/>
              </a:spcAft>
              <a:buSzPts val="1600"/>
              <a:buNone/>
              <a:defRPr b="1" sz="1600"/>
            </a:lvl5pPr>
            <a:lvl6pPr indent="-228600" lvl="5" marL="2743200" algn="l">
              <a:lnSpc>
                <a:spcPct val="100000"/>
              </a:lnSpc>
              <a:spcBef>
                <a:spcPts val="320"/>
              </a:spcBef>
              <a:spcAft>
                <a:spcPts val="0"/>
              </a:spcAft>
              <a:buSzPts val="1600"/>
              <a:buNone/>
              <a:defRPr b="1" sz="1600"/>
            </a:lvl6pPr>
            <a:lvl7pPr indent="-228600" lvl="6" marL="3200400" algn="l">
              <a:lnSpc>
                <a:spcPct val="100000"/>
              </a:lnSpc>
              <a:spcBef>
                <a:spcPts val="320"/>
              </a:spcBef>
              <a:spcAft>
                <a:spcPts val="0"/>
              </a:spcAft>
              <a:buSzPts val="1600"/>
              <a:buNone/>
              <a:defRPr b="1" sz="1600"/>
            </a:lvl7pPr>
            <a:lvl8pPr indent="-228600" lvl="7" marL="3657600" algn="l">
              <a:lnSpc>
                <a:spcPct val="100000"/>
              </a:lnSpc>
              <a:spcBef>
                <a:spcPts val="320"/>
              </a:spcBef>
              <a:spcAft>
                <a:spcPts val="0"/>
              </a:spcAft>
              <a:buSzPts val="1600"/>
              <a:buNone/>
              <a:defRPr b="1" sz="1600"/>
            </a:lvl8pPr>
            <a:lvl9pPr indent="-228600" lvl="8" marL="4114800" algn="l">
              <a:lnSpc>
                <a:spcPct val="100000"/>
              </a:lnSpc>
              <a:spcBef>
                <a:spcPts val="320"/>
              </a:spcBef>
              <a:spcAft>
                <a:spcPts val="0"/>
              </a:spcAft>
              <a:buSzPts val="1600"/>
              <a:buNone/>
              <a:defRPr b="1" sz="1600"/>
            </a:lvl9pPr>
          </a:lstStyle>
          <a:p/>
        </p:txBody>
      </p:sp>
      <p:sp>
        <p:nvSpPr>
          <p:cNvPr id="51" name="Google Shape;51;p7"/>
          <p:cNvSpPr txBox="1"/>
          <p:nvPr>
            <p:ph idx="4" type="body"/>
          </p:nvPr>
        </p:nvSpPr>
        <p:spPr>
          <a:xfrm>
            <a:off x="4419600" y="2174875"/>
            <a:ext cx="365760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SzPts val="2400"/>
              <a:buChar char="•"/>
              <a:defRPr sz="2400"/>
            </a:lvl1pPr>
            <a:lvl2pPr indent="-355600" lvl="1" marL="914400" algn="l">
              <a:lnSpc>
                <a:spcPct val="100000"/>
              </a:lnSpc>
              <a:spcBef>
                <a:spcPts val="400"/>
              </a:spcBef>
              <a:spcAft>
                <a:spcPts val="0"/>
              </a:spcAft>
              <a:buSzPts val="2000"/>
              <a:buChar char="•"/>
              <a:defRPr sz="2000"/>
            </a:lvl2pPr>
            <a:lvl3pPr indent="-342900" lvl="2" marL="1371600" algn="l">
              <a:lnSpc>
                <a:spcPct val="100000"/>
              </a:lnSpc>
              <a:spcBef>
                <a:spcPts val="360"/>
              </a:spcBef>
              <a:spcAft>
                <a:spcPts val="0"/>
              </a:spcAft>
              <a:buSzPts val="1800"/>
              <a:buChar char="•"/>
              <a:defRPr sz="1800"/>
            </a:lvl3pPr>
            <a:lvl4pPr indent="-330200" lvl="3" marL="1828800" algn="l">
              <a:lnSpc>
                <a:spcPct val="100000"/>
              </a:lnSpc>
              <a:spcBef>
                <a:spcPts val="320"/>
              </a:spcBef>
              <a:spcAft>
                <a:spcPts val="0"/>
              </a:spcAft>
              <a:buSzPts val="1600"/>
              <a:buChar char="•"/>
              <a:defRPr sz="1600"/>
            </a:lvl4pPr>
            <a:lvl5pPr indent="-330200" lvl="4" marL="2286000" algn="l">
              <a:lnSpc>
                <a:spcPct val="100000"/>
              </a:lnSpc>
              <a:spcBef>
                <a:spcPts val="320"/>
              </a:spcBef>
              <a:spcAft>
                <a:spcPts val="0"/>
              </a:spcAft>
              <a:buSzPts val="1600"/>
              <a:buChar char="•"/>
              <a:defRPr sz="1600"/>
            </a:lvl5pPr>
            <a:lvl6pPr indent="-330200" lvl="5" marL="2743200" algn="l">
              <a:lnSpc>
                <a:spcPct val="100000"/>
              </a:lnSpc>
              <a:spcBef>
                <a:spcPts val="320"/>
              </a:spcBef>
              <a:spcAft>
                <a:spcPts val="0"/>
              </a:spcAft>
              <a:buSzPts val="1600"/>
              <a:buChar char="•"/>
              <a:defRPr sz="1600"/>
            </a:lvl6pPr>
            <a:lvl7pPr indent="-330200" lvl="6" marL="3200400" algn="l">
              <a:lnSpc>
                <a:spcPct val="100000"/>
              </a:lnSpc>
              <a:spcBef>
                <a:spcPts val="320"/>
              </a:spcBef>
              <a:spcAft>
                <a:spcPts val="0"/>
              </a:spcAft>
              <a:buSzPts val="1600"/>
              <a:buChar char="•"/>
              <a:defRPr sz="1600"/>
            </a:lvl7pPr>
            <a:lvl8pPr indent="-330200" lvl="7" marL="3657600" algn="l">
              <a:lnSpc>
                <a:spcPct val="100000"/>
              </a:lnSpc>
              <a:spcBef>
                <a:spcPts val="320"/>
              </a:spcBef>
              <a:spcAft>
                <a:spcPts val="0"/>
              </a:spcAft>
              <a:buSzPts val="1600"/>
              <a:buChar char="•"/>
              <a:defRPr sz="1600"/>
            </a:lvl8pPr>
            <a:lvl9pPr indent="-330200" lvl="8" marL="4114800" algn="l">
              <a:lnSpc>
                <a:spcPct val="100000"/>
              </a:lnSpc>
              <a:spcBef>
                <a:spcPts val="320"/>
              </a:spcBef>
              <a:spcAft>
                <a:spcPts val="0"/>
              </a:spcAft>
              <a:buSzPts val="1600"/>
              <a:buChar char="•"/>
              <a:defRPr sz="1600"/>
            </a:lvl9pPr>
          </a:lstStyle>
          <a:p/>
        </p:txBody>
      </p:sp>
      <p:sp>
        <p:nvSpPr>
          <p:cNvPr id="52" name="Google Shape;52;p7"/>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7"/>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7"/>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5" name="Shape 55"/>
        <p:cNvGrpSpPr/>
        <p:nvPr/>
      </p:nvGrpSpPr>
      <p:grpSpPr>
        <a:xfrm>
          <a:off x="0" y="0"/>
          <a:ext cx="0" cy="0"/>
          <a:chOff x="0" y="0"/>
          <a:chExt cx="0" cy="0"/>
        </a:xfrm>
      </p:grpSpPr>
      <p:sp>
        <p:nvSpPr>
          <p:cNvPr id="56" name="Google Shape;56;p8"/>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8"/>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0" name="Shape 60"/>
        <p:cNvGrpSpPr/>
        <p:nvPr/>
      </p:nvGrpSpPr>
      <p:grpSpPr>
        <a:xfrm>
          <a:off x="0" y="0"/>
          <a:ext cx="0" cy="0"/>
          <a:chOff x="0" y="0"/>
          <a:chExt cx="0" cy="0"/>
        </a:xfrm>
      </p:grpSpPr>
      <p:sp>
        <p:nvSpPr>
          <p:cNvPr id="61" name="Google Shape;61;p9"/>
          <p:cNvSpPr txBox="1"/>
          <p:nvPr>
            <p:ph type="title"/>
          </p:nvPr>
        </p:nvSpPr>
        <p:spPr>
          <a:xfrm>
            <a:off x="304801" y="5495544"/>
            <a:ext cx="7772400" cy="594360"/>
          </a:xfrm>
          <a:prstGeom prst="rect">
            <a:avLst/>
          </a:prstGeom>
          <a:noFill/>
          <a:ln>
            <a:noFill/>
          </a:ln>
        </p:spPr>
        <p:txBody>
          <a:bodyPr anchorCtr="0" anchor="b" bIns="45700" lIns="91425" spcFirstLastPara="1" rIns="91425" wrap="square" tIns="45700">
            <a:noAutofit/>
          </a:bodyPr>
          <a:lstStyle>
            <a:lvl1pPr lvl="0" algn="ctr">
              <a:lnSpc>
                <a:spcPct val="100000"/>
              </a:lnSpc>
              <a:spcBef>
                <a:spcPts val="0"/>
              </a:spcBef>
              <a:spcAft>
                <a:spcPts val="0"/>
              </a:spcAft>
              <a:buClr>
                <a:schemeClr val="dk2"/>
              </a:buClr>
              <a:buSzPts val="2200"/>
              <a:buFont typeface="Cambria"/>
              <a:buNone/>
              <a:defRPr b="1" sz="2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9"/>
          <p:cNvSpPr txBox="1"/>
          <p:nvPr>
            <p:ph idx="1" type="body"/>
          </p:nvPr>
        </p:nvSpPr>
        <p:spPr>
          <a:xfrm>
            <a:off x="304799" y="6096000"/>
            <a:ext cx="7772401" cy="609600"/>
          </a:xfrm>
          <a:prstGeom prst="rect">
            <a:avLst/>
          </a:prstGeom>
          <a:noFill/>
          <a:ln>
            <a:noFill/>
          </a:ln>
        </p:spPr>
        <p:txBody>
          <a:bodyPr anchorCtr="0" anchor="t" bIns="45700" lIns="91425" spcFirstLastPara="1" rIns="91425" wrap="square" tIns="45700">
            <a:normAutofit/>
          </a:bodyPr>
          <a:lstStyle>
            <a:lvl1pPr indent="-228600" lvl="0" marL="457200" algn="ctr">
              <a:lnSpc>
                <a:spcPct val="100000"/>
              </a:lnSpc>
              <a:spcBef>
                <a:spcPts val="320"/>
              </a:spcBef>
              <a:spcAft>
                <a:spcPts val="0"/>
              </a:spcAft>
              <a:buSzPts val="1600"/>
              <a:buNone/>
              <a:defRPr sz="1600"/>
            </a:lvl1pPr>
            <a:lvl2pPr indent="-228600" lvl="1" marL="914400" algn="l">
              <a:lnSpc>
                <a:spcPct val="100000"/>
              </a:lnSpc>
              <a:spcBef>
                <a:spcPts val="240"/>
              </a:spcBef>
              <a:spcAft>
                <a:spcPts val="0"/>
              </a:spcAft>
              <a:buSzPts val="1200"/>
              <a:buNone/>
              <a:defRPr sz="1200"/>
            </a:lvl2pPr>
            <a:lvl3pPr indent="-228600" lvl="2" marL="1371600" algn="l">
              <a:lnSpc>
                <a:spcPct val="100000"/>
              </a:lnSpc>
              <a:spcBef>
                <a:spcPts val="200"/>
              </a:spcBef>
              <a:spcAft>
                <a:spcPts val="0"/>
              </a:spcAft>
              <a:buSzPts val="1000"/>
              <a:buNone/>
              <a:defRPr sz="1000"/>
            </a:lvl3pPr>
            <a:lvl4pPr indent="-228600" lvl="3" marL="1828800" algn="l">
              <a:lnSpc>
                <a:spcPct val="100000"/>
              </a:lnSpc>
              <a:spcBef>
                <a:spcPts val="180"/>
              </a:spcBef>
              <a:spcAft>
                <a:spcPts val="0"/>
              </a:spcAft>
              <a:buSzPts val="900"/>
              <a:buNone/>
              <a:defRPr sz="900"/>
            </a:lvl4pPr>
            <a:lvl5pPr indent="-228600" lvl="4" marL="2286000" algn="l">
              <a:lnSpc>
                <a:spcPct val="100000"/>
              </a:lnSpc>
              <a:spcBef>
                <a:spcPts val="180"/>
              </a:spcBef>
              <a:spcAft>
                <a:spcPts val="0"/>
              </a:spcAft>
              <a:buSzPts val="900"/>
              <a:buNone/>
              <a:defRPr sz="900"/>
            </a:lvl5pPr>
            <a:lvl6pPr indent="-228600" lvl="5" marL="2743200" algn="l">
              <a:lnSpc>
                <a:spcPct val="100000"/>
              </a:lnSpc>
              <a:spcBef>
                <a:spcPts val="180"/>
              </a:spcBef>
              <a:spcAft>
                <a:spcPts val="0"/>
              </a:spcAft>
              <a:buSzPts val="900"/>
              <a:buNone/>
              <a:defRPr sz="900"/>
            </a:lvl6pPr>
            <a:lvl7pPr indent="-228600" lvl="6" marL="3200400" algn="l">
              <a:lnSpc>
                <a:spcPct val="100000"/>
              </a:lnSpc>
              <a:spcBef>
                <a:spcPts val="180"/>
              </a:spcBef>
              <a:spcAft>
                <a:spcPts val="0"/>
              </a:spcAft>
              <a:buSzPts val="900"/>
              <a:buNone/>
              <a:defRPr sz="900"/>
            </a:lvl7pPr>
            <a:lvl8pPr indent="-228600" lvl="7" marL="3657600" algn="l">
              <a:lnSpc>
                <a:spcPct val="100000"/>
              </a:lnSpc>
              <a:spcBef>
                <a:spcPts val="180"/>
              </a:spcBef>
              <a:spcAft>
                <a:spcPts val="0"/>
              </a:spcAft>
              <a:buSzPts val="900"/>
              <a:buNone/>
              <a:defRPr sz="900"/>
            </a:lvl8pPr>
            <a:lvl9pPr indent="-228600" lvl="8" marL="4114800" algn="l">
              <a:lnSpc>
                <a:spcPct val="100000"/>
              </a:lnSpc>
              <a:spcBef>
                <a:spcPts val="180"/>
              </a:spcBef>
              <a:spcAft>
                <a:spcPts val="0"/>
              </a:spcAft>
              <a:buSzPts val="900"/>
              <a:buNone/>
              <a:defRPr sz="900"/>
            </a:lvl9pPr>
          </a:lstStyle>
          <a:p/>
        </p:txBody>
      </p:sp>
      <p:sp>
        <p:nvSpPr>
          <p:cNvPr id="63" name="Google Shape;63;p9"/>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
        <p:nvSpPr>
          <p:cNvPr id="66" name="Google Shape;66;p9"/>
          <p:cNvSpPr txBox="1"/>
          <p:nvPr>
            <p:ph idx="2" type="body"/>
          </p:nvPr>
        </p:nvSpPr>
        <p:spPr>
          <a:xfrm>
            <a:off x="304800" y="381000"/>
            <a:ext cx="7772400" cy="494284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7" name="Shape 67"/>
        <p:cNvGrpSpPr/>
        <p:nvPr/>
      </p:nvGrpSpPr>
      <p:grpSpPr>
        <a:xfrm>
          <a:off x="0" y="0"/>
          <a:ext cx="0" cy="0"/>
          <a:chOff x="0" y="0"/>
          <a:chExt cx="0" cy="0"/>
        </a:xfrm>
      </p:grpSpPr>
      <p:sp>
        <p:nvSpPr>
          <p:cNvPr id="68" name="Google Shape;68;p10"/>
          <p:cNvSpPr txBox="1"/>
          <p:nvPr>
            <p:ph type="title"/>
          </p:nvPr>
        </p:nvSpPr>
        <p:spPr>
          <a:xfrm>
            <a:off x="301752" y="5495278"/>
            <a:ext cx="7772400" cy="594626"/>
          </a:xfrm>
          <a:prstGeom prst="rect">
            <a:avLst/>
          </a:prstGeom>
          <a:noFill/>
          <a:ln>
            <a:noFill/>
          </a:ln>
        </p:spPr>
        <p:txBody>
          <a:bodyPr anchorCtr="0" anchor="b" bIns="45700" lIns="91425" spcFirstLastPara="1" rIns="91425" wrap="square" tIns="45700">
            <a:noAutofit/>
          </a:bodyPr>
          <a:lstStyle>
            <a:lvl1pPr lvl="0" algn="ctr">
              <a:lnSpc>
                <a:spcPct val="100000"/>
              </a:lnSpc>
              <a:spcBef>
                <a:spcPts val="0"/>
              </a:spcBef>
              <a:spcAft>
                <a:spcPts val="0"/>
              </a:spcAft>
              <a:buClr>
                <a:schemeClr val="dk2"/>
              </a:buClr>
              <a:buSzPts val="2200"/>
              <a:buFont typeface="Cambria"/>
              <a:buNone/>
              <a:defRPr b="1" sz="22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0"/>
          <p:cNvSpPr/>
          <p:nvPr>
            <p:ph idx="2" type="pic"/>
          </p:nvPr>
        </p:nvSpPr>
        <p:spPr>
          <a:xfrm>
            <a:off x="0" y="0"/>
            <a:ext cx="8458200" cy="5486400"/>
          </a:xfrm>
          <a:prstGeom prst="rect">
            <a:avLst/>
          </a:prstGeom>
          <a:noFill/>
          <a:ln>
            <a:noFill/>
          </a:ln>
        </p:spPr>
      </p:sp>
      <p:sp>
        <p:nvSpPr>
          <p:cNvPr id="70" name="Google Shape;70;p10"/>
          <p:cNvSpPr txBox="1"/>
          <p:nvPr>
            <p:ph idx="1" type="body"/>
          </p:nvPr>
        </p:nvSpPr>
        <p:spPr>
          <a:xfrm>
            <a:off x="301752" y="6096000"/>
            <a:ext cx="7772400" cy="612648"/>
          </a:xfrm>
          <a:prstGeom prst="rect">
            <a:avLst/>
          </a:prstGeom>
          <a:noFill/>
          <a:ln>
            <a:noFill/>
          </a:ln>
        </p:spPr>
        <p:txBody>
          <a:bodyPr anchorCtr="0" anchor="t" bIns="45700" lIns="91425" spcFirstLastPara="1" rIns="91425" wrap="square" tIns="45700">
            <a:normAutofit/>
          </a:bodyPr>
          <a:lstStyle>
            <a:lvl1pPr indent="-228600" lvl="0" marL="457200" algn="ctr">
              <a:lnSpc>
                <a:spcPct val="100000"/>
              </a:lnSpc>
              <a:spcBef>
                <a:spcPts val="320"/>
              </a:spcBef>
              <a:spcAft>
                <a:spcPts val="0"/>
              </a:spcAft>
              <a:buSzPts val="1600"/>
              <a:buNone/>
              <a:defRPr sz="1600"/>
            </a:lvl1pPr>
            <a:lvl2pPr indent="-228600" lvl="1" marL="914400" algn="l">
              <a:lnSpc>
                <a:spcPct val="100000"/>
              </a:lnSpc>
              <a:spcBef>
                <a:spcPts val="240"/>
              </a:spcBef>
              <a:spcAft>
                <a:spcPts val="0"/>
              </a:spcAft>
              <a:buSzPts val="1200"/>
              <a:buNone/>
              <a:defRPr sz="1200"/>
            </a:lvl2pPr>
            <a:lvl3pPr indent="-228600" lvl="2" marL="1371600" algn="l">
              <a:lnSpc>
                <a:spcPct val="100000"/>
              </a:lnSpc>
              <a:spcBef>
                <a:spcPts val="200"/>
              </a:spcBef>
              <a:spcAft>
                <a:spcPts val="0"/>
              </a:spcAft>
              <a:buSzPts val="1000"/>
              <a:buNone/>
              <a:defRPr sz="1000"/>
            </a:lvl3pPr>
            <a:lvl4pPr indent="-228600" lvl="3" marL="1828800" algn="l">
              <a:lnSpc>
                <a:spcPct val="100000"/>
              </a:lnSpc>
              <a:spcBef>
                <a:spcPts val="180"/>
              </a:spcBef>
              <a:spcAft>
                <a:spcPts val="0"/>
              </a:spcAft>
              <a:buSzPts val="900"/>
              <a:buNone/>
              <a:defRPr sz="900"/>
            </a:lvl4pPr>
            <a:lvl5pPr indent="-228600" lvl="4" marL="2286000" algn="l">
              <a:lnSpc>
                <a:spcPct val="100000"/>
              </a:lnSpc>
              <a:spcBef>
                <a:spcPts val="180"/>
              </a:spcBef>
              <a:spcAft>
                <a:spcPts val="0"/>
              </a:spcAft>
              <a:buSzPts val="900"/>
              <a:buNone/>
              <a:defRPr sz="900"/>
            </a:lvl5pPr>
            <a:lvl6pPr indent="-228600" lvl="5" marL="2743200" algn="l">
              <a:lnSpc>
                <a:spcPct val="100000"/>
              </a:lnSpc>
              <a:spcBef>
                <a:spcPts val="180"/>
              </a:spcBef>
              <a:spcAft>
                <a:spcPts val="0"/>
              </a:spcAft>
              <a:buSzPts val="900"/>
              <a:buNone/>
              <a:defRPr sz="900"/>
            </a:lvl6pPr>
            <a:lvl7pPr indent="-228600" lvl="6" marL="3200400" algn="l">
              <a:lnSpc>
                <a:spcPct val="100000"/>
              </a:lnSpc>
              <a:spcBef>
                <a:spcPts val="180"/>
              </a:spcBef>
              <a:spcAft>
                <a:spcPts val="0"/>
              </a:spcAft>
              <a:buSzPts val="900"/>
              <a:buNone/>
              <a:defRPr sz="900"/>
            </a:lvl7pPr>
            <a:lvl8pPr indent="-228600" lvl="7" marL="3657600" algn="l">
              <a:lnSpc>
                <a:spcPct val="100000"/>
              </a:lnSpc>
              <a:spcBef>
                <a:spcPts val="180"/>
              </a:spcBef>
              <a:spcAft>
                <a:spcPts val="0"/>
              </a:spcAft>
              <a:buSzPts val="900"/>
              <a:buNone/>
              <a:defRPr sz="900"/>
            </a:lvl8pPr>
            <a:lvl9pPr indent="-228600" lvl="8" marL="4114800" algn="l">
              <a:lnSpc>
                <a:spcPct val="100000"/>
              </a:lnSpc>
              <a:spcBef>
                <a:spcPts val="180"/>
              </a:spcBef>
              <a:spcAft>
                <a:spcPts val="0"/>
              </a:spcAft>
              <a:buSzPts val="900"/>
              <a:buNone/>
              <a:defRPr sz="900"/>
            </a:lvl9pPr>
          </a:lstStyle>
          <a:p/>
        </p:txBody>
      </p:sp>
      <p:sp>
        <p:nvSpPr>
          <p:cNvPr id="71" name="Google Shape;71;p10"/>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0"/>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
        <p:nvSpPr>
          <p:cNvPr id="73" name="Google Shape;73;p10"/>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4" name="Shape 74"/>
        <p:cNvGrpSpPr/>
        <p:nvPr/>
      </p:nvGrpSpPr>
      <p:grpSpPr>
        <a:xfrm>
          <a:off x="0" y="0"/>
          <a:ext cx="0" cy="0"/>
          <a:chOff x="0" y="0"/>
          <a:chExt cx="0" cy="0"/>
        </a:xfrm>
      </p:grpSpPr>
      <p:sp>
        <p:nvSpPr>
          <p:cNvPr id="75" name="Google Shape;75;p11"/>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 type="body"/>
          </p:nvPr>
        </p:nvSpPr>
        <p:spPr>
          <a:xfrm rot="5400000">
            <a:off x="1866900" y="190500"/>
            <a:ext cx="4800600" cy="76200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77" name="Google Shape;77;p11"/>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1"/>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0" name="Shape 80"/>
        <p:cNvGrpSpPr/>
        <p:nvPr/>
      </p:nvGrpSpPr>
      <p:grpSpPr>
        <a:xfrm>
          <a:off x="0" y="0"/>
          <a:ext cx="0" cy="0"/>
          <a:chOff x="0" y="0"/>
          <a:chExt cx="0" cy="0"/>
        </a:xfrm>
      </p:grpSpPr>
      <p:sp>
        <p:nvSpPr>
          <p:cNvPr id="81" name="Google Shape;81;p12"/>
          <p:cNvSpPr txBox="1"/>
          <p:nvPr>
            <p:ph type="title"/>
          </p:nvPr>
        </p:nvSpPr>
        <p:spPr>
          <a:xfrm rot="5400000">
            <a:off x="4579938" y="2324101"/>
            <a:ext cx="5851525" cy="175260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83" name="Google Shape;83;p12"/>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12"/>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12"/>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75000">
              <a:schemeClr val="lt1"/>
            </a:gs>
            <a:gs pos="100000">
              <a:srgbClr val="D8D8D8"/>
            </a:gs>
          </a:gsLst>
          <a:path path="circle">
            <a:fillToRect b="50%" l="50%" r="50%" t="50%"/>
          </a:path>
          <a:tileRect/>
        </a:gra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chemeClr val="dk2"/>
              </a:buClr>
              <a:buSzPts val="4600"/>
              <a:buFont typeface="Cambria"/>
              <a:buNone/>
              <a:defRPr b="0" i="0" sz="4600" u="none" cap="none" strike="noStrike">
                <a:solidFill>
                  <a:schemeClr val="dk2"/>
                </a:solidFill>
                <a:latin typeface="Cambria"/>
                <a:ea typeface="Cambria"/>
                <a:cs typeface="Cambria"/>
                <a:sym typeface="Cambri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
          <p:cNvSpPr txBox="1"/>
          <p:nvPr>
            <p:ph idx="1" type="body"/>
          </p:nvPr>
        </p:nvSpPr>
        <p:spPr>
          <a:xfrm>
            <a:off x="457200" y="1600200"/>
            <a:ext cx="7620000" cy="4800600"/>
          </a:xfrm>
          <a:prstGeom prst="rect">
            <a:avLst/>
          </a:prstGeom>
          <a:noFill/>
          <a:ln>
            <a:noFill/>
          </a:ln>
        </p:spPr>
        <p:txBody>
          <a:bodyPr anchorCtr="0" anchor="t" bIns="45700" lIns="91425" spcFirstLastPara="1" rIns="91425" wrap="square" tIns="45700">
            <a:normAutofit/>
          </a:bodyPr>
          <a:lstStyle>
            <a:lvl1pPr indent="-368300" lvl="0" marL="457200" marR="0" rtl="0" algn="l">
              <a:lnSpc>
                <a:spcPct val="100000"/>
              </a:lnSpc>
              <a:spcBef>
                <a:spcPts val="440"/>
              </a:spcBef>
              <a:spcAft>
                <a:spcPts val="0"/>
              </a:spcAft>
              <a:buClr>
                <a:schemeClr val="accent1"/>
              </a:buClr>
              <a:buSzPts val="2200"/>
              <a:buFont typeface="Arial"/>
              <a:buChar char="•"/>
              <a:defRPr b="0" i="0" sz="2200" u="none" cap="none" strike="noStrike">
                <a:solidFill>
                  <a:schemeClr val="dk1"/>
                </a:solidFill>
                <a:latin typeface="Calibri"/>
                <a:ea typeface="Calibri"/>
                <a:cs typeface="Calibri"/>
                <a:sym typeface="Calibri"/>
              </a:defRPr>
            </a:lvl1pPr>
            <a:lvl2pPr indent="-355600" lvl="1" marL="914400" marR="0" rtl="0" algn="l">
              <a:lnSpc>
                <a:spcPct val="100000"/>
              </a:lnSpc>
              <a:spcBef>
                <a:spcPts val="400"/>
              </a:spcBef>
              <a:spcAft>
                <a:spcPts val="0"/>
              </a:spcAft>
              <a:buClr>
                <a:schemeClr val="accent2"/>
              </a:buClr>
              <a:buSzPts val="2000"/>
              <a:buFont typeface="Arial"/>
              <a:buChar char="•"/>
              <a:defRPr b="0" i="0" sz="2000" u="none" cap="none" strike="noStrike">
                <a:solidFill>
                  <a:schemeClr val="dk1"/>
                </a:solidFill>
                <a:latin typeface="Calibri"/>
                <a:ea typeface="Calibri"/>
                <a:cs typeface="Calibri"/>
                <a:sym typeface="Calibri"/>
              </a:defRPr>
            </a:lvl2pPr>
            <a:lvl3pPr indent="-342900" lvl="2" marL="1371600" marR="0" rtl="0" algn="l">
              <a:lnSpc>
                <a:spcPct val="100000"/>
              </a:lnSpc>
              <a:spcBef>
                <a:spcPts val="360"/>
              </a:spcBef>
              <a:spcAft>
                <a:spcPts val="0"/>
              </a:spcAft>
              <a:buClr>
                <a:schemeClr val="accent3"/>
              </a:buClr>
              <a:buSzPts val="1800"/>
              <a:buFont typeface="Arial"/>
              <a:buChar char="•"/>
              <a:defRPr b="0" i="0" sz="1800" u="none" cap="none" strike="noStrike">
                <a:solidFill>
                  <a:schemeClr val="dk1"/>
                </a:solidFill>
                <a:latin typeface="Calibri"/>
                <a:ea typeface="Calibri"/>
                <a:cs typeface="Calibri"/>
                <a:sym typeface="Calibri"/>
              </a:defRPr>
            </a:lvl3pPr>
            <a:lvl4pPr indent="-330200" lvl="3" marL="1828800" marR="0" rtl="0" algn="l">
              <a:lnSpc>
                <a:spcPct val="100000"/>
              </a:lnSpc>
              <a:spcBef>
                <a:spcPts val="320"/>
              </a:spcBef>
              <a:spcAft>
                <a:spcPts val="0"/>
              </a:spcAft>
              <a:buClr>
                <a:schemeClr val="accent4"/>
              </a:buClr>
              <a:buSzPts val="1600"/>
              <a:buFont typeface="Arial"/>
              <a:buChar char="•"/>
              <a:defRPr b="0" i="0" sz="1600" u="none" cap="none" strike="noStrike">
                <a:solidFill>
                  <a:schemeClr val="dk1"/>
                </a:solidFill>
                <a:latin typeface="Calibri"/>
                <a:ea typeface="Calibri"/>
                <a:cs typeface="Calibri"/>
                <a:sym typeface="Calibri"/>
              </a:defRPr>
            </a:lvl4pPr>
            <a:lvl5pPr indent="-317500" lvl="4" marL="2286000" marR="0" rtl="0" algn="l">
              <a:lnSpc>
                <a:spcPct val="100000"/>
              </a:lnSpc>
              <a:spcBef>
                <a:spcPts val="280"/>
              </a:spcBef>
              <a:spcAft>
                <a:spcPts val="0"/>
              </a:spcAft>
              <a:buClr>
                <a:schemeClr val="accent5"/>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100000"/>
              </a:lnSpc>
              <a:spcBef>
                <a:spcPts val="280"/>
              </a:spcBef>
              <a:spcAft>
                <a:spcPts val="0"/>
              </a:spcAft>
              <a:buClr>
                <a:schemeClr val="accent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280"/>
              </a:spcBef>
              <a:spcAft>
                <a:spcPts val="0"/>
              </a:spcAft>
              <a:buClr>
                <a:schemeClr val="accent2"/>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280"/>
              </a:spcBef>
              <a:spcAft>
                <a:spcPts val="0"/>
              </a:spcAft>
              <a:buClr>
                <a:schemeClr val="accent3"/>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280"/>
              </a:spcBef>
              <a:spcAft>
                <a:spcPts val="0"/>
              </a:spcAft>
              <a:buClr>
                <a:schemeClr val="accent4"/>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2" name="Google Shape;12;p1"/>
          <p:cNvSpPr/>
          <p:nvPr/>
        </p:nvSpPr>
        <p:spPr>
          <a:xfrm>
            <a:off x="8458200" y="0"/>
            <a:ext cx="6858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 name="Google Shape;13;p1"/>
          <p:cNvSpPr/>
          <p:nvPr/>
        </p:nvSpPr>
        <p:spPr>
          <a:xfrm>
            <a:off x="8458200" y="5486400"/>
            <a:ext cx="685800" cy="6858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 name="Google Shape;14;p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
        <p:nvSpPr>
          <p:cNvPr id="15" name="Google Shape;15;p1"/>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lt2"/>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6" name="Google Shape;16;p1"/>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lt2"/>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4.png"/><Relationship Id="rId7" Type="http://schemas.openxmlformats.org/officeDocument/2006/relationships/image" Target="../media/image1.png"/><Relationship Id="rId8"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8.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bioresources.cnr.ncsu.edu/resources/recent-advances-in-wood-surface-defect-inspection-using-deep-learning-2021-2025/?utm_source=chatgpt.com" TargetMode="External"/><Relationship Id="rId4" Type="http://schemas.openxmlformats.org/officeDocument/2006/relationships/hyperlink" Target="https://bioresources.cnr.ncsu.edu/resources/recent-advances-in-wood-surface-defect-inspection-using-deep-learning-2021-2025/?utm_source=chatgpt.com" TargetMode="External"/><Relationship Id="rId5" Type="http://schemas.openxmlformats.org/officeDocument/2006/relationships/hyperlink" Target="https://bioresources.cnr.ncsu.edu/resources/recent-advances-in-wood-surface-defect-inspection-using-deep-learning-2021-2025/?utm_source=chatgpt.com" TargetMode="External"/><Relationship Id="rId6" Type="http://schemas.openxmlformats.org/officeDocument/2006/relationships/hyperlink" Target="https://doi.org/10.1109/ETAE69474.2026.11496073?utm_source=chatgpt.com" TargetMode="External"/><Relationship Id="rId7" Type="http://schemas.openxmlformats.org/officeDocument/2006/relationships/hyperlink" Target="https://doi.org/10.1109/ETAE69474.2026.11496073?utm_source=chatgpt.com" TargetMode="External"/><Relationship Id="rId8" Type="http://schemas.openxmlformats.org/officeDocument/2006/relationships/hyperlink" Target="https://www.researchgate.net/publication/404642192_IEL-YOLO_A_Low-Light_Robust_Wood_Defect_Detection_Method_Based_on_YOLOv11?utm_source=chatgpt.com" TargetMode="External"/><Relationship Id="rId9" Type="http://schemas.openxmlformats.org/officeDocument/2006/relationships/hyperlink" Target="https://bioresources.cnr.ncsu.edu/resources/wd-seg-a-deep-learning-framework-for-delicate-and-accurate-wood-defect-segmentation/?utm_source=chatgpt.com" TargetMode="External"/><Relationship Id="rId10" Type="http://schemas.openxmlformats.org/officeDocument/2006/relationships/hyperlink" Target="https://bioresources.cnr.ncsu.edu/resources/wd-seg-a-deep-learning-framework-for-delicate-and-accurate-wood-defect-segmentation/?utm_source=chatgpt.com" TargetMode="External"/><Relationship Id="rId11" Type="http://schemas.openxmlformats.org/officeDocument/2006/relationships/hyperlink" Target="https://bioresources.cnr.ncsu.edu/resources/wd-seg-a-deep-learning-framework-for-delicate-and-accurate-wood-defect-segmentation/?utm_source=chatgpt.com" TargetMode="External"/><Relationship Id="rId12" Type="http://schemas.openxmlformats.org/officeDocument/2006/relationships/hyperlink" Target="https://doi.org/10.1063/5.0313821?utm_source=chatgpt.com" TargetMode="External"/><Relationship Id="rId13" Type="http://schemas.openxmlformats.org/officeDocument/2006/relationships/hyperlink" Target="https://doi.org/10.1063/5.0313821?utm_source=chatgpt.com" TargetMode="External"/><Relationship Id="rId14" Type="http://schemas.openxmlformats.org/officeDocument/2006/relationships/hyperlink" Target="https://www.researchgate.net/publication/400536927_A_novel_IWPT-VMD_denoising_method_for_enhancing_air-coupled_ultrasonic_detection_of_wood_defects?utm_source=chatgpt.com" TargetMode="External"/><Relationship Id="rId15" Type="http://schemas.openxmlformats.org/officeDocument/2006/relationships/hyperlink" Target="https://doi.org/10.1016/j.measurement.2026.121442?utm_source=chatgpt.com" TargetMode="External"/><Relationship Id="rId16" Type="http://schemas.openxmlformats.org/officeDocument/2006/relationships/hyperlink" Target="https://doi.org/10.1016/j.measurement.2026.121442?utm_source=chatgpt.com" TargetMode="External"/><Relationship Id="rId17" Type="http://schemas.openxmlformats.org/officeDocument/2006/relationships/hyperlink" Target="https://www.sciencedirect.com/science/article/pii/S0263224126011516?utm_source=chatgpt.com" TargetMode="External"/><Relationship Id="rId18" Type="http://schemas.openxmlformats.org/officeDocument/2006/relationships/hyperlink" Target="https://doi.org/10.1016/j.tfp.2026.101226?utm_source=chatgpt.com" TargetMode="External"/><Relationship Id="rId19" Type="http://schemas.openxmlformats.org/officeDocument/2006/relationships/hyperlink" Target="https://doi.org/10.1016/j.tfp.2026.101226?utm_source=chatgpt.com" TargetMode="External"/><Relationship Id="rId20" Type="http://schemas.openxmlformats.org/officeDocument/2006/relationships/hyperlink" Target="https://www.sciencedirect.com/science/article/pii/S2666719326000828?utm_source=chatgpt.com" TargetMode="External"/><Relationship Id="rId21" Type="http://schemas.openxmlformats.org/officeDocument/2006/relationships/image" Target="../media/image2.png"/><Relationship Id="rId22" Type="http://schemas.openxmlformats.org/officeDocument/2006/relationships/image" Target="../media/image3.png"/><Relationship Id="rId23" Type="http://schemas.openxmlformats.org/officeDocument/2006/relationships/image" Target="../media/image4.png"/><Relationship Id="rId24" Type="http://schemas.openxmlformats.org/officeDocument/2006/relationships/image" Target="../media/image1.png"/><Relationship Id="rId25" Type="http://schemas.openxmlformats.org/officeDocument/2006/relationships/image" Target="../media/image14.png"/><Relationship Id="rId26"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bioresources.cnr.ncsu.edu/resources/recent-advances-in-wood-surface-defect-inspection-using-deep-learning-2021-2025/?utm_source=chatgpt.com" TargetMode="External"/><Relationship Id="rId4" Type="http://schemas.openxmlformats.org/officeDocument/2006/relationships/hyperlink" Target="https://bioresources.cnr.ncsu.edu/resources/recent-advances-in-wood-surface-defect-inspection-using-deep-learning-2021-2025/?utm_source=chatgpt.com" TargetMode="External"/><Relationship Id="rId5" Type="http://schemas.openxmlformats.org/officeDocument/2006/relationships/hyperlink" Target="https://bioresources.cnr.ncsu.edu/resources/recent-advances-in-wood-surface-defect-inspection-using-deep-learning-2021-2025/?utm_source=chatgpt.com" TargetMode="External"/><Relationship Id="rId6" Type="http://schemas.openxmlformats.org/officeDocument/2006/relationships/hyperlink" Target="https://doi.org/10.1109/ETAE69474.2026.11496073?utm_source=chatgpt.com" TargetMode="External"/><Relationship Id="rId7" Type="http://schemas.openxmlformats.org/officeDocument/2006/relationships/hyperlink" Target="https://doi.org/10.1109/ETAE69474.2026.11496073?utm_source=chatgpt.com" TargetMode="External"/><Relationship Id="rId8" Type="http://schemas.openxmlformats.org/officeDocument/2006/relationships/hyperlink" Target="https://www.researchgate.net/publication/404642192_IEL-YOLO_A_Low-Light_Robust_Wood_Defect_Detection_Method_Based_on_YOLOv11?utm_source=chatgpt.com" TargetMode="External"/><Relationship Id="rId9" Type="http://schemas.openxmlformats.org/officeDocument/2006/relationships/hyperlink" Target="https://bioresources.cnr.ncsu.edu/resources/wd-seg-a-deep-learning-framework-for-delicate-and-accurate-wood-defect-segmentation/?utm_source=chatgpt.com" TargetMode="External"/><Relationship Id="rId10" Type="http://schemas.openxmlformats.org/officeDocument/2006/relationships/hyperlink" Target="https://bioresources.cnr.ncsu.edu/resources/wd-seg-a-deep-learning-framework-for-delicate-and-accurate-wood-defect-segmentation/?utm_source=chatgpt.com" TargetMode="External"/><Relationship Id="rId11" Type="http://schemas.openxmlformats.org/officeDocument/2006/relationships/hyperlink" Target="https://bioresources.cnr.ncsu.edu/resources/wd-seg-a-deep-learning-framework-for-delicate-and-accurate-wood-defect-segmentation/?utm_source=chatgpt.com" TargetMode="External"/><Relationship Id="rId12" Type="http://schemas.openxmlformats.org/officeDocument/2006/relationships/hyperlink" Target="https://doi.org/10.1063/5.0313821?utm_source=chatgpt.com" TargetMode="External"/><Relationship Id="rId13" Type="http://schemas.openxmlformats.org/officeDocument/2006/relationships/hyperlink" Target="https://doi.org/10.1063/5.0313821?utm_source=chatgpt.com" TargetMode="External"/><Relationship Id="rId14" Type="http://schemas.openxmlformats.org/officeDocument/2006/relationships/hyperlink" Target="https://www.researchgate.net/publication/400536927_A_novel_IWPT-VMD_denoising_method_for_enhancing_air-coupled_ultrasonic_detection_of_wood_defects?utm_source=chatgpt.com" TargetMode="External"/><Relationship Id="rId15" Type="http://schemas.openxmlformats.org/officeDocument/2006/relationships/hyperlink" Target="https://doi.org/10.1016/j.measurement.2026.121442?utm_source=chatgpt.com" TargetMode="External"/><Relationship Id="rId16" Type="http://schemas.openxmlformats.org/officeDocument/2006/relationships/hyperlink" Target="https://doi.org/10.1016/j.measurement.2026.121442?utm_source=chatgpt.com" TargetMode="External"/><Relationship Id="rId17" Type="http://schemas.openxmlformats.org/officeDocument/2006/relationships/hyperlink" Target="https://www.sciencedirect.com/science/article/pii/S0263224126011516?utm_source=chatgpt.com" TargetMode="External"/><Relationship Id="rId18" Type="http://schemas.openxmlformats.org/officeDocument/2006/relationships/hyperlink" Target="https://doi.org/10.1016/j.tfp.2026.101226?utm_source=chatgpt.com" TargetMode="External"/><Relationship Id="rId19" Type="http://schemas.openxmlformats.org/officeDocument/2006/relationships/hyperlink" Target="https://doi.org/10.1016/j.tfp.2026.101226?utm_source=chatgpt.com" TargetMode="External"/><Relationship Id="rId20" Type="http://schemas.openxmlformats.org/officeDocument/2006/relationships/hyperlink" Target="https://www.sciencedirect.com/science/article/pii/S2666719326000828?utm_source=chatgpt.com" TargetMode="External"/><Relationship Id="rId21" Type="http://schemas.openxmlformats.org/officeDocument/2006/relationships/image" Target="../media/image2.png"/><Relationship Id="rId22" Type="http://schemas.openxmlformats.org/officeDocument/2006/relationships/image" Target="../media/image3.png"/><Relationship Id="rId23" Type="http://schemas.openxmlformats.org/officeDocument/2006/relationships/image" Target="../media/image4.png"/><Relationship Id="rId2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doi.org/10.1016/j.ecoser.2026.101851?utm_source=chatgpt.com" TargetMode="External"/><Relationship Id="rId4" Type="http://schemas.openxmlformats.org/officeDocument/2006/relationships/hyperlink" Target="https://doi.org/10.1016/j.ecoser.2026.101851?utm_source=chatgpt.com" TargetMode="External"/><Relationship Id="rId5" Type="http://schemas.openxmlformats.org/officeDocument/2006/relationships/hyperlink" Target="https://www.sciencedirect.com/science/article/pii/S2212041626000392?utm_source=chatgpt.com" TargetMode="External"/><Relationship Id="rId6" Type="http://schemas.openxmlformats.org/officeDocument/2006/relationships/hyperlink" Target="https://doi.org/10.1016/j.knosys.2025.113706?utm_source=chatgpt.com" TargetMode="External"/><Relationship Id="rId7" Type="http://schemas.openxmlformats.org/officeDocument/2006/relationships/hyperlink" Target="https://doi.org/10.1016/j.knosys.2025.113706?utm_source=chatgpt.com" TargetMode="External"/><Relationship Id="rId8" Type="http://schemas.openxmlformats.org/officeDocument/2006/relationships/hyperlink" Target="https://www.sciencedirect.com/science/article/pii/S095070512500752X?utm_source=chatgpt.com" TargetMode="External"/><Relationship Id="rId9" Type="http://schemas.openxmlformats.org/officeDocument/2006/relationships/hyperlink" Target="https://doi.org/10.1016/j.cma.2024.117250?utm_source=chatgpt.com" TargetMode="External"/><Relationship Id="rId10" Type="http://schemas.openxmlformats.org/officeDocument/2006/relationships/hyperlink" Target="https://doi.org/10.1016/j.cma.2024.117250?utm_source=chatgpt.com" TargetMode="External"/><Relationship Id="rId11" Type="http://schemas.openxmlformats.org/officeDocument/2006/relationships/hyperlink" Target="https://www.sciencedirect.com/science/article/pii/S0045782524005061?utm_source=chatgpt.com" TargetMode="External"/><Relationship Id="rId12" Type="http://schemas.openxmlformats.org/officeDocument/2006/relationships/hyperlink" Target="https://doi.org/10.1186/s10086-024-02139-z?utm_source=chatgpt.com" TargetMode="External"/><Relationship Id="rId13" Type="http://schemas.openxmlformats.org/officeDocument/2006/relationships/hyperlink" Target="https://doi.org/10.1186/s10086-024-02139-z?utm_source=chatgpt.com" TargetMode="External"/><Relationship Id="rId14" Type="http://schemas.openxmlformats.org/officeDocument/2006/relationships/hyperlink" Target="https://link.springer.com/article/10.1186/s10086-024-02139-z?utm_source=chatgpt.com" TargetMode="External"/><Relationship Id="rId15" Type="http://schemas.openxmlformats.org/officeDocument/2006/relationships/hyperlink" Target="https://doi.org/10.1109/ACCESS.2024.3412928?utm_source=chatgpt.com" TargetMode="External"/><Relationship Id="rId16" Type="http://schemas.openxmlformats.org/officeDocument/2006/relationships/hyperlink" Target="https://doi.org/10.1109/ACCESS.2024.3412928?utm_source=chatgpt.com" TargetMode="External"/><Relationship Id="rId17" Type="http://schemas.openxmlformats.org/officeDocument/2006/relationships/hyperlink" Target="https://ouci.dntb.gov.ua/en/works/7W38qvz7/?utm_source=chatgpt.com" TargetMode="External"/><Relationship Id="rId18" Type="http://schemas.openxmlformats.org/officeDocument/2006/relationships/image" Target="../media/image2.png"/><Relationship Id="rId19" Type="http://schemas.openxmlformats.org/officeDocument/2006/relationships/image" Target="../media/image3.png"/><Relationship Id="rId20" Type="http://schemas.openxmlformats.org/officeDocument/2006/relationships/image" Target="../media/image4.png"/><Relationship Id="rId21"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3"/>
          <p:cNvSpPr txBox="1"/>
          <p:nvPr>
            <p:ph type="ctrTitle"/>
          </p:nvPr>
        </p:nvSpPr>
        <p:spPr>
          <a:xfrm>
            <a:off x="427325" y="1516175"/>
            <a:ext cx="7837800" cy="864900"/>
          </a:xfrm>
          <a:prstGeom prst="rect">
            <a:avLst/>
          </a:prstGeom>
          <a:noFill/>
          <a:ln>
            <a:noFill/>
          </a:ln>
        </p:spPr>
        <p:txBody>
          <a:bodyPr anchorCtr="0" anchor="b" bIns="45700" lIns="91425" spcFirstLastPara="1" rIns="91425" wrap="square" tIns="45700">
            <a:normAutofit/>
          </a:bodyPr>
          <a:lstStyle/>
          <a:p>
            <a:pPr indent="0" lvl="0" marL="0" rtl="0" algn="ctr">
              <a:lnSpc>
                <a:spcPct val="100000"/>
              </a:lnSpc>
              <a:spcBef>
                <a:spcPts val="0"/>
              </a:spcBef>
              <a:spcAft>
                <a:spcPts val="0"/>
              </a:spcAft>
              <a:buClr>
                <a:schemeClr val="dk2"/>
              </a:buClr>
              <a:buSzPts val="3200"/>
              <a:buFont typeface="Cambria"/>
              <a:buNone/>
            </a:pPr>
            <a:r>
              <a:rPr b="1" lang="en-US" sz="2900"/>
              <a:t>AI-Based Wood Quality Assessment</a:t>
            </a:r>
            <a:endParaRPr b="1" sz="2900"/>
          </a:p>
        </p:txBody>
      </p:sp>
      <p:sp>
        <p:nvSpPr>
          <p:cNvPr id="91" name="Google Shape;91;p13"/>
          <p:cNvSpPr txBox="1"/>
          <p:nvPr>
            <p:ph idx="1" type="subTitle"/>
          </p:nvPr>
        </p:nvSpPr>
        <p:spPr>
          <a:xfrm>
            <a:off x="230560" y="4714190"/>
            <a:ext cx="3905400" cy="2143800"/>
          </a:xfrm>
          <a:prstGeom prst="rect">
            <a:avLst/>
          </a:prstGeom>
          <a:solidFill>
            <a:srgbClr val="000000">
              <a:alpha val="0"/>
            </a:srgbClr>
          </a:solidFill>
          <a:ln>
            <a:noFill/>
          </a:ln>
        </p:spPr>
        <p:txBody>
          <a:bodyPr anchorCtr="0" anchor="t" bIns="47625" lIns="47625" spcFirstLastPara="1" rIns="47625" wrap="square" tIns="47625">
            <a:normAutofit/>
          </a:bodyPr>
          <a:lstStyle/>
          <a:p>
            <a:pPr indent="0" lvl="0" marL="0" rtl="0" algn="l">
              <a:spcBef>
                <a:spcPts val="400"/>
              </a:spcBef>
              <a:spcAft>
                <a:spcPts val="0"/>
              </a:spcAft>
              <a:buNone/>
            </a:pPr>
            <a:r>
              <a:rPr b="0" lang="en-US" sz="1500">
                <a:solidFill>
                  <a:srgbClr val="8C8B8A"/>
                </a:solidFill>
                <a:latin typeface="Calibri"/>
                <a:ea typeface="Calibri"/>
                <a:cs typeface="Calibri"/>
                <a:sym typeface="Calibri"/>
              </a:rPr>
              <a:t>GURUGUBELLI GAYATRI           -    1DS23CB014</a:t>
            </a:r>
            <a:endParaRPr b="0" sz="1500">
              <a:solidFill>
                <a:srgbClr val="8C8B8A"/>
              </a:solidFill>
              <a:latin typeface="Calibri"/>
              <a:ea typeface="Calibri"/>
              <a:cs typeface="Calibri"/>
              <a:sym typeface="Calibri"/>
            </a:endParaRPr>
          </a:p>
          <a:p>
            <a:pPr indent="0" lvl="0" marL="0" rtl="0" algn="l">
              <a:spcBef>
                <a:spcPts val="900"/>
              </a:spcBef>
              <a:spcAft>
                <a:spcPts val="0"/>
              </a:spcAft>
              <a:buNone/>
            </a:pPr>
            <a:r>
              <a:rPr b="0" lang="en-US" sz="1500">
                <a:solidFill>
                  <a:srgbClr val="8C8B8A"/>
                </a:solidFill>
                <a:latin typeface="Calibri"/>
                <a:ea typeface="Calibri"/>
                <a:cs typeface="Calibri"/>
                <a:sym typeface="Calibri"/>
              </a:rPr>
              <a:t>PRAKYAT PRAMOD SHETTY     -    1DS23CB033</a:t>
            </a:r>
            <a:endParaRPr b="0" sz="1500">
              <a:solidFill>
                <a:srgbClr val="8C8B8A"/>
              </a:solidFill>
              <a:latin typeface="Calibri"/>
              <a:ea typeface="Calibri"/>
              <a:cs typeface="Calibri"/>
              <a:sym typeface="Calibri"/>
            </a:endParaRPr>
          </a:p>
          <a:p>
            <a:pPr indent="0" lvl="0" marL="0" rtl="0" algn="l">
              <a:spcBef>
                <a:spcPts val="900"/>
              </a:spcBef>
              <a:spcAft>
                <a:spcPts val="0"/>
              </a:spcAft>
              <a:buNone/>
            </a:pPr>
            <a:r>
              <a:rPr b="0" lang="en-US" sz="1500">
                <a:solidFill>
                  <a:srgbClr val="8C8B8A"/>
                </a:solidFill>
                <a:latin typeface="Calibri"/>
                <a:ea typeface="Calibri"/>
                <a:cs typeface="Calibri"/>
                <a:sym typeface="Calibri"/>
              </a:rPr>
              <a:t>SAIPRASAD RAO                      </a:t>
            </a:r>
            <a:r>
              <a:rPr lang="en-US" sz="1500"/>
              <a:t> </a:t>
            </a:r>
            <a:r>
              <a:rPr b="0" lang="en-US" sz="1500">
                <a:solidFill>
                  <a:srgbClr val="8C8B8A"/>
                </a:solidFill>
                <a:latin typeface="Calibri"/>
                <a:ea typeface="Calibri"/>
                <a:cs typeface="Calibri"/>
                <a:sym typeface="Calibri"/>
              </a:rPr>
              <a:t> -    1DS23CB041</a:t>
            </a:r>
            <a:endParaRPr b="0" sz="1500">
              <a:solidFill>
                <a:srgbClr val="8C8B8A"/>
              </a:solidFill>
              <a:latin typeface="Calibri"/>
              <a:ea typeface="Calibri"/>
              <a:cs typeface="Calibri"/>
              <a:sym typeface="Calibri"/>
            </a:endParaRPr>
          </a:p>
          <a:p>
            <a:pPr indent="0" lvl="0" marL="0" rtl="0" algn="l">
              <a:spcBef>
                <a:spcPts val="900"/>
              </a:spcBef>
              <a:spcAft>
                <a:spcPts val="0"/>
              </a:spcAft>
              <a:buNone/>
            </a:pPr>
            <a:r>
              <a:rPr b="0" lang="en-US" sz="1500">
                <a:solidFill>
                  <a:srgbClr val="8C8B8A"/>
                </a:solidFill>
                <a:latin typeface="Calibri"/>
                <a:ea typeface="Calibri"/>
                <a:cs typeface="Calibri"/>
                <a:sym typeface="Calibri"/>
              </a:rPr>
              <a:t>YASTI ANIL KOTAK                     -    1DS23CB063</a:t>
            </a:r>
            <a:endParaRPr b="0" sz="1500">
              <a:solidFill>
                <a:srgbClr val="8C8B8A"/>
              </a:solidFill>
              <a:latin typeface="Calibri"/>
              <a:ea typeface="Calibri"/>
              <a:cs typeface="Calibri"/>
              <a:sym typeface="Calibri"/>
            </a:endParaRPr>
          </a:p>
        </p:txBody>
      </p:sp>
      <p:sp>
        <p:nvSpPr>
          <p:cNvPr id="92" name="Google Shape;92;p13"/>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93" name="Google Shape;93;p13"/>
          <p:cNvSpPr txBox="1"/>
          <p:nvPr/>
        </p:nvSpPr>
        <p:spPr>
          <a:xfrm>
            <a:off x="4203785" y="4368800"/>
            <a:ext cx="4179300" cy="2274300"/>
          </a:xfrm>
          <a:prstGeom prst="rect">
            <a:avLst/>
          </a:prstGeom>
          <a:noFill/>
          <a:ln>
            <a:noFill/>
          </a:ln>
        </p:spPr>
        <p:txBody>
          <a:bodyPr anchorCtr="0" anchor="t" bIns="45700" lIns="91425" spcFirstLastPara="1" rIns="91425" wrap="square" tIns="45700">
            <a:normAutofit/>
          </a:bodyPr>
          <a:lstStyle/>
          <a:p>
            <a:pPr indent="0" lvl="0" marL="0" marR="0" rtl="0" algn="l">
              <a:lnSpc>
                <a:spcPct val="120000"/>
              </a:lnSpc>
              <a:spcBef>
                <a:spcPts val="0"/>
              </a:spcBef>
              <a:spcAft>
                <a:spcPts val="0"/>
              </a:spcAft>
              <a:buClr>
                <a:schemeClr val="dk1"/>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Under the Guidance of</a:t>
            </a:r>
            <a:endParaRPr b="0" i="0" sz="1400" u="none" cap="none" strike="noStrike">
              <a:solidFill>
                <a:srgbClr val="000000"/>
              </a:solidFill>
              <a:latin typeface="Arial"/>
              <a:ea typeface="Arial"/>
              <a:cs typeface="Arial"/>
              <a:sym typeface="Arial"/>
            </a:endParaRPr>
          </a:p>
          <a:p>
            <a:pPr indent="0" lvl="0" marL="0" marR="0" rtl="0" algn="l">
              <a:lnSpc>
                <a:spcPct val="120000"/>
              </a:lnSpc>
              <a:spcBef>
                <a:spcPts val="0"/>
              </a:spcBef>
              <a:spcAft>
                <a:spcPts val="0"/>
              </a:spcAft>
              <a:buClr>
                <a:schemeClr val="dk1"/>
              </a:buClr>
              <a:buSzPts val="1800"/>
              <a:buFont typeface="Arial"/>
              <a:buNone/>
            </a:pPr>
            <a:r>
              <a:rPr b="1" lang="en-US" sz="1800">
                <a:solidFill>
                  <a:schemeClr val="dk1"/>
                </a:solidFill>
                <a:latin typeface="Times New Roman"/>
                <a:ea typeface="Times New Roman"/>
                <a:cs typeface="Times New Roman"/>
                <a:sym typeface="Times New Roman"/>
              </a:rPr>
              <a:t>Mrs. Aparna H D</a:t>
            </a:r>
            <a:endParaRPr b="1" i="0" sz="1800" u="none" cap="none" strike="noStrike">
              <a:solidFill>
                <a:schemeClr val="dk1"/>
              </a:solidFill>
              <a:latin typeface="Times New Roman"/>
              <a:ea typeface="Times New Roman"/>
              <a:cs typeface="Times New Roman"/>
              <a:sym typeface="Times New Roman"/>
            </a:endParaRPr>
          </a:p>
          <a:p>
            <a:pPr indent="0" lvl="0" marL="0" marR="0" rtl="0" algn="l">
              <a:lnSpc>
                <a:spcPct val="120000"/>
              </a:lnSpc>
              <a:spcBef>
                <a:spcPts val="0"/>
              </a:spcBef>
              <a:spcAft>
                <a:spcPts val="0"/>
              </a:spcAft>
              <a:buClr>
                <a:schemeClr val="dk1"/>
              </a:buClr>
              <a:buSzPts val="1800"/>
              <a:buFont typeface="Arial"/>
              <a:buNone/>
            </a:pPr>
            <a:r>
              <a:rPr lang="en-US" sz="1800">
                <a:solidFill>
                  <a:schemeClr val="dk1"/>
                </a:solidFill>
                <a:latin typeface="Times New Roman"/>
                <a:ea typeface="Times New Roman"/>
                <a:cs typeface="Times New Roman"/>
                <a:sym typeface="Times New Roman"/>
              </a:rPr>
              <a:t>Assistant Professor</a:t>
            </a:r>
            <a:r>
              <a:rPr b="0" i="0" lang="en-US" sz="1800" u="none" cap="none" strike="noStrike">
                <a:solidFill>
                  <a:schemeClr val="dk1"/>
                </a:solidFill>
                <a:latin typeface="Times New Roman"/>
                <a:ea typeface="Times New Roman"/>
                <a:cs typeface="Times New Roman"/>
                <a:sym typeface="Times New Roman"/>
              </a:rPr>
              <a:t>,</a:t>
            </a:r>
            <a:endParaRPr b="0" i="0" sz="1800" u="none" cap="none" strike="noStrike">
              <a:solidFill>
                <a:schemeClr val="dk1"/>
              </a:solidFill>
              <a:latin typeface="Times New Roman"/>
              <a:ea typeface="Times New Roman"/>
              <a:cs typeface="Times New Roman"/>
              <a:sym typeface="Times New Roman"/>
            </a:endParaRPr>
          </a:p>
          <a:p>
            <a:pPr indent="0" lvl="0" marL="0" marR="0" rtl="0" algn="l">
              <a:lnSpc>
                <a:spcPct val="120000"/>
              </a:lnSpc>
              <a:spcBef>
                <a:spcPts val="0"/>
              </a:spcBef>
              <a:spcAft>
                <a:spcPts val="0"/>
              </a:spcAft>
              <a:buClr>
                <a:schemeClr val="dk1"/>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Department of CSBS,</a:t>
            </a:r>
            <a:endParaRPr b="0" i="0" sz="1400" u="none" cap="none" strike="noStrike">
              <a:solidFill>
                <a:srgbClr val="000000"/>
              </a:solidFill>
              <a:latin typeface="Arial"/>
              <a:ea typeface="Arial"/>
              <a:cs typeface="Arial"/>
              <a:sym typeface="Arial"/>
            </a:endParaRPr>
          </a:p>
          <a:p>
            <a:pPr indent="0" lvl="0" marL="0" marR="0" rtl="0" algn="l">
              <a:lnSpc>
                <a:spcPct val="120000"/>
              </a:lnSpc>
              <a:spcBef>
                <a:spcPts val="0"/>
              </a:spcBef>
              <a:spcAft>
                <a:spcPts val="0"/>
              </a:spcAft>
              <a:buClr>
                <a:schemeClr val="dk1"/>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Dayananda Sagar College Of Engineering, Bengaluru</a:t>
            </a:r>
            <a:endParaRPr b="0" i="0" sz="1400" u="none" cap="none" strike="noStrike">
              <a:solidFill>
                <a:srgbClr val="000000"/>
              </a:solidFill>
              <a:latin typeface="Arial"/>
              <a:ea typeface="Arial"/>
              <a:cs typeface="Arial"/>
              <a:sym typeface="Arial"/>
            </a:endParaRPr>
          </a:p>
        </p:txBody>
      </p:sp>
      <p:sp>
        <p:nvSpPr>
          <p:cNvPr id="94" name="Google Shape;94;p13"/>
          <p:cNvSpPr txBox="1"/>
          <p:nvPr/>
        </p:nvSpPr>
        <p:spPr>
          <a:xfrm>
            <a:off x="475780" y="2491191"/>
            <a:ext cx="7740900" cy="1015800"/>
          </a:xfrm>
          <a:prstGeom prst="rect">
            <a:avLst/>
          </a:prstGeom>
          <a:noFill/>
          <a:ln>
            <a:noFill/>
          </a:ln>
        </p:spPr>
        <p:txBody>
          <a:bodyPr anchorCtr="0" anchor="t" bIns="45700" lIns="91425" spcFirstLastPara="1" rIns="91425" wrap="square" tIns="45700">
            <a:spAutoFit/>
          </a:bodyPr>
          <a:lstStyle/>
          <a:p>
            <a:pPr marL="0" indent="0" lvl="0" algn="ctr">
              <a:lnSpc>
                <a:spcPct val="115000"/>
              </a:lnSpc>
              <a:spcBef>
                <a:spcPts val="0"/>
              </a:spcBef>
              <a:spcAft>
                <a:spcPts val="0"/>
              </a:spcAft>
              <a:buNone/>
            </a:pPr>
            <a:r>
              <a:rPr lang="en-US" sz="1800" b="1">
                <a:latin typeface="Times New Roman"/>
                <a:ea typeface="Times New Roman"/>
                <a:cs typeface="Times New Roman"/>
                <a:sym typeface="Times New Roman"/>
              </a:rPr>
              <a:t>7th Semester Major Project: 50% Completion Presentation</a:t>
            </a:r>
            <a:endParaRPr lang="en-US" sz="1800">
              <a:latin typeface="Times New Roman"/>
              <a:ea typeface="Times New Roman"/>
              <a:cs typeface="Times New Roman"/>
              <a:sym typeface="Times New Roman"/>
            </a:endParaRPr>
          </a:p>
          <a:p>
            <a:pPr marL="0" indent="0" lvl="0" algn="ctr">
              <a:lnSpc>
                <a:spcPct val="115000"/>
              </a:lnSpc>
              <a:spcBef>
                <a:spcPts val="200"/>
              </a:spcBef>
              <a:spcAft>
                <a:spcPts val="0"/>
              </a:spcAft>
              <a:buNone/>
            </a:pPr>
            <a:r>
              <a:rPr lang="en-US" sz="1600">
                <a:latin typeface="Times New Roman"/>
                <a:ea typeface="Times New Roman"/>
                <a:cs typeface="Times New Roman"/>
                <a:sym typeface="Times New Roman"/>
              </a:rPr>
              <a:t>Date: 16 September 2026</a:t>
            </a:r>
            <a:endParaRPr lang="en-US" sz="1600">
              <a:latin typeface="Times New Roman"/>
              <a:ea typeface="Times New Roman"/>
              <a:cs typeface="Times New Roman"/>
              <a:sym typeface="Times New Roman"/>
            </a:endParaRPr>
          </a:p>
        </p:txBody>
      </p:sp>
      <p:sp>
        <p:nvSpPr>
          <p:cNvPr id="95" name="Google Shape;95;p13"/>
          <p:cNvSpPr/>
          <p:nvPr/>
        </p:nvSpPr>
        <p:spPr>
          <a:xfrm>
            <a:off x="0" y="0"/>
            <a:ext cx="91440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 name="Google Shape;96;p13"/>
          <p:cNvSpPr/>
          <p:nvPr/>
        </p:nvSpPr>
        <p:spPr>
          <a:xfrm>
            <a:off x="1413239" y="114282"/>
            <a:ext cx="7155000" cy="1169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rPr b="1" i="0" lang="en-US" sz="1800" u="none" cap="none" strike="noStrike">
                <a:solidFill>
                  <a:schemeClr val="dk1"/>
                </a:solidFill>
                <a:latin typeface="Calibri"/>
                <a:ea typeface="Calibri"/>
                <a:cs typeface="Calibri"/>
                <a:sym typeface="Calibri"/>
              </a:rPr>
              <a:t>DAYANANDA SAGAR COLLEGE OF ENGINEERING</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An Autonomous Institute Affiliated to VTU, Approved by AICTE &amp; UGC</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Accredited by National Assessment and Accreditation Council (NAAC) with ‘A’ Grade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800"/>
              <a:buFont typeface="Calibri"/>
              <a:buNone/>
            </a:pPr>
            <a:r>
              <a:rPr b="1" i="0" lang="en-US" sz="1800" u="none" cap="none" strike="noStrike">
                <a:solidFill>
                  <a:schemeClr val="dk1"/>
                </a:solidFill>
                <a:latin typeface="Calibri"/>
                <a:ea typeface="Calibri"/>
                <a:cs typeface="Calibri"/>
                <a:sym typeface="Calibri"/>
              </a:rPr>
              <a:t>Department of Computer Science and Business Systems</a:t>
            </a:r>
            <a:endParaRPr b="0" i="0" sz="1800" u="none" cap="none" strike="noStrike">
              <a:solidFill>
                <a:schemeClr val="dk1"/>
              </a:solidFill>
              <a:latin typeface="Arial"/>
              <a:ea typeface="Arial"/>
              <a:cs typeface="Arial"/>
              <a:sym typeface="Arial"/>
            </a:endParaRPr>
          </a:p>
        </p:txBody>
      </p:sp>
      <p:cxnSp>
        <p:nvCxnSpPr>
          <p:cNvPr id="97" name="Google Shape;97;p13"/>
          <p:cNvCxnSpPr/>
          <p:nvPr/>
        </p:nvCxnSpPr>
        <p:spPr>
          <a:xfrm>
            <a:off x="190980" y="1377538"/>
            <a:ext cx="8822400" cy="0"/>
          </a:xfrm>
          <a:prstGeom prst="straightConnector1">
            <a:avLst/>
          </a:prstGeom>
          <a:noFill/>
          <a:ln cap="flat" cmpd="sng" w="38100">
            <a:solidFill>
              <a:schemeClr val="accent1"/>
            </a:solidFill>
            <a:prstDash val="solid"/>
            <a:round/>
            <a:headEnd len="sm" w="sm" type="none"/>
            <a:tailEnd len="sm" w="sm" type="none"/>
          </a:ln>
          <a:effectLst>
            <a:outerShdw blurRad="50800" rotWithShape="0" algn="bl" dist="25400">
              <a:srgbClr val="000000">
                <a:alpha val="60000"/>
              </a:srgbClr>
            </a:outerShdw>
          </a:effectLst>
        </p:spPr>
      </p:cxnSp>
      <p:pic>
        <p:nvPicPr>
          <p:cNvPr id="98" name="Google Shape;98;p13"/>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99" name="Google Shape;99;p13"/>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00" name="Google Shape;100;p13"/>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01" name="Google Shape;101;p13"/>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02" name="Google Shape;102;p13"/>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descr="logo.jpeg" id="103" name="Google Shape;103;p13"/>
          <p:cNvPicPr preferRelativeResize="0"/>
          <p:nvPr/>
        </p:nvPicPr>
        <p:blipFill rotWithShape="1">
          <a:blip r:embed="rId7">
            <a:alphaModFix/>
          </a:blip>
          <a:srcRect b="0" l="0" r="0" t="0"/>
          <a:stretch/>
        </p:blipFill>
        <p:spPr>
          <a:xfrm>
            <a:off x="288290" y="109220"/>
            <a:ext cx="1207135" cy="121094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4"/>
          <p:cNvSpPr txBox="1"/>
          <p:nvPr>
            <p:ph type="title"/>
          </p:nvPr>
        </p:nvSpPr>
        <p:spPr>
          <a:xfrm>
            <a:off x="323851" y="0"/>
            <a:ext cx="7977001" cy="729579"/>
          </a:xfrm>
          <a:prstGeom prst="rect">
            <a:avLst/>
          </a:prstGeom>
          <a:noFill/>
          <a:ln>
            <a:noFill/>
          </a:ln>
        </p:spPr>
        <p:txBody>
          <a:bodyPr anchorCtr="0" anchor="ctr" bIns="45700" lIns="91425" spcFirstLastPara="1" rIns="91425" wrap="square" tIns="45700">
            <a:normAutofit/>
          </a:bodyPr>
          <a:lstStyle/>
          <a:p>
            <a:pPr indent="0" lvl="0" marL="0" rtl="0" algn="ctr">
              <a:lnSpc>
                <a:spcPct val="100000"/>
              </a:lnSpc>
              <a:spcBef>
                <a:spcPts val="0"/>
              </a:spcBef>
              <a:spcAft>
                <a:spcPts val="0"/>
              </a:spcAft>
              <a:buClr>
                <a:srgbClr val="41534B"/>
              </a:buClr>
              <a:buSzPts val="2800"/>
              <a:buFont typeface="Times New Roman"/>
              <a:buNone/>
            </a:pPr>
            <a:r>
              <a:rPr b="1" lang="en-US" sz="2800" cap="none">
                <a:solidFill>
                  <a:srgbClr val="41534B"/>
                </a:solidFill>
                <a:latin typeface="Times New Roman"/>
                <a:ea typeface="Times New Roman"/>
                <a:cs typeface="Times New Roman"/>
                <a:sym typeface="Times New Roman"/>
              </a:rPr>
              <a:t>ORGANIZATION OF THE PRESENTATION</a:t>
            </a:r>
            <a:endParaRPr/>
          </a:p>
        </p:txBody>
      </p:sp>
      <p:sp>
        <p:nvSpPr>
          <p:cNvPr id="109" name="Google Shape;109;p14"/>
          <p:cNvSpPr txBox="1"/>
          <p:nvPr>
            <p:ph idx="1" type="body"/>
          </p:nvPr>
        </p:nvSpPr>
        <p:spPr>
          <a:xfrm>
            <a:off x="323851" y="729579"/>
            <a:ext cx="8560155" cy="5856277"/>
          </a:xfrm>
          <a:prstGeom prst="rect">
            <a:avLst/>
          </a:prstGeom>
          <a:noFill/>
          <a:ln>
            <a:noFill/>
          </a:ln>
        </p:spPr>
        <p:txBody>
          <a:bodyPr anchorCtr="0" anchor="t" bIns="45700" lIns="91425" spcFirstLastPara="1" rIns="91425" wrap="square" tIns="45700">
            <a:noAutofit/>
          </a:bodyPr>
          <a:lstStyle/>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Abstract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Introduction</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Literature Survey</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Problem Statement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Objectives and Status at 50%</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Methodology (as implemented)</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Dataset and Board-level Split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System Design and Implementation</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Results: Training Runs</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Plan of Action: Progress</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Results: Held-out Test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Model Comparison</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Demonstration Application and Remaining Work</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References</a:t>
            </a:r>
            <a:endParaRPr lang="en-US" sz="1500">
              <a:latin typeface="Times New Roman"/>
              <a:ea typeface="Times New Roman"/>
              <a:cs typeface="Times New Roman"/>
              <a:sym typeface="Times New Roman"/>
            </a:endParaRPr>
          </a:p>
        </p:txBody>
      </p:sp>
      <p:sp>
        <p:nvSpPr>
          <p:cNvPr id="110" name="Google Shape;110;p14"/>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11" name="Google Shape;111;p14"/>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12" name="Google Shape;112;p14"/>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13" name="Google Shape;113;p14"/>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14" name="Google Shape;114;p14"/>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15" name="Google Shape;115;p14"/>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5"/>
          <p:cNvSpPr txBox="1"/>
          <p:nvPr>
            <p:ph type="title"/>
          </p:nvPr>
        </p:nvSpPr>
        <p:spPr>
          <a:xfrm>
            <a:off x="334847" y="141515"/>
            <a:ext cx="7977001" cy="729579"/>
          </a:xfrm>
          <a:prstGeom prst="rect">
            <a:avLst/>
          </a:prstGeom>
          <a:noFill/>
          <a:ln>
            <a:noFill/>
          </a:ln>
        </p:spPr>
        <p:txBody>
          <a:bodyPr anchorCtr="0" anchor="ctr" bIns="45700" lIns="91425" spcFirstLastPara="1" rIns="91425" wrap="square" tIns="45700">
            <a:normAutofit/>
          </a:bodyPr>
          <a:lstStyle/>
          <a:p>
            <a:pPr indent="0" lvl="0" marL="0" rtl="0" algn="l">
              <a:lnSpc>
                <a:spcPct val="100000"/>
              </a:lnSpc>
              <a:spcBef>
                <a:spcPts val="0"/>
              </a:spcBef>
              <a:spcAft>
                <a:spcPts val="0"/>
              </a:spcAft>
              <a:buClr>
                <a:srgbClr val="41534B"/>
              </a:buClr>
              <a:buSzPts val="2800"/>
              <a:buFont typeface="Times New Roman"/>
              <a:buNone/>
            </a:pPr>
            <a:r>
              <a:rPr b="1" lang="en-US" sz="2800" cap="none">
                <a:solidFill>
                  <a:srgbClr val="41534B"/>
                </a:solidFill>
                <a:latin typeface="Times New Roman"/>
                <a:ea typeface="Times New Roman"/>
                <a:cs typeface="Times New Roman"/>
                <a:sym typeface="Times New Roman"/>
              </a:rPr>
              <a:t>ABSTRACT</a:t>
            </a:r>
            <a:endParaRPr/>
          </a:p>
        </p:txBody>
      </p:sp>
      <p:sp>
        <p:nvSpPr>
          <p:cNvPr id="121" name="Google Shape;121;p15"/>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22" name="Google Shape;122;p15"/>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23" name="Google Shape;123;p15"/>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24" name="Google Shape;124;p15"/>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25" name="Google Shape;125;p15"/>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26" name="Google Shape;126;p15"/>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27" name="Google Shape;127;p15"/>
          <p:cNvSpPr txBox="1"/>
          <p:nvPr>
            <p:ph idx="1" type="body"/>
          </p:nvPr>
        </p:nvSpPr>
        <p:spPr>
          <a:xfrm>
            <a:off x="266597" y="994735"/>
            <a:ext cx="8113500" cy="5610600"/>
          </a:xfrm>
          <a:prstGeom prst="rect">
            <a:avLst/>
          </a:prstGeom>
          <a:noFill/>
          <a:ln>
            <a:noFill/>
          </a:ln>
        </p:spPr>
        <p:txBody>
          <a:bodyPr anchorCtr="0" anchor="ctr" bIns="45700" lIns="91425" spcFirstLastPara="1" rIns="91425" wrap="square" tIns="45700">
            <a:spAutoFit/>
          </a:bodyPr>
          <a:lstStyle/>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Surface defects such as knots, cracks, resin pockets and pith lines reduce the usable portion of sawn timber; manual grading is slow, subjective and inconsistent at scale.</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The project builds an AI-based computer-vision system that detects, classifies and localises visible defects on board images as the basis for automated quality assessment and usable-area estimation.</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In the first half we prepared a leakage-free dataset of 4,000 industrial line-scan images (8 defect classes) split by physical board, and trained YOLO11m and YOLO11s under identical, logged settings on Kaggle GPUs.</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On 12 boards never seen in training, both models reach 63 to 65 mAP50 and 33 to 34 mAP50-95, above 85 mAP50 on the main knot classes, at 30 to 86 frames per second on a Tesla T4.</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A demonstration web application with bounding boxes, defect heatmaps, per-class statistics and JSON reports is ready; recoverability estimation, image enhancement and architectural experiments form the second half.</a:t>
            </a:r>
            <a:endParaRPr lang="en-US" sz="1500">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134" name="Google Shape;134;p16"/>
          <p:cNvSpPr/>
          <p:nvPr/>
        </p:nvSpPr>
        <p:spPr>
          <a:xfrm>
            <a:off x="322730" y="232193"/>
            <a:ext cx="3402105" cy="5232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INTRODUCTION</a:t>
            </a:r>
            <a:endParaRPr b="0" i="0" sz="1400" u="none" cap="none" strike="noStrike">
              <a:solidFill>
                <a:srgbClr val="000000"/>
              </a:solidFill>
              <a:latin typeface="Arial"/>
              <a:ea typeface="Arial"/>
              <a:cs typeface="Arial"/>
              <a:sym typeface="Arial"/>
            </a:endParaRPr>
          </a:p>
        </p:txBody>
      </p:sp>
      <p:pic>
        <p:nvPicPr>
          <p:cNvPr id="135" name="Google Shape;135;p16"/>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36" name="Google Shape;136;p16"/>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37" name="Google Shape;137;p16"/>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38" name="Google Shape;138;p16"/>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39" name="Google Shape;139;p16"/>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40" name="Google Shape;140;p16"/>
          <p:cNvSpPr txBox="1"/>
          <p:nvPr/>
        </p:nvSpPr>
        <p:spPr>
          <a:xfrm>
            <a:off x="149500" y="849225"/>
            <a:ext cx="8178000" cy="5781000"/>
          </a:xfrm>
          <a:prstGeom prst="rect">
            <a:avLst/>
          </a:prstGeom>
          <a:noFill/>
          <a:ln>
            <a:noFill/>
          </a:ln>
        </p:spPr>
        <p:txBody>
          <a:bodyPr anchorCtr="0" anchor="t" bIns="45700" lIns="91425" spcFirstLastPara="1" rIns="91425" wrap="square" tIns="45700">
            <a:noAutofit/>
          </a:bodyPr>
          <a:lstStyle/>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Manual inspection </a:t>
            </a:r>
            <a:r>
              <a:rPr lang="en-US" sz="1500">
                <a:latin typeface="Times New Roman"/>
                <a:ea typeface="Times New Roman"/>
                <a:cs typeface="Times New Roman"/>
                <a:sym typeface="Times New Roman"/>
              </a:rPr>
              <a:t>of timber depends on human graders; fatigue and inter-inspector variation make results inconsistent, and throughput limits line speed.</a:t>
            </a:r>
            <a:endParaRPr lang="en-US" sz="1500">
              <a:latin typeface="Times New Roman"/>
              <a:ea typeface="Times New Roman"/>
              <a:cs typeface="Times New Roman"/>
              <a:sym typeface="Times New Roman"/>
            </a:endParaRPr>
          </a:p>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Defects differ in severity: </a:t>
            </a:r>
            <a:r>
              <a:rPr lang="en-US" sz="1500">
                <a:latin typeface="Times New Roman"/>
                <a:ea typeface="Times New Roman"/>
                <a:cs typeface="Times New Roman"/>
                <a:sym typeface="Times New Roman"/>
              </a:rPr>
              <a:t>a live knot is cosmetic, a dead or missing knot weakens the board, a crack may make a section unusable. Grading needs the defect type and its location, not a yes/no answer.</a:t>
            </a:r>
            <a:endParaRPr lang="en-US" sz="1500">
              <a:latin typeface="Times New Roman"/>
              <a:ea typeface="Times New Roman"/>
              <a:cs typeface="Times New Roman"/>
              <a:sym typeface="Times New Roman"/>
            </a:endParaRPr>
          </a:p>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One-stage detectors </a:t>
            </a:r>
            <a:r>
              <a:rPr lang="en-US" sz="1500">
                <a:latin typeface="Times New Roman"/>
                <a:ea typeface="Times New Roman"/>
                <a:cs typeface="Times New Roman"/>
                <a:sym typeface="Times New Roman"/>
              </a:rPr>
              <a:t>of the YOLO family find and classify small objects in real time, which suits a conveyor-mounted line-scan camera.</a:t>
            </a:r>
            <a:endParaRPr lang="en-US" sz="1500">
              <a:latin typeface="Times New Roman"/>
              <a:ea typeface="Times New Roman"/>
              <a:cs typeface="Times New Roman"/>
              <a:sym typeface="Times New Roman"/>
            </a:endParaRPr>
          </a:p>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Our system </a:t>
            </a:r>
            <a:r>
              <a:rPr lang="en-US" sz="1500">
                <a:latin typeface="Times New Roman"/>
                <a:ea typeface="Times New Roman"/>
                <a:cs typeface="Times New Roman"/>
                <a:sym typeface="Times New Roman"/>
              </a:rPr>
              <a:t>returns every visible defect with class, position, size and confidence, summarises defect coverage per board, and is designed to feed a recoverability estimate in the second half.</a:t>
            </a:r>
            <a:endParaRPr lang="en-US" sz="1500">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7"/>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146" name="Google Shape;146;p17"/>
          <p:cNvSpPr txBox="1"/>
          <p:nvPr/>
        </p:nvSpPr>
        <p:spPr>
          <a:xfrm>
            <a:off x="132875" y="-18871"/>
            <a:ext cx="7717500" cy="1508400"/>
          </a:xfrm>
          <a:prstGeom prst="rect">
            <a:avLst/>
          </a:prstGeom>
          <a:noFill/>
          <a:ln>
            <a:noFill/>
          </a:ln>
        </p:spPr>
        <p:txBody>
          <a:bodyPr anchorCtr="0" anchor="t" bIns="45700" lIns="91425" spcFirstLastPara="1" rIns="91425" wrap="square" tIns="45700">
            <a:spAutoFit/>
          </a:bodyPr>
          <a:lstStyle/>
          <a:p>
            <a:pPr indent="-457200" lvl="1" marL="457200" marR="0" rtl="0" algn="l">
              <a:lnSpc>
                <a:spcPct val="15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LITERATURE SURVEY</a:t>
            </a:r>
            <a:endParaRPr b="0" i="0" sz="1400" u="none" cap="none" strike="noStrike">
              <a:solidFill>
                <a:srgbClr val="000000"/>
              </a:solidFill>
              <a:latin typeface="Arial"/>
              <a:ea typeface="Arial"/>
              <a:cs typeface="Arial"/>
              <a:sym typeface="Arial"/>
            </a:endParaRPr>
          </a:p>
          <a:p>
            <a:pPr indent="0" lvl="1" marL="0" marR="0" rtl="0" algn="l">
              <a:lnSpc>
                <a:spcPct val="150000"/>
              </a:lnSpc>
              <a:spcBef>
                <a:spcPts val="0"/>
              </a:spcBef>
              <a:spcAft>
                <a:spcPts val="0"/>
              </a:spcAft>
              <a:buClr>
                <a:schemeClr val="dk1"/>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a:p>
            <a:pPr indent="0" lvl="1" marL="0" marR="0" rtl="0" algn="l">
              <a:lnSpc>
                <a:spcPct val="150000"/>
              </a:lnSpc>
              <a:spcBef>
                <a:spcPts val="0"/>
              </a:spcBef>
              <a:spcAft>
                <a:spcPts val="0"/>
              </a:spcAft>
              <a:buClr>
                <a:srgbClr val="000000"/>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p:txBody>
      </p:sp>
      <p:pic>
        <p:nvPicPr>
          <p:cNvPr id="147" name="Google Shape;147;p17"/>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48" name="Google Shape;148;p17"/>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49" name="Google Shape;149;p17"/>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50" name="Google Shape;150;p17"/>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51" name="Google Shape;151;p17"/>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graphicFrame>
        <p:nvGraphicFramePr>
          <p:cNvPr id="152" name="Google Shape;152;p17"/>
          <p:cNvGraphicFramePr/>
          <p:nvPr/>
        </p:nvGraphicFramePr>
        <p:xfrm>
          <a:off x="132863" y="532309"/>
          <a:ext cx="3000000" cy="3000000"/>
        </p:xfrm>
        <a:graphic>
          <a:graphicData uri="http://schemas.openxmlformats.org/drawingml/2006/table">
            <a:tbl>
              <a:tblPr bandRow="1" firstRow="1">
                <a:noFill/>
                <a:tableStyleId>{8D8EE20A-88A6-4723-80EF-92F8BEF2DCB8}</a:tableStyleId>
              </a:tblPr>
              <a:tblGrid>
                <a:gridCol w="1357900"/>
                <a:gridCol w="615400"/>
                <a:gridCol w="1893550"/>
                <a:gridCol w="1501150"/>
                <a:gridCol w="1431900"/>
                <a:gridCol w="1333825"/>
              </a:tblGrid>
              <a:tr h="905925">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Author(s)</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Year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Title of the Paper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Algorithm/</a:t>
                      </a:r>
                      <a:endParaRPr sz="1400" u="none" cap="none" strike="noStrike"/>
                    </a:p>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Technology used</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Result</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Drawbacks/Issues</a:t>
                      </a:r>
                      <a:endParaRPr sz="1400" u="none" cap="none" strike="noStrike"/>
                    </a:p>
                  </a:txBody>
                  <a:tcPr marT="45725" marB="45725" marR="91450" marL="91450"/>
                </a:tc>
              </a:tr>
              <a:tr h="15027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Y. Fang, Y. Ma, S. Gao &amp; J. Chen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Recent Advances in Wood Surface Defect Inspection using Deep Learning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Recent Advances in Wood Surface Defect Inspection using Deep Learning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Comprehensive review; supports automated wood-defect inspection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200"/>
                        <a:buFont typeface="Calibri"/>
                        <a:buNone/>
                      </a:pPr>
                      <a:r>
                        <a:rPr lang="en-US" sz="1200">
                          <a:latin typeface="Times New Roman"/>
                          <a:ea typeface="Times New Roman"/>
                          <a:cs typeface="Times New Roman"/>
                          <a:sym typeface="Times New Roman"/>
                        </a:rPr>
                        <a:t>Small datasets, poor generalisation &amp; real-time deployment challenges </a:t>
                      </a:r>
                      <a:endParaRPr sz="1200" u="none" cap="none" strike="noStrike">
                        <a:latin typeface="Times New Roman"/>
                        <a:ea typeface="Times New Roman"/>
                        <a:cs typeface="Times New Roman"/>
                        <a:sym typeface="Times New Roman"/>
                      </a:endParaRPr>
                    </a:p>
                  </a:txBody>
                  <a:tcPr marT="45725" marB="45725" marR="91450" marL="91450" anchor="ctr"/>
                </a:tc>
              </a:tr>
              <a:tr h="11777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Zheng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IEL-YOLO: A Low-Light Robust Wood Defect Detection Method Based on YOLOv11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Image Enhancement + YOLOv11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Improves defect visibility in low-light conditions; handles complex wood textures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Generalisation challenges; no multimodal integration </a:t>
                      </a:r>
                      <a:endParaRPr sz="1200" u="none" cap="none" strike="noStrike">
                        <a:latin typeface="Times New Roman"/>
                        <a:ea typeface="Times New Roman"/>
                        <a:cs typeface="Times New Roman"/>
                        <a:sym typeface="Times New Roman"/>
                      </a:endParaRPr>
                    </a:p>
                  </a:txBody>
                  <a:tcPr marT="45725" marB="45725" marR="91450" marL="91450" anchor="ctr"/>
                </a:tc>
              </a:tr>
              <a:tr h="13259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Qu, Y. Pang &amp; Z. Wang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WD-SEG: A Deep Learning Framework for Delicate and Accurate Wood Defect Segmentation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AFN + TFN + ICO + Deep Learning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Accurate defect segmentation; handles low contrast and reduces background interference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200"/>
                        <a:buFont typeface="Calibri"/>
                        <a:buNone/>
                      </a:pPr>
                      <a:r>
                        <a:rPr lang="en-US" sz="1200">
                          <a:latin typeface="Times New Roman"/>
                          <a:ea typeface="Times New Roman"/>
                          <a:cs typeface="Times New Roman"/>
                          <a:sym typeface="Times New Roman"/>
                        </a:rPr>
                        <a:t>Noise sensitivity, feature ambiguity &amp; real-time deployment challenges </a:t>
                      </a:r>
                      <a:endParaRPr sz="1200" u="none" cap="none" strike="noStrike">
                        <a:latin typeface="Times New Roman"/>
                        <a:ea typeface="Times New Roman"/>
                        <a:cs typeface="Times New Roman"/>
                        <a:sym typeface="Times New Roman"/>
                      </a:endParaRPr>
                    </a:p>
                  </a:txBody>
                  <a:tcPr marT="45725" marB="45725" marR="91450" marL="91450" anchor="ctr"/>
                </a:tc>
              </a:tr>
              <a:tr h="13259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Wang &amp; S. Tang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 Novel IWPT-VMD Denoising Method for Enhancing Air-Coupled Ultrasonic Detection of Wood Defects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IWPT + VMD + Ultrasonic Signal Processing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Reduces noise and improves signal quality and defect detection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Requires ultrasonic signals; limited AI integration and no multimodal fusion </a:t>
                      </a:r>
                      <a:endParaRPr sz="1200" u="none" cap="none" strike="noStrike">
                        <a:latin typeface="Times New Roman"/>
                        <a:ea typeface="Times New Roman"/>
                        <a:cs typeface="Times New Roman"/>
                        <a:sym typeface="Times New Roman"/>
                      </a:endParaRPr>
                    </a:p>
                  </a:txBody>
                  <a:tcPr marT="45725" marB="45725" marR="91450" marL="91450" anchor="ct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18"/>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158" name="Google Shape;158;p18"/>
          <p:cNvSpPr txBox="1"/>
          <p:nvPr/>
        </p:nvSpPr>
        <p:spPr>
          <a:xfrm>
            <a:off x="132875" y="-18871"/>
            <a:ext cx="7717500" cy="1508400"/>
          </a:xfrm>
          <a:prstGeom prst="rect">
            <a:avLst/>
          </a:prstGeom>
          <a:noFill/>
          <a:ln>
            <a:noFill/>
          </a:ln>
        </p:spPr>
        <p:txBody>
          <a:bodyPr anchorCtr="0" anchor="t" bIns="45700" lIns="91425" spcFirstLastPara="1" rIns="91425" wrap="square" tIns="45700">
            <a:spAutoFit/>
          </a:bodyPr>
          <a:lstStyle/>
          <a:p>
            <a:pPr indent="-457200" lvl="1" marL="457200" marR="0" rtl="0" algn="l">
              <a:lnSpc>
                <a:spcPct val="15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LITERATURE SURVEY</a:t>
            </a:r>
            <a:endParaRPr b="0" i="0" sz="1400" u="none" cap="none" strike="noStrike">
              <a:solidFill>
                <a:srgbClr val="000000"/>
              </a:solidFill>
              <a:latin typeface="Arial"/>
              <a:ea typeface="Arial"/>
              <a:cs typeface="Arial"/>
              <a:sym typeface="Arial"/>
            </a:endParaRPr>
          </a:p>
          <a:p>
            <a:pPr indent="0" lvl="1" marL="0" marR="0" rtl="0" algn="l">
              <a:lnSpc>
                <a:spcPct val="150000"/>
              </a:lnSpc>
              <a:spcBef>
                <a:spcPts val="0"/>
              </a:spcBef>
              <a:spcAft>
                <a:spcPts val="0"/>
              </a:spcAft>
              <a:buClr>
                <a:schemeClr val="dk1"/>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a:p>
            <a:pPr indent="0" lvl="1" marL="0" marR="0" rtl="0" algn="l">
              <a:lnSpc>
                <a:spcPct val="150000"/>
              </a:lnSpc>
              <a:spcBef>
                <a:spcPts val="0"/>
              </a:spcBef>
              <a:spcAft>
                <a:spcPts val="0"/>
              </a:spcAft>
              <a:buClr>
                <a:srgbClr val="000000"/>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p:txBody>
      </p:sp>
      <p:pic>
        <p:nvPicPr>
          <p:cNvPr id="159" name="Google Shape;159;p18"/>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60" name="Google Shape;160;p18"/>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61" name="Google Shape;161;p18"/>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62" name="Google Shape;162;p18"/>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63" name="Google Shape;163;p18"/>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graphicFrame>
        <p:nvGraphicFramePr>
          <p:cNvPr id="164" name="Google Shape;164;p18"/>
          <p:cNvGraphicFramePr/>
          <p:nvPr/>
        </p:nvGraphicFramePr>
        <p:xfrm>
          <a:off x="132863" y="532309"/>
          <a:ext cx="3000000" cy="3000000"/>
        </p:xfrm>
        <a:graphic>
          <a:graphicData uri="http://schemas.openxmlformats.org/drawingml/2006/table">
            <a:tbl>
              <a:tblPr bandRow="1" firstRow="1">
                <a:noFill/>
                <a:tableStyleId>{8D8EE20A-88A6-4723-80EF-92F8BEF2DCB8}</a:tableStyleId>
              </a:tblPr>
              <a:tblGrid>
                <a:gridCol w="1357900"/>
                <a:gridCol w="615400"/>
                <a:gridCol w="1893550"/>
                <a:gridCol w="1384525"/>
                <a:gridCol w="1412450"/>
                <a:gridCol w="1469900"/>
              </a:tblGrid>
              <a:tr h="905925">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Author(s)</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Year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Title of the Paper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Algorithm/</a:t>
                      </a:r>
                      <a:endParaRPr sz="1400" u="none" cap="none" strike="noStrike"/>
                    </a:p>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Technology used</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Result</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Drawbacks/</a:t>
                      </a:r>
                      <a:endParaRPr sz="1800" u="none" cap="none" strike="noStrike">
                        <a:latin typeface="Calibri"/>
                        <a:ea typeface="Calibri"/>
                        <a:cs typeface="Calibri"/>
                        <a:sym typeface="Calibri"/>
                      </a:endParaRPr>
                    </a:p>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Issues</a:t>
                      </a:r>
                      <a:endParaRPr sz="1400" u="none" cap="none" strike="noStrike"/>
                    </a:p>
                  </a:txBody>
                  <a:tcPr marT="45725" marB="45725" marR="91450" marL="91450"/>
                </a:tc>
              </a:tr>
              <a:tr h="109587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C. S. Erasmus, D. Drew &amp; M. J. Booysen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A Low-Cost Wireless Dendrometer and Digital Twin for Precision Forestry Applications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IoT + LoRaWAN + Digital Twin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Low-cost, scalable system enabling continuous monitoring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No wood-quality assessment; no harvest optimisation; limited data fusion </a:t>
                      </a:r>
                      <a:endParaRPr sz="1200">
                        <a:latin typeface="Times New Roman"/>
                        <a:ea typeface="Times New Roman"/>
                        <a:cs typeface="Times New Roman"/>
                        <a:sym typeface="Times New Roman"/>
                      </a:endParaRPr>
                    </a:p>
                  </a:txBody>
                  <a:tcPr marT="45725" marB="45725" marR="91450" marL="91450" anchor="ctr"/>
                </a:tc>
              </a:tr>
              <a:tr h="1311100">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N. Perry et al. </a:t>
                      </a:r>
                      <a:endParaRPr sz="1200">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200"/>
                        <a:buFont typeface="Arial"/>
                        <a:buNone/>
                      </a:pPr>
                      <a:r>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Towards Precision Forestry: A Systematic Review of Optimisation Methods for Individual-Tree Decisions in Forest Management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Heuristics, Mathematical Programming &amp; Machine Learning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Supports optimal forest-management decisions across different objectives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Limited real-world implementation; disturbance risks not fully integrated; limited multi-scale planning </a:t>
                      </a:r>
                      <a:endParaRPr sz="1200">
                        <a:latin typeface="Times New Roman"/>
                        <a:ea typeface="Times New Roman"/>
                        <a:cs typeface="Times New Roman"/>
                        <a:sym typeface="Times New Roman"/>
                      </a:endParaRPr>
                    </a:p>
                  </a:txBody>
                  <a:tcPr marT="45725" marB="45725" marR="91450" marL="91450" anchor="ctr"/>
                </a:tc>
              </a:tr>
              <a:tr h="1306500">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E. Z. Başkent, A. Bončina &amp; J. G. Borges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A Review and Conceptual Framework for a New Era of Forest Management Planning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Digital Twin, Monitoring, Simulation &amp; Forecasting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Supports adaptive forest planning and integrates monitoring with forecasting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Limited ML implementation; no harvesting optimisation; no timber-quality assessment </a:t>
                      </a:r>
                      <a:endParaRPr sz="1200">
                        <a:latin typeface="Times New Roman"/>
                        <a:ea typeface="Times New Roman"/>
                        <a:cs typeface="Times New Roman"/>
                        <a:sym typeface="Times New Roman"/>
                      </a:endParaRPr>
                    </a:p>
                  </a:txBody>
                  <a:tcPr marT="45725" marB="45725" marR="91450" marL="91450" anchor="ctr"/>
                </a:tc>
              </a:tr>
              <a:tr h="1325925">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J. Tan, H. Zhang, J. Yang, Y. Liu, D. Zheng &amp; X. Liu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2025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ForestryBERT: Continual Learning Adapted to Forestry Text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BERT + NLP + Continual Learning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Provides domain-specific forestry knowledge management and adapts to continuously growing forestry text data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Catastrophic forgetting; limited application to wood-quality assessment; no defect-detection component </a:t>
                      </a:r>
                      <a:endParaRPr sz="1200">
                        <a:latin typeface="Times New Roman"/>
                        <a:ea typeface="Times New Roman"/>
                        <a:cs typeface="Times New Roman"/>
                        <a:sym typeface="Times New Roman"/>
                      </a:endParaRPr>
                    </a:p>
                  </a:txBody>
                  <a:tcPr marT="45725" marB="45725" marR="91450" marL="91450" anchor="ct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9"/>
          <p:cNvSpPr/>
          <p:nvPr/>
        </p:nvSpPr>
        <p:spPr>
          <a:xfrm>
            <a:off x="662852" y="266533"/>
            <a:ext cx="7680960" cy="738664"/>
          </a:xfrm>
          <a:prstGeom prst="rect">
            <a:avLst/>
          </a:prstGeom>
          <a:noFill/>
          <a:ln>
            <a:noFill/>
          </a:ln>
        </p:spPr>
        <p:txBody>
          <a:bodyPr anchorCtr="0" anchor="t" bIns="45700" lIns="91425" spcFirstLastPara="1" rIns="91425" wrap="square" tIns="45700">
            <a:noAutofit/>
          </a:bodyPr>
          <a:lstStyle/>
          <a:p>
            <a:pPr indent="-457200" lvl="1" marL="457200" marR="0" rtl="0" algn="l">
              <a:lnSpc>
                <a:spcPct val="15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PROBLEM STATEMENT</a:t>
            </a:r>
            <a:endParaRPr b="0" i="0" sz="1400" u="none" cap="none" strike="noStrike">
              <a:solidFill>
                <a:srgbClr val="000000"/>
              </a:solidFill>
              <a:latin typeface="Arial"/>
              <a:ea typeface="Arial"/>
              <a:cs typeface="Arial"/>
              <a:sym typeface="Arial"/>
            </a:endParaRPr>
          </a:p>
        </p:txBody>
      </p:sp>
      <p:sp>
        <p:nvSpPr>
          <p:cNvPr id="170" name="Google Shape;170;p19"/>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71" name="Google Shape;171;p19"/>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72" name="Google Shape;172;p19"/>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73" name="Google Shape;173;p19"/>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74" name="Google Shape;174;p19"/>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75" name="Google Shape;175;p19"/>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76" name="Google Shape;176;p19"/>
          <p:cNvSpPr txBox="1"/>
          <p:nvPr/>
        </p:nvSpPr>
        <p:spPr>
          <a:xfrm>
            <a:off x="526802" y="1312978"/>
            <a:ext cx="7543800" cy="2924400"/>
          </a:xfrm>
          <a:prstGeom prst="rect">
            <a:avLst/>
          </a:prstGeom>
          <a:noFill/>
          <a:ln>
            <a:noFill/>
          </a:ln>
        </p:spPr>
        <p:txBody>
          <a:bodyPr anchorCtr="0" anchor="t" bIns="45700" lIns="91425" spcFirstLastPara="1" rIns="91425" wrap="square" tIns="45700">
            <a:spAutoFit/>
          </a:bodyPr>
          <a:lstStyle/>
          <a:p>
            <a:pPr marL="0" indent="0" lvl="0" algn="just">
              <a:lnSpc>
                <a:spcPct val="140000"/>
              </a:lnSpc>
              <a:spcBef>
                <a:spcPts val="600"/>
              </a:spcBef>
              <a:spcAft>
                <a:spcPts val="0"/>
              </a:spcAft>
              <a:buNone/>
            </a:pPr>
            <a:r>
              <a:rPr lang="en-US" sz="1600">
                <a:latin typeface="Times New Roman"/>
                <a:ea typeface="Times New Roman"/>
                <a:cs typeface="Times New Roman"/>
                <a:sym typeface="Times New Roman"/>
              </a:rPr>
              <a:t>Manual wood quality inspection is time-consuming and subjective, and existing AI approaches mostly stop at detecting defects without a leakage-free evaluation or a path to usable-area estimation.</a:t>
            </a:r>
            <a:endParaRPr lang="en-US" sz="1600">
              <a:latin typeface="Times New Roman"/>
              <a:ea typeface="Times New Roman"/>
              <a:cs typeface="Times New Roman"/>
              <a:sym typeface="Times New Roman"/>
            </a:endParaRPr>
          </a:p>
          <a:p>
            <a:pPr marL="0" indent="0" lvl="0" algn="just">
              <a:lnSpc>
                <a:spcPct val="140000"/>
              </a:lnSpc>
              <a:spcBef>
                <a:spcPts val="1400"/>
              </a:spcBef>
              <a:spcAft>
                <a:spcPts val="0"/>
              </a:spcAft>
              <a:buNone/>
            </a:pPr>
            <a:r>
              <a:rPr lang="en-US" sz="1600">
                <a:latin typeface="Times New Roman"/>
                <a:ea typeface="Times New Roman"/>
                <a:cs typeface="Times New Roman"/>
                <a:sym typeface="Times New Roman"/>
              </a:rPr>
              <a:t>The project aims to develop an AI-based computer-vision system that detects, classifies and localises visible surface defects on timber boards, evaluates the detector on boards it has never seen, and uses the detections to estimate the recoverable portion of each board.</a:t>
            </a:r>
            <a:endParaRPr lang="en-US" sz="1600">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0"/>
          <p:cNvSpPr/>
          <p:nvPr/>
        </p:nvSpPr>
        <p:spPr>
          <a:xfrm>
            <a:off x="283778" y="326538"/>
            <a:ext cx="8625745" cy="1046440"/>
          </a:xfrm>
          <a:prstGeom prst="rect">
            <a:avLst/>
          </a:prstGeom>
          <a:noFill/>
          <a:ln>
            <a:noFill/>
          </a:ln>
        </p:spPr>
        <p:txBody>
          <a:bodyPr anchorCtr="0" anchor="ctr" bIns="45700" lIns="91425" spcFirstLastPara="1" rIns="91425" wrap="square" tIns="45700">
            <a:noAutofit/>
          </a:bodyPr>
          <a:lstStyle/>
          <a:p>
            <a:pPr indent="-457200" lvl="1" marL="457200" marR="0" rtl="0" algn="l">
              <a:lnSpc>
                <a:spcPct val="150000"/>
              </a:lnSpc>
              <a:spcBef>
                <a:spcPts val="0"/>
              </a:spcBef>
              <a:spcAft>
                <a:spcPts val="0"/>
              </a:spcAft>
              <a:buClr>
                <a:srgbClr val="000000"/>
              </a:buClr>
              <a:buSzPts val="2200"/>
              <a:buFont typeface="Arial"/>
              <a:buNone/>
            </a:pPr>
            <a:r>
              <a:rPr b="1" i="0" lang="en-US" sz="2200" u="none" cap="none" strike="noStrike">
                <a:solidFill>
                  <a:srgbClr val="41534B"/>
                </a:solidFill>
                <a:latin typeface="Times New Roman"/>
                <a:ea typeface="Times New Roman"/>
                <a:cs typeface="Times New Roman"/>
                <a:sym typeface="Times New Roman"/>
              </a:rPr>
              <a:t>   OBJECTIVES AND STATUS AT 50%</a:t>
            </a:r>
            <a:endParaRPr b="0" i="0" sz="1400" u="none" cap="none" strike="noStrike">
              <a:solidFill>
                <a:srgbClr val="000000"/>
              </a:solidFill>
              <a:latin typeface="Arial"/>
              <a:ea typeface="Arial"/>
              <a:cs typeface="Arial"/>
              <a:sym typeface="Arial"/>
            </a:endParaRPr>
          </a:p>
        </p:txBody>
      </p:sp>
      <p:sp>
        <p:nvSpPr>
          <p:cNvPr id="182" name="Google Shape;182;p20"/>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83" name="Google Shape;183;p20"/>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84" name="Google Shape;184;p20"/>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85" name="Google Shape;185;p20"/>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86" name="Google Shape;186;p20"/>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87" name="Google Shape;187;p20"/>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88" name="Google Shape;188;p20"/>
          <p:cNvSpPr txBox="1"/>
          <p:nvPr/>
        </p:nvSpPr>
        <p:spPr>
          <a:xfrm>
            <a:off x="190245" y="1234440"/>
            <a:ext cx="7887000" cy="5120640"/>
          </a:xfrm>
          <a:prstGeom prst="rect">
            <a:avLst/>
          </a:prstGeom>
          <a:noFill/>
          <a:ln>
            <a:noFill/>
          </a:ln>
        </p:spPr>
        <p:txBody>
          <a:bodyPr anchorCtr="0" anchor="t" bIns="45700" lIns="91425" spcFirstLastPara="1" rIns="91425" wrap="square" tIns="45700">
            <a:spAutoFit/>
          </a:bodyPr>
          <a:lstStyle/>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1 (done, enhancement pending): </a:t>
            </a:r>
            <a:r>
              <a:rPr lang="en-US" sz="1500">
                <a:latin typeface="Times New Roman"/>
                <a:ea typeface="Times New Roman"/>
                <a:cs typeface="Times New Roman"/>
                <a:sym typeface="Times New Roman"/>
              </a:rPr>
              <a:t>a well-annotated dataset: 4,000 line-scan board images, 8 classes, 9,053 boxes after cleaning, split by physical board with zero overlap.</a:t>
            </a:r>
            <a:endParaRPr lang="en-US" sz="1500">
              <a:latin typeface="Times New Roman"/>
              <a:ea typeface="Times New Roman"/>
              <a:cs typeface="Times New Roman"/>
              <a:sym typeface="Times New Roman"/>
            </a:endParaRPr>
          </a:p>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2 (done): </a:t>
            </a:r>
            <a:r>
              <a:rPr lang="en-US" sz="1500">
                <a:latin typeface="Times New Roman"/>
                <a:ea typeface="Times New Roman"/>
                <a:cs typeface="Times New Roman"/>
                <a:sym typeface="Times New Roman"/>
              </a:rPr>
              <a:t>a deep-learning framework for detecting and localising defects: reproducible preparation, training and evaluation scripts; YOLO11m and YOLO11s trained and evaluated on held-out boards.</a:t>
            </a:r>
            <a:endParaRPr lang="en-US" sz="1500">
              <a:latin typeface="Times New Roman"/>
              <a:ea typeface="Times New Roman"/>
              <a:cs typeface="Times New Roman"/>
              <a:sym typeface="Times New Roman"/>
            </a:endParaRPr>
          </a:p>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3 (started): </a:t>
            </a:r>
            <a:r>
              <a:rPr lang="en-US" sz="1500">
                <a:latin typeface="Times New Roman"/>
                <a:ea typeface="Times New Roman"/>
                <a:cs typeface="Times New Roman"/>
                <a:sym typeface="Times New Roman"/>
              </a:rPr>
              <a:t>recoverable-area estimation: per-defect area and per-board defect coverage are computed in the application; the grading rule is second-half work.</a:t>
            </a:r>
            <a:endParaRPr lang="en-US" sz="1500">
              <a:latin typeface="Times New Roman"/>
              <a:ea typeface="Times New Roman"/>
              <a:cs typeface="Times New Roman"/>
              <a:sym typeface="Times New Roman"/>
            </a:endParaRPr>
          </a:p>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4 (done for two models): </a:t>
            </a:r>
            <a:r>
              <a:rPr lang="en-US" sz="1500">
                <a:latin typeface="Times New Roman"/>
                <a:ea typeface="Times New Roman"/>
                <a:cs typeface="Times New Roman"/>
                <a:sym typeface="Times New Roman"/>
              </a:rPr>
              <a:t>comparison with precision, recall, F1, mAP50, mAP50-95 and inference time at identical data and settings.</a:t>
            </a:r>
            <a:endParaRPr lang="en-US" sz="1500">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1"/>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 METHODOLOGY</a:t>
            </a:r>
            <a:endParaRPr b="0" i="0" sz="1400" u="none" cap="none" strike="noStrike">
              <a:solidFill>
                <a:srgbClr val="000000"/>
              </a:solidFill>
              <a:latin typeface="Arial"/>
              <a:ea typeface="Arial"/>
              <a:cs typeface="Arial"/>
              <a:sym typeface="Arial"/>
            </a:endParaRPr>
          </a:p>
        </p:txBody>
      </p:sp>
      <p:sp>
        <p:nvSpPr>
          <p:cNvPr id="194" name="Google Shape;194;p2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95" name="Google Shape;195;p21"/>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96" name="Google Shape;196;p21"/>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97" name="Google Shape;197;p21"/>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98" name="Google Shape;198;p21"/>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99" name="Google Shape;199;p21"/>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00" name="Google Shape;200;p21"/>
          <p:cNvSpPr txBox="1"/>
          <p:nvPr/>
        </p:nvSpPr>
        <p:spPr>
          <a:xfrm>
            <a:off x="914400" y="5973314"/>
            <a:ext cx="7315200"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Fig. Methodology with completion status at the 50% review</a:t>
            </a:r>
            <a:endParaRPr b="0" i="0" sz="1400" u="none" cap="none" strike="noStrike">
              <a:solidFill>
                <a:srgbClr val="000000"/>
              </a:solidFill>
              <a:latin typeface="Arial"/>
              <a:ea typeface="Arial"/>
              <a:cs typeface="Arial"/>
              <a:sym typeface="Arial"/>
            </a:endParaRPr>
          </a:p>
        </p:txBody>
      </p:sp>
      <p:pic>
        <p:nvPicPr>
          <p:cNvPr id="201" name="Picture 200" descr="methodology_50.png"/>
          <p:cNvPicPr>
            <a:picLocks noChangeAspect="1"/>
          </p:cNvPicPr>
          <p:nvPr/>
        </p:nvPicPr>
        <p:blipFill>
          <a:blip r:embed="rId8"/>
          <a:stretch>
            <a:fillRect/>
          </a:stretch>
        </p:blipFill>
        <p:spPr>
          <a:xfrm>
            <a:off x="1473500" y="841980"/>
            <a:ext cx="5496476" cy="494386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22"/>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207" name="Google Shape;207;p22"/>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 METHODOLOGY</a:t>
            </a:r>
            <a:endParaRPr b="0" i="0" sz="1400" u="none" cap="none" strike="noStrike">
              <a:solidFill>
                <a:srgbClr val="000000"/>
              </a:solidFill>
              <a:latin typeface="Arial"/>
              <a:ea typeface="Arial"/>
              <a:cs typeface="Arial"/>
              <a:sym typeface="Arial"/>
            </a:endParaRPr>
          </a:p>
        </p:txBody>
      </p:sp>
      <p:sp>
        <p:nvSpPr>
          <p:cNvPr id="208" name="Google Shape;208;p22"/>
          <p:cNvSpPr txBox="1"/>
          <p:nvPr/>
        </p:nvSpPr>
        <p:spPr>
          <a:xfrm>
            <a:off x="63572" y="735150"/>
            <a:ext cx="8199000" cy="6381600"/>
          </a:xfrm>
          <a:prstGeom prst="rect">
            <a:avLst/>
          </a:prstGeom>
          <a:noFill/>
          <a:ln>
            <a:noFill/>
          </a:ln>
        </p:spPr>
        <p:txBody>
          <a:bodyPr anchorCtr="0" anchor="t" bIns="45700" lIns="91425" spcFirstLastPara="1" rIns="91425" wrap="square" tIns="45700">
            <a:noAutofit/>
          </a:bodyPr>
          <a:lstStyle/>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Dataset preparation. </a:t>
            </a:r>
            <a:r>
              <a:rPr lang="en-US" sz="1400">
                <a:latin typeface="Times New Roman"/>
                <a:ea typeface="Times New Roman"/>
                <a:cs typeface="Times New Roman"/>
                <a:sym typeface="Times New Roman"/>
              </a:rPr>
              <a:t>Public industrial line-scan dataset; label cleaning; class mapping verified; group-stratified split by board id (52 / 17 / 12 boards).</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Input handling. </a:t>
            </a:r>
            <a:r>
              <a:rPr lang="en-US" sz="1400">
                <a:latin typeface="Times New Roman"/>
                <a:ea typeface="Times New Roman"/>
                <a:cs typeface="Times New Roman"/>
                <a:sym typeface="Times New Roman"/>
              </a:rPr>
              <a:t>Boards are 2800 x 1024 (2.73:1); training and inference at 1024 px with rectangular batches (1024 x 384 effective) keep thin defects resolvable.</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Detection. </a:t>
            </a:r>
            <a:r>
              <a:rPr lang="en-US" sz="1400">
                <a:latin typeface="Times New Roman"/>
                <a:ea typeface="Times New Roman"/>
                <a:cs typeface="Times New Roman"/>
                <a:sym typeface="Times New Roman"/>
              </a:rPr>
              <a:t>Ultralytics YOLO11 fine-tuned from COCO: YOLO11m as proposed model, YOLO11s trained with the identical recipe as baseline.</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Grain-aware augmentation. </a:t>
            </a:r>
            <a:r>
              <a:rPr lang="en-US" sz="1400">
                <a:latin typeface="Times New Roman"/>
                <a:ea typeface="Times New Roman"/>
                <a:cs typeface="Times New Roman"/>
                <a:sym typeface="Times New Roman"/>
              </a:rPr>
              <a:t>Horizontal flip, mild translation, scale and colour jitter; no rotation or vertical flip; no random erasing of small regions.</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Evaluation protocol. </a:t>
            </a:r>
            <a:r>
              <a:rPr lang="en-US" sz="1400">
                <a:latin typeface="Times New Roman"/>
                <a:ea typeface="Times New Roman"/>
                <a:cs typeface="Times New Roman"/>
                <a:sym typeface="Times New Roman"/>
              </a:rPr>
              <a:t>Model selection on validation boards only; test boards evaluated exactly once per model: P, R, F1, mAP50, mAP50-95, ms per image.</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Defect analysis and application. </a:t>
            </a:r>
            <a:r>
              <a:rPr lang="en-US" sz="1400">
                <a:latin typeface="Times New Roman"/>
                <a:ea typeface="Times New Roman"/>
                <a:cs typeface="Times New Roman"/>
                <a:sym typeface="Times New Roman"/>
              </a:rPr>
              <a:t>Per-defect class, box, size and confidence; per-class counts and area; defect coverage; heatmap; JSON report; web application.</a:t>
            </a:r>
            <a:endParaRPr lang="en-US" sz="1400">
              <a:latin typeface="Times New Roman"/>
              <a:ea typeface="Times New Roman"/>
              <a:cs typeface="Times New Roman"/>
              <a:sym typeface="Times New Roman"/>
            </a:endParaRPr>
          </a:p>
        </p:txBody>
      </p:sp>
      <p:sp>
        <p:nvSpPr>
          <p:cNvPr id="209" name="Google Shape;209;p22"/>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210" name="Google Shape;210;p22"/>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11" name="Google Shape;211;p22"/>
          <p:cNvPicPr preferRelativeResize="0"/>
          <p:nvPr/>
        </p:nvPicPr>
        <p:blipFill rotWithShape="1">
          <a:blip r:embed="rId4">
            <a:alphaModFix/>
          </a:blip>
          <a:srcRect b="0" l="0" r="0" t="0"/>
          <a:stretch/>
        </p:blipFill>
        <p:spPr>
          <a:xfrm>
            <a:off x="8450860" y="2542563"/>
            <a:ext cx="693139" cy="1233357"/>
          </a:xfrm>
          <a:prstGeom prst="rect">
            <a:avLst/>
          </a:prstGeom>
          <a:noFill/>
          <a:ln>
            <a:noFill/>
          </a:ln>
        </p:spPr>
      </p:pic>
      <p:pic>
        <p:nvPicPr>
          <p:cNvPr id="212" name="Google Shape;212;p22"/>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13" name="Google Shape;213;p22"/>
          <p:cNvPicPr preferRelativeResize="0"/>
          <p:nvPr/>
        </p:nvPicPr>
        <p:blipFill rotWithShape="1">
          <a:blip r:embed="rId6">
            <a:alphaModFix/>
          </a:blip>
          <a:srcRect b="0" l="0" r="0" t="0"/>
          <a:stretch/>
        </p:blipFill>
        <p:spPr>
          <a:xfrm>
            <a:off x="8450861" y="6157980"/>
            <a:ext cx="680353" cy="703613"/>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3"/>
          <p:cNvSpPr txBox="1"/>
          <p:nvPr/>
        </p:nvSpPr>
        <p:spPr>
          <a:xfrm>
            <a:off x="341431" y="11871"/>
            <a:ext cx="83151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 DATASET AND BOARD-LEVEL SPLIT</a:t>
            </a:r>
            <a:endParaRPr b="0" i="0" sz="1400" u="none" cap="none" strike="noStrike">
              <a:solidFill>
                <a:srgbClr val="000000"/>
              </a:solidFill>
              <a:latin typeface="Arial"/>
              <a:ea typeface="Arial"/>
              <a:cs typeface="Arial"/>
              <a:sym typeface="Arial"/>
            </a:endParaRPr>
          </a:p>
        </p:txBody>
      </p:sp>
      <p:sp>
        <p:nvSpPr>
          <p:cNvPr id="219" name="Google Shape;219;p23"/>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20" name="Google Shape;220;p23"/>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21" name="Google Shape;221;p23"/>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22" name="Google Shape;222;p23"/>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23" name="Google Shape;223;p23"/>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24" name="Google Shape;224;p23"/>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25" name="TextBox 224"/>
          <p:cNvSpPr txBox="1"/>
          <p:nvPr/>
        </p:nvSpPr>
        <p:spPr>
          <a:xfrm>
            <a:off x="228600" y="685800"/>
            <a:ext cx="8046720" cy="2103120"/>
          </a:xfrm>
          <a:prstGeom prst="rect">
            <a:avLst/>
          </a:prstGeom>
          <a:noFill/>
        </p:spPr>
        <p:txBody>
          <a:bodyPr wrap="square">
            <a:spAutoFit/>
          </a:bodyPr>
          <a:lstStyle/>
          <a:p>
            <a:pPr marL="457200" indent="-330200" lvl="0" algn="l">
              <a:lnSpc>
                <a:spcPct val="112000"/>
              </a:lnSpc>
              <a:spcBef>
                <a:spcPts val="500"/>
              </a:spcBef>
              <a:spcAft>
                <a:spcPts val="0"/>
              </a:spcAft>
              <a:buSzPts val="1300"/>
              <a:buFont typeface="Times New Roman"/>
              <a:buChar char="●"/>
            </a:pPr>
            <a:r>
              <a:rPr lang="en-US" sz="1300" b="1">
                <a:latin typeface="Times New Roman"/>
                <a:ea typeface="Times New Roman"/>
                <a:cs typeface="Times New Roman"/>
                <a:sym typeface="Times New Roman"/>
              </a:rPr>
              <a:t>Source: </a:t>
            </a:r>
            <a:r>
              <a:rPr lang="en-US" sz="1300">
                <a:latin typeface="Times New Roman"/>
                <a:ea typeface="Times New Roman"/>
                <a:cs typeface="Times New Roman"/>
                <a:sym typeface="Times New Roman"/>
              </a:rPr>
              <a:t>Kodytek, Bodzas and Bilik (2022), F1000Research 10:581; 4,000-image Kaggle subset, 2800 x 1024 line-scan strips, YOLO boxes, CC BY 4.0.</a:t>
            </a:r>
            <a:endParaRPr lang="en-US" sz="1300">
              <a:latin typeface="Times New Roman"/>
              <a:ea typeface="Times New Roman"/>
              <a:cs typeface="Times New Roman"/>
              <a:sym typeface="Times New Roman"/>
            </a:endParaRPr>
          </a:p>
          <a:p>
            <a:pPr marL="457200" indent="-330200" lvl="0" algn="l">
              <a:lnSpc>
                <a:spcPct val="112000"/>
              </a:lnSpc>
              <a:spcBef>
                <a:spcPts val="500"/>
              </a:spcBef>
              <a:spcAft>
                <a:spcPts val="0"/>
              </a:spcAft>
              <a:buSzPts val="1300"/>
              <a:buFont typeface="Times New Roman"/>
              <a:buChar char="●"/>
            </a:pPr>
            <a:r>
              <a:rPr lang="en-US" sz="1300" b="1">
                <a:latin typeface="Times New Roman"/>
                <a:ea typeface="Times New Roman"/>
                <a:cs typeface="Times New Roman"/>
                <a:sym typeface="Times New Roman"/>
              </a:rPr>
              <a:t>Content: </a:t>
            </a:r>
            <a:r>
              <a:rPr lang="en-US" sz="1300">
                <a:latin typeface="Times New Roman"/>
                <a:ea typeface="Times New Roman"/>
                <a:cs typeface="Times New Roman"/>
                <a:sym typeface="Times New Roman"/>
              </a:rPr>
              <a:t>9,053 boxes after removing 158 zero-size labels; 388 background images (9.7%); 81 physical boards; 8 classes: Quartzity, Live_Knot, Marrow, Resin, Dead_Knot, Knot_with_crack, Knot_missing, Crack.</a:t>
            </a:r>
            <a:endParaRPr lang="en-US" sz="1300">
              <a:latin typeface="Times New Roman"/>
              <a:ea typeface="Times New Roman"/>
              <a:cs typeface="Times New Roman"/>
              <a:sym typeface="Times New Roman"/>
            </a:endParaRPr>
          </a:p>
          <a:p>
            <a:pPr marL="457200" indent="-330200" lvl="0" algn="l">
              <a:lnSpc>
                <a:spcPct val="112000"/>
              </a:lnSpc>
              <a:spcBef>
                <a:spcPts val="500"/>
              </a:spcBef>
              <a:spcAft>
                <a:spcPts val="0"/>
              </a:spcAft>
              <a:buSzPts val="1300"/>
              <a:buFont typeface="Times New Roman"/>
              <a:buChar char="●"/>
            </a:pPr>
            <a:r>
              <a:rPr lang="en-US" sz="1300" b="1">
                <a:latin typeface="Times New Roman"/>
                <a:ea typeface="Times New Roman"/>
                <a:cs typeface="Times New Roman"/>
                <a:sym typeface="Times New Roman"/>
              </a:rPr>
              <a:t>Why split by board: </a:t>
            </a:r>
            <a:r>
              <a:rPr lang="en-US" sz="1300">
                <a:latin typeface="Times New Roman"/>
                <a:ea typeface="Times New Roman"/>
                <a:cs typeface="Times New Roman"/>
                <a:sym typeface="Times New Roman"/>
              </a:rPr>
              <a:t>consecutive images come from the same board and share grain and lighting; a per-image split would leak boards into the test set. Zero overlap is asserted by the preparation script.</a:t>
            </a:r>
            <a:endParaRPr lang="en-US" sz="1300">
              <a:latin typeface="Times New Roman"/>
              <a:ea typeface="Times New Roman"/>
              <a:cs typeface="Times New Roman"/>
              <a:sym typeface="Times New Roman"/>
            </a:endParaRPr>
          </a:p>
        </p:txBody>
      </p:sp>
      <p:graphicFrame>
        <p:nvGraphicFramePr>
          <p:cNvPr id="226" name="Table 225"/>
          <p:cNvGraphicFramePr>
            <a:graphicFrameLocks noGrp="1"/>
          </p:cNvGraphicFramePr>
          <p:nvPr/>
        </p:nvGraphicFramePr>
        <p:xfrm>
          <a:off x="228600" y="2880360"/>
          <a:ext cx="7818120" cy="1554480"/>
        </p:xfrm>
        <a:graphic>
          <a:graphicData uri="http://schemas.openxmlformats.org/drawingml/2006/table">
            <a:tbl>
              <a:tblPr firstRow="1" bandRow="1">
                <a:tableStyleId>{5C22544A-7EE6-4342-B048-85BDC9FD1C3A}</a:tableStyleId>
              </a:tblPr>
              <a:tblGrid>
                <a:gridCol w="502920"/>
                <a:gridCol w="548640"/>
                <a:gridCol w="594360"/>
                <a:gridCol w="594360"/>
                <a:gridCol w="685800"/>
                <a:gridCol w="731520"/>
                <a:gridCol w="594360"/>
                <a:gridCol w="548640"/>
                <a:gridCol w="731520"/>
                <a:gridCol w="868680"/>
                <a:gridCol w="868680"/>
                <a:gridCol w="548640"/>
              </a:tblGrid>
              <a:tr h="388620">
                <a:tc>
                  <a:txBody>
                    <a:bodyPr/>
                    <a:lstStyle/>
                    <a:p>
                      <a:pPr algn="l"/>
                      <a:r>
                        <a:rPr sz="900" b="1">
                          <a:solidFill>
                            <a:srgbClr val="FFFFFF"/>
                          </a:solidFill>
                          <a:latin typeface="Times New Roman"/>
                        </a:rPr>
                        <a:t>Split</a:t>
                      </a:r>
                    </a:p>
                  </a:txBody>
                  <a:tcPr marL="36576" marR="36576" marT="18288" marB="18288">
                    <a:solidFill>
                      <a:srgbClr val="41534B"/>
                    </a:solidFill>
                  </a:tcPr>
                </a:tc>
                <a:tc>
                  <a:txBody>
                    <a:bodyPr/>
                    <a:lstStyle/>
                    <a:p>
                      <a:pPr algn="ctr"/>
                      <a:r>
                        <a:rPr sz="900" b="1">
                          <a:solidFill>
                            <a:srgbClr val="FFFFFF"/>
                          </a:solidFill>
                          <a:latin typeface="Times New Roman"/>
                        </a:rPr>
                        <a:t>Boards</a:t>
                      </a:r>
                    </a:p>
                  </a:txBody>
                  <a:tcPr marL="36576" marR="36576" marT="18288" marB="18288">
                    <a:solidFill>
                      <a:srgbClr val="41534B"/>
                    </a:solidFill>
                  </a:tcPr>
                </a:tc>
                <a:tc>
                  <a:txBody>
                    <a:bodyPr/>
                    <a:lstStyle/>
                    <a:p>
                      <a:pPr algn="ctr"/>
                      <a:r>
                        <a:rPr sz="900" b="1">
                          <a:solidFill>
                            <a:srgbClr val="FFFFFF"/>
                          </a:solidFill>
                          <a:latin typeface="Times New Roman"/>
                        </a:rPr>
                        <a:t>Images</a:t>
                      </a:r>
                    </a:p>
                  </a:txBody>
                  <a:tcPr marL="36576" marR="36576" marT="18288" marB="18288">
                    <a:solidFill>
                      <a:srgbClr val="41534B"/>
                    </a:solidFill>
                  </a:tcPr>
                </a:tc>
                <a:tc>
                  <a:txBody>
                    <a:bodyPr/>
                    <a:lstStyle/>
                    <a:p>
                      <a:pPr algn="ctr"/>
                      <a:r>
                        <a:rPr sz="900" b="1">
                          <a:solidFill>
                            <a:srgbClr val="FFFFFF"/>
                          </a:solidFill>
                          <a:latin typeface="Times New Roman"/>
                        </a:rPr>
                        <a:t>Backgr.</a:t>
                      </a:r>
                    </a:p>
                  </a:txBody>
                  <a:tcPr marL="36576" marR="36576" marT="18288" marB="18288">
                    <a:solidFill>
                      <a:srgbClr val="41534B"/>
                    </a:solidFill>
                  </a:tcPr>
                </a:tc>
                <a:tc>
                  <a:txBody>
                    <a:bodyPr/>
                    <a:lstStyle/>
                    <a:p>
                      <a:pPr algn="ctr"/>
                      <a:r>
                        <a:rPr sz="900" b="1">
                          <a:solidFill>
                            <a:srgbClr val="FFFFFF"/>
                          </a:solidFill>
                          <a:latin typeface="Times New Roman"/>
                        </a:rPr>
                        <a:t>Quartzity</a:t>
                      </a:r>
                    </a:p>
                  </a:txBody>
                  <a:tcPr marL="36576" marR="36576" marT="18288" marB="18288">
                    <a:solidFill>
                      <a:srgbClr val="41534B"/>
                    </a:solidFill>
                  </a:tcPr>
                </a:tc>
                <a:tc>
                  <a:txBody>
                    <a:bodyPr/>
                    <a:lstStyle/>
                    <a:p>
                      <a:pPr algn="ctr"/>
                      <a:r>
                        <a:rPr sz="900" b="1">
                          <a:solidFill>
                            <a:srgbClr val="FFFFFF"/>
                          </a:solidFill>
                          <a:latin typeface="Times New Roman"/>
                        </a:rPr>
                        <a:t>Live_Knot</a:t>
                      </a:r>
                    </a:p>
                  </a:txBody>
                  <a:tcPr marL="36576" marR="36576" marT="18288" marB="18288">
                    <a:solidFill>
                      <a:srgbClr val="41534B"/>
                    </a:solidFill>
                  </a:tcPr>
                </a:tc>
                <a:tc>
                  <a:txBody>
                    <a:bodyPr/>
                    <a:lstStyle/>
                    <a:p>
                      <a:pPr algn="ctr"/>
                      <a:r>
                        <a:rPr sz="900" b="1">
                          <a:solidFill>
                            <a:srgbClr val="FFFFFF"/>
                          </a:solidFill>
                          <a:latin typeface="Times New Roman"/>
                        </a:rPr>
                        <a:t>Marrow</a:t>
                      </a:r>
                    </a:p>
                  </a:txBody>
                  <a:tcPr marL="36576" marR="36576" marT="18288" marB="18288">
                    <a:solidFill>
                      <a:srgbClr val="41534B"/>
                    </a:solidFill>
                  </a:tcPr>
                </a:tc>
                <a:tc>
                  <a:txBody>
                    <a:bodyPr/>
                    <a:lstStyle/>
                    <a:p>
                      <a:pPr algn="ctr"/>
                      <a:r>
                        <a:rPr sz="900" b="1">
                          <a:solidFill>
                            <a:srgbClr val="FFFFFF"/>
                          </a:solidFill>
                          <a:latin typeface="Times New Roman"/>
                        </a:rPr>
                        <a:t>Resin</a:t>
                      </a:r>
                    </a:p>
                  </a:txBody>
                  <a:tcPr marL="36576" marR="36576" marT="18288" marB="18288">
                    <a:solidFill>
                      <a:srgbClr val="41534B"/>
                    </a:solidFill>
                  </a:tcPr>
                </a:tc>
                <a:tc>
                  <a:txBody>
                    <a:bodyPr/>
                    <a:lstStyle/>
                    <a:p>
                      <a:pPr algn="ctr"/>
                      <a:r>
                        <a:rPr sz="900" b="1">
                          <a:solidFill>
                            <a:srgbClr val="FFFFFF"/>
                          </a:solidFill>
                          <a:latin typeface="Times New Roman"/>
                        </a:rPr>
                        <a:t>Dead_Knot</a:t>
                      </a:r>
                    </a:p>
                  </a:txBody>
                  <a:tcPr marL="36576" marR="36576" marT="18288" marB="18288">
                    <a:solidFill>
                      <a:srgbClr val="41534B"/>
                    </a:solidFill>
                  </a:tcPr>
                </a:tc>
                <a:tc>
                  <a:txBody>
                    <a:bodyPr/>
                    <a:lstStyle/>
                    <a:p>
                      <a:pPr algn="ctr"/>
                      <a:r>
                        <a:rPr sz="900" b="1">
                          <a:solidFill>
                            <a:srgbClr val="FFFFFF"/>
                          </a:solidFill>
                          <a:latin typeface="Times New Roman"/>
                        </a:rPr>
                        <a:t>Knot_w_crack</a:t>
                      </a:r>
                    </a:p>
                  </a:txBody>
                  <a:tcPr marL="36576" marR="36576" marT="18288" marB="18288">
                    <a:solidFill>
                      <a:srgbClr val="41534B"/>
                    </a:solidFill>
                  </a:tcPr>
                </a:tc>
                <a:tc>
                  <a:txBody>
                    <a:bodyPr/>
                    <a:lstStyle/>
                    <a:p>
                      <a:pPr algn="ctr"/>
                      <a:r>
                        <a:rPr sz="900" b="1">
                          <a:solidFill>
                            <a:srgbClr val="FFFFFF"/>
                          </a:solidFill>
                          <a:latin typeface="Times New Roman"/>
                        </a:rPr>
                        <a:t>Knot_missing</a:t>
                      </a:r>
                    </a:p>
                  </a:txBody>
                  <a:tcPr marL="36576" marR="36576" marT="18288" marB="18288">
                    <a:solidFill>
                      <a:srgbClr val="41534B"/>
                    </a:solidFill>
                  </a:tcPr>
                </a:tc>
                <a:tc>
                  <a:txBody>
                    <a:bodyPr/>
                    <a:lstStyle/>
                    <a:p>
                      <a:pPr algn="ctr"/>
                      <a:r>
                        <a:rPr sz="900" b="1">
                          <a:solidFill>
                            <a:srgbClr val="FFFFFF"/>
                          </a:solidFill>
                          <a:latin typeface="Times New Roman"/>
                        </a:rPr>
                        <a:t>Crack</a:t>
                      </a:r>
                    </a:p>
                  </a:txBody>
                  <a:tcPr marL="36576" marR="36576" marT="18288" marB="18288">
                    <a:solidFill>
                      <a:srgbClr val="41534B"/>
                    </a:solidFill>
                  </a:tcPr>
                </a:tc>
              </a:tr>
              <a:tr h="388620">
                <a:tc>
                  <a:txBody>
                    <a:bodyPr/>
                    <a:lstStyle/>
                    <a:p>
                      <a:pPr algn="l"/>
                      <a:r>
                        <a:rPr sz="900" b="0">
                          <a:latin typeface="Times New Roman"/>
                        </a:rPr>
                        <a:t>train</a:t>
                      </a:r>
                    </a:p>
                  </a:txBody>
                  <a:tcPr marL="36576" marR="36576" marT="18288" marB="18288">
                    <a:solidFill>
                      <a:srgbClr val="F7F3EC"/>
                    </a:solidFill>
                  </a:tcPr>
                </a:tc>
                <a:tc>
                  <a:txBody>
                    <a:bodyPr/>
                    <a:lstStyle/>
                    <a:p>
                      <a:pPr algn="ctr"/>
                      <a:r>
                        <a:rPr sz="900" b="0">
                          <a:latin typeface="Times New Roman"/>
                        </a:rPr>
                        <a:t>52</a:t>
                      </a:r>
                    </a:p>
                  </a:txBody>
                  <a:tcPr marL="36576" marR="36576" marT="18288" marB="18288">
                    <a:solidFill>
                      <a:srgbClr val="F7F3EC"/>
                    </a:solidFill>
                  </a:tcPr>
                </a:tc>
                <a:tc>
                  <a:txBody>
                    <a:bodyPr/>
                    <a:lstStyle/>
                    <a:p>
                      <a:pPr algn="ctr"/>
                      <a:r>
                        <a:rPr sz="900" b="0">
                          <a:latin typeface="Times New Roman"/>
                        </a:rPr>
                        <a:t>2817</a:t>
                      </a:r>
                    </a:p>
                  </a:txBody>
                  <a:tcPr marL="36576" marR="36576" marT="18288" marB="18288">
                    <a:solidFill>
                      <a:srgbClr val="F7F3EC"/>
                    </a:solidFill>
                  </a:tcPr>
                </a:tc>
                <a:tc>
                  <a:txBody>
                    <a:bodyPr/>
                    <a:lstStyle/>
                    <a:p>
                      <a:pPr algn="ctr"/>
                      <a:r>
                        <a:rPr sz="900" b="0">
                          <a:latin typeface="Times New Roman"/>
                        </a:rPr>
                        <a:t>272</a:t>
                      </a:r>
                    </a:p>
                  </a:txBody>
                  <a:tcPr marL="36576" marR="36576" marT="18288" marB="18288">
                    <a:solidFill>
                      <a:srgbClr val="F7F3EC"/>
                    </a:solidFill>
                  </a:tcPr>
                </a:tc>
                <a:tc>
                  <a:txBody>
                    <a:bodyPr/>
                    <a:lstStyle/>
                    <a:p>
                      <a:pPr algn="ctr"/>
                      <a:r>
                        <a:rPr sz="900" b="0">
                          <a:latin typeface="Times New Roman"/>
                        </a:rPr>
                        <a:t>125</a:t>
                      </a:r>
                    </a:p>
                  </a:txBody>
                  <a:tcPr marL="36576" marR="36576" marT="18288" marB="18288">
                    <a:solidFill>
                      <a:srgbClr val="F7F3EC"/>
                    </a:solidFill>
                  </a:tcPr>
                </a:tc>
                <a:tc>
                  <a:txBody>
                    <a:bodyPr/>
                    <a:lstStyle/>
                    <a:p>
                      <a:pPr algn="ctr"/>
                      <a:r>
                        <a:rPr sz="900" b="0">
                          <a:latin typeface="Times New Roman"/>
                        </a:rPr>
                        <a:t>2899</a:t>
                      </a:r>
                    </a:p>
                  </a:txBody>
                  <a:tcPr marL="36576" marR="36576" marT="18288" marB="18288">
                    <a:solidFill>
                      <a:srgbClr val="F7F3EC"/>
                    </a:solidFill>
                  </a:tcPr>
                </a:tc>
                <a:tc>
                  <a:txBody>
                    <a:bodyPr/>
                    <a:lstStyle/>
                    <a:p>
                      <a:pPr algn="ctr"/>
                      <a:r>
                        <a:rPr sz="900" b="0">
                          <a:latin typeface="Times New Roman"/>
                        </a:rPr>
                        <a:t>94</a:t>
                      </a:r>
                    </a:p>
                  </a:txBody>
                  <a:tcPr marL="36576" marR="36576" marT="18288" marB="18288">
                    <a:solidFill>
                      <a:srgbClr val="F7F3EC"/>
                    </a:solidFill>
                  </a:tcPr>
                </a:tc>
                <a:tc>
                  <a:txBody>
                    <a:bodyPr/>
                    <a:lstStyle/>
                    <a:p>
                      <a:pPr algn="ctr"/>
                      <a:r>
                        <a:rPr sz="900" b="0">
                          <a:latin typeface="Times New Roman"/>
                        </a:rPr>
                        <a:t>489</a:t>
                      </a:r>
                    </a:p>
                  </a:txBody>
                  <a:tcPr marL="36576" marR="36576" marT="18288" marB="18288">
                    <a:solidFill>
                      <a:srgbClr val="F7F3EC"/>
                    </a:solidFill>
                  </a:tcPr>
                </a:tc>
                <a:tc>
                  <a:txBody>
                    <a:bodyPr/>
                    <a:lstStyle/>
                    <a:p>
                      <a:pPr algn="ctr"/>
                      <a:r>
                        <a:rPr sz="900" b="0">
                          <a:latin typeface="Times New Roman"/>
                        </a:rPr>
                        <a:t>2071</a:t>
                      </a:r>
                    </a:p>
                  </a:txBody>
                  <a:tcPr marL="36576" marR="36576" marT="18288" marB="18288">
                    <a:solidFill>
                      <a:srgbClr val="F7F3EC"/>
                    </a:solidFill>
                  </a:tcPr>
                </a:tc>
                <a:tc>
                  <a:txBody>
                    <a:bodyPr/>
                    <a:lstStyle/>
                    <a:p>
                      <a:pPr algn="ctr"/>
                      <a:r>
                        <a:rPr sz="900" b="0">
                          <a:latin typeface="Times New Roman"/>
                        </a:rPr>
                        <a:t>377</a:t>
                      </a:r>
                    </a:p>
                  </a:txBody>
                  <a:tcPr marL="36576" marR="36576" marT="18288" marB="18288">
                    <a:solidFill>
                      <a:srgbClr val="F7F3EC"/>
                    </a:solidFill>
                  </a:tcPr>
                </a:tc>
                <a:tc>
                  <a:txBody>
                    <a:bodyPr/>
                    <a:lstStyle/>
                    <a:p>
                      <a:pPr algn="ctr"/>
                      <a:r>
                        <a:rPr sz="900" b="0">
                          <a:latin typeface="Times New Roman"/>
                        </a:rPr>
                        <a:t>78</a:t>
                      </a:r>
                    </a:p>
                  </a:txBody>
                  <a:tcPr marL="36576" marR="36576" marT="18288" marB="18288">
                    <a:solidFill>
                      <a:srgbClr val="F7F3EC"/>
                    </a:solidFill>
                  </a:tcPr>
                </a:tc>
                <a:tc>
                  <a:txBody>
                    <a:bodyPr/>
                    <a:lstStyle/>
                    <a:p>
                      <a:pPr algn="ctr"/>
                      <a:r>
                        <a:rPr sz="900" b="0">
                          <a:latin typeface="Times New Roman"/>
                        </a:rPr>
                        <a:t>306</a:t>
                      </a:r>
                    </a:p>
                  </a:txBody>
                  <a:tcPr marL="36576" marR="36576" marT="18288" marB="18288">
                    <a:solidFill>
                      <a:srgbClr val="F7F3EC"/>
                    </a:solidFill>
                  </a:tcPr>
                </a:tc>
              </a:tr>
              <a:tr h="388620">
                <a:tc>
                  <a:txBody>
                    <a:bodyPr/>
                    <a:lstStyle/>
                    <a:p>
                      <a:pPr algn="l"/>
                      <a:r>
                        <a:rPr sz="900" b="0">
                          <a:latin typeface="Times New Roman"/>
                        </a:rPr>
                        <a:t>val</a:t>
                      </a:r>
                    </a:p>
                  </a:txBody>
                  <a:tcPr marL="36576" marR="36576" marT="18288" marB="18288">
                    <a:solidFill>
                      <a:srgbClr val="FFFFFF"/>
                    </a:solidFill>
                  </a:tcPr>
                </a:tc>
                <a:tc>
                  <a:txBody>
                    <a:bodyPr/>
                    <a:lstStyle/>
                    <a:p>
                      <a:pPr algn="ctr"/>
                      <a:r>
                        <a:rPr sz="900" b="0">
                          <a:latin typeface="Times New Roman"/>
                        </a:rPr>
                        <a:t>17</a:t>
                      </a:r>
                    </a:p>
                  </a:txBody>
                  <a:tcPr marL="36576" marR="36576" marT="18288" marB="18288">
                    <a:solidFill>
                      <a:srgbClr val="FFFFFF"/>
                    </a:solidFill>
                  </a:tcPr>
                </a:tc>
                <a:tc>
                  <a:txBody>
                    <a:bodyPr/>
                    <a:lstStyle/>
                    <a:p>
                      <a:pPr algn="ctr"/>
                      <a:r>
                        <a:rPr sz="900" b="0">
                          <a:latin typeface="Times New Roman"/>
                        </a:rPr>
                        <a:t>714</a:t>
                      </a:r>
                    </a:p>
                  </a:txBody>
                  <a:tcPr marL="36576" marR="36576" marT="18288" marB="18288">
                    <a:solidFill>
                      <a:srgbClr val="FFFFFF"/>
                    </a:solidFill>
                  </a:tcPr>
                </a:tc>
                <a:tc>
                  <a:txBody>
                    <a:bodyPr/>
                    <a:lstStyle/>
                    <a:p>
                      <a:pPr algn="ctr"/>
                      <a:r>
                        <a:rPr sz="900" b="0">
                          <a:latin typeface="Times New Roman"/>
                        </a:rPr>
                        <a:t>71</a:t>
                      </a:r>
                    </a:p>
                  </a:txBody>
                  <a:tcPr marL="36576" marR="36576" marT="18288" marB="18288">
                    <a:solidFill>
                      <a:srgbClr val="FFFFFF"/>
                    </a:solidFill>
                  </a:tcPr>
                </a:tc>
                <a:tc>
                  <a:txBody>
                    <a:bodyPr/>
                    <a:lstStyle/>
                    <a:p>
                      <a:pPr algn="ctr"/>
                      <a:r>
                        <a:rPr sz="900" b="0">
                          <a:latin typeface="Times New Roman"/>
                        </a:rPr>
                        <a:t>20</a:t>
                      </a:r>
                    </a:p>
                  </a:txBody>
                  <a:tcPr marL="36576" marR="36576" marT="18288" marB="18288">
                    <a:solidFill>
                      <a:srgbClr val="FFFFFF"/>
                    </a:solidFill>
                  </a:tcPr>
                </a:tc>
                <a:tc>
                  <a:txBody>
                    <a:bodyPr/>
                    <a:lstStyle/>
                    <a:p>
                      <a:pPr algn="ctr"/>
                      <a:r>
                        <a:rPr sz="900" b="0">
                          <a:latin typeface="Times New Roman"/>
                        </a:rPr>
                        <a:t>713</a:t>
                      </a:r>
                    </a:p>
                  </a:txBody>
                  <a:tcPr marL="36576" marR="36576" marT="18288" marB="18288">
                    <a:solidFill>
                      <a:srgbClr val="FFFFFF"/>
                    </a:solidFill>
                  </a:tcPr>
                </a:tc>
                <a:tc>
                  <a:txBody>
                    <a:bodyPr/>
                    <a:lstStyle/>
                    <a:p>
                      <a:pPr algn="ctr"/>
                      <a:r>
                        <a:rPr sz="900" b="0">
                          <a:latin typeface="Times New Roman"/>
                        </a:rPr>
                        <a:t>64</a:t>
                      </a:r>
                    </a:p>
                  </a:txBody>
                  <a:tcPr marL="36576" marR="36576" marT="18288" marB="18288">
                    <a:solidFill>
                      <a:srgbClr val="FFFFFF"/>
                    </a:solidFill>
                  </a:tcPr>
                </a:tc>
                <a:tc>
                  <a:txBody>
                    <a:bodyPr/>
                    <a:lstStyle/>
                    <a:p>
                      <a:pPr algn="ctr"/>
                      <a:r>
                        <a:rPr sz="900" b="0">
                          <a:latin typeface="Times New Roman"/>
                        </a:rPr>
                        <a:t>88</a:t>
                      </a:r>
                    </a:p>
                  </a:txBody>
                  <a:tcPr marL="36576" marR="36576" marT="18288" marB="18288">
                    <a:solidFill>
                      <a:srgbClr val="FFFFFF"/>
                    </a:solidFill>
                  </a:tcPr>
                </a:tc>
                <a:tc>
                  <a:txBody>
                    <a:bodyPr/>
                    <a:lstStyle/>
                    <a:p>
                      <a:pPr algn="ctr"/>
                      <a:r>
                        <a:rPr sz="900" b="0">
                          <a:latin typeface="Times New Roman"/>
                        </a:rPr>
                        <a:t>482</a:t>
                      </a:r>
                    </a:p>
                  </a:txBody>
                  <a:tcPr marL="36576" marR="36576" marT="18288" marB="18288">
                    <a:solidFill>
                      <a:srgbClr val="FFFFFF"/>
                    </a:solidFill>
                  </a:tcPr>
                </a:tc>
                <a:tc>
                  <a:txBody>
                    <a:bodyPr/>
                    <a:lstStyle/>
                    <a:p>
                      <a:pPr algn="ctr"/>
                      <a:r>
                        <a:rPr sz="900" b="0">
                          <a:latin typeface="Times New Roman"/>
                        </a:rPr>
                        <a:t>98</a:t>
                      </a:r>
                    </a:p>
                  </a:txBody>
                  <a:tcPr marL="36576" marR="36576" marT="18288" marB="18288">
                    <a:solidFill>
                      <a:srgbClr val="FFFFFF"/>
                    </a:solidFill>
                  </a:tcPr>
                </a:tc>
                <a:tc>
                  <a:txBody>
                    <a:bodyPr/>
                    <a:lstStyle/>
                    <a:p>
                      <a:pPr algn="ctr"/>
                      <a:r>
                        <a:rPr sz="900" b="0">
                          <a:latin typeface="Times New Roman"/>
                        </a:rPr>
                        <a:t>15</a:t>
                      </a:r>
                    </a:p>
                  </a:txBody>
                  <a:tcPr marL="36576" marR="36576" marT="18288" marB="18288">
                    <a:solidFill>
                      <a:srgbClr val="FFFFFF"/>
                    </a:solidFill>
                  </a:tcPr>
                </a:tc>
                <a:tc>
                  <a:txBody>
                    <a:bodyPr/>
                    <a:lstStyle/>
                    <a:p>
                      <a:pPr algn="ctr"/>
                      <a:r>
                        <a:rPr sz="900" b="0">
                          <a:latin typeface="Times New Roman"/>
                        </a:rPr>
                        <a:t>111</a:t>
                      </a:r>
                    </a:p>
                  </a:txBody>
                  <a:tcPr marL="36576" marR="36576" marT="18288" marB="18288">
                    <a:solidFill>
                      <a:srgbClr val="FFFFFF"/>
                    </a:solidFill>
                  </a:tcPr>
                </a:tc>
              </a:tr>
              <a:tr h="388620">
                <a:tc>
                  <a:txBody>
                    <a:bodyPr/>
                    <a:lstStyle/>
                    <a:p>
                      <a:pPr algn="l"/>
                      <a:r>
                        <a:rPr sz="900" b="0">
                          <a:latin typeface="Times New Roman"/>
                        </a:rPr>
                        <a:t>test</a:t>
                      </a:r>
                    </a:p>
                  </a:txBody>
                  <a:tcPr marL="36576" marR="36576" marT="18288" marB="18288">
                    <a:solidFill>
                      <a:srgbClr val="F7F3EC"/>
                    </a:solidFill>
                  </a:tcPr>
                </a:tc>
                <a:tc>
                  <a:txBody>
                    <a:bodyPr/>
                    <a:lstStyle/>
                    <a:p>
                      <a:pPr algn="ctr"/>
                      <a:r>
                        <a:rPr sz="900" b="0">
                          <a:latin typeface="Times New Roman"/>
                        </a:rPr>
                        <a:t>12</a:t>
                      </a:r>
                    </a:p>
                  </a:txBody>
                  <a:tcPr marL="36576" marR="36576" marT="18288" marB="18288">
                    <a:solidFill>
                      <a:srgbClr val="F7F3EC"/>
                    </a:solidFill>
                  </a:tcPr>
                </a:tc>
                <a:tc>
                  <a:txBody>
                    <a:bodyPr/>
                    <a:lstStyle/>
                    <a:p>
                      <a:pPr algn="ctr"/>
                      <a:r>
                        <a:rPr sz="900" b="0">
                          <a:latin typeface="Times New Roman"/>
                        </a:rPr>
                        <a:t>469</a:t>
                      </a:r>
                    </a:p>
                  </a:txBody>
                  <a:tcPr marL="36576" marR="36576" marT="18288" marB="18288">
                    <a:solidFill>
                      <a:srgbClr val="F7F3EC"/>
                    </a:solidFill>
                  </a:tcPr>
                </a:tc>
                <a:tc>
                  <a:txBody>
                    <a:bodyPr/>
                    <a:lstStyle/>
                    <a:p>
                      <a:pPr algn="ctr"/>
                      <a:r>
                        <a:rPr sz="900" b="0">
                          <a:latin typeface="Times New Roman"/>
                        </a:rPr>
                        <a:t>45</a:t>
                      </a:r>
                    </a:p>
                  </a:txBody>
                  <a:tcPr marL="36576" marR="36576" marT="18288" marB="18288">
                    <a:solidFill>
                      <a:srgbClr val="F7F3EC"/>
                    </a:solidFill>
                  </a:tcPr>
                </a:tc>
                <a:tc>
                  <a:txBody>
                    <a:bodyPr/>
                    <a:lstStyle/>
                    <a:p>
                      <a:pPr algn="ctr"/>
                      <a:r>
                        <a:rPr sz="900" b="0">
                          <a:latin typeface="Times New Roman"/>
                        </a:rPr>
                        <a:t>10</a:t>
                      </a:r>
                    </a:p>
                  </a:txBody>
                  <a:tcPr marL="36576" marR="36576" marT="18288" marB="18288">
                    <a:solidFill>
                      <a:srgbClr val="F7F3EC"/>
                    </a:solidFill>
                  </a:tcPr>
                </a:tc>
                <a:tc>
                  <a:txBody>
                    <a:bodyPr/>
                    <a:lstStyle/>
                    <a:p>
                      <a:pPr algn="ctr"/>
                      <a:r>
                        <a:rPr sz="900" b="0">
                          <a:latin typeface="Times New Roman"/>
                        </a:rPr>
                        <a:t>406</a:t>
                      </a:r>
                    </a:p>
                  </a:txBody>
                  <a:tcPr marL="36576" marR="36576" marT="18288" marB="18288">
                    <a:solidFill>
                      <a:srgbClr val="F7F3EC"/>
                    </a:solidFill>
                  </a:tcPr>
                </a:tc>
                <a:tc>
                  <a:txBody>
                    <a:bodyPr/>
                    <a:lstStyle/>
                    <a:p>
                      <a:pPr algn="ctr"/>
                      <a:r>
                        <a:rPr sz="900" b="0">
                          <a:latin typeface="Times New Roman"/>
                        </a:rPr>
                        <a:t>46</a:t>
                      </a:r>
                    </a:p>
                  </a:txBody>
                  <a:tcPr marL="36576" marR="36576" marT="18288" marB="18288">
                    <a:solidFill>
                      <a:srgbClr val="F7F3EC"/>
                    </a:solidFill>
                  </a:tcPr>
                </a:tc>
                <a:tc>
                  <a:txBody>
                    <a:bodyPr/>
                    <a:lstStyle/>
                    <a:p>
                      <a:pPr algn="ctr"/>
                      <a:r>
                        <a:rPr sz="900" b="0">
                          <a:latin typeface="Times New Roman"/>
                        </a:rPr>
                        <a:t>69</a:t>
                      </a:r>
                    </a:p>
                  </a:txBody>
                  <a:tcPr marL="36576" marR="36576" marT="18288" marB="18288">
                    <a:solidFill>
                      <a:srgbClr val="F7F3EC"/>
                    </a:solidFill>
                  </a:tcPr>
                </a:tc>
                <a:tc>
                  <a:txBody>
                    <a:bodyPr/>
                    <a:lstStyle/>
                    <a:p>
                      <a:pPr algn="ctr"/>
                      <a:r>
                        <a:rPr sz="900" b="0">
                          <a:latin typeface="Times New Roman"/>
                        </a:rPr>
                        <a:t>343</a:t>
                      </a:r>
                    </a:p>
                  </a:txBody>
                  <a:tcPr marL="36576" marR="36576" marT="18288" marB="18288">
                    <a:solidFill>
                      <a:srgbClr val="F7F3EC"/>
                    </a:solidFill>
                  </a:tcPr>
                </a:tc>
                <a:tc>
                  <a:txBody>
                    <a:bodyPr/>
                    <a:lstStyle/>
                    <a:p>
                      <a:pPr algn="ctr"/>
                      <a:r>
                        <a:rPr sz="900" b="0">
                          <a:latin typeface="Times New Roman"/>
                        </a:rPr>
                        <a:t>30</a:t>
                      </a:r>
                    </a:p>
                  </a:txBody>
                  <a:tcPr marL="36576" marR="36576" marT="18288" marB="18288">
                    <a:solidFill>
                      <a:srgbClr val="F7F3EC"/>
                    </a:solidFill>
                  </a:tcPr>
                </a:tc>
                <a:tc>
                  <a:txBody>
                    <a:bodyPr/>
                    <a:lstStyle/>
                    <a:p>
                      <a:pPr algn="ctr"/>
                      <a:r>
                        <a:rPr sz="900" b="0">
                          <a:latin typeface="Times New Roman"/>
                        </a:rPr>
                        <a:t>24</a:t>
                      </a:r>
                    </a:p>
                  </a:txBody>
                  <a:tcPr marL="36576" marR="36576" marT="18288" marB="18288">
                    <a:solidFill>
                      <a:srgbClr val="F7F3EC"/>
                    </a:solidFill>
                  </a:tcPr>
                </a:tc>
                <a:tc>
                  <a:txBody>
                    <a:bodyPr/>
                    <a:lstStyle/>
                    <a:p>
                      <a:pPr algn="ctr"/>
                      <a:r>
                        <a:rPr sz="900" b="0">
                          <a:latin typeface="Times New Roman"/>
                        </a:rPr>
                        <a:t>95</a:t>
                      </a:r>
                    </a:p>
                  </a:txBody>
                  <a:tcPr marL="36576" marR="36576" marT="18288" marB="18288">
                    <a:solidFill>
                      <a:srgbClr val="F7F3EC"/>
                    </a:solidFill>
                  </a:tcPr>
                </a:tc>
              </a:tr>
            </a:tbl>
          </a:graphicData>
        </a:graphic>
      </p:graphicFrame>
      <p:sp>
        <p:nvSpPr>
          <p:cNvPr id="227" name="TextBox 226"/>
          <p:cNvSpPr txBox="1"/>
          <p:nvPr/>
        </p:nvSpPr>
        <p:spPr>
          <a:xfrm>
            <a:off x="228600" y="4572000"/>
            <a:ext cx="8046720" cy="1463040"/>
          </a:xfrm>
          <a:prstGeom prst="rect">
            <a:avLst/>
          </a:prstGeom>
          <a:noFill/>
        </p:spPr>
        <p:txBody>
          <a:bodyPr wrap="square">
            <a:spAutoFit/>
          </a:bodyPr>
          <a:lstStyle/>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Class imbalance: </a:t>
            </a:r>
            <a:r>
              <a:rPr lang="en-US" sz="1200">
                <a:latin typeface="Times New Roman"/>
                <a:ea typeface="Times New Roman"/>
                <a:cs typeface="Times New Roman"/>
                <a:sym typeface="Times New Roman"/>
              </a:rPr>
              <a:t>Live_Knot 44% and Dead_Knot 32% of boxes; Knot_missing 1.3%, Quartzity 1.9%, Marrow 2.2%. Test has only 10 Quartzity and 24 Knot_missing boxes, so those per-class figures are indicative only.</a:t>
            </a:r>
            <a:endParaRPr lang="en-US" sz="1200">
              <a:latin typeface="Times New Roman"/>
              <a:ea typeface="Times New Roman"/>
              <a:cs typeface="Times New Roman"/>
              <a:sym typeface="Times New Roman"/>
            </a:endParaRPr>
          </a:p>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Every class </a:t>
            </a:r>
            <a:r>
              <a:rPr lang="en-US" sz="1200">
                <a:latin typeface="Times New Roman"/>
                <a:ea typeface="Times New Roman"/>
                <a:cs typeface="Times New Roman"/>
                <a:sym typeface="Times New Roman"/>
              </a:rPr>
              <a:t>is present in all three splits; file names carry a seeded hash prefix so that rectangular batches still mix boards.</a:t>
            </a:r>
            <a:endParaRPr lang="en-US" sz="1200">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4"/>
          <p:cNvSpPr txBox="1"/>
          <p:nvPr/>
        </p:nvSpPr>
        <p:spPr>
          <a:xfrm>
            <a:off x="135690" y="234748"/>
            <a:ext cx="83151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SYSTEM DESIGN</a:t>
            </a:r>
            <a:endParaRPr b="0" i="0" sz="1400" u="none" cap="none" strike="noStrike">
              <a:solidFill>
                <a:srgbClr val="000000"/>
              </a:solidFill>
              <a:latin typeface="Arial"/>
              <a:ea typeface="Arial"/>
              <a:cs typeface="Arial"/>
              <a:sym typeface="Arial"/>
            </a:endParaRPr>
          </a:p>
        </p:txBody>
      </p:sp>
      <p:sp>
        <p:nvSpPr>
          <p:cNvPr id="231" name="Google Shape;231;p24"/>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32" name="Google Shape;232;p24"/>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33" name="Google Shape;233;p24"/>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34" name="Google Shape;234;p24"/>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35" name="Google Shape;235;p24"/>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36" name="Google Shape;236;p24"/>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37" name="Google Shape;237;p24"/>
          <p:cNvSpPr txBox="1"/>
          <p:nvPr/>
        </p:nvSpPr>
        <p:spPr>
          <a:xfrm>
            <a:off x="314790" y="1132100"/>
            <a:ext cx="8217000" cy="4968600"/>
          </a:xfrm>
          <a:prstGeom prst="rect">
            <a:avLst/>
          </a:prstGeom>
          <a:noFill/>
          <a:ln>
            <a:noFill/>
          </a:ln>
        </p:spPr>
        <p:txBody>
          <a:bodyPr anchorCtr="0" anchor="t" bIns="45700" lIns="91425" spcFirstLastPara="1" rIns="91425" wrap="square" tIns="45700">
            <a:spAutoFit/>
          </a:bodyPr>
          <a:lstStyle/>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1. Data / input layer (done): </a:t>
            </a:r>
            <a:r>
              <a:rPr lang="en-US" sz="1300">
                <a:latin typeface="Times New Roman"/>
                <a:ea typeface="Times New Roman"/>
                <a:cs typeface="Times New Roman"/>
                <a:sym typeface="Times New Roman"/>
              </a:rPr>
              <a:t>board images, cleaned labels, board-level train / val / test sets on Kaggle.</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2. Input processing (partly): </a:t>
            </a:r>
            <a:r>
              <a:rPr lang="en-US" sz="1300">
                <a:latin typeface="Times New Roman"/>
                <a:ea typeface="Times New Roman"/>
                <a:cs typeface="Times New Roman"/>
                <a:sym typeface="Times New Roman"/>
              </a:rPr>
              <a:t>1024-px rectangular input and grain-aware augmentation in place; CLAHE / denoising / brightness experiments planned.</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3. Detection model (done): </a:t>
            </a:r>
            <a:r>
              <a:rPr lang="en-US" sz="1300">
                <a:latin typeface="Times New Roman"/>
                <a:ea typeface="Times New Roman"/>
                <a:cs typeface="Times New Roman"/>
                <a:sym typeface="Times New Roman"/>
              </a:rPr>
              <a:t>YOLO11m (20.0 M parameters) and YOLO11s (9.4 M) fine-tuned from COCO with one logged recipe; architectural additions (CWB-style modules) planned.</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4. Defect analysis (done): </a:t>
            </a:r>
            <a:r>
              <a:rPr lang="en-US" sz="1300">
                <a:latin typeface="Times New Roman"/>
                <a:ea typeface="Times New Roman"/>
                <a:cs typeface="Times New Roman"/>
                <a:sym typeface="Times New Roman"/>
              </a:rPr>
              <a:t>class, position, size, confidence per defect; per-class counts and area; defect coverage per board.</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5. Recoverability estimation (planned): </a:t>
            </a:r>
            <a:r>
              <a:rPr lang="en-US" sz="1300">
                <a:latin typeface="Times New Roman"/>
                <a:ea typeface="Times New Roman"/>
                <a:cs typeface="Times New Roman"/>
                <a:sym typeface="Times New Roman"/>
              </a:rPr>
              <a:t>grading rule from coverage, defect type and position; validation against expert-graded boards.</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6. Training and evaluation (done): </a:t>
            </a:r>
            <a:r>
              <a:rPr lang="en-US" sz="1300">
                <a:latin typeface="Times New Roman"/>
                <a:ea typeface="Times New Roman"/>
                <a:cs typeface="Times New Roman"/>
                <a:sym typeface="Times New Roman"/>
              </a:rPr>
              <a:t>P, R, F1, mAP50, mAP50-95, ms per image; single-shot test on 12 unseen boards; YOLO11m vs YOLO11s.</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7. Application (done): </a:t>
            </a:r>
            <a:r>
              <a:rPr lang="en-US" sz="1300">
                <a:latin typeface="Times New Roman"/>
                <a:ea typeface="Times New Roman"/>
                <a:cs typeface="Times New Roman"/>
                <a:sym typeface="Times New Roman"/>
              </a:rPr>
              <a:t>web interface with boxes, heatmap, per-class table, JSON report; deployable on Hugging Face Spaces.</a:t>
            </a:r>
            <a:endParaRPr lang="en-US" sz="1300">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25"/>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43" name="Google Shape;243;p25"/>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44" name="Google Shape;244;p25"/>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45" name="Google Shape;245;p25"/>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46" name="Google Shape;246;p25"/>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47" name="Google Shape;247;p25"/>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49" name="Google Shape;249;p25"/>
          <p:cNvSpPr txBox="1"/>
          <p:nvPr/>
        </p:nvSpPr>
        <p:spPr>
          <a:xfrm>
            <a:off x="135690" y="234748"/>
            <a:ext cx="83151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TRAINING CONFIGURATION</a:t>
            </a:r>
            <a:endParaRPr b="0" i="0" sz="1400" u="none" cap="none" strike="noStrike">
              <a:solidFill>
                <a:srgbClr val="000000"/>
              </a:solidFill>
              <a:latin typeface="Arial"/>
              <a:ea typeface="Arial"/>
              <a:cs typeface="Arial"/>
              <a:sym typeface="Arial"/>
            </a:endParaRPr>
          </a:p>
        </p:txBody>
      </p:sp>
      <p:graphicFrame>
        <p:nvGraphicFramePr>
          <p:cNvPr id="250" name="Table 249"/>
          <p:cNvGraphicFramePr>
            <a:graphicFrameLocks noGrp="1"/>
          </p:cNvGraphicFramePr>
          <p:nvPr/>
        </p:nvGraphicFramePr>
        <p:xfrm>
          <a:off x="274320" y="914400"/>
          <a:ext cx="7955280" cy="3291840"/>
        </p:xfrm>
        <a:graphic>
          <a:graphicData uri="http://schemas.openxmlformats.org/drawingml/2006/table">
            <a:tbl>
              <a:tblPr firstRow="1" bandRow="1">
                <a:tableStyleId>{5C22544A-7EE6-4342-B048-85BDC9FD1C3A}</a:tableStyleId>
              </a:tblPr>
              <a:tblGrid>
                <a:gridCol w="2103120"/>
                <a:gridCol w="5852160"/>
              </a:tblGrid>
              <a:tr h="365760">
                <a:tc>
                  <a:txBody>
                    <a:bodyPr/>
                    <a:lstStyle/>
                    <a:p>
                      <a:pPr algn="l"/>
                      <a:r>
                        <a:rPr sz="1050" b="1">
                          <a:solidFill>
                            <a:srgbClr val="FFFFFF"/>
                          </a:solidFill>
                          <a:latin typeface="Times New Roman"/>
                        </a:rPr>
                        <a:t>Setting</a:t>
                      </a:r>
                    </a:p>
                  </a:txBody>
                  <a:tcPr marL="36576" marR="36576" marT="18288" marB="18288">
                    <a:solidFill>
                      <a:srgbClr val="41534B"/>
                    </a:solidFill>
                  </a:tcPr>
                </a:tc>
                <a:tc>
                  <a:txBody>
                    <a:bodyPr/>
                    <a:lstStyle/>
                    <a:p>
                      <a:pPr algn="ctr"/>
                      <a:r>
                        <a:rPr sz="1050" b="1">
                          <a:solidFill>
                            <a:srgbClr val="FFFFFF"/>
                          </a:solidFill>
                          <a:latin typeface="Times New Roman"/>
                        </a:rPr>
                        <a:t>Value (identical for YOLO11m and YOLO11s)</a:t>
                      </a:r>
                    </a:p>
                  </a:txBody>
                  <a:tcPr marL="36576" marR="36576" marT="18288" marB="18288">
                    <a:solidFill>
                      <a:srgbClr val="41534B"/>
                    </a:solidFill>
                  </a:tcPr>
                </a:tc>
              </a:tr>
              <a:tr h="365760">
                <a:tc>
                  <a:txBody>
                    <a:bodyPr/>
                    <a:lstStyle/>
                    <a:p>
                      <a:pPr algn="l"/>
                      <a:r>
                        <a:rPr sz="1050" b="0">
                          <a:latin typeface="Times New Roman"/>
                        </a:rPr>
                        <a:t>Pretrained weights</a:t>
                      </a:r>
                    </a:p>
                  </a:txBody>
                  <a:tcPr marL="36576" marR="36576" marT="18288" marB="18288">
                    <a:solidFill>
                      <a:srgbClr val="F7F3EC"/>
                    </a:solidFill>
                  </a:tcPr>
                </a:tc>
                <a:tc>
                  <a:txBody>
                    <a:bodyPr/>
                    <a:lstStyle/>
                    <a:p>
                      <a:pPr algn="ctr"/>
                      <a:r>
                        <a:rPr sz="1050" b="0">
                          <a:latin typeface="Times New Roman"/>
                        </a:rPr>
                        <a:t>COCO yolo11m.pt (20.0 M params, 68 GFLOPs) / yolo11s.pt (9.4 M, 21 GFLOPs)</a:t>
                      </a:r>
                    </a:p>
                  </a:txBody>
                  <a:tcPr marL="36576" marR="36576" marT="18288" marB="18288">
                    <a:solidFill>
                      <a:srgbClr val="F7F3EC"/>
                    </a:solidFill>
                  </a:tcPr>
                </a:tc>
              </a:tr>
              <a:tr h="365760">
                <a:tc>
                  <a:txBody>
                    <a:bodyPr/>
                    <a:lstStyle/>
                    <a:p>
                      <a:pPr algn="l"/>
                      <a:r>
                        <a:rPr sz="1050" b="0">
                          <a:latin typeface="Times New Roman"/>
                        </a:rPr>
                        <a:t>Input</a:t>
                      </a:r>
                    </a:p>
                  </a:txBody>
                  <a:tcPr marL="36576" marR="36576" marT="18288" marB="18288">
                    <a:solidFill>
                      <a:srgbClr val="FFFFFF"/>
                    </a:solidFill>
                  </a:tcPr>
                </a:tc>
                <a:tc>
                  <a:txBody>
                    <a:bodyPr/>
                    <a:lstStyle/>
                    <a:p>
                      <a:pPr algn="ctr"/>
                      <a:r>
                        <a:rPr sz="1050" b="0">
                          <a:latin typeface="Times New Roman"/>
                        </a:rPr>
                        <a:t>imgsz 1024, rectangular batches (effective 1024 x 384)</a:t>
                      </a:r>
                    </a:p>
                  </a:txBody>
                  <a:tcPr marL="36576" marR="36576" marT="18288" marB="18288">
                    <a:solidFill>
                      <a:srgbClr val="FFFFFF"/>
                    </a:solidFill>
                  </a:tcPr>
                </a:tc>
              </a:tr>
              <a:tr h="365760">
                <a:tc>
                  <a:txBody>
                    <a:bodyPr/>
                    <a:lstStyle/>
                    <a:p>
                      <a:pPr algn="l"/>
                      <a:r>
                        <a:rPr sz="1050" b="0">
                          <a:latin typeface="Times New Roman"/>
                        </a:rPr>
                        <a:t>Optimiser / schedule</a:t>
                      </a:r>
                    </a:p>
                  </a:txBody>
                  <a:tcPr marL="36576" marR="36576" marT="18288" marB="18288">
                    <a:solidFill>
                      <a:srgbClr val="F7F3EC"/>
                    </a:solidFill>
                  </a:tcPr>
                </a:tc>
                <a:tc>
                  <a:txBody>
                    <a:bodyPr/>
                    <a:lstStyle/>
                    <a:p>
                      <a:pPr algn="ctr"/>
                      <a:r>
                        <a:rPr sz="1050" b="0">
                          <a:latin typeface="Times New Roman"/>
                        </a:rPr>
                        <a:t>AdamW, lr0 0.001, lrf 0.01, cosine, 3 warm-up epochs, weight decay 5e-4</a:t>
                      </a:r>
                    </a:p>
                  </a:txBody>
                  <a:tcPr marL="36576" marR="36576" marT="18288" marB="18288">
                    <a:solidFill>
                      <a:srgbClr val="F7F3EC"/>
                    </a:solidFill>
                  </a:tcPr>
                </a:tc>
              </a:tr>
              <a:tr h="365760">
                <a:tc>
                  <a:txBody>
                    <a:bodyPr/>
                    <a:lstStyle/>
                    <a:p>
                      <a:pPr algn="l"/>
                      <a:r>
                        <a:rPr sz="1050" b="0">
                          <a:latin typeface="Times New Roman"/>
                        </a:rPr>
                        <a:t>Batch / epochs / patience</a:t>
                      </a:r>
                    </a:p>
                  </a:txBody>
                  <a:tcPr marL="36576" marR="36576" marT="18288" marB="18288">
                    <a:solidFill>
                      <a:srgbClr val="FFFFFF"/>
                    </a:solidFill>
                  </a:tcPr>
                </a:tc>
                <a:tc>
                  <a:txBody>
                    <a:bodyPr/>
                    <a:lstStyle/>
                    <a:p>
                      <a:pPr algn="ctr"/>
                      <a:r>
                        <a:rPr sz="1050" b="0">
                          <a:latin typeface="Times New Roman"/>
                        </a:rPr>
                        <a:t>32 / 100 / 40 (early stopping on validation)</a:t>
                      </a:r>
                    </a:p>
                  </a:txBody>
                  <a:tcPr marL="36576" marR="36576" marT="18288" marB="18288">
                    <a:solidFill>
                      <a:srgbClr val="FFFFFF"/>
                    </a:solidFill>
                  </a:tcPr>
                </a:tc>
              </a:tr>
              <a:tr h="365760">
                <a:tc>
                  <a:txBody>
                    <a:bodyPr/>
                    <a:lstStyle/>
                    <a:p>
                      <a:pPr algn="l"/>
                      <a:r>
                        <a:rPr sz="1050" b="0">
                          <a:latin typeface="Times New Roman"/>
                        </a:rPr>
                        <a:t>Loss gains</a:t>
                      </a:r>
                    </a:p>
                  </a:txBody>
                  <a:tcPr marL="36576" marR="36576" marT="18288" marB="18288">
                    <a:solidFill>
                      <a:srgbClr val="F7F3EC"/>
                    </a:solidFill>
                  </a:tcPr>
                </a:tc>
                <a:tc>
                  <a:txBody>
                    <a:bodyPr/>
                    <a:lstStyle/>
                    <a:p>
                      <a:pPr algn="ctr"/>
                      <a:r>
                        <a:rPr sz="1050" b="0">
                          <a:latin typeface="Times New Roman"/>
                        </a:rPr>
                        <a:t>cls 1.0, box 7.5, dfl 1.5</a:t>
                      </a:r>
                    </a:p>
                  </a:txBody>
                  <a:tcPr marL="36576" marR="36576" marT="18288" marB="18288">
                    <a:solidFill>
                      <a:srgbClr val="F7F3EC"/>
                    </a:solidFill>
                  </a:tcPr>
                </a:tc>
              </a:tr>
              <a:tr h="365760">
                <a:tc>
                  <a:txBody>
                    <a:bodyPr/>
                    <a:lstStyle/>
                    <a:p>
                      <a:pPr algn="l"/>
                      <a:r>
                        <a:rPr sz="1050" b="0">
                          <a:latin typeface="Times New Roman"/>
                        </a:rPr>
                        <a:t>Augmentation</a:t>
                      </a:r>
                    </a:p>
                  </a:txBody>
                  <a:tcPr marL="36576" marR="36576" marT="18288" marB="18288">
                    <a:solidFill>
                      <a:srgbClr val="FFFFFF"/>
                    </a:solidFill>
                  </a:tcPr>
                </a:tc>
                <a:tc>
                  <a:txBody>
                    <a:bodyPr/>
                    <a:lstStyle/>
                    <a:p>
                      <a:pPr algn="ctr"/>
                      <a:r>
                        <a:rPr sz="1050" b="0">
                          <a:latin typeface="Times New Roman"/>
                        </a:rPr>
                        <a:t>hsv 0.01 / 0.3 / 0.2, translate 0.08, scale 0.3, fliplr 0.5, degrees 0, flipud 0, mosaic 0, erasing 0.05</a:t>
                      </a:r>
                    </a:p>
                  </a:txBody>
                  <a:tcPr marL="36576" marR="36576" marT="18288" marB="18288">
                    <a:solidFill>
                      <a:srgbClr val="FFFFFF"/>
                    </a:solidFill>
                  </a:tcPr>
                </a:tc>
              </a:tr>
              <a:tr h="365760">
                <a:tc>
                  <a:txBody>
                    <a:bodyPr/>
                    <a:lstStyle/>
                    <a:p>
                      <a:pPr algn="l"/>
                      <a:r>
                        <a:rPr sz="1050" b="0">
                          <a:latin typeface="Times New Roman"/>
                        </a:rPr>
                        <a:t>Reproducibility</a:t>
                      </a:r>
                    </a:p>
                  </a:txBody>
                  <a:tcPr marL="36576" marR="36576" marT="18288" marB="18288">
                    <a:solidFill>
                      <a:srgbClr val="F7F3EC"/>
                    </a:solidFill>
                  </a:tcPr>
                </a:tc>
                <a:tc>
                  <a:txBody>
                    <a:bodyPr/>
                    <a:lstStyle/>
                    <a:p>
                      <a:pPr algn="ctr"/>
                      <a:r>
                        <a:rPr sz="1050" b="0">
                          <a:latin typeface="Times New Roman"/>
                        </a:rPr>
                        <a:t>seed 42, deterministic; configuration and results logged per run</a:t>
                      </a:r>
                    </a:p>
                  </a:txBody>
                  <a:tcPr marL="36576" marR="36576" marT="18288" marB="18288">
                    <a:solidFill>
                      <a:srgbClr val="F7F3EC"/>
                    </a:solidFill>
                  </a:tcPr>
                </a:tc>
              </a:tr>
              <a:tr h="365760">
                <a:tc>
                  <a:txBody>
                    <a:bodyPr/>
                    <a:lstStyle/>
                    <a:p>
                      <a:pPr algn="l"/>
                      <a:r>
                        <a:rPr sz="1050" b="0">
                          <a:latin typeface="Times New Roman"/>
                        </a:rPr>
                        <a:t>Model selection / test</a:t>
                      </a:r>
                    </a:p>
                  </a:txBody>
                  <a:tcPr marL="36576" marR="36576" marT="18288" marB="18288">
                    <a:solidFill>
                      <a:srgbClr val="FFFFFF"/>
                    </a:solidFill>
                  </a:tcPr>
                </a:tc>
                <a:tc>
                  <a:txBody>
                    <a:bodyPr/>
                    <a:lstStyle/>
                    <a:p>
                      <a:pPr algn="ctr"/>
                      <a:r>
                        <a:rPr sz="1050" b="0">
                          <a:latin typeface="Times New Roman"/>
                        </a:rPr>
                        <a:t>best.pt by validation fitness; test split evaluated once per model (conf 0.001, NMS IoU 0.6)</a:t>
                      </a:r>
                    </a:p>
                  </a:txBody>
                  <a:tcPr marL="36576" marR="36576" marT="18288" marB="18288">
                    <a:solidFill>
                      <a:srgbClr val="FFFFFF"/>
                    </a:solidFill>
                  </a:tcPr>
                </a:tc>
              </a:tr>
            </a:tbl>
          </a:graphicData>
        </a:graphic>
      </p:graphicFrame>
      <p:sp>
        <p:nvSpPr>
          <p:cNvPr id="251" name="TextBox 250"/>
          <p:cNvSpPr txBox="1"/>
          <p:nvPr/>
        </p:nvSpPr>
        <p:spPr>
          <a:xfrm>
            <a:off x="274320" y="4434840"/>
            <a:ext cx="7955279" cy="1737360"/>
          </a:xfrm>
          <a:prstGeom prst="rect">
            <a:avLst/>
          </a:prstGeom>
          <a:noFill/>
        </p:spPr>
        <p:txBody>
          <a:bodyPr wrap="square">
            <a:spAutoFit/>
          </a:bodyPr>
          <a:lstStyle/>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Compute: </a:t>
            </a:r>
            <a:r>
              <a:rPr lang="en-US" sz="1200">
                <a:latin typeface="Times New Roman"/>
                <a:ea typeface="Times New Roman"/>
                <a:cs typeface="Times New Roman"/>
                <a:sym typeface="Times New Roman"/>
              </a:rPr>
              <a:t>Kaggle, one NVIDIA Tesla T4 (15 GB). Multi-GPU was rejected because the framework disables rectangular batching under DDP. YOLO11m: about 2.6 GPU-hours per 100 epochs; YOLO11s: 1.4. Total used: 6.8 of 30 weekly hours.</a:t>
            </a:r>
            <a:endParaRPr lang="en-US" sz="1200">
              <a:latin typeface="Times New Roman"/>
              <a:ea typeface="Times New Roman"/>
              <a:cs typeface="Times New Roman"/>
              <a:sym typeface="Times New Roman"/>
            </a:endParaRPr>
          </a:p>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Software: </a:t>
            </a:r>
            <a:r>
              <a:rPr lang="en-US" sz="1200">
                <a:latin typeface="Times New Roman"/>
                <a:ea typeface="Times New Roman"/>
                <a:cs typeface="Times New Roman"/>
                <a:sym typeface="Times New Roman"/>
              </a:rPr>
              <a:t>Python 3.12, PyTorch 2.10, Ultralytics 8.4.142, OpenCV, Gradio. Scripts: prepare_dataset.py, train_yolo11m.py, evaluate.py, app.py; decision log in NOTES.md; all results version-controlled.</a:t>
            </a:r>
            <a:endParaRPr lang="en-US" sz="1200">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26"/>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255" name="Google Shape;255;p26"/>
          <p:cNvSpPr txBox="1"/>
          <p:nvPr/>
        </p:nvSpPr>
        <p:spPr>
          <a:xfrm>
            <a:off x="914400" y="5973482"/>
            <a:ext cx="7315200"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Fig. System design as implemented at the 50% review</a:t>
            </a:r>
            <a:endParaRPr b="0" i="0" sz="1400" u="none" cap="none" strike="noStrike">
              <a:solidFill>
                <a:srgbClr val="000000"/>
              </a:solidFill>
              <a:latin typeface="Arial"/>
              <a:ea typeface="Arial"/>
              <a:cs typeface="Arial"/>
              <a:sym typeface="Arial"/>
            </a:endParaRPr>
          </a:p>
        </p:txBody>
      </p:sp>
      <p:pic>
        <p:nvPicPr>
          <p:cNvPr id="257" name="Google Shape;257;p26"/>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sp>
        <p:nvSpPr>
          <p:cNvPr id="258" name="Google Shape;258;p26"/>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259" name="Google Shape;259;p26"/>
          <p:cNvPicPr preferRelativeResize="0"/>
          <p:nvPr/>
        </p:nvPicPr>
        <p:blipFill rotWithShape="1">
          <a:blip r:embed="rId5">
            <a:alphaModFix/>
          </a:blip>
          <a:srcRect b="0" l="0" r="0" t="0"/>
          <a:stretch/>
        </p:blipFill>
        <p:spPr>
          <a:xfrm>
            <a:off x="8450861" y="1377538"/>
            <a:ext cx="677790" cy="1129400"/>
          </a:xfrm>
          <a:prstGeom prst="rect">
            <a:avLst/>
          </a:prstGeom>
          <a:noFill/>
          <a:ln>
            <a:noFill/>
          </a:ln>
        </p:spPr>
      </p:pic>
      <p:pic>
        <p:nvPicPr>
          <p:cNvPr id="260" name="Google Shape;260;p26"/>
          <p:cNvPicPr preferRelativeResize="0"/>
          <p:nvPr/>
        </p:nvPicPr>
        <p:blipFill rotWithShape="1">
          <a:blip r:embed="rId6">
            <a:alphaModFix/>
          </a:blip>
          <a:srcRect b="0" l="0" r="0" t="0"/>
          <a:stretch/>
        </p:blipFill>
        <p:spPr>
          <a:xfrm>
            <a:off x="8450861" y="3740295"/>
            <a:ext cx="695325" cy="1704975"/>
          </a:xfrm>
          <a:prstGeom prst="rect">
            <a:avLst/>
          </a:prstGeom>
          <a:noFill/>
          <a:ln>
            <a:noFill/>
          </a:ln>
        </p:spPr>
      </p:pic>
      <p:pic>
        <p:nvPicPr>
          <p:cNvPr id="261" name="Google Shape;261;p26"/>
          <p:cNvPicPr preferRelativeResize="0"/>
          <p:nvPr/>
        </p:nvPicPr>
        <p:blipFill rotWithShape="1">
          <a:blip r:embed="rId7">
            <a:alphaModFix/>
          </a:blip>
          <a:srcRect b="0" l="0" r="0" t="0"/>
          <a:stretch/>
        </p:blipFill>
        <p:spPr>
          <a:xfrm>
            <a:off x="8450860" y="2542563"/>
            <a:ext cx="693139" cy="1233357"/>
          </a:xfrm>
          <a:prstGeom prst="rect">
            <a:avLst/>
          </a:prstGeom>
          <a:noFill/>
          <a:ln>
            <a:noFill/>
          </a:ln>
        </p:spPr>
      </p:pic>
      <p:pic>
        <p:nvPicPr>
          <p:cNvPr id="262" name="Picture 261" descr="system_design_50.png"/>
          <p:cNvPicPr>
            <a:picLocks noChangeAspect="1"/>
          </p:cNvPicPr>
          <p:nvPr/>
        </p:nvPicPr>
        <p:blipFill>
          <a:blip r:embed="rId8"/>
          <a:stretch>
            <a:fillRect/>
          </a:stretch>
        </p:blipFill>
        <p:spPr>
          <a:xfrm>
            <a:off x="1298625" y="413281"/>
            <a:ext cx="6005525" cy="529021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27"/>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RESULTS: TRAINING RUNS</a:t>
            </a:r>
            <a:endParaRPr b="0" i="0" sz="1400" u="none" cap="none" strike="noStrike">
              <a:solidFill>
                <a:srgbClr val="000000"/>
              </a:solidFill>
              <a:latin typeface="Arial"/>
              <a:ea typeface="Arial"/>
              <a:cs typeface="Arial"/>
              <a:sym typeface="Arial"/>
            </a:endParaRPr>
          </a:p>
        </p:txBody>
      </p:sp>
      <p:sp>
        <p:nvSpPr>
          <p:cNvPr id="267" name="Google Shape;267;p27"/>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68" name="Google Shape;268;p27"/>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69" name="Google Shape;269;p27"/>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70" name="Google Shape;270;p27"/>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71" name="Google Shape;271;p27"/>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72" name="Google Shape;272;p27"/>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graphicFrame>
        <p:nvGraphicFramePr>
          <p:cNvPr id="273" name="Table 272"/>
          <p:cNvGraphicFramePr>
            <a:graphicFrameLocks noGrp="1"/>
          </p:cNvGraphicFramePr>
          <p:nvPr/>
        </p:nvGraphicFramePr>
        <p:xfrm>
          <a:off x="274320" y="777240"/>
          <a:ext cx="7955280" cy="1325880"/>
        </p:xfrm>
        <a:graphic>
          <a:graphicData uri="http://schemas.openxmlformats.org/drawingml/2006/table">
            <a:tbl>
              <a:tblPr firstRow="1" bandRow="1">
                <a:tableStyleId>{5C22544A-7EE6-4342-B048-85BDC9FD1C3A}</a:tableStyleId>
              </a:tblPr>
              <a:tblGrid>
                <a:gridCol w="457200"/>
                <a:gridCol w="822960"/>
                <a:gridCol w="2651760"/>
                <a:gridCol w="1554480"/>
                <a:gridCol w="822960"/>
                <a:gridCol w="822960"/>
                <a:gridCol w="822960"/>
              </a:tblGrid>
              <a:tr h="331470">
                <a:tc>
                  <a:txBody>
                    <a:bodyPr/>
                    <a:lstStyle/>
                    <a:p>
                      <a:pPr algn="l"/>
                      <a:r>
                        <a:rPr sz="1000" b="1">
                          <a:solidFill>
                            <a:srgbClr val="FFFFFF"/>
                          </a:solidFill>
                          <a:latin typeface="Times New Roman"/>
                        </a:rPr>
                        <a:t>Run</a:t>
                      </a:r>
                    </a:p>
                  </a:txBody>
                  <a:tcPr marL="36576" marR="36576" marT="18288" marB="18288">
                    <a:solidFill>
                      <a:srgbClr val="41534B"/>
                    </a:solidFill>
                  </a:tcPr>
                </a:tc>
                <a:tc>
                  <a:txBody>
                    <a:bodyPr/>
                    <a:lstStyle/>
                    <a:p>
                      <a:pPr algn="ctr"/>
                      <a:r>
                        <a:rPr sz="1000" b="1">
                          <a:solidFill>
                            <a:srgbClr val="FFFFFF"/>
                          </a:solidFill>
                          <a:latin typeface="Times New Roman"/>
                        </a:rPr>
                        <a:t>Model</a:t>
                      </a:r>
                    </a:p>
                  </a:txBody>
                  <a:tcPr marL="36576" marR="36576" marT="18288" marB="18288">
                    <a:solidFill>
                      <a:srgbClr val="41534B"/>
                    </a:solidFill>
                  </a:tcPr>
                </a:tc>
                <a:tc>
                  <a:txBody>
                    <a:bodyPr/>
                    <a:lstStyle/>
                    <a:p>
                      <a:pPr algn="ctr"/>
                      <a:r>
                        <a:rPr sz="1000" b="1">
                          <a:solidFill>
                            <a:srgbClr val="FFFFFF"/>
                          </a:solidFill>
                          <a:latin typeface="Times New Roman"/>
                        </a:rPr>
                        <a:t>Settings</a:t>
                      </a:r>
                    </a:p>
                  </a:txBody>
                  <a:tcPr marL="36576" marR="36576" marT="18288" marB="18288">
                    <a:solidFill>
                      <a:srgbClr val="41534B"/>
                    </a:solidFill>
                  </a:tcPr>
                </a:tc>
                <a:tc>
                  <a:txBody>
                    <a:bodyPr/>
                    <a:lstStyle/>
                    <a:p>
                      <a:pPr algn="ctr"/>
                      <a:r>
                        <a:rPr sz="1000" b="1">
                          <a:solidFill>
                            <a:srgbClr val="FFFFFF"/>
                          </a:solidFill>
                          <a:latin typeface="Times New Roman"/>
                        </a:rPr>
                        <a:t>Epochs / GPU time</a:t>
                      </a:r>
                    </a:p>
                  </a:txBody>
                  <a:tcPr marL="36576" marR="36576" marT="18288" marB="18288">
                    <a:solidFill>
                      <a:srgbClr val="41534B"/>
                    </a:solidFill>
                  </a:tcPr>
                </a:tc>
                <a:tc>
                  <a:txBody>
                    <a:bodyPr/>
                    <a:lstStyle/>
                    <a:p>
                      <a:pPr algn="ctr"/>
                      <a:r>
                        <a:rPr sz="1000" b="1">
                          <a:solidFill>
                            <a:srgbClr val="FFFFFF"/>
                          </a:solidFill>
                          <a:latin typeface="Times New Roman"/>
                        </a:rPr>
                        <a:t>Best epoch</a:t>
                      </a:r>
                    </a:p>
                  </a:txBody>
                  <a:tcPr marL="36576" marR="36576" marT="18288" marB="18288">
                    <a:solidFill>
                      <a:srgbClr val="41534B"/>
                    </a:solidFill>
                  </a:tcPr>
                </a:tc>
                <a:tc>
                  <a:txBody>
                    <a:bodyPr/>
                    <a:lstStyle/>
                    <a:p>
                      <a:pPr algn="ctr"/>
                      <a:r>
                        <a:rPr sz="1000" b="1">
                          <a:solidFill>
                            <a:srgbClr val="FFFFFF"/>
                          </a:solidFill>
                          <a:latin typeface="Times New Roman"/>
                        </a:rPr>
                        <a:t>Val mAP50</a:t>
                      </a:r>
                    </a:p>
                  </a:txBody>
                  <a:tcPr marL="36576" marR="36576" marT="18288" marB="18288">
                    <a:solidFill>
                      <a:srgbClr val="41534B"/>
                    </a:solidFill>
                  </a:tcPr>
                </a:tc>
                <a:tc>
                  <a:txBody>
                    <a:bodyPr/>
                    <a:lstStyle/>
                    <a:p>
                      <a:pPr algn="ctr"/>
                      <a:r>
                        <a:rPr sz="1000" b="1">
                          <a:solidFill>
                            <a:srgbClr val="FFFFFF"/>
                          </a:solidFill>
                          <a:latin typeface="Times New Roman"/>
                        </a:rPr>
                        <a:t>Val mAP50-95</a:t>
                      </a:r>
                    </a:p>
                  </a:txBody>
                  <a:tcPr marL="36576" marR="36576" marT="18288" marB="18288">
                    <a:solidFill>
                      <a:srgbClr val="41534B"/>
                    </a:solidFill>
                  </a:tcPr>
                </a:tc>
              </a:tr>
              <a:tr h="331470">
                <a:tc>
                  <a:txBody>
                    <a:bodyPr/>
                    <a:lstStyle/>
                    <a:p>
                      <a:pPr algn="l"/>
                      <a:r>
                        <a:rPr sz="1000" b="0">
                          <a:latin typeface="Times New Roman"/>
                        </a:rPr>
                        <a:t>1</a:t>
                      </a:r>
                    </a:p>
                  </a:txBody>
                  <a:tcPr marL="36576" marR="36576" marT="18288" marB="18288">
                    <a:solidFill>
                      <a:srgbClr val="F7F3EC"/>
                    </a:solidFill>
                  </a:tcPr>
                </a:tc>
                <a:tc>
                  <a:txBody>
                    <a:bodyPr/>
                    <a:lstStyle/>
                    <a:p>
                      <a:pPr algn="ctr"/>
                      <a:r>
                        <a:rPr sz="1000" b="0">
                          <a:latin typeface="Times New Roman"/>
                        </a:rPr>
                        <a:t>YOLO11m</a:t>
                      </a:r>
                    </a:p>
                  </a:txBody>
                  <a:tcPr marL="36576" marR="36576" marT="18288" marB="18288">
                    <a:solidFill>
                      <a:srgbClr val="F7F3EC"/>
                    </a:solidFill>
                  </a:tcPr>
                </a:tc>
                <a:tc>
                  <a:txBody>
                    <a:bodyPr/>
                    <a:lstStyle/>
                    <a:p>
                      <a:pPr algn="ctr"/>
                      <a:r>
                        <a:rPr sz="1000" b="0">
                          <a:latin typeface="Times New Roman"/>
                        </a:rPr>
                        <a:t>batch 16, lr0 0.002, patience 25</a:t>
                      </a:r>
                    </a:p>
                  </a:txBody>
                  <a:tcPr marL="36576" marR="36576" marT="18288" marB="18288">
                    <a:solidFill>
                      <a:srgbClr val="F7F3EC"/>
                    </a:solidFill>
                  </a:tcPr>
                </a:tc>
                <a:tc>
                  <a:txBody>
                    <a:bodyPr/>
                    <a:lstStyle/>
                    <a:p>
                      <a:pPr algn="ctr"/>
                      <a:r>
                        <a:rPr sz="1000" b="0">
                          <a:latin typeface="Times New Roman"/>
                        </a:rPr>
                        <a:t>89 (early stop) / 2.54 h</a:t>
                      </a:r>
                    </a:p>
                  </a:txBody>
                  <a:tcPr marL="36576" marR="36576" marT="18288" marB="18288">
                    <a:solidFill>
                      <a:srgbClr val="F7F3EC"/>
                    </a:solidFill>
                  </a:tcPr>
                </a:tc>
                <a:tc>
                  <a:txBody>
                    <a:bodyPr/>
                    <a:lstStyle/>
                    <a:p>
                      <a:pPr algn="ctr"/>
                      <a:r>
                        <a:rPr sz="1000" b="0">
                          <a:latin typeface="Times New Roman"/>
                        </a:rPr>
                        <a:t>64</a:t>
                      </a:r>
                    </a:p>
                  </a:txBody>
                  <a:tcPr marL="36576" marR="36576" marT="18288" marB="18288">
                    <a:solidFill>
                      <a:srgbClr val="F7F3EC"/>
                    </a:solidFill>
                  </a:tcPr>
                </a:tc>
                <a:tc>
                  <a:txBody>
                    <a:bodyPr/>
                    <a:lstStyle/>
                    <a:p>
                      <a:pPr algn="ctr"/>
                      <a:r>
                        <a:rPr sz="1000" b="0">
                          <a:latin typeface="Times New Roman"/>
                        </a:rPr>
                        <a:t>62.6</a:t>
                      </a:r>
                    </a:p>
                  </a:txBody>
                  <a:tcPr marL="36576" marR="36576" marT="18288" marB="18288">
                    <a:solidFill>
                      <a:srgbClr val="F7F3EC"/>
                    </a:solidFill>
                  </a:tcPr>
                </a:tc>
                <a:tc>
                  <a:txBody>
                    <a:bodyPr/>
                    <a:lstStyle/>
                    <a:p>
                      <a:pPr algn="ctr"/>
                      <a:r>
                        <a:rPr sz="1000" b="0">
                          <a:latin typeface="Times New Roman"/>
                        </a:rPr>
                        <a:t>33.7</a:t>
                      </a:r>
                    </a:p>
                  </a:txBody>
                  <a:tcPr marL="36576" marR="36576" marT="18288" marB="18288">
                    <a:solidFill>
                      <a:srgbClr val="F7F3EC"/>
                    </a:solidFill>
                  </a:tcPr>
                </a:tc>
              </a:tr>
              <a:tr h="331470">
                <a:tc>
                  <a:txBody>
                    <a:bodyPr/>
                    <a:lstStyle/>
                    <a:p>
                      <a:pPr algn="l"/>
                      <a:r>
                        <a:rPr sz="1000" b="0">
                          <a:latin typeface="Times New Roman"/>
                        </a:rPr>
                        <a:t>2</a:t>
                      </a:r>
                    </a:p>
                  </a:txBody>
                  <a:tcPr marL="36576" marR="36576" marT="18288" marB="18288">
                    <a:solidFill>
                      <a:srgbClr val="FFFFFF"/>
                    </a:solidFill>
                  </a:tcPr>
                </a:tc>
                <a:tc>
                  <a:txBody>
                    <a:bodyPr/>
                    <a:lstStyle/>
                    <a:p>
                      <a:pPr algn="ctr"/>
                      <a:r>
                        <a:rPr sz="1000" b="0">
                          <a:latin typeface="Times New Roman"/>
                        </a:rPr>
                        <a:t>YOLO11m</a:t>
                      </a:r>
                    </a:p>
                  </a:txBody>
                  <a:tcPr marL="36576" marR="36576" marT="18288" marB="18288">
                    <a:solidFill>
                      <a:srgbClr val="FFFFFF"/>
                    </a:solidFill>
                  </a:tcPr>
                </a:tc>
                <a:tc>
                  <a:txBody>
                    <a:bodyPr/>
                    <a:lstStyle/>
                    <a:p>
                      <a:pPr algn="ctr"/>
                      <a:r>
                        <a:rPr sz="1000" b="0">
                          <a:latin typeface="Times New Roman"/>
                        </a:rPr>
                        <a:t>batch 32, lr0 0.001, patience 40 (adopted)</a:t>
                      </a:r>
                    </a:p>
                  </a:txBody>
                  <a:tcPr marL="36576" marR="36576" marT="18288" marB="18288">
                    <a:solidFill>
                      <a:srgbClr val="FFFFFF"/>
                    </a:solidFill>
                  </a:tcPr>
                </a:tc>
                <a:tc>
                  <a:txBody>
                    <a:bodyPr/>
                    <a:lstStyle/>
                    <a:p>
                      <a:pPr algn="ctr"/>
                      <a:r>
                        <a:rPr sz="1000" b="0">
                          <a:latin typeface="Times New Roman"/>
                        </a:rPr>
                        <a:t>100 / 2.64 h</a:t>
                      </a:r>
                    </a:p>
                  </a:txBody>
                  <a:tcPr marL="36576" marR="36576" marT="18288" marB="18288">
                    <a:solidFill>
                      <a:srgbClr val="FFFFFF"/>
                    </a:solidFill>
                  </a:tcPr>
                </a:tc>
                <a:tc>
                  <a:txBody>
                    <a:bodyPr/>
                    <a:lstStyle/>
                    <a:p>
                      <a:pPr algn="ctr"/>
                      <a:r>
                        <a:rPr sz="1000" b="0">
                          <a:latin typeface="Times New Roman"/>
                        </a:rPr>
                        <a:t>73</a:t>
                      </a:r>
                    </a:p>
                  </a:txBody>
                  <a:tcPr marL="36576" marR="36576" marT="18288" marB="18288">
                    <a:solidFill>
                      <a:srgbClr val="FFFFFF"/>
                    </a:solidFill>
                  </a:tcPr>
                </a:tc>
                <a:tc>
                  <a:txBody>
                    <a:bodyPr/>
                    <a:lstStyle/>
                    <a:p>
                      <a:pPr algn="ctr"/>
                      <a:r>
                        <a:rPr sz="1000" b="0">
                          <a:latin typeface="Times New Roman"/>
                        </a:rPr>
                        <a:t>65.7</a:t>
                      </a:r>
                    </a:p>
                  </a:txBody>
                  <a:tcPr marL="36576" marR="36576" marT="18288" marB="18288">
                    <a:solidFill>
                      <a:srgbClr val="FFFFFF"/>
                    </a:solidFill>
                  </a:tcPr>
                </a:tc>
                <a:tc>
                  <a:txBody>
                    <a:bodyPr/>
                    <a:lstStyle/>
                    <a:p>
                      <a:pPr algn="ctr"/>
                      <a:r>
                        <a:rPr sz="1000" b="0">
                          <a:latin typeface="Times New Roman"/>
                        </a:rPr>
                        <a:t>36.2</a:t>
                      </a:r>
                    </a:p>
                  </a:txBody>
                  <a:tcPr marL="36576" marR="36576" marT="18288" marB="18288">
                    <a:solidFill>
                      <a:srgbClr val="FFFFFF"/>
                    </a:solidFill>
                  </a:tcPr>
                </a:tc>
              </a:tr>
              <a:tr h="331470">
                <a:tc>
                  <a:txBody>
                    <a:bodyPr/>
                    <a:lstStyle/>
                    <a:p>
                      <a:pPr algn="l"/>
                      <a:r>
                        <a:rPr sz="1000" b="0">
                          <a:latin typeface="Times New Roman"/>
                        </a:rPr>
                        <a:t>3</a:t>
                      </a:r>
                    </a:p>
                  </a:txBody>
                  <a:tcPr marL="36576" marR="36576" marT="18288" marB="18288">
                    <a:solidFill>
                      <a:srgbClr val="F7F3EC"/>
                    </a:solidFill>
                  </a:tcPr>
                </a:tc>
                <a:tc>
                  <a:txBody>
                    <a:bodyPr/>
                    <a:lstStyle/>
                    <a:p>
                      <a:pPr algn="ctr"/>
                      <a:r>
                        <a:rPr sz="1000" b="0">
                          <a:latin typeface="Times New Roman"/>
                        </a:rPr>
                        <a:t>YOLO11s</a:t>
                      </a:r>
                    </a:p>
                  </a:txBody>
                  <a:tcPr marL="36576" marR="36576" marT="18288" marB="18288">
                    <a:solidFill>
                      <a:srgbClr val="F7F3EC"/>
                    </a:solidFill>
                  </a:tcPr>
                </a:tc>
                <a:tc>
                  <a:txBody>
                    <a:bodyPr/>
                    <a:lstStyle/>
                    <a:p>
                      <a:pPr algn="ctr"/>
                      <a:r>
                        <a:rPr sz="1000" b="0">
                          <a:latin typeface="Times New Roman"/>
                        </a:rPr>
                        <a:t>as run 2</a:t>
                      </a:r>
                    </a:p>
                  </a:txBody>
                  <a:tcPr marL="36576" marR="36576" marT="18288" marB="18288">
                    <a:solidFill>
                      <a:srgbClr val="F7F3EC"/>
                    </a:solidFill>
                  </a:tcPr>
                </a:tc>
                <a:tc>
                  <a:txBody>
                    <a:bodyPr/>
                    <a:lstStyle/>
                    <a:p>
                      <a:pPr algn="ctr"/>
                      <a:r>
                        <a:rPr sz="1000" b="0">
                          <a:latin typeface="Times New Roman"/>
                        </a:rPr>
                        <a:t>90 (early stop) / 1.43 h</a:t>
                      </a:r>
                    </a:p>
                  </a:txBody>
                  <a:tcPr marL="36576" marR="36576" marT="18288" marB="18288">
                    <a:solidFill>
                      <a:srgbClr val="F7F3EC"/>
                    </a:solidFill>
                  </a:tcPr>
                </a:tc>
                <a:tc>
                  <a:txBody>
                    <a:bodyPr/>
                    <a:lstStyle/>
                    <a:p>
                      <a:pPr algn="ctr"/>
                      <a:r>
                        <a:rPr sz="1000" b="0">
                          <a:latin typeface="Times New Roman"/>
                        </a:rPr>
                        <a:t>50</a:t>
                      </a:r>
                    </a:p>
                  </a:txBody>
                  <a:tcPr marL="36576" marR="36576" marT="18288" marB="18288">
                    <a:solidFill>
                      <a:srgbClr val="F7F3EC"/>
                    </a:solidFill>
                  </a:tcPr>
                </a:tc>
                <a:tc>
                  <a:txBody>
                    <a:bodyPr/>
                    <a:lstStyle/>
                    <a:p>
                      <a:pPr algn="ctr"/>
                      <a:r>
                        <a:rPr sz="1000" b="0">
                          <a:latin typeface="Times New Roman"/>
                        </a:rPr>
                        <a:t>65.3</a:t>
                      </a:r>
                    </a:p>
                  </a:txBody>
                  <a:tcPr marL="36576" marR="36576" marT="18288" marB="18288">
                    <a:solidFill>
                      <a:srgbClr val="F7F3EC"/>
                    </a:solidFill>
                  </a:tcPr>
                </a:tc>
                <a:tc>
                  <a:txBody>
                    <a:bodyPr/>
                    <a:lstStyle/>
                    <a:p>
                      <a:pPr algn="ctr"/>
                      <a:r>
                        <a:rPr sz="1000" b="0">
                          <a:latin typeface="Times New Roman"/>
                        </a:rPr>
                        <a:t>36.0</a:t>
                      </a:r>
                    </a:p>
                  </a:txBody>
                  <a:tcPr marL="36576" marR="36576" marT="18288" marB="18288">
                    <a:solidFill>
                      <a:srgbClr val="F7F3EC"/>
                    </a:solidFill>
                  </a:tcPr>
                </a:tc>
              </a:tr>
            </a:tbl>
          </a:graphicData>
        </a:graphic>
      </p:graphicFrame>
      <p:pic>
        <p:nvPicPr>
          <p:cNvPr id="274" name="Picture 273" descr="results.png"/>
          <p:cNvPicPr>
            <a:picLocks noChangeAspect="1"/>
          </p:cNvPicPr>
          <p:nvPr/>
        </p:nvPicPr>
        <p:blipFill>
          <a:blip r:embed="rId7"/>
          <a:stretch>
            <a:fillRect/>
          </a:stretch>
        </p:blipFill>
        <p:spPr>
          <a:xfrm>
            <a:off x="274320" y="2354580"/>
            <a:ext cx="5120640" cy="2560320"/>
          </a:xfrm>
          <a:prstGeom prst="rect">
            <a:avLst/>
          </a:prstGeom>
        </p:spPr>
      </p:pic>
      <p:sp>
        <p:nvSpPr>
          <p:cNvPr id="275" name="TextBox 274"/>
          <p:cNvSpPr txBox="1"/>
          <p:nvPr/>
        </p:nvSpPr>
        <p:spPr>
          <a:xfrm>
            <a:off x="5486400" y="2240280"/>
            <a:ext cx="2834640" cy="3108960"/>
          </a:xfrm>
          <a:prstGeom prst="rect">
            <a:avLst/>
          </a:prstGeom>
          <a:noFill/>
        </p:spPr>
        <p:txBody>
          <a:bodyPr wrap="square">
            <a:spAutoFit/>
          </a:bodyPr>
          <a:lstStyle/>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Run 1 showed an unstable validation curve (10-15 point drops in mAP50).</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Batch 32 with lr0 0.001 and longer patience removed the instability and improved every class on validation; adopted for both models.</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Decision made on validation only; the test split was not touched.</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About 100 s per epoch on one T4.</a:t>
            </a:r>
            <a:endParaRPr lang="en-US" sz="1200">
              <a:latin typeface="Times New Roman"/>
              <a:ea typeface="Times New Roman"/>
              <a:cs typeface="Times New Roman"/>
              <a:sym typeface="Times New Roman"/>
            </a:endParaRPr>
          </a:p>
        </p:txBody>
      </p:sp>
      <p:sp>
        <p:nvSpPr>
          <p:cNvPr id="276" name="TextBox 275"/>
          <p:cNvSpPr txBox="1"/>
          <p:nvPr/>
        </p:nvSpPr>
        <p:spPr>
          <a:xfrm>
            <a:off x="274320" y="5074920"/>
            <a:ext cx="5120640" cy="320040"/>
          </a:xfrm>
          <a:prstGeom prst="rect">
            <a:avLst/>
          </a:prstGeom>
          <a:noFill/>
        </p:spPr>
        <p:txBody>
          <a:bodyPr wrap="none">
            <a:spAutoFit/>
          </a:bodyPr>
          <a:lstStyle/>
          <a:p>
            <a:pPr marL="0" indent="0" lvl="0" algn="ctr">
              <a:lnSpc>
                <a:spcPct val="115000"/>
              </a:lnSpc>
              <a:spcBef>
                <a:spcPts val="600"/>
              </a:spcBef>
              <a:spcAft>
                <a:spcPts val="0"/>
              </a:spcAft>
              <a:buNone/>
            </a:pPr>
            <a:r>
              <a:rPr lang="en-US" sz="1100">
                <a:latin typeface="Times New Roman"/>
                <a:ea typeface="Times New Roman"/>
                <a:cs typeface="Times New Roman"/>
                <a:sym typeface="Times New Roman"/>
              </a:rPr>
              <a:t>Fig. Training and validation curves, YOLO11m (adopted run 2)</a:t>
            </a:r>
            <a:endParaRPr lang="en-US" sz="1100">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8"/>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PLAN OF ACTION: PROGRESS</a:t>
            </a:r>
            <a:endParaRPr b="0" i="0" sz="1400" u="none" cap="none" strike="noStrike">
              <a:solidFill>
                <a:srgbClr val="000000"/>
              </a:solidFill>
              <a:latin typeface="Arial"/>
              <a:ea typeface="Arial"/>
              <a:cs typeface="Arial"/>
              <a:sym typeface="Arial"/>
            </a:endParaRPr>
          </a:p>
        </p:txBody>
      </p:sp>
      <p:sp>
        <p:nvSpPr>
          <p:cNvPr id="279" name="Google Shape;279;p28"/>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80" name="Google Shape;280;p28"/>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81" name="Google Shape;281;p28"/>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82" name="Google Shape;282;p28"/>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83" name="Google Shape;283;p28"/>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84" name="Google Shape;284;p28"/>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85" name="Google Shape;285;p28"/>
          <p:cNvSpPr/>
          <p:nvPr/>
        </p:nvSpPr>
        <p:spPr>
          <a:xfrm>
            <a:off x="-1109559" y="4006279"/>
            <a:ext cx="8857645" cy="1426031"/>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p:txBody>
      </p:sp>
      <p:pic>
        <p:nvPicPr>
          <p:cNvPr id="286" name="Picture 285" descr="plan_50.png"/>
          <p:cNvPicPr>
            <a:picLocks noChangeAspect="1"/>
          </p:cNvPicPr>
          <p:nvPr/>
        </p:nvPicPr>
        <p:blipFill>
          <a:blip r:embed="rId8"/>
          <a:stretch>
            <a:fillRect/>
          </a:stretch>
        </p:blipFill>
        <p:spPr>
          <a:xfrm>
            <a:off x="320040" y="1400326"/>
            <a:ext cx="7955279" cy="3508708"/>
          </a:xfrm>
          <a:prstGeom prst="rect">
            <a:avLst/>
          </a:prstGeom>
        </p:spPr>
      </p:pic>
      <p:sp>
        <p:nvSpPr>
          <p:cNvPr id="287" name="TextBox 286"/>
          <p:cNvSpPr txBox="1"/>
          <p:nvPr/>
        </p:nvSpPr>
        <p:spPr>
          <a:xfrm>
            <a:off x="320040" y="5532120"/>
            <a:ext cx="7955279" cy="822960"/>
          </a:xfrm>
          <a:prstGeom prst="rect">
            <a:avLst/>
          </a:prstGeom>
          <a:noFill/>
        </p:spPr>
        <p:txBody>
          <a:bodyPr wrap="square">
            <a:spAutoFit/>
          </a:bodyPr>
          <a:lstStyle/>
          <a:p>
            <a:pPr marL="0" indent="0" lvl="0" algn="l">
              <a:lnSpc>
                <a:spcPct val="110000"/>
              </a:lnSpc>
              <a:spcBef>
                <a:spcPts val="400"/>
              </a:spcBef>
              <a:spcAft>
                <a:spcPts val="0"/>
              </a:spcAft>
              <a:buNone/>
            </a:pPr>
            <a:r>
              <a:rPr lang="en-US" sz="1200">
                <a:latin typeface="Times New Roman"/>
                <a:ea typeface="Times New Roman"/>
                <a:cs typeface="Times New Roman"/>
                <a:sym typeface="Times New Roman"/>
              </a:rPr>
              <a:t>Completed: planning, dataset and preprocessing, defect detection (both models, held-out evaluation), demo application. Planned: enhancement and architecture experiments, recoverability estimation, final evaluation and report.</a:t>
            </a:r>
            <a:endParaRPr lang="en-US" sz="1200">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29"/>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RESULTS: HELD-OUT TEST</a:t>
            </a:r>
            <a:endParaRPr b="0" i="0" sz="1400" u="none" cap="none" strike="noStrike">
              <a:solidFill>
                <a:srgbClr val="000000"/>
              </a:solidFill>
              <a:latin typeface="Arial"/>
              <a:ea typeface="Arial"/>
              <a:cs typeface="Arial"/>
              <a:sym typeface="Arial"/>
            </a:endParaRPr>
          </a:p>
        </p:txBody>
      </p:sp>
      <p:sp>
        <p:nvSpPr>
          <p:cNvPr id="292" name="Google Shape;292;p29"/>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93" name="Google Shape;293;p29"/>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p:txBody>
      </p:sp>
      <p:graphicFrame>
        <p:nvGraphicFramePr>
          <p:cNvPr id="299" name="Table 298"/>
          <p:cNvGraphicFramePr>
            <a:graphicFrameLocks noGrp="1"/>
          </p:cNvGraphicFramePr>
          <p:nvPr/>
        </p:nvGraphicFramePr>
        <p:xfrm>
          <a:off x="274320" y="777240"/>
          <a:ext cx="7955280" cy="960120"/>
        </p:xfrm>
        <a:graphic>
          <a:graphicData uri="http://schemas.openxmlformats.org/drawingml/2006/table">
            <a:tbl>
              <a:tblPr firstRow="1" bandRow="1">
                <a:tableStyleId>{5C22544A-7EE6-4342-B048-85BDC9FD1C3A}</a:tableStyleId>
              </a:tblPr>
              <a:tblGrid>
                <a:gridCol w="1737360"/>
                <a:gridCol w="777240"/>
                <a:gridCol w="731520"/>
                <a:gridCol w="640080"/>
                <a:gridCol w="731520"/>
                <a:gridCol w="868680"/>
                <a:gridCol w="1097280"/>
                <a:gridCol w="548640"/>
                <a:gridCol w="822960"/>
              </a:tblGrid>
              <a:tr h="320040">
                <a:tc>
                  <a:txBody>
                    <a:bodyPr/>
                    <a:lstStyle/>
                    <a:p>
                      <a:pPr algn="l"/>
                      <a:r>
                        <a:rPr sz="1050" b="1">
                          <a:solidFill>
                            <a:srgbClr val="FFFFFF"/>
                          </a:solidFill>
                          <a:latin typeface="Times New Roman"/>
                        </a:rPr>
                        <a:t>Model</a:t>
                      </a:r>
                    </a:p>
                  </a:txBody>
                  <a:tcPr marL="36576" marR="36576" marT="18288" marB="18288">
                    <a:solidFill>
                      <a:srgbClr val="41534B"/>
                    </a:solidFill>
                  </a:tcPr>
                </a:tc>
                <a:tc>
                  <a:txBody>
                    <a:bodyPr/>
                    <a:lstStyle/>
                    <a:p>
                      <a:pPr algn="ctr"/>
                      <a:r>
                        <a:rPr sz="1050" b="1">
                          <a:solidFill>
                            <a:srgbClr val="FFFFFF"/>
                          </a:solidFill>
                          <a:latin typeface="Times New Roman"/>
                        </a:rPr>
                        <a:t>Precision</a:t>
                      </a:r>
                    </a:p>
                  </a:txBody>
                  <a:tcPr marL="36576" marR="36576" marT="18288" marB="18288">
                    <a:solidFill>
                      <a:srgbClr val="41534B"/>
                    </a:solidFill>
                  </a:tcPr>
                </a:tc>
                <a:tc>
                  <a:txBody>
                    <a:bodyPr/>
                    <a:lstStyle/>
                    <a:p>
                      <a:pPr algn="ctr"/>
                      <a:r>
                        <a:rPr sz="1050" b="1">
                          <a:solidFill>
                            <a:srgbClr val="FFFFFF"/>
                          </a:solidFill>
                          <a:latin typeface="Times New Roman"/>
                        </a:rPr>
                        <a:t>Recall</a:t>
                      </a:r>
                    </a:p>
                  </a:txBody>
                  <a:tcPr marL="36576" marR="36576" marT="18288" marB="18288">
                    <a:solidFill>
                      <a:srgbClr val="41534B"/>
                    </a:solidFill>
                  </a:tcPr>
                </a:tc>
                <a:tc>
                  <a:txBody>
                    <a:bodyPr/>
                    <a:lstStyle/>
                    <a:p>
                      <a:pPr algn="ctr"/>
                      <a:r>
                        <a:rPr sz="1050" b="1">
                          <a:solidFill>
                            <a:srgbClr val="FFFFFF"/>
                          </a:solidFill>
                          <a:latin typeface="Times New Roman"/>
                        </a:rPr>
                        <a:t>F1</a:t>
                      </a:r>
                    </a:p>
                  </a:txBody>
                  <a:tcPr marL="36576" marR="36576" marT="18288" marB="18288">
                    <a:solidFill>
                      <a:srgbClr val="41534B"/>
                    </a:solidFill>
                  </a:tcPr>
                </a:tc>
                <a:tc>
                  <a:txBody>
                    <a:bodyPr/>
                    <a:lstStyle/>
                    <a:p>
                      <a:pPr algn="ctr"/>
                      <a:r>
                        <a:rPr sz="1050" b="1">
                          <a:solidFill>
                            <a:srgbClr val="FFFFFF"/>
                          </a:solidFill>
                          <a:latin typeface="Times New Roman"/>
                        </a:rPr>
                        <a:t>mAP50</a:t>
                      </a:r>
                    </a:p>
                  </a:txBody>
                  <a:tcPr marL="36576" marR="36576" marT="18288" marB="18288">
                    <a:solidFill>
                      <a:srgbClr val="41534B"/>
                    </a:solidFill>
                  </a:tcPr>
                </a:tc>
                <a:tc>
                  <a:txBody>
                    <a:bodyPr/>
                    <a:lstStyle/>
                    <a:p>
                      <a:pPr algn="ctr"/>
                      <a:r>
                        <a:rPr sz="1050" b="1">
                          <a:solidFill>
                            <a:srgbClr val="FFFFFF"/>
                          </a:solidFill>
                          <a:latin typeface="Times New Roman"/>
                        </a:rPr>
                        <a:t>mAP50-95</a:t>
                      </a:r>
                    </a:p>
                  </a:txBody>
                  <a:tcPr marL="36576" marR="36576" marT="18288" marB="18288">
                    <a:solidFill>
                      <a:srgbClr val="41534B"/>
                    </a:solidFill>
                  </a:tcPr>
                </a:tc>
                <a:tc>
                  <a:txBody>
                    <a:bodyPr/>
                    <a:lstStyle/>
                    <a:p>
                      <a:pPr algn="ctr"/>
                      <a:r>
                        <a:rPr sz="1050" b="1">
                          <a:solidFill>
                            <a:srgbClr val="FFFFFF"/>
                          </a:solidFill>
                          <a:latin typeface="Times New Roman"/>
                        </a:rPr>
                        <a:t>ms / image (T4)</a:t>
                      </a:r>
                    </a:p>
                  </a:txBody>
                  <a:tcPr marL="36576" marR="36576" marT="18288" marB="18288">
                    <a:solidFill>
                      <a:srgbClr val="41534B"/>
                    </a:solidFill>
                  </a:tcPr>
                </a:tc>
                <a:tc>
                  <a:txBody>
                    <a:bodyPr/>
                    <a:lstStyle/>
                    <a:p>
                      <a:pPr algn="ctr"/>
                      <a:r>
                        <a:rPr sz="1050" b="1">
                          <a:solidFill>
                            <a:srgbClr val="FFFFFF"/>
                          </a:solidFill>
                          <a:latin typeface="Times New Roman"/>
                        </a:rPr>
                        <a:t>FPS</a:t>
                      </a:r>
                    </a:p>
                  </a:txBody>
                  <a:tcPr marL="36576" marR="36576" marT="18288" marB="18288">
                    <a:solidFill>
                      <a:srgbClr val="41534B"/>
                    </a:solidFill>
                  </a:tcPr>
                </a:tc>
                <a:tc>
                  <a:txBody>
                    <a:bodyPr/>
                    <a:lstStyle/>
                    <a:p>
                      <a:pPr algn="ctr"/>
                      <a:r>
                        <a:rPr sz="1050" b="1">
                          <a:solidFill>
                            <a:srgbClr val="FFFFFF"/>
                          </a:solidFill>
                          <a:latin typeface="Times New Roman"/>
                        </a:rPr>
                        <a:t>Params</a:t>
                      </a:r>
                    </a:p>
                  </a:txBody>
                  <a:tcPr marL="36576" marR="36576" marT="18288" marB="18288">
                    <a:solidFill>
                      <a:srgbClr val="41534B"/>
                    </a:solidFill>
                  </a:tcPr>
                </a:tc>
              </a:tr>
              <a:tr h="320040">
                <a:tc>
                  <a:txBody>
                    <a:bodyPr/>
                    <a:lstStyle/>
                    <a:p>
                      <a:pPr algn="l"/>
                      <a:r>
                        <a:rPr sz="1050" b="0">
                          <a:latin typeface="Times New Roman"/>
                        </a:rPr>
                        <a:t>YOLO11m (proposed)</a:t>
                      </a:r>
                    </a:p>
                  </a:txBody>
                  <a:tcPr marL="36576" marR="36576" marT="18288" marB="18288">
                    <a:solidFill>
                      <a:srgbClr val="F7F3EC"/>
                    </a:solidFill>
                  </a:tcPr>
                </a:tc>
                <a:tc>
                  <a:txBody>
                    <a:bodyPr/>
                    <a:lstStyle/>
                    <a:p>
                      <a:pPr algn="ctr"/>
                      <a:r>
                        <a:rPr sz="1050" b="0">
                          <a:latin typeface="Times New Roman"/>
                        </a:rPr>
                        <a:t>63.4</a:t>
                      </a:r>
                    </a:p>
                  </a:txBody>
                  <a:tcPr marL="36576" marR="36576" marT="18288" marB="18288">
                    <a:solidFill>
                      <a:srgbClr val="F7F3EC"/>
                    </a:solidFill>
                  </a:tcPr>
                </a:tc>
                <a:tc>
                  <a:txBody>
                    <a:bodyPr/>
                    <a:lstStyle/>
                    <a:p>
                      <a:pPr algn="ctr"/>
                      <a:r>
                        <a:rPr sz="1050" b="0">
                          <a:latin typeface="Times New Roman"/>
                        </a:rPr>
                        <a:t>66.2</a:t>
                      </a:r>
                    </a:p>
                  </a:txBody>
                  <a:tcPr marL="36576" marR="36576" marT="18288" marB="18288">
                    <a:solidFill>
                      <a:srgbClr val="F7F3EC"/>
                    </a:solidFill>
                  </a:tcPr>
                </a:tc>
                <a:tc>
                  <a:txBody>
                    <a:bodyPr/>
                    <a:lstStyle/>
                    <a:p>
                      <a:pPr algn="ctr"/>
                      <a:r>
                        <a:rPr sz="1050" b="0">
                          <a:latin typeface="Times New Roman"/>
                        </a:rPr>
                        <a:t>64.7</a:t>
                      </a:r>
                    </a:p>
                  </a:txBody>
                  <a:tcPr marL="36576" marR="36576" marT="18288" marB="18288">
                    <a:solidFill>
                      <a:srgbClr val="F7F3EC"/>
                    </a:solidFill>
                  </a:tcPr>
                </a:tc>
                <a:tc>
                  <a:txBody>
                    <a:bodyPr/>
                    <a:lstStyle/>
                    <a:p>
                      <a:pPr algn="ctr"/>
                      <a:r>
                        <a:rPr sz="1050" b="0">
                          <a:latin typeface="Times New Roman"/>
                        </a:rPr>
                        <a:t>63.0</a:t>
                      </a:r>
                    </a:p>
                  </a:txBody>
                  <a:tcPr marL="36576" marR="36576" marT="18288" marB="18288">
                    <a:solidFill>
                      <a:srgbClr val="F7F3EC"/>
                    </a:solidFill>
                  </a:tcPr>
                </a:tc>
                <a:tc>
                  <a:txBody>
                    <a:bodyPr/>
                    <a:lstStyle/>
                    <a:p>
                      <a:pPr algn="ctr"/>
                      <a:r>
                        <a:rPr sz="1050" b="0">
                          <a:latin typeface="Times New Roman"/>
                        </a:rPr>
                        <a:t>34.0</a:t>
                      </a:r>
                    </a:p>
                  </a:txBody>
                  <a:tcPr marL="36576" marR="36576" marT="18288" marB="18288">
                    <a:solidFill>
                      <a:srgbClr val="F7F3EC"/>
                    </a:solidFill>
                  </a:tcPr>
                </a:tc>
                <a:tc>
                  <a:txBody>
                    <a:bodyPr/>
                    <a:lstStyle/>
                    <a:p>
                      <a:pPr algn="ctr"/>
                      <a:r>
                        <a:rPr sz="1050" b="0">
                          <a:latin typeface="Times New Roman"/>
                        </a:rPr>
                        <a:t>33.2</a:t>
                      </a:r>
                    </a:p>
                  </a:txBody>
                  <a:tcPr marL="36576" marR="36576" marT="18288" marB="18288">
                    <a:solidFill>
                      <a:srgbClr val="F7F3EC"/>
                    </a:solidFill>
                  </a:tcPr>
                </a:tc>
                <a:tc>
                  <a:txBody>
                    <a:bodyPr/>
                    <a:lstStyle/>
                    <a:p>
                      <a:pPr algn="ctr"/>
                      <a:r>
                        <a:rPr sz="1050" b="0">
                          <a:latin typeface="Times New Roman"/>
                        </a:rPr>
                        <a:t>30</a:t>
                      </a:r>
                    </a:p>
                  </a:txBody>
                  <a:tcPr marL="36576" marR="36576" marT="18288" marB="18288">
                    <a:solidFill>
                      <a:srgbClr val="F7F3EC"/>
                    </a:solidFill>
                  </a:tcPr>
                </a:tc>
                <a:tc>
                  <a:txBody>
                    <a:bodyPr/>
                    <a:lstStyle/>
                    <a:p>
                      <a:pPr algn="ctr"/>
                      <a:r>
                        <a:rPr sz="1050" b="0">
                          <a:latin typeface="Times New Roman"/>
                        </a:rPr>
                        <a:t>20.0 M</a:t>
                      </a:r>
                    </a:p>
                  </a:txBody>
                  <a:tcPr marL="36576" marR="36576" marT="18288" marB="18288">
                    <a:solidFill>
                      <a:srgbClr val="F7F3EC"/>
                    </a:solidFill>
                  </a:tcPr>
                </a:tc>
              </a:tr>
              <a:tr h="320040">
                <a:tc>
                  <a:txBody>
                    <a:bodyPr/>
                    <a:lstStyle/>
                    <a:p>
                      <a:pPr algn="l"/>
                      <a:r>
                        <a:rPr sz="1050" b="0">
                          <a:latin typeface="Times New Roman"/>
                        </a:rPr>
                        <a:t>YOLO11s (baseline)</a:t>
                      </a:r>
                    </a:p>
                  </a:txBody>
                  <a:tcPr marL="36576" marR="36576" marT="18288" marB="18288">
                    <a:solidFill>
                      <a:srgbClr val="FFFFFF"/>
                    </a:solidFill>
                  </a:tcPr>
                </a:tc>
                <a:tc>
                  <a:txBody>
                    <a:bodyPr/>
                    <a:lstStyle/>
                    <a:p>
                      <a:pPr algn="ctr"/>
                      <a:r>
                        <a:rPr sz="1050" b="0">
                          <a:latin typeface="Times New Roman"/>
                        </a:rPr>
                        <a:t>71.0</a:t>
                      </a:r>
                    </a:p>
                  </a:txBody>
                  <a:tcPr marL="36576" marR="36576" marT="18288" marB="18288">
                    <a:solidFill>
                      <a:srgbClr val="FFFFFF"/>
                    </a:solidFill>
                  </a:tcPr>
                </a:tc>
                <a:tc>
                  <a:txBody>
                    <a:bodyPr/>
                    <a:lstStyle/>
                    <a:p>
                      <a:pPr algn="ctr"/>
                      <a:r>
                        <a:rPr sz="1050" b="0">
                          <a:latin typeface="Times New Roman"/>
                        </a:rPr>
                        <a:t>64.1</a:t>
                      </a:r>
                    </a:p>
                  </a:txBody>
                  <a:tcPr marL="36576" marR="36576" marT="18288" marB="18288">
                    <a:solidFill>
                      <a:srgbClr val="FFFFFF"/>
                    </a:solidFill>
                  </a:tcPr>
                </a:tc>
                <a:tc>
                  <a:txBody>
                    <a:bodyPr/>
                    <a:lstStyle/>
                    <a:p>
                      <a:pPr algn="ctr"/>
                      <a:r>
                        <a:rPr sz="1050" b="0">
                          <a:latin typeface="Times New Roman"/>
                        </a:rPr>
                        <a:t>67.4</a:t>
                      </a:r>
                    </a:p>
                  </a:txBody>
                  <a:tcPr marL="36576" marR="36576" marT="18288" marB="18288">
                    <a:solidFill>
                      <a:srgbClr val="FFFFFF"/>
                    </a:solidFill>
                  </a:tcPr>
                </a:tc>
                <a:tc>
                  <a:txBody>
                    <a:bodyPr/>
                    <a:lstStyle/>
                    <a:p>
                      <a:pPr algn="ctr"/>
                      <a:r>
                        <a:rPr sz="1050" b="0">
                          <a:latin typeface="Times New Roman"/>
                        </a:rPr>
                        <a:t>64.6</a:t>
                      </a:r>
                    </a:p>
                  </a:txBody>
                  <a:tcPr marL="36576" marR="36576" marT="18288" marB="18288">
                    <a:solidFill>
                      <a:srgbClr val="FFFFFF"/>
                    </a:solidFill>
                  </a:tcPr>
                </a:tc>
                <a:tc>
                  <a:txBody>
                    <a:bodyPr/>
                    <a:lstStyle/>
                    <a:p>
                      <a:pPr algn="ctr"/>
                      <a:r>
                        <a:rPr sz="1050" b="0">
                          <a:latin typeface="Times New Roman"/>
                        </a:rPr>
                        <a:t>33.4</a:t>
                      </a:r>
                    </a:p>
                  </a:txBody>
                  <a:tcPr marL="36576" marR="36576" marT="18288" marB="18288">
                    <a:solidFill>
                      <a:srgbClr val="FFFFFF"/>
                    </a:solidFill>
                  </a:tcPr>
                </a:tc>
                <a:tc>
                  <a:txBody>
                    <a:bodyPr/>
                    <a:lstStyle/>
                    <a:p>
                      <a:pPr algn="ctr"/>
                      <a:r>
                        <a:rPr sz="1050" b="0">
                          <a:latin typeface="Times New Roman"/>
                        </a:rPr>
                        <a:t>11.7</a:t>
                      </a:r>
                    </a:p>
                  </a:txBody>
                  <a:tcPr marL="36576" marR="36576" marT="18288" marB="18288">
                    <a:solidFill>
                      <a:srgbClr val="FFFFFF"/>
                    </a:solidFill>
                  </a:tcPr>
                </a:tc>
                <a:tc>
                  <a:txBody>
                    <a:bodyPr/>
                    <a:lstStyle/>
                    <a:p>
                      <a:pPr algn="ctr"/>
                      <a:r>
                        <a:rPr sz="1050" b="0">
                          <a:latin typeface="Times New Roman"/>
                        </a:rPr>
                        <a:t>86</a:t>
                      </a:r>
                    </a:p>
                  </a:txBody>
                  <a:tcPr marL="36576" marR="36576" marT="18288" marB="18288">
                    <a:solidFill>
                      <a:srgbClr val="FFFFFF"/>
                    </a:solidFill>
                  </a:tcPr>
                </a:tc>
                <a:tc>
                  <a:txBody>
                    <a:bodyPr/>
                    <a:lstStyle/>
                    <a:p>
                      <a:pPr algn="ctr"/>
                      <a:r>
                        <a:rPr sz="1050" b="0">
                          <a:latin typeface="Times New Roman"/>
                        </a:rPr>
                        <a:t>9.4 M</a:t>
                      </a:r>
                    </a:p>
                  </a:txBody>
                  <a:tcPr marL="36576" marR="36576" marT="18288" marB="18288">
                    <a:solidFill>
                      <a:srgbClr val="FFFFFF"/>
                    </a:solidFill>
                  </a:tcPr>
                </a:tc>
              </a:tr>
            </a:tbl>
          </a:graphicData>
        </a:graphic>
      </p:graphicFrame>
      <p:graphicFrame>
        <p:nvGraphicFramePr>
          <p:cNvPr id="300" name="Table 299"/>
          <p:cNvGraphicFramePr>
            <a:graphicFrameLocks noGrp="1"/>
          </p:cNvGraphicFramePr>
          <p:nvPr/>
        </p:nvGraphicFramePr>
        <p:xfrm>
          <a:off x="274320" y="1874519"/>
          <a:ext cx="8275320" cy="3108960"/>
        </p:xfrm>
        <a:graphic>
          <a:graphicData uri="http://schemas.openxmlformats.org/drawingml/2006/table">
            <a:tbl>
              <a:tblPr firstRow="1" bandRow="1">
                <a:tableStyleId>{5C22544A-7EE6-4342-B048-85BDC9FD1C3A}</a:tableStyleId>
              </a:tblPr>
              <a:tblGrid>
                <a:gridCol w="1325880"/>
                <a:gridCol w="731520"/>
                <a:gridCol w="640080"/>
                <a:gridCol w="640080"/>
                <a:gridCol w="868680"/>
                <a:gridCol w="960120"/>
                <a:gridCol w="640080"/>
                <a:gridCol w="640080"/>
                <a:gridCol w="868680"/>
                <a:gridCol w="960120"/>
              </a:tblGrid>
              <a:tr h="310896">
                <a:tc>
                  <a:txBody>
                    <a:bodyPr/>
                    <a:lstStyle/>
                    <a:p>
                      <a:pPr algn="l"/>
                      <a:r>
                        <a:rPr sz="950" b="1">
                          <a:solidFill>
                            <a:srgbClr val="FFFFFF"/>
                          </a:solidFill>
                          <a:latin typeface="Times New Roman"/>
                        </a:rPr>
                        <a:t>Class</a:t>
                      </a:r>
                    </a:p>
                  </a:txBody>
                  <a:tcPr marL="36576" marR="36576" marT="18288" marB="18288">
                    <a:solidFill>
                      <a:srgbClr val="41534B"/>
                    </a:solidFill>
                  </a:tcPr>
                </a:tc>
                <a:tc>
                  <a:txBody>
                    <a:bodyPr/>
                    <a:lstStyle/>
                    <a:p>
                      <a:pPr algn="ctr"/>
                      <a:r>
                        <a:rPr sz="950" b="1">
                          <a:solidFill>
                            <a:srgbClr val="FFFFFF"/>
                          </a:solidFill>
                          <a:latin typeface="Times New Roman"/>
                        </a:rPr>
                        <a:t>Test boxes</a:t>
                      </a:r>
                    </a:p>
                  </a:txBody>
                  <a:tcPr marL="36576" marR="36576" marT="18288" marB="18288">
                    <a:solidFill>
                      <a:srgbClr val="41534B"/>
                    </a:solidFill>
                  </a:tcPr>
                </a:tc>
                <a:tc>
                  <a:txBody>
                    <a:bodyPr/>
                    <a:lstStyle/>
                    <a:p>
                      <a:pPr algn="ctr"/>
                      <a:r>
                        <a:rPr sz="950" b="1">
                          <a:solidFill>
                            <a:srgbClr val="FFFFFF"/>
                          </a:solidFill>
                          <a:latin typeface="Times New Roman"/>
                        </a:rPr>
                        <a:t>11m P</a:t>
                      </a:r>
                    </a:p>
                  </a:txBody>
                  <a:tcPr marL="36576" marR="36576" marT="18288" marB="18288">
                    <a:solidFill>
                      <a:srgbClr val="41534B"/>
                    </a:solidFill>
                  </a:tcPr>
                </a:tc>
                <a:tc>
                  <a:txBody>
                    <a:bodyPr/>
                    <a:lstStyle/>
                    <a:p>
                      <a:pPr algn="ctr"/>
                      <a:r>
                        <a:rPr sz="950" b="1">
                          <a:solidFill>
                            <a:srgbClr val="FFFFFF"/>
                          </a:solidFill>
                          <a:latin typeface="Times New Roman"/>
                        </a:rPr>
                        <a:t>11m R</a:t>
                      </a:r>
                    </a:p>
                  </a:txBody>
                  <a:tcPr marL="36576" marR="36576" marT="18288" marB="18288">
                    <a:solidFill>
                      <a:srgbClr val="41534B"/>
                    </a:solidFill>
                  </a:tcPr>
                </a:tc>
                <a:tc>
                  <a:txBody>
                    <a:bodyPr/>
                    <a:lstStyle/>
                    <a:p>
                      <a:pPr algn="ctr"/>
                      <a:r>
                        <a:rPr sz="950" b="1">
                          <a:solidFill>
                            <a:srgbClr val="FFFFFF"/>
                          </a:solidFill>
                          <a:latin typeface="Times New Roman"/>
                        </a:rPr>
                        <a:t>11m mAP50</a:t>
                      </a:r>
                    </a:p>
                  </a:txBody>
                  <a:tcPr marL="36576" marR="36576" marT="18288" marB="18288">
                    <a:solidFill>
                      <a:srgbClr val="41534B"/>
                    </a:solidFill>
                  </a:tcPr>
                </a:tc>
                <a:tc>
                  <a:txBody>
                    <a:bodyPr/>
                    <a:lstStyle/>
                    <a:p>
                      <a:pPr algn="ctr"/>
                      <a:r>
                        <a:rPr sz="950" b="1">
                          <a:solidFill>
                            <a:srgbClr val="FFFFFF"/>
                          </a:solidFill>
                          <a:latin typeface="Times New Roman"/>
                        </a:rPr>
                        <a:t>11m mAP50-95</a:t>
                      </a:r>
                    </a:p>
                  </a:txBody>
                  <a:tcPr marL="36576" marR="36576" marT="18288" marB="18288">
                    <a:solidFill>
                      <a:srgbClr val="41534B"/>
                    </a:solidFill>
                  </a:tcPr>
                </a:tc>
                <a:tc>
                  <a:txBody>
                    <a:bodyPr/>
                    <a:lstStyle/>
                    <a:p>
                      <a:pPr algn="ctr"/>
                      <a:r>
                        <a:rPr sz="950" b="1">
                          <a:solidFill>
                            <a:srgbClr val="FFFFFF"/>
                          </a:solidFill>
                          <a:latin typeface="Times New Roman"/>
                        </a:rPr>
                        <a:t>11s P</a:t>
                      </a:r>
                    </a:p>
                  </a:txBody>
                  <a:tcPr marL="36576" marR="36576" marT="18288" marB="18288">
                    <a:solidFill>
                      <a:srgbClr val="41534B"/>
                    </a:solidFill>
                  </a:tcPr>
                </a:tc>
                <a:tc>
                  <a:txBody>
                    <a:bodyPr/>
                    <a:lstStyle/>
                    <a:p>
                      <a:pPr algn="ctr"/>
                      <a:r>
                        <a:rPr sz="950" b="1">
                          <a:solidFill>
                            <a:srgbClr val="FFFFFF"/>
                          </a:solidFill>
                          <a:latin typeface="Times New Roman"/>
                        </a:rPr>
                        <a:t>11s R</a:t>
                      </a:r>
                    </a:p>
                  </a:txBody>
                  <a:tcPr marL="36576" marR="36576" marT="18288" marB="18288">
                    <a:solidFill>
                      <a:srgbClr val="41534B"/>
                    </a:solidFill>
                  </a:tcPr>
                </a:tc>
                <a:tc>
                  <a:txBody>
                    <a:bodyPr/>
                    <a:lstStyle/>
                    <a:p>
                      <a:pPr algn="ctr"/>
                      <a:r>
                        <a:rPr sz="950" b="1">
                          <a:solidFill>
                            <a:srgbClr val="FFFFFF"/>
                          </a:solidFill>
                          <a:latin typeface="Times New Roman"/>
                        </a:rPr>
                        <a:t>11s mAP50</a:t>
                      </a:r>
                    </a:p>
                  </a:txBody>
                  <a:tcPr marL="36576" marR="36576" marT="18288" marB="18288">
                    <a:solidFill>
                      <a:srgbClr val="41534B"/>
                    </a:solidFill>
                  </a:tcPr>
                </a:tc>
                <a:tc>
                  <a:txBody>
                    <a:bodyPr/>
                    <a:lstStyle/>
                    <a:p>
                      <a:pPr algn="ctr"/>
                      <a:r>
                        <a:rPr sz="950" b="1">
                          <a:solidFill>
                            <a:srgbClr val="FFFFFF"/>
                          </a:solidFill>
                          <a:latin typeface="Times New Roman"/>
                        </a:rPr>
                        <a:t>11s mAP50-95</a:t>
                      </a:r>
                    </a:p>
                  </a:txBody>
                  <a:tcPr marL="36576" marR="36576" marT="18288" marB="18288">
                    <a:solidFill>
                      <a:srgbClr val="41534B"/>
                    </a:solidFill>
                  </a:tcPr>
                </a:tc>
              </a:tr>
              <a:tr h="310896">
                <a:tc>
                  <a:txBody>
                    <a:bodyPr/>
                    <a:lstStyle/>
                    <a:p>
                      <a:pPr algn="l"/>
                      <a:r>
                        <a:rPr sz="950" b="0">
                          <a:latin typeface="Times New Roman"/>
                        </a:rPr>
                        <a:t>Dead_Knot</a:t>
                      </a:r>
                    </a:p>
                  </a:txBody>
                  <a:tcPr marL="36576" marR="36576" marT="18288" marB="18288">
                    <a:solidFill>
                      <a:srgbClr val="F7F3EC"/>
                    </a:solidFill>
                  </a:tcPr>
                </a:tc>
                <a:tc>
                  <a:txBody>
                    <a:bodyPr/>
                    <a:lstStyle/>
                    <a:p>
                      <a:pPr algn="ctr"/>
                      <a:r>
                        <a:rPr sz="950" b="0">
                          <a:latin typeface="Times New Roman"/>
                        </a:rPr>
                        <a:t>343</a:t>
                      </a:r>
                    </a:p>
                  </a:txBody>
                  <a:tcPr marL="36576" marR="36576" marT="18288" marB="18288">
                    <a:solidFill>
                      <a:srgbClr val="F7F3EC"/>
                    </a:solidFill>
                  </a:tcPr>
                </a:tc>
                <a:tc>
                  <a:txBody>
                    <a:bodyPr/>
                    <a:lstStyle/>
                    <a:p>
                      <a:pPr algn="ctr"/>
                      <a:r>
                        <a:rPr sz="950" b="0">
                          <a:latin typeface="Times New Roman"/>
                        </a:rPr>
                        <a:t>77.2</a:t>
                      </a:r>
                    </a:p>
                  </a:txBody>
                  <a:tcPr marL="36576" marR="36576" marT="18288" marB="18288">
                    <a:solidFill>
                      <a:srgbClr val="F7F3EC"/>
                    </a:solidFill>
                  </a:tcPr>
                </a:tc>
                <a:tc>
                  <a:txBody>
                    <a:bodyPr/>
                    <a:lstStyle/>
                    <a:p>
                      <a:pPr algn="ctr"/>
                      <a:r>
                        <a:rPr sz="950" b="0">
                          <a:latin typeface="Times New Roman"/>
                        </a:rPr>
                        <a:t>88.0</a:t>
                      </a:r>
                    </a:p>
                  </a:txBody>
                  <a:tcPr marL="36576" marR="36576" marT="18288" marB="18288">
                    <a:solidFill>
                      <a:srgbClr val="F7F3EC"/>
                    </a:solidFill>
                  </a:tcPr>
                </a:tc>
                <a:tc>
                  <a:txBody>
                    <a:bodyPr/>
                    <a:lstStyle/>
                    <a:p>
                      <a:pPr algn="ctr"/>
                      <a:r>
                        <a:rPr sz="950" b="0">
                          <a:latin typeface="Times New Roman"/>
                        </a:rPr>
                        <a:t>86.8</a:t>
                      </a:r>
                    </a:p>
                  </a:txBody>
                  <a:tcPr marL="36576" marR="36576" marT="18288" marB="18288">
                    <a:solidFill>
                      <a:srgbClr val="F7F3EC"/>
                    </a:solidFill>
                  </a:tcPr>
                </a:tc>
                <a:tc>
                  <a:txBody>
                    <a:bodyPr/>
                    <a:lstStyle/>
                    <a:p>
                      <a:pPr algn="ctr"/>
                      <a:r>
                        <a:rPr sz="950" b="0">
                          <a:latin typeface="Times New Roman"/>
                        </a:rPr>
                        <a:t>41.8</a:t>
                      </a:r>
                    </a:p>
                  </a:txBody>
                  <a:tcPr marL="36576" marR="36576" marT="18288" marB="18288">
                    <a:solidFill>
                      <a:srgbClr val="F7F3EC"/>
                    </a:solidFill>
                  </a:tcPr>
                </a:tc>
                <a:tc>
                  <a:txBody>
                    <a:bodyPr/>
                    <a:lstStyle/>
                    <a:p>
                      <a:pPr algn="ctr"/>
                      <a:r>
                        <a:rPr sz="950" b="0">
                          <a:latin typeface="Times New Roman"/>
                        </a:rPr>
                        <a:t>83.0</a:t>
                      </a:r>
                    </a:p>
                  </a:txBody>
                  <a:tcPr marL="36576" marR="36576" marT="18288" marB="18288">
                    <a:solidFill>
                      <a:srgbClr val="F7F3EC"/>
                    </a:solidFill>
                  </a:tcPr>
                </a:tc>
                <a:tc>
                  <a:txBody>
                    <a:bodyPr/>
                    <a:lstStyle/>
                    <a:p>
                      <a:pPr algn="ctr"/>
                      <a:r>
                        <a:rPr sz="950" b="0">
                          <a:latin typeface="Times New Roman"/>
                        </a:rPr>
                        <a:t>84.3</a:t>
                      </a:r>
                    </a:p>
                  </a:txBody>
                  <a:tcPr marL="36576" marR="36576" marT="18288" marB="18288">
                    <a:solidFill>
                      <a:srgbClr val="F7F3EC"/>
                    </a:solidFill>
                  </a:tcPr>
                </a:tc>
                <a:tc>
                  <a:txBody>
                    <a:bodyPr/>
                    <a:lstStyle/>
                    <a:p>
                      <a:pPr algn="ctr"/>
                      <a:r>
                        <a:rPr sz="950" b="0">
                          <a:latin typeface="Times New Roman"/>
                        </a:rPr>
                        <a:t>89.1</a:t>
                      </a:r>
                    </a:p>
                  </a:txBody>
                  <a:tcPr marL="36576" marR="36576" marT="18288" marB="18288">
                    <a:solidFill>
                      <a:srgbClr val="F7F3EC"/>
                    </a:solidFill>
                  </a:tcPr>
                </a:tc>
                <a:tc>
                  <a:txBody>
                    <a:bodyPr/>
                    <a:lstStyle/>
                    <a:p>
                      <a:pPr algn="ctr"/>
                      <a:r>
                        <a:rPr sz="950" b="0">
                          <a:latin typeface="Times New Roman"/>
                        </a:rPr>
                        <a:t>43.3</a:t>
                      </a:r>
                    </a:p>
                  </a:txBody>
                  <a:tcPr marL="36576" marR="36576" marT="18288" marB="18288">
                    <a:solidFill>
                      <a:srgbClr val="F7F3EC"/>
                    </a:solidFill>
                  </a:tcPr>
                </a:tc>
              </a:tr>
              <a:tr h="310896">
                <a:tc>
                  <a:txBody>
                    <a:bodyPr/>
                    <a:lstStyle/>
                    <a:p>
                      <a:pPr algn="l"/>
                      <a:r>
                        <a:rPr sz="950" b="0">
                          <a:latin typeface="Times New Roman"/>
                        </a:rPr>
                        <a:t>Marrow</a:t>
                      </a:r>
                    </a:p>
                  </a:txBody>
                  <a:tcPr marL="36576" marR="36576" marT="18288" marB="18288">
                    <a:solidFill>
                      <a:srgbClr val="FFFFFF"/>
                    </a:solidFill>
                  </a:tcPr>
                </a:tc>
                <a:tc>
                  <a:txBody>
                    <a:bodyPr/>
                    <a:lstStyle/>
                    <a:p>
                      <a:pPr algn="ctr"/>
                      <a:r>
                        <a:rPr sz="950" b="0">
                          <a:latin typeface="Times New Roman"/>
                        </a:rPr>
                        <a:t>46</a:t>
                      </a:r>
                    </a:p>
                  </a:txBody>
                  <a:tcPr marL="36576" marR="36576" marT="18288" marB="18288">
                    <a:solidFill>
                      <a:srgbClr val="FFFFFF"/>
                    </a:solidFill>
                  </a:tcPr>
                </a:tc>
                <a:tc>
                  <a:txBody>
                    <a:bodyPr/>
                    <a:lstStyle/>
                    <a:p>
                      <a:pPr algn="ctr"/>
                      <a:r>
                        <a:rPr sz="950" b="0">
                          <a:latin typeface="Times New Roman"/>
                        </a:rPr>
                        <a:t>79.6</a:t>
                      </a:r>
                    </a:p>
                  </a:txBody>
                  <a:tcPr marL="36576" marR="36576" marT="18288" marB="18288">
                    <a:solidFill>
                      <a:srgbClr val="FFFFFF"/>
                    </a:solidFill>
                  </a:tcPr>
                </a:tc>
                <a:tc>
                  <a:txBody>
                    <a:bodyPr/>
                    <a:lstStyle/>
                    <a:p>
                      <a:pPr algn="ctr"/>
                      <a:r>
                        <a:rPr sz="950" b="0">
                          <a:latin typeface="Times New Roman"/>
                        </a:rPr>
                        <a:t>84.9</a:t>
                      </a:r>
                    </a:p>
                  </a:txBody>
                  <a:tcPr marL="36576" marR="36576" marT="18288" marB="18288">
                    <a:solidFill>
                      <a:srgbClr val="FFFFFF"/>
                    </a:solidFill>
                  </a:tcPr>
                </a:tc>
                <a:tc>
                  <a:txBody>
                    <a:bodyPr/>
                    <a:lstStyle/>
                    <a:p>
                      <a:pPr algn="ctr"/>
                      <a:r>
                        <a:rPr sz="950" b="0">
                          <a:latin typeface="Times New Roman"/>
                        </a:rPr>
                        <a:t>85.8</a:t>
                      </a:r>
                    </a:p>
                  </a:txBody>
                  <a:tcPr marL="36576" marR="36576" marT="18288" marB="18288">
                    <a:solidFill>
                      <a:srgbClr val="FFFFFF"/>
                    </a:solidFill>
                  </a:tcPr>
                </a:tc>
                <a:tc>
                  <a:txBody>
                    <a:bodyPr/>
                    <a:lstStyle/>
                    <a:p>
                      <a:pPr algn="ctr"/>
                      <a:r>
                        <a:rPr sz="950" b="0">
                          <a:latin typeface="Times New Roman"/>
                        </a:rPr>
                        <a:t>57.4</a:t>
                      </a:r>
                    </a:p>
                  </a:txBody>
                  <a:tcPr marL="36576" marR="36576" marT="18288" marB="18288">
                    <a:solidFill>
                      <a:srgbClr val="FFFFFF"/>
                    </a:solidFill>
                  </a:tcPr>
                </a:tc>
                <a:tc>
                  <a:txBody>
                    <a:bodyPr/>
                    <a:lstStyle/>
                    <a:p>
                      <a:pPr algn="ctr"/>
                      <a:r>
                        <a:rPr sz="950" b="0">
                          <a:latin typeface="Times New Roman"/>
                        </a:rPr>
                        <a:t>89.3</a:t>
                      </a:r>
                    </a:p>
                  </a:txBody>
                  <a:tcPr marL="36576" marR="36576" marT="18288" marB="18288">
                    <a:solidFill>
                      <a:srgbClr val="FFFFFF"/>
                    </a:solidFill>
                  </a:tcPr>
                </a:tc>
                <a:tc>
                  <a:txBody>
                    <a:bodyPr/>
                    <a:lstStyle/>
                    <a:p>
                      <a:pPr algn="ctr"/>
                      <a:r>
                        <a:rPr sz="950" b="0">
                          <a:latin typeface="Times New Roman"/>
                        </a:rPr>
                        <a:t>72.7</a:t>
                      </a:r>
                    </a:p>
                  </a:txBody>
                  <a:tcPr marL="36576" marR="36576" marT="18288" marB="18288">
                    <a:solidFill>
                      <a:srgbClr val="FFFFFF"/>
                    </a:solidFill>
                  </a:tcPr>
                </a:tc>
                <a:tc>
                  <a:txBody>
                    <a:bodyPr/>
                    <a:lstStyle/>
                    <a:p>
                      <a:pPr algn="ctr"/>
                      <a:r>
                        <a:rPr sz="950" b="0">
                          <a:latin typeface="Times New Roman"/>
                        </a:rPr>
                        <a:t>87.7</a:t>
                      </a:r>
                    </a:p>
                  </a:txBody>
                  <a:tcPr marL="36576" marR="36576" marT="18288" marB="18288">
                    <a:solidFill>
                      <a:srgbClr val="FFFFFF"/>
                    </a:solidFill>
                  </a:tcPr>
                </a:tc>
                <a:tc>
                  <a:txBody>
                    <a:bodyPr/>
                    <a:lstStyle/>
                    <a:p>
                      <a:pPr algn="ctr"/>
                      <a:r>
                        <a:rPr sz="950" b="0">
                          <a:latin typeface="Times New Roman"/>
                        </a:rPr>
                        <a:t>55.2</a:t>
                      </a:r>
                    </a:p>
                  </a:txBody>
                  <a:tcPr marL="36576" marR="36576" marT="18288" marB="18288">
                    <a:solidFill>
                      <a:srgbClr val="FFFFFF"/>
                    </a:solidFill>
                  </a:tcPr>
                </a:tc>
              </a:tr>
              <a:tr h="310896">
                <a:tc>
                  <a:txBody>
                    <a:bodyPr/>
                    <a:lstStyle/>
                    <a:p>
                      <a:pPr algn="l"/>
                      <a:r>
                        <a:rPr sz="950" b="0">
                          <a:latin typeface="Times New Roman"/>
                        </a:rPr>
                        <a:t>Live_Knot</a:t>
                      </a:r>
                    </a:p>
                  </a:txBody>
                  <a:tcPr marL="36576" marR="36576" marT="18288" marB="18288">
                    <a:solidFill>
                      <a:srgbClr val="F7F3EC"/>
                    </a:solidFill>
                  </a:tcPr>
                </a:tc>
                <a:tc>
                  <a:txBody>
                    <a:bodyPr/>
                    <a:lstStyle/>
                    <a:p>
                      <a:pPr algn="ctr"/>
                      <a:r>
                        <a:rPr sz="950" b="0">
                          <a:latin typeface="Times New Roman"/>
                        </a:rPr>
                        <a:t>406</a:t>
                      </a:r>
                    </a:p>
                  </a:txBody>
                  <a:tcPr marL="36576" marR="36576" marT="18288" marB="18288">
                    <a:solidFill>
                      <a:srgbClr val="F7F3EC"/>
                    </a:solidFill>
                  </a:tcPr>
                </a:tc>
                <a:tc>
                  <a:txBody>
                    <a:bodyPr/>
                    <a:lstStyle/>
                    <a:p>
                      <a:pPr algn="ctr"/>
                      <a:r>
                        <a:rPr sz="950" b="0">
                          <a:latin typeface="Times New Roman"/>
                        </a:rPr>
                        <a:t>73.5</a:t>
                      </a:r>
                    </a:p>
                  </a:txBody>
                  <a:tcPr marL="36576" marR="36576" marT="18288" marB="18288">
                    <a:solidFill>
                      <a:srgbClr val="F7F3EC"/>
                    </a:solidFill>
                  </a:tcPr>
                </a:tc>
                <a:tc>
                  <a:txBody>
                    <a:bodyPr/>
                    <a:lstStyle/>
                    <a:p>
                      <a:pPr algn="ctr"/>
                      <a:r>
                        <a:rPr sz="950" b="0">
                          <a:latin typeface="Times New Roman"/>
                        </a:rPr>
                        <a:t>79.2</a:t>
                      </a:r>
                    </a:p>
                  </a:txBody>
                  <a:tcPr marL="36576" marR="36576" marT="18288" marB="18288">
                    <a:solidFill>
                      <a:srgbClr val="F7F3EC"/>
                    </a:solidFill>
                  </a:tcPr>
                </a:tc>
                <a:tc>
                  <a:txBody>
                    <a:bodyPr/>
                    <a:lstStyle/>
                    <a:p>
                      <a:pPr algn="ctr"/>
                      <a:r>
                        <a:rPr sz="950" b="0">
                          <a:latin typeface="Times New Roman"/>
                        </a:rPr>
                        <a:t>74.8</a:t>
                      </a:r>
                    </a:p>
                  </a:txBody>
                  <a:tcPr marL="36576" marR="36576" marT="18288" marB="18288">
                    <a:solidFill>
                      <a:srgbClr val="F7F3EC"/>
                    </a:solidFill>
                  </a:tcPr>
                </a:tc>
                <a:tc>
                  <a:txBody>
                    <a:bodyPr/>
                    <a:lstStyle/>
                    <a:p>
                      <a:pPr algn="ctr"/>
                      <a:r>
                        <a:rPr sz="950" b="0">
                          <a:latin typeface="Times New Roman"/>
                        </a:rPr>
                        <a:t>32.0</a:t>
                      </a:r>
                    </a:p>
                  </a:txBody>
                  <a:tcPr marL="36576" marR="36576" marT="18288" marB="18288">
                    <a:solidFill>
                      <a:srgbClr val="F7F3EC"/>
                    </a:solidFill>
                  </a:tcPr>
                </a:tc>
                <a:tc>
                  <a:txBody>
                    <a:bodyPr/>
                    <a:lstStyle/>
                    <a:p>
                      <a:pPr algn="ctr"/>
                      <a:r>
                        <a:rPr sz="950" b="0">
                          <a:latin typeface="Times New Roman"/>
                        </a:rPr>
                        <a:t>75.2</a:t>
                      </a:r>
                    </a:p>
                  </a:txBody>
                  <a:tcPr marL="36576" marR="36576" marT="18288" marB="18288">
                    <a:solidFill>
                      <a:srgbClr val="F7F3EC"/>
                    </a:solidFill>
                  </a:tcPr>
                </a:tc>
                <a:tc>
                  <a:txBody>
                    <a:bodyPr/>
                    <a:lstStyle/>
                    <a:p>
                      <a:pPr algn="ctr"/>
                      <a:r>
                        <a:rPr sz="950" b="0">
                          <a:latin typeface="Times New Roman"/>
                        </a:rPr>
                        <a:t>75.1</a:t>
                      </a:r>
                    </a:p>
                  </a:txBody>
                  <a:tcPr marL="36576" marR="36576" marT="18288" marB="18288">
                    <a:solidFill>
                      <a:srgbClr val="F7F3EC"/>
                    </a:solidFill>
                  </a:tcPr>
                </a:tc>
                <a:tc>
                  <a:txBody>
                    <a:bodyPr/>
                    <a:lstStyle/>
                    <a:p>
                      <a:pPr algn="ctr"/>
                      <a:r>
                        <a:rPr sz="950" b="0">
                          <a:latin typeface="Times New Roman"/>
                        </a:rPr>
                        <a:t>75.8</a:t>
                      </a:r>
                    </a:p>
                  </a:txBody>
                  <a:tcPr marL="36576" marR="36576" marT="18288" marB="18288">
                    <a:solidFill>
                      <a:srgbClr val="F7F3EC"/>
                    </a:solidFill>
                  </a:tcPr>
                </a:tc>
                <a:tc>
                  <a:txBody>
                    <a:bodyPr/>
                    <a:lstStyle/>
                    <a:p>
                      <a:pPr algn="ctr"/>
                      <a:r>
                        <a:rPr sz="950" b="0">
                          <a:latin typeface="Times New Roman"/>
                        </a:rPr>
                        <a:t>32.6</a:t>
                      </a:r>
                    </a:p>
                  </a:txBody>
                  <a:tcPr marL="36576" marR="36576" marT="18288" marB="18288">
                    <a:solidFill>
                      <a:srgbClr val="F7F3EC"/>
                    </a:solidFill>
                  </a:tcPr>
                </a:tc>
              </a:tr>
              <a:tr h="310896">
                <a:tc>
                  <a:txBody>
                    <a:bodyPr/>
                    <a:lstStyle/>
                    <a:p>
                      <a:pPr algn="l"/>
                      <a:r>
                        <a:rPr sz="950" b="0">
                          <a:latin typeface="Times New Roman"/>
                        </a:rPr>
                        <a:t>Knot_missing *</a:t>
                      </a:r>
                    </a:p>
                  </a:txBody>
                  <a:tcPr marL="36576" marR="36576" marT="18288" marB="18288">
                    <a:solidFill>
                      <a:srgbClr val="FFFFFF"/>
                    </a:solidFill>
                  </a:tcPr>
                </a:tc>
                <a:tc>
                  <a:txBody>
                    <a:bodyPr/>
                    <a:lstStyle/>
                    <a:p>
                      <a:pPr algn="ctr"/>
                      <a:r>
                        <a:rPr sz="950" b="0">
                          <a:latin typeface="Times New Roman"/>
                        </a:rPr>
                        <a:t>24</a:t>
                      </a:r>
                    </a:p>
                  </a:txBody>
                  <a:tcPr marL="36576" marR="36576" marT="18288" marB="18288">
                    <a:solidFill>
                      <a:srgbClr val="FFFFFF"/>
                    </a:solidFill>
                  </a:tcPr>
                </a:tc>
                <a:tc>
                  <a:txBody>
                    <a:bodyPr/>
                    <a:lstStyle/>
                    <a:p>
                      <a:pPr algn="ctr"/>
                      <a:r>
                        <a:rPr sz="950" b="0">
                          <a:latin typeface="Times New Roman"/>
                        </a:rPr>
                        <a:t>57.9</a:t>
                      </a:r>
                    </a:p>
                  </a:txBody>
                  <a:tcPr marL="36576" marR="36576" marT="18288" marB="18288">
                    <a:solidFill>
                      <a:srgbClr val="FFFFFF"/>
                    </a:solidFill>
                  </a:tcPr>
                </a:tc>
                <a:tc>
                  <a:txBody>
                    <a:bodyPr/>
                    <a:lstStyle/>
                    <a:p>
                      <a:pPr algn="ctr"/>
                      <a:r>
                        <a:rPr sz="950" b="0">
                          <a:latin typeface="Times New Roman"/>
                        </a:rPr>
                        <a:t>62.5</a:t>
                      </a:r>
                    </a:p>
                  </a:txBody>
                  <a:tcPr marL="36576" marR="36576" marT="18288" marB="18288">
                    <a:solidFill>
                      <a:srgbClr val="FFFFFF"/>
                    </a:solidFill>
                  </a:tcPr>
                </a:tc>
                <a:tc>
                  <a:txBody>
                    <a:bodyPr/>
                    <a:lstStyle/>
                    <a:p>
                      <a:pPr algn="ctr"/>
                      <a:r>
                        <a:rPr sz="950" b="0">
                          <a:latin typeface="Times New Roman"/>
                        </a:rPr>
                        <a:t>62.7</a:t>
                      </a:r>
                    </a:p>
                  </a:txBody>
                  <a:tcPr marL="36576" marR="36576" marT="18288" marB="18288">
                    <a:solidFill>
                      <a:srgbClr val="FFFFFF"/>
                    </a:solidFill>
                  </a:tcPr>
                </a:tc>
                <a:tc>
                  <a:txBody>
                    <a:bodyPr/>
                    <a:lstStyle/>
                    <a:p>
                      <a:pPr algn="ctr"/>
                      <a:r>
                        <a:rPr sz="950" b="0">
                          <a:latin typeface="Times New Roman"/>
                        </a:rPr>
                        <a:t>35.7</a:t>
                      </a:r>
                    </a:p>
                  </a:txBody>
                  <a:tcPr marL="36576" marR="36576" marT="18288" marB="18288">
                    <a:solidFill>
                      <a:srgbClr val="FFFFFF"/>
                    </a:solidFill>
                  </a:tcPr>
                </a:tc>
                <a:tc>
                  <a:txBody>
                    <a:bodyPr/>
                    <a:lstStyle/>
                    <a:p>
                      <a:pPr algn="ctr"/>
                      <a:r>
                        <a:rPr sz="950" b="0">
                          <a:latin typeface="Times New Roman"/>
                        </a:rPr>
                        <a:t>80.8</a:t>
                      </a:r>
                    </a:p>
                  </a:txBody>
                  <a:tcPr marL="36576" marR="36576" marT="18288" marB="18288">
                    <a:solidFill>
                      <a:srgbClr val="FFFFFF"/>
                    </a:solidFill>
                  </a:tcPr>
                </a:tc>
                <a:tc>
                  <a:txBody>
                    <a:bodyPr/>
                    <a:lstStyle/>
                    <a:p>
                      <a:pPr algn="ctr"/>
                      <a:r>
                        <a:rPr sz="950" b="0">
                          <a:latin typeface="Times New Roman"/>
                        </a:rPr>
                        <a:t>70.8</a:t>
                      </a:r>
                    </a:p>
                  </a:txBody>
                  <a:tcPr marL="36576" marR="36576" marT="18288" marB="18288">
                    <a:solidFill>
                      <a:srgbClr val="FFFFFF"/>
                    </a:solidFill>
                  </a:tcPr>
                </a:tc>
                <a:tc>
                  <a:txBody>
                    <a:bodyPr/>
                    <a:lstStyle/>
                    <a:p>
                      <a:pPr algn="ctr"/>
                      <a:r>
                        <a:rPr sz="950" b="0">
                          <a:latin typeface="Times New Roman"/>
                        </a:rPr>
                        <a:t>69.6</a:t>
                      </a:r>
                    </a:p>
                  </a:txBody>
                  <a:tcPr marL="36576" marR="36576" marT="18288" marB="18288">
                    <a:solidFill>
                      <a:srgbClr val="FFFFFF"/>
                    </a:solidFill>
                  </a:tcPr>
                </a:tc>
                <a:tc>
                  <a:txBody>
                    <a:bodyPr/>
                    <a:lstStyle/>
                    <a:p>
                      <a:pPr algn="ctr"/>
                      <a:r>
                        <a:rPr sz="950" b="0">
                          <a:latin typeface="Times New Roman"/>
                        </a:rPr>
                        <a:t>34.1</a:t>
                      </a:r>
                    </a:p>
                  </a:txBody>
                  <a:tcPr marL="36576" marR="36576" marT="18288" marB="18288">
                    <a:solidFill>
                      <a:srgbClr val="FFFFFF"/>
                    </a:solidFill>
                  </a:tcPr>
                </a:tc>
              </a:tr>
              <a:tr h="310896">
                <a:tc>
                  <a:txBody>
                    <a:bodyPr/>
                    <a:lstStyle/>
                    <a:p>
                      <a:pPr algn="l"/>
                      <a:r>
                        <a:rPr sz="950" b="0">
                          <a:latin typeface="Times New Roman"/>
                        </a:rPr>
                        <a:t>Knot_with_crack</a:t>
                      </a:r>
                    </a:p>
                  </a:txBody>
                  <a:tcPr marL="36576" marR="36576" marT="18288" marB="18288">
                    <a:solidFill>
                      <a:srgbClr val="F7F3EC"/>
                    </a:solidFill>
                  </a:tcPr>
                </a:tc>
                <a:tc>
                  <a:txBody>
                    <a:bodyPr/>
                    <a:lstStyle/>
                    <a:p>
                      <a:pPr algn="ctr"/>
                      <a:r>
                        <a:rPr sz="950" b="0">
                          <a:latin typeface="Times New Roman"/>
                        </a:rPr>
                        <a:t>30</a:t>
                      </a:r>
                    </a:p>
                  </a:txBody>
                  <a:tcPr marL="36576" marR="36576" marT="18288" marB="18288">
                    <a:solidFill>
                      <a:srgbClr val="F7F3EC"/>
                    </a:solidFill>
                  </a:tcPr>
                </a:tc>
                <a:tc>
                  <a:txBody>
                    <a:bodyPr/>
                    <a:lstStyle/>
                    <a:p>
                      <a:pPr algn="ctr"/>
                      <a:r>
                        <a:rPr sz="950" b="0">
                          <a:latin typeface="Times New Roman"/>
                        </a:rPr>
                        <a:t>63.2</a:t>
                      </a:r>
                    </a:p>
                  </a:txBody>
                  <a:tcPr marL="36576" marR="36576" marT="18288" marB="18288">
                    <a:solidFill>
                      <a:srgbClr val="F7F3EC"/>
                    </a:solidFill>
                  </a:tcPr>
                </a:tc>
                <a:tc>
                  <a:txBody>
                    <a:bodyPr/>
                    <a:lstStyle/>
                    <a:p>
                      <a:pPr algn="ctr"/>
                      <a:r>
                        <a:rPr sz="950" b="0">
                          <a:latin typeface="Times New Roman"/>
                        </a:rPr>
                        <a:t>63.3</a:t>
                      </a:r>
                    </a:p>
                  </a:txBody>
                  <a:tcPr marL="36576" marR="36576" marT="18288" marB="18288">
                    <a:solidFill>
                      <a:srgbClr val="F7F3EC"/>
                    </a:solidFill>
                  </a:tcPr>
                </a:tc>
                <a:tc>
                  <a:txBody>
                    <a:bodyPr/>
                    <a:lstStyle/>
                    <a:p>
                      <a:pPr algn="ctr"/>
                      <a:r>
                        <a:rPr sz="950" b="0">
                          <a:latin typeface="Times New Roman"/>
                        </a:rPr>
                        <a:t>61.7</a:t>
                      </a:r>
                    </a:p>
                  </a:txBody>
                  <a:tcPr marL="36576" marR="36576" marT="18288" marB="18288">
                    <a:solidFill>
                      <a:srgbClr val="F7F3EC"/>
                    </a:solidFill>
                  </a:tcPr>
                </a:tc>
                <a:tc>
                  <a:txBody>
                    <a:bodyPr/>
                    <a:lstStyle/>
                    <a:p>
                      <a:pPr algn="ctr"/>
                      <a:r>
                        <a:rPr sz="950" b="0">
                          <a:latin typeface="Times New Roman"/>
                        </a:rPr>
                        <a:t>38.4</a:t>
                      </a:r>
                    </a:p>
                  </a:txBody>
                  <a:tcPr marL="36576" marR="36576" marT="18288" marB="18288">
                    <a:solidFill>
                      <a:srgbClr val="F7F3EC"/>
                    </a:solidFill>
                  </a:tcPr>
                </a:tc>
                <a:tc>
                  <a:txBody>
                    <a:bodyPr/>
                    <a:lstStyle/>
                    <a:p>
                      <a:pPr algn="ctr"/>
                      <a:r>
                        <a:rPr sz="950" b="0">
                          <a:latin typeface="Times New Roman"/>
                        </a:rPr>
                        <a:t>80.9</a:t>
                      </a:r>
                    </a:p>
                  </a:txBody>
                  <a:tcPr marL="36576" marR="36576" marT="18288" marB="18288">
                    <a:solidFill>
                      <a:srgbClr val="F7F3EC"/>
                    </a:solidFill>
                  </a:tcPr>
                </a:tc>
                <a:tc>
                  <a:txBody>
                    <a:bodyPr/>
                    <a:lstStyle/>
                    <a:p>
                      <a:pPr algn="ctr"/>
                      <a:r>
                        <a:rPr sz="950" b="0">
                          <a:latin typeface="Times New Roman"/>
                        </a:rPr>
                        <a:t>63.3</a:t>
                      </a:r>
                    </a:p>
                  </a:txBody>
                  <a:tcPr marL="36576" marR="36576" marT="18288" marB="18288">
                    <a:solidFill>
                      <a:srgbClr val="F7F3EC"/>
                    </a:solidFill>
                  </a:tcPr>
                </a:tc>
                <a:tc>
                  <a:txBody>
                    <a:bodyPr/>
                    <a:lstStyle/>
                    <a:p>
                      <a:pPr algn="ctr"/>
                      <a:r>
                        <a:rPr sz="950" b="0">
                          <a:latin typeface="Times New Roman"/>
                        </a:rPr>
                        <a:t>67.5</a:t>
                      </a:r>
                    </a:p>
                  </a:txBody>
                  <a:tcPr marL="36576" marR="36576" marT="18288" marB="18288">
                    <a:solidFill>
                      <a:srgbClr val="F7F3EC"/>
                    </a:solidFill>
                  </a:tcPr>
                </a:tc>
                <a:tc>
                  <a:txBody>
                    <a:bodyPr/>
                    <a:lstStyle/>
                    <a:p>
                      <a:pPr algn="ctr"/>
                      <a:r>
                        <a:rPr sz="950" b="0">
                          <a:latin typeface="Times New Roman"/>
                        </a:rPr>
                        <a:t>42.8</a:t>
                      </a:r>
                    </a:p>
                  </a:txBody>
                  <a:tcPr marL="36576" marR="36576" marT="18288" marB="18288">
                    <a:solidFill>
                      <a:srgbClr val="F7F3EC"/>
                    </a:solidFill>
                  </a:tcPr>
                </a:tc>
              </a:tr>
              <a:tr h="310896">
                <a:tc>
                  <a:txBody>
                    <a:bodyPr/>
                    <a:lstStyle/>
                    <a:p>
                      <a:pPr algn="l"/>
                      <a:r>
                        <a:rPr sz="950" b="0">
                          <a:latin typeface="Times New Roman"/>
                        </a:rPr>
                        <a:t>Resin</a:t>
                      </a:r>
                    </a:p>
                  </a:txBody>
                  <a:tcPr marL="36576" marR="36576" marT="18288" marB="18288">
                    <a:solidFill>
                      <a:srgbClr val="FFFFFF"/>
                    </a:solidFill>
                  </a:tcPr>
                </a:tc>
                <a:tc>
                  <a:txBody>
                    <a:bodyPr/>
                    <a:lstStyle/>
                    <a:p>
                      <a:pPr algn="ctr"/>
                      <a:r>
                        <a:rPr sz="950" b="0">
                          <a:latin typeface="Times New Roman"/>
                        </a:rPr>
                        <a:t>69</a:t>
                      </a:r>
                    </a:p>
                  </a:txBody>
                  <a:tcPr marL="36576" marR="36576" marT="18288" marB="18288">
                    <a:solidFill>
                      <a:srgbClr val="FFFFFF"/>
                    </a:solidFill>
                  </a:tcPr>
                </a:tc>
                <a:tc>
                  <a:txBody>
                    <a:bodyPr/>
                    <a:lstStyle/>
                    <a:p>
                      <a:pPr algn="ctr"/>
                      <a:r>
                        <a:rPr sz="950" b="0">
                          <a:latin typeface="Times New Roman"/>
                        </a:rPr>
                        <a:t>68.0</a:t>
                      </a:r>
                    </a:p>
                  </a:txBody>
                  <a:tcPr marL="36576" marR="36576" marT="18288" marB="18288">
                    <a:solidFill>
                      <a:srgbClr val="FFFFFF"/>
                    </a:solidFill>
                  </a:tcPr>
                </a:tc>
                <a:tc>
                  <a:txBody>
                    <a:bodyPr/>
                    <a:lstStyle/>
                    <a:p>
                      <a:pPr algn="ctr"/>
                      <a:r>
                        <a:rPr sz="950" b="0">
                          <a:latin typeface="Times New Roman"/>
                        </a:rPr>
                        <a:t>56.5</a:t>
                      </a:r>
                    </a:p>
                  </a:txBody>
                  <a:tcPr marL="36576" marR="36576" marT="18288" marB="18288">
                    <a:solidFill>
                      <a:srgbClr val="FFFFFF"/>
                    </a:solidFill>
                  </a:tcPr>
                </a:tc>
                <a:tc>
                  <a:txBody>
                    <a:bodyPr/>
                    <a:lstStyle/>
                    <a:p>
                      <a:pPr algn="ctr"/>
                      <a:r>
                        <a:rPr sz="950" b="0">
                          <a:latin typeface="Times New Roman"/>
                        </a:rPr>
                        <a:t>59.5</a:t>
                      </a:r>
                    </a:p>
                  </a:txBody>
                  <a:tcPr marL="36576" marR="36576" marT="18288" marB="18288">
                    <a:solidFill>
                      <a:srgbClr val="FFFFFF"/>
                    </a:solidFill>
                  </a:tcPr>
                </a:tc>
                <a:tc>
                  <a:txBody>
                    <a:bodyPr/>
                    <a:lstStyle/>
                    <a:p>
                      <a:pPr algn="ctr"/>
                      <a:r>
                        <a:rPr sz="950" b="0">
                          <a:latin typeface="Times New Roman"/>
                        </a:rPr>
                        <a:t>29.9</a:t>
                      </a:r>
                    </a:p>
                  </a:txBody>
                  <a:tcPr marL="36576" marR="36576" marT="18288" marB="18288">
                    <a:solidFill>
                      <a:srgbClr val="FFFFFF"/>
                    </a:solidFill>
                  </a:tcPr>
                </a:tc>
                <a:tc>
                  <a:txBody>
                    <a:bodyPr/>
                    <a:lstStyle/>
                    <a:p>
                      <a:pPr algn="ctr"/>
                      <a:r>
                        <a:rPr sz="950" b="0">
                          <a:latin typeface="Times New Roman"/>
                        </a:rPr>
                        <a:t>81.9</a:t>
                      </a:r>
                    </a:p>
                  </a:txBody>
                  <a:tcPr marL="36576" marR="36576" marT="18288" marB="18288">
                    <a:solidFill>
                      <a:srgbClr val="FFFFFF"/>
                    </a:solidFill>
                  </a:tcPr>
                </a:tc>
                <a:tc>
                  <a:txBody>
                    <a:bodyPr/>
                    <a:lstStyle/>
                    <a:p>
                      <a:pPr algn="ctr"/>
                      <a:r>
                        <a:rPr sz="950" b="0">
                          <a:latin typeface="Times New Roman"/>
                        </a:rPr>
                        <a:t>53.6</a:t>
                      </a:r>
                    </a:p>
                  </a:txBody>
                  <a:tcPr marL="36576" marR="36576" marT="18288" marB="18288">
                    <a:solidFill>
                      <a:srgbClr val="FFFFFF"/>
                    </a:solidFill>
                  </a:tcPr>
                </a:tc>
                <a:tc>
                  <a:txBody>
                    <a:bodyPr/>
                    <a:lstStyle/>
                    <a:p>
                      <a:pPr algn="ctr"/>
                      <a:r>
                        <a:rPr sz="950" b="0">
                          <a:latin typeface="Times New Roman"/>
                        </a:rPr>
                        <a:t>60.4</a:t>
                      </a:r>
                    </a:p>
                  </a:txBody>
                  <a:tcPr marL="36576" marR="36576" marT="18288" marB="18288">
                    <a:solidFill>
                      <a:srgbClr val="FFFFFF"/>
                    </a:solidFill>
                  </a:tcPr>
                </a:tc>
                <a:tc>
                  <a:txBody>
                    <a:bodyPr/>
                    <a:lstStyle/>
                    <a:p>
                      <a:pPr algn="ctr"/>
                      <a:r>
                        <a:rPr sz="950" b="0">
                          <a:latin typeface="Times New Roman"/>
                        </a:rPr>
                        <a:t>29.5</a:t>
                      </a:r>
                    </a:p>
                  </a:txBody>
                  <a:tcPr marL="36576" marR="36576" marT="18288" marB="18288">
                    <a:solidFill>
                      <a:srgbClr val="FFFFFF"/>
                    </a:solidFill>
                  </a:tcPr>
                </a:tc>
              </a:tr>
              <a:tr h="310896">
                <a:tc>
                  <a:txBody>
                    <a:bodyPr/>
                    <a:lstStyle/>
                    <a:p>
                      <a:pPr algn="l"/>
                      <a:r>
                        <a:rPr sz="950" b="0">
                          <a:latin typeface="Times New Roman"/>
                        </a:rPr>
                        <a:t>Crack</a:t>
                      </a:r>
                    </a:p>
                  </a:txBody>
                  <a:tcPr marL="36576" marR="36576" marT="18288" marB="18288">
                    <a:solidFill>
                      <a:srgbClr val="F7F3EC"/>
                    </a:solidFill>
                  </a:tcPr>
                </a:tc>
                <a:tc>
                  <a:txBody>
                    <a:bodyPr/>
                    <a:lstStyle/>
                    <a:p>
                      <a:pPr algn="ctr"/>
                      <a:r>
                        <a:rPr sz="950" b="0">
                          <a:latin typeface="Times New Roman"/>
                        </a:rPr>
                        <a:t>95</a:t>
                      </a:r>
                    </a:p>
                  </a:txBody>
                  <a:tcPr marL="36576" marR="36576" marT="18288" marB="18288">
                    <a:solidFill>
                      <a:srgbClr val="F7F3EC"/>
                    </a:solidFill>
                  </a:tcPr>
                </a:tc>
                <a:tc>
                  <a:txBody>
                    <a:bodyPr/>
                    <a:lstStyle/>
                    <a:p>
                      <a:pPr algn="ctr"/>
                      <a:r>
                        <a:rPr sz="950" b="0">
                          <a:latin typeface="Times New Roman"/>
                        </a:rPr>
                        <a:t>56.8</a:t>
                      </a:r>
                    </a:p>
                  </a:txBody>
                  <a:tcPr marL="36576" marR="36576" marT="18288" marB="18288">
                    <a:solidFill>
                      <a:srgbClr val="F7F3EC"/>
                    </a:solidFill>
                  </a:tcPr>
                </a:tc>
                <a:tc>
                  <a:txBody>
                    <a:bodyPr/>
                    <a:lstStyle/>
                    <a:p>
                      <a:pPr algn="ctr"/>
                      <a:r>
                        <a:rPr sz="950" b="0">
                          <a:latin typeface="Times New Roman"/>
                        </a:rPr>
                        <a:t>72.6</a:t>
                      </a:r>
                    </a:p>
                  </a:txBody>
                  <a:tcPr marL="36576" marR="36576" marT="18288" marB="18288">
                    <a:solidFill>
                      <a:srgbClr val="F7F3EC"/>
                    </a:solidFill>
                  </a:tcPr>
                </a:tc>
                <a:tc>
                  <a:txBody>
                    <a:bodyPr/>
                    <a:lstStyle/>
                    <a:p>
                      <a:pPr algn="ctr"/>
                      <a:r>
                        <a:rPr sz="950" b="0">
                          <a:latin typeface="Times New Roman"/>
                        </a:rPr>
                        <a:t>57.7</a:t>
                      </a:r>
                    </a:p>
                  </a:txBody>
                  <a:tcPr marL="36576" marR="36576" marT="18288" marB="18288">
                    <a:solidFill>
                      <a:srgbClr val="F7F3EC"/>
                    </a:solidFill>
                  </a:tcPr>
                </a:tc>
                <a:tc>
                  <a:txBody>
                    <a:bodyPr/>
                    <a:lstStyle/>
                    <a:p>
                      <a:pPr algn="ctr"/>
                      <a:r>
                        <a:rPr sz="950" b="0">
                          <a:latin typeface="Times New Roman"/>
                        </a:rPr>
                        <a:t>31.0</a:t>
                      </a:r>
                    </a:p>
                  </a:txBody>
                  <a:tcPr marL="36576" marR="36576" marT="18288" marB="18288">
                    <a:solidFill>
                      <a:srgbClr val="F7F3EC"/>
                    </a:solidFill>
                  </a:tcPr>
                </a:tc>
                <a:tc>
                  <a:txBody>
                    <a:bodyPr/>
                    <a:lstStyle/>
                    <a:p>
                      <a:pPr algn="ctr"/>
                      <a:r>
                        <a:rPr sz="950" b="0">
                          <a:latin typeface="Times New Roman"/>
                        </a:rPr>
                        <a:t>60.5</a:t>
                      </a:r>
                    </a:p>
                  </a:txBody>
                  <a:tcPr marL="36576" marR="36576" marT="18288" marB="18288">
                    <a:solidFill>
                      <a:srgbClr val="F7F3EC"/>
                    </a:solidFill>
                  </a:tcPr>
                </a:tc>
                <a:tc>
                  <a:txBody>
                    <a:bodyPr/>
                    <a:lstStyle/>
                    <a:p>
                      <a:pPr algn="ctr"/>
                      <a:r>
                        <a:rPr sz="950" b="0">
                          <a:latin typeface="Times New Roman"/>
                        </a:rPr>
                        <a:t>63.2</a:t>
                      </a:r>
                    </a:p>
                  </a:txBody>
                  <a:tcPr marL="36576" marR="36576" marT="18288" marB="18288">
                    <a:solidFill>
                      <a:srgbClr val="F7F3EC"/>
                    </a:solidFill>
                  </a:tcPr>
                </a:tc>
                <a:tc>
                  <a:txBody>
                    <a:bodyPr/>
                    <a:lstStyle/>
                    <a:p>
                      <a:pPr algn="ctr"/>
                      <a:r>
                        <a:rPr sz="950" b="0">
                          <a:latin typeface="Times New Roman"/>
                        </a:rPr>
                        <a:t>53.0</a:t>
                      </a:r>
                    </a:p>
                  </a:txBody>
                  <a:tcPr marL="36576" marR="36576" marT="18288" marB="18288">
                    <a:solidFill>
                      <a:srgbClr val="F7F3EC"/>
                    </a:solidFill>
                  </a:tcPr>
                </a:tc>
                <a:tc>
                  <a:txBody>
                    <a:bodyPr/>
                    <a:lstStyle/>
                    <a:p>
                      <a:pPr algn="ctr"/>
                      <a:r>
                        <a:rPr sz="950" b="0">
                          <a:latin typeface="Times New Roman"/>
                        </a:rPr>
                        <a:t>26.3</a:t>
                      </a:r>
                    </a:p>
                  </a:txBody>
                  <a:tcPr marL="36576" marR="36576" marT="18288" marB="18288">
                    <a:solidFill>
                      <a:srgbClr val="F7F3EC"/>
                    </a:solidFill>
                  </a:tcPr>
                </a:tc>
              </a:tr>
              <a:tr h="310896">
                <a:tc>
                  <a:txBody>
                    <a:bodyPr/>
                    <a:lstStyle/>
                    <a:p>
                      <a:pPr algn="l"/>
                      <a:r>
                        <a:rPr sz="950" b="0">
                          <a:latin typeface="Times New Roman"/>
                        </a:rPr>
                        <a:t>Quartzity *</a:t>
                      </a:r>
                    </a:p>
                  </a:txBody>
                  <a:tcPr marL="36576" marR="36576" marT="18288" marB="18288">
                    <a:solidFill>
                      <a:srgbClr val="FFFFFF"/>
                    </a:solidFill>
                  </a:tcPr>
                </a:tc>
                <a:tc>
                  <a:txBody>
                    <a:bodyPr/>
                    <a:lstStyle/>
                    <a:p>
                      <a:pPr algn="ctr"/>
                      <a:r>
                        <a:rPr sz="950" b="0">
                          <a:latin typeface="Times New Roman"/>
                        </a:rPr>
                        <a:t>10</a:t>
                      </a:r>
                    </a:p>
                  </a:txBody>
                  <a:tcPr marL="36576" marR="36576" marT="18288" marB="18288">
                    <a:solidFill>
                      <a:srgbClr val="FFFFFF"/>
                    </a:solidFill>
                  </a:tcPr>
                </a:tc>
                <a:tc>
                  <a:txBody>
                    <a:bodyPr/>
                    <a:lstStyle/>
                    <a:p>
                      <a:pPr algn="ctr"/>
                      <a:r>
                        <a:rPr sz="950" b="0">
                          <a:latin typeface="Times New Roman"/>
                        </a:rPr>
                        <a:t>30.7</a:t>
                      </a:r>
                    </a:p>
                  </a:txBody>
                  <a:tcPr marL="36576" marR="36576" marT="18288" marB="18288">
                    <a:solidFill>
                      <a:srgbClr val="FFFFFF"/>
                    </a:solidFill>
                  </a:tcPr>
                </a:tc>
                <a:tc>
                  <a:txBody>
                    <a:bodyPr/>
                    <a:lstStyle/>
                    <a:p>
                      <a:pPr algn="ctr"/>
                      <a:r>
                        <a:rPr sz="950" b="0">
                          <a:latin typeface="Times New Roman"/>
                        </a:rPr>
                        <a:t>22.3</a:t>
                      </a:r>
                    </a:p>
                  </a:txBody>
                  <a:tcPr marL="36576" marR="36576" marT="18288" marB="18288">
                    <a:solidFill>
                      <a:srgbClr val="FFFFFF"/>
                    </a:solidFill>
                  </a:tcPr>
                </a:tc>
                <a:tc>
                  <a:txBody>
                    <a:bodyPr/>
                    <a:lstStyle/>
                    <a:p>
                      <a:pPr algn="ctr"/>
                      <a:r>
                        <a:rPr sz="950" b="0">
                          <a:latin typeface="Times New Roman"/>
                        </a:rPr>
                        <a:t>15.4</a:t>
                      </a:r>
                    </a:p>
                  </a:txBody>
                  <a:tcPr marL="36576" marR="36576" marT="18288" marB="18288">
                    <a:solidFill>
                      <a:srgbClr val="FFFFFF"/>
                    </a:solidFill>
                  </a:tcPr>
                </a:tc>
                <a:tc>
                  <a:txBody>
                    <a:bodyPr/>
                    <a:lstStyle/>
                    <a:p>
                      <a:pPr algn="ctr"/>
                      <a:r>
                        <a:rPr sz="950" b="0">
                          <a:latin typeface="Times New Roman"/>
                        </a:rPr>
                        <a:t>5.7</a:t>
                      </a:r>
                    </a:p>
                  </a:txBody>
                  <a:tcPr marL="36576" marR="36576" marT="18288" marB="18288">
                    <a:solidFill>
                      <a:srgbClr val="FFFFFF"/>
                    </a:solidFill>
                  </a:tcPr>
                </a:tc>
                <a:tc>
                  <a:txBody>
                    <a:bodyPr/>
                    <a:lstStyle/>
                    <a:p>
                      <a:pPr algn="ctr"/>
                      <a:r>
                        <a:rPr sz="950" b="0">
                          <a:latin typeface="Times New Roman"/>
                        </a:rPr>
                        <a:t>16.7</a:t>
                      </a:r>
                    </a:p>
                  </a:txBody>
                  <a:tcPr marL="36576" marR="36576" marT="18288" marB="18288">
                    <a:solidFill>
                      <a:srgbClr val="FFFFFF"/>
                    </a:solidFill>
                  </a:tcPr>
                </a:tc>
                <a:tc>
                  <a:txBody>
                    <a:bodyPr/>
                    <a:lstStyle/>
                    <a:p>
                      <a:pPr algn="ctr"/>
                      <a:r>
                        <a:rPr sz="950" b="0">
                          <a:latin typeface="Times New Roman"/>
                        </a:rPr>
                        <a:t>30.0</a:t>
                      </a:r>
                    </a:p>
                  </a:txBody>
                  <a:tcPr marL="36576" marR="36576" marT="18288" marB="18288">
                    <a:solidFill>
                      <a:srgbClr val="FFFFFF"/>
                    </a:solidFill>
                  </a:tcPr>
                </a:tc>
                <a:tc>
                  <a:txBody>
                    <a:bodyPr/>
                    <a:lstStyle/>
                    <a:p>
                      <a:pPr algn="ctr"/>
                      <a:r>
                        <a:rPr sz="950" b="0">
                          <a:latin typeface="Times New Roman"/>
                        </a:rPr>
                        <a:t>13.4</a:t>
                      </a:r>
                    </a:p>
                  </a:txBody>
                  <a:tcPr marL="36576" marR="36576" marT="18288" marB="18288">
                    <a:solidFill>
                      <a:srgbClr val="FFFFFF"/>
                    </a:solidFill>
                  </a:tcPr>
                </a:tc>
                <a:tc>
                  <a:txBody>
                    <a:bodyPr/>
                    <a:lstStyle/>
                    <a:p>
                      <a:pPr algn="ctr"/>
                      <a:r>
                        <a:rPr sz="950" b="0">
                          <a:latin typeface="Times New Roman"/>
                        </a:rPr>
                        <a:t>3.0</a:t>
                      </a:r>
                    </a:p>
                  </a:txBody>
                  <a:tcPr marL="36576" marR="36576" marT="18288" marB="18288">
                    <a:solidFill>
                      <a:srgbClr val="FFFFFF"/>
                    </a:solidFill>
                  </a:tcPr>
                </a:tc>
              </a:tr>
              <a:tr h="310896">
                <a:tc>
                  <a:txBody>
                    <a:bodyPr/>
                    <a:lstStyle/>
                    <a:p>
                      <a:pPr algn="l"/>
                      <a:r>
                        <a:rPr sz="950" b="1">
                          <a:latin typeface="Times New Roman"/>
                        </a:rPr>
                        <a:t>ALL</a:t>
                      </a:r>
                    </a:p>
                  </a:txBody>
                  <a:tcPr marL="36576" marR="36576" marT="18288" marB="18288">
                    <a:solidFill>
                      <a:srgbClr val="F7F3EC"/>
                    </a:solidFill>
                  </a:tcPr>
                </a:tc>
                <a:tc>
                  <a:txBody>
                    <a:bodyPr/>
                    <a:lstStyle/>
                    <a:p>
                      <a:pPr algn="ctr"/>
                      <a:r>
                        <a:rPr sz="950" b="1">
                          <a:latin typeface="Times New Roman"/>
                        </a:rPr>
                        <a:t>1023</a:t>
                      </a:r>
                    </a:p>
                  </a:txBody>
                  <a:tcPr marL="36576" marR="36576" marT="18288" marB="18288">
                    <a:solidFill>
                      <a:srgbClr val="F7F3EC"/>
                    </a:solidFill>
                  </a:tcPr>
                </a:tc>
                <a:tc>
                  <a:txBody>
                    <a:bodyPr/>
                    <a:lstStyle/>
                    <a:p>
                      <a:pPr algn="ctr"/>
                      <a:r>
                        <a:rPr sz="950" b="1">
                          <a:latin typeface="Times New Roman"/>
                        </a:rPr>
                        <a:t>63.4</a:t>
                      </a:r>
                    </a:p>
                  </a:txBody>
                  <a:tcPr marL="36576" marR="36576" marT="18288" marB="18288">
                    <a:solidFill>
                      <a:srgbClr val="F7F3EC"/>
                    </a:solidFill>
                  </a:tcPr>
                </a:tc>
                <a:tc>
                  <a:txBody>
                    <a:bodyPr/>
                    <a:lstStyle/>
                    <a:p>
                      <a:pPr algn="ctr"/>
                      <a:r>
                        <a:rPr sz="950" b="1">
                          <a:latin typeface="Times New Roman"/>
                        </a:rPr>
                        <a:t>66.2</a:t>
                      </a:r>
                    </a:p>
                  </a:txBody>
                  <a:tcPr marL="36576" marR="36576" marT="18288" marB="18288">
                    <a:solidFill>
                      <a:srgbClr val="F7F3EC"/>
                    </a:solidFill>
                  </a:tcPr>
                </a:tc>
                <a:tc>
                  <a:txBody>
                    <a:bodyPr/>
                    <a:lstStyle/>
                    <a:p>
                      <a:pPr algn="ctr"/>
                      <a:r>
                        <a:rPr sz="950" b="1">
                          <a:latin typeface="Times New Roman"/>
                        </a:rPr>
                        <a:t>63.0</a:t>
                      </a:r>
                    </a:p>
                  </a:txBody>
                  <a:tcPr marL="36576" marR="36576" marT="18288" marB="18288">
                    <a:solidFill>
                      <a:srgbClr val="F7F3EC"/>
                    </a:solidFill>
                  </a:tcPr>
                </a:tc>
                <a:tc>
                  <a:txBody>
                    <a:bodyPr/>
                    <a:lstStyle/>
                    <a:p>
                      <a:pPr algn="ctr"/>
                      <a:r>
                        <a:rPr sz="950" b="1">
                          <a:latin typeface="Times New Roman"/>
                        </a:rPr>
                        <a:t>34.0</a:t>
                      </a:r>
                    </a:p>
                  </a:txBody>
                  <a:tcPr marL="36576" marR="36576" marT="18288" marB="18288">
                    <a:solidFill>
                      <a:srgbClr val="F7F3EC"/>
                    </a:solidFill>
                  </a:tcPr>
                </a:tc>
                <a:tc>
                  <a:txBody>
                    <a:bodyPr/>
                    <a:lstStyle/>
                    <a:p>
                      <a:pPr algn="ctr"/>
                      <a:r>
                        <a:rPr sz="950" b="1">
                          <a:latin typeface="Times New Roman"/>
                        </a:rPr>
                        <a:t>71.0</a:t>
                      </a:r>
                    </a:p>
                  </a:txBody>
                  <a:tcPr marL="36576" marR="36576" marT="18288" marB="18288">
                    <a:solidFill>
                      <a:srgbClr val="F7F3EC"/>
                    </a:solidFill>
                  </a:tcPr>
                </a:tc>
                <a:tc>
                  <a:txBody>
                    <a:bodyPr/>
                    <a:lstStyle/>
                    <a:p>
                      <a:pPr algn="ctr"/>
                      <a:r>
                        <a:rPr sz="950" b="1">
                          <a:latin typeface="Times New Roman"/>
                        </a:rPr>
                        <a:t>64.1</a:t>
                      </a:r>
                    </a:p>
                  </a:txBody>
                  <a:tcPr marL="36576" marR="36576" marT="18288" marB="18288">
                    <a:solidFill>
                      <a:srgbClr val="F7F3EC"/>
                    </a:solidFill>
                  </a:tcPr>
                </a:tc>
                <a:tc>
                  <a:txBody>
                    <a:bodyPr/>
                    <a:lstStyle/>
                    <a:p>
                      <a:pPr algn="ctr"/>
                      <a:r>
                        <a:rPr sz="950" b="1">
                          <a:latin typeface="Times New Roman"/>
                        </a:rPr>
                        <a:t>64.6</a:t>
                      </a:r>
                    </a:p>
                  </a:txBody>
                  <a:tcPr marL="36576" marR="36576" marT="18288" marB="18288">
                    <a:solidFill>
                      <a:srgbClr val="F7F3EC"/>
                    </a:solidFill>
                  </a:tcPr>
                </a:tc>
                <a:tc>
                  <a:txBody>
                    <a:bodyPr/>
                    <a:lstStyle/>
                    <a:p>
                      <a:pPr algn="ctr"/>
                      <a:r>
                        <a:rPr sz="950" b="1">
                          <a:latin typeface="Times New Roman"/>
                        </a:rPr>
                        <a:t>33.4</a:t>
                      </a:r>
                    </a:p>
                  </a:txBody>
                  <a:tcPr marL="36576" marR="36576" marT="18288" marB="18288">
                    <a:solidFill>
                      <a:srgbClr val="F7F3EC"/>
                    </a:solidFill>
                  </a:tcPr>
                </a:tc>
              </a:tr>
            </a:tbl>
          </a:graphicData>
        </a:graphic>
      </p:graphicFrame>
      <p:sp>
        <p:nvSpPr>
          <p:cNvPr id="301" name="TextBox 300"/>
          <p:cNvSpPr txBox="1"/>
          <p:nvPr/>
        </p:nvSpPr>
        <p:spPr>
          <a:xfrm>
            <a:off x="274320" y="5074920"/>
            <a:ext cx="7955279" cy="1188720"/>
          </a:xfrm>
          <a:prstGeom prst="rect">
            <a:avLst/>
          </a:prstGeom>
          <a:noFill/>
        </p:spPr>
        <p:txBody>
          <a:bodyPr wrap="square">
            <a:spAutoFit/>
          </a:bodyPr>
          <a:lstStyle/>
          <a:p>
            <a:pPr marL="0" indent="0" lvl="0" algn="l">
              <a:lnSpc>
                <a:spcPct val="105000"/>
              </a:lnSpc>
              <a:spcBef>
                <a:spcPts val="400"/>
              </a:spcBef>
              <a:spcAft>
                <a:spcPts val="0"/>
              </a:spcAft>
              <a:buNone/>
            </a:pPr>
            <a:r>
              <a:rPr lang="en-US" sz="1100">
                <a:latin typeface="Times New Roman"/>
                <a:ea typeface="Times New Roman"/>
                <a:cs typeface="Times New Roman"/>
                <a:sym typeface="Times New Roman"/>
              </a:rPr>
              <a:t>Each model evaluated exactly once on boards never used for training, validation or threshold choice. * fewer than 25 test boxes: indicative only.</a:t>
            </a:r>
            <a:endParaRPr lang="en-US" sz="1100">
              <a:latin typeface="Times New Roman"/>
              <a:ea typeface="Times New Roman"/>
              <a:cs typeface="Times New Roman"/>
              <a:sym typeface="Times New Roman"/>
            </a:endParaRPr>
          </a:p>
          <a:p>
            <a:pPr marL="0" indent="0" lvl="0" algn="l">
              <a:lnSpc>
                <a:spcPct val="105000"/>
              </a:lnSpc>
              <a:spcBef>
                <a:spcPts val="200"/>
              </a:spcBef>
              <a:spcAft>
                <a:spcPts val="0"/>
              </a:spcAft>
              <a:buNone/>
            </a:pPr>
            <a:r>
              <a:rPr lang="en-US" sz="1100">
                <a:latin typeface="Times New Roman"/>
                <a:ea typeface="Times New Roman"/>
                <a:cs typeface="Times New Roman"/>
                <a:sym typeface="Times New Roman"/>
              </a:rPr>
              <a:t>Knot classes above 85 mAP50; Crack 53-58; Quartzity (125 training boxes) not yet learned; remaining errors are between visually similar knot sub-types.</a:t>
            </a:r>
            <a:endParaRPr lang="en-US" sz="1100">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30"/>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305" name="Google Shape;305;p30"/>
          <p:cNvSpPr txBox="1"/>
          <p:nvPr/>
        </p:nvSpPr>
        <p:spPr>
          <a:xfrm>
            <a:off x="573740" y="340659"/>
            <a:ext cx="7863840"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41534B"/>
                </a:solidFill>
                <a:latin typeface="Times New Roman"/>
                <a:ea typeface="Times New Roman"/>
                <a:cs typeface="Times New Roman"/>
                <a:sym typeface="Times New Roman"/>
              </a:rPr>
              <a:t>MODEL COMPARISON: YOLO11m vs YOLO11s</a:t>
            </a:r>
            <a:endParaRPr b="0" i="0" sz="1400" u="none" cap="none" strike="noStrike">
              <a:solidFill>
                <a:srgbClr val="000000"/>
              </a:solidFill>
              <a:latin typeface="Arial"/>
              <a:ea typeface="Arial"/>
              <a:cs typeface="Arial"/>
              <a:sym typeface="Arial"/>
            </a:endParaRPr>
          </a:p>
        </p:txBody>
      </p:sp>
      <p:sp>
        <p:nvSpPr>
          <p:cNvPr id="307" name="Google Shape;307;p30"/>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308" name="Google Shape;308;p30"/>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309" name="Google Shape;309;p30"/>
          <p:cNvPicPr preferRelativeResize="0"/>
          <p:nvPr/>
        </p:nvPicPr>
        <p:blipFill rotWithShape="1">
          <a:blip r:embed="rId4">
            <a:alphaModFix/>
          </a:blip>
          <a:srcRect b="0" l="0" r="0" t="0"/>
          <a:stretch/>
        </p:blipFill>
        <p:spPr>
          <a:xfrm>
            <a:off x="8450861" y="3740295"/>
            <a:ext cx="695325" cy="1704975"/>
          </a:xfrm>
          <a:prstGeom prst="rect">
            <a:avLst/>
          </a:prstGeom>
          <a:noFill/>
          <a:ln>
            <a:noFill/>
          </a:ln>
        </p:spPr>
      </p:pic>
      <p:pic>
        <p:nvPicPr>
          <p:cNvPr id="310" name="Google Shape;310;p30"/>
          <p:cNvPicPr preferRelativeResize="0"/>
          <p:nvPr/>
        </p:nvPicPr>
        <p:blipFill rotWithShape="1">
          <a:blip r:embed="rId5">
            <a:alphaModFix/>
          </a:blip>
          <a:srcRect b="0" l="0" r="0" t="0"/>
          <a:stretch/>
        </p:blipFill>
        <p:spPr>
          <a:xfrm>
            <a:off x="8450860" y="2542563"/>
            <a:ext cx="693139" cy="1233357"/>
          </a:xfrm>
          <a:prstGeom prst="rect">
            <a:avLst/>
          </a:prstGeom>
          <a:noFill/>
          <a:ln>
            <a:noFill/>
          </a:ln>
        </p:spPr>
      </p:pic>
      <p:pic>
        <p:nvPicPr>
          <p:cNvPr id="311" name="Google Shape;311;p30"/>
          <p:cNvPicPr preferRelativeResize="0"/>
          <p:nvPr/>
        </p:nvPicPr>
        <p:blipFill rotWithShape="1">
          <a:blip r:embed="rId6">
            <a:alphaModFix/>
          </a:blip>
          <a:srcRect b="0" l="0" r="0" t="0"/>
          <a:stretch/>
        </p:blipFill>
        <p:spPr>
          <a:xfrm>
            <a:off x="8450861" y="6157980"/>
            <a:ext cx="680353" cy="703613"/>
          </a:xfrm>
          <a:prstGeom prst="rect">
            <a:avLst/>
          </a:prstGeom>
          <a:noFill/>
          <a:ln>
            <a:noFill/>
          </a:ln>
        </p:spPr>
      </p:pic>
      <p:graphicFrame>
        <p:nvGraphicFramePr>
          <p:cNvPr id="312" name="Table 311"/>
          <p:cNvGraphicFramePr>
            <a:graphicFrameLocks noGrp="1"/>
          </p:cNvGraphicFramePr>
          <p:nvPr/>
        </p:nvGraphicFramePr>
        <p:xfrm>
          <a:off x="274320" y="868680"/>
          <a:ext cx="4846320" cy="3566160"/>
        </p:xfrm>
        <a:graphic>
          <a:graphicData uri="http://schemas.openxmlformats.org/drawingml/2006/table">
            <a:tbl>
              <a:tblPr firstRow="1" bandRow="1">
                <a:tableStyleId>{5C22544A-7EE6-4342-B048-85BDC9FD1C3A}</a:tableStyleId>
              </a:tblPr>
              <a:tblGrid>
                <a:gridCol w="1554480"/>
                <a:gridCol w="1143000"/>
                <a:gridCol w="1143000"/>
                <a:gridCol w="1005840"/>
              </a:tblGrid>
              <a:tr h="356616">
                <a:tc>
                  <a:txBody>
                    <a:bodyPr/>
                    <a:lstStyle/>
                    <a:p>
                      <a:pPr algn="l"/>
                      <a:r>
                        <a:rPr sz="1000" b="1">
                          <a:solidFill>
                            <a:srgbClr val="FFFFFF"/>
                          </a:solidFill>
                          <a:latin typeface="Times New Roman"/>
                        </a:rPr>
                        <a:t>Aspect</a:t>
                      </a:r>
                    </a:p>
                  </a:txBody>
                  <a:tcPr marL="36576" marR="36576" marT="18288" marB="18288">
                    <a:solidFill>
                      <a:srgbClr val="41534B"/>
                    </a:solidFill>
                  </a:tcPr>
                </a:tc>
                <a:tc>
                  <a:txBody>
                    <a:bodyPr/>
                    <a:lstStyle/>
                    <a:p>
                      <a:pPr algn="ctr"/>
                      <a:r>
                        <a:rPr sz="1000" b="1">
                          <a:solidFill>
                            <a:srgbClr val="FFFFFF"/>
                          </a:solidFill>
                          <a:latin typeface="Times New Roman"/>
                        </a:rPr>
                        <a:t>YOLO11m</a:t>
                      </a:r>
                    </a:p>
                  </a:txBody>
                  <a:tcPr marL="36576" marR="36576" marT="18288" marB="18288">
                    <a:solidFill>
                      <a:srgbClr val="41534B"/>
                    </a:solidFill>
                  </a:tcPr>
                </a:tc>
                <a:tc>
                  <a:txBody>
                    <a:bodyPr/>
                    <a:lstStyle/>
                    <a:p>
                      <a:pPr algn="ctr"/>
                      <a:r>
                        <a:rPr sz="1000" b="1">
                          <a:solidFill>
                            <a:srgbClr val="FFFFFF"/>
                          </a:solidFill>
                          <a:latin typeface="Times New Roman"/>
                        </a:rPr>
                        <a:t>YOLO11s</a:t>
                      </a:r>
                    </a:p>
                  </a:txBody>
                  <a:tcPr marL="36576" marR="36576" marT="18288" marB="18288">
                    <a:solidFill>
                      <a:srgbClr val="41534B"/>
                    </a:solidFill>
                  </a:tcPr>
                </a:tc>
                <a:tc>
                  <a:txBody>
                    <a:bodyPr/>
                    <a:lstStyle/>
                    <a:p>
                      <a:pPr algn="ctr"/>
                      <a:r>
                        <a:rPr sz="1000" b="1">
                          <a:solidFill>
                            <a:srgbClr val="FFFFFF"/>
                          </a:solidFill>
                          <a:latin typeface="Times New Roman"/>
                        </a:rPr>
                        <a:t>m - s</a:t>
                      </a:r>
                    </a:p>
                  </a:txBody>
                  <a:tcPr marL="36576" marR="36576" marT="18288" marB="18288">
                    <a:solidFill>
                      <a:srgbClr val="41534B"/>
                    </a:solidFill>
                  </a:tcPr>
                </a:tc>
              </a:tr>
              <a:tr h="356616">
                <a:tc>
                  <a:txBody>
                    <a:bodyPr/>
                    <a:lstStyle/>
                    <a:p>
                      <a:pPr algn="l"/>
                      <a:r>
                        <a:rPr sz="1000" b="0">
                          <a:latin typeface="Times New Roman"/>
                        </a:rPr>
                        <a:t>mAP50</a:t>
                      </a:r>
                    </a:p>
                  </a:txBody>
                  <a:tcPr marL="36576" marR="36576" marT="18288" marB="18288">
                    <a:solidFill>
                      <a:srgbClr val="F7F3EC"/>
                    </a:solidFill>
                  </a:tcPr>
                </a:tc>
                <a:tc>
                  <a:txBody>
                    <a:bodyPr/>
                    <a:lstStyle/>
                    <a:p>
                      <a:pPr algn="ctr"/>
                      <a:r>
                        <a:rPr sz="1000" b="0">
                          <a:latin typeface="Times New Roman"/>
                        </a:rPr>
                        <a:t>63.0</a:t>
                      </a:r>
                    </a:p>
                  </a:txBody>
                  <a:tcPr marL="36576" marR="36576" marT="18288" marB="18288">
                    <a:solidFill>
                      <a:srgbClr val="F7F3EC"/>
                    </a:solidFill>
                  </a:tcPr>
                </a:tc>
                <a:tc>
                  <a:txBody>
                    <a:bodyPr/>
                    <a:lstStyle/>
                    <a:p>
                      <a:pPr algn="ctr"/>
                      <a:r>
                        <a:rPr sz="1000" b="0">
                          <a:latin typeface="Times New Roman"/>
                        </a:rPr>
                        <a:t>64.6</a:t>
                      </a:r>
                    </a:p>
                  </a:txBody>
                  <a:tcPr marL="36576" marR="36576" marT="18288" marB="18288">
                    <a:solidFill>
                      <a:srgbClr val="F7F3EC"/>
                    </a:solidFill>
                  </a:tcPr>
                </a:tc>
                <a:tc>
                  <a:txBody>
                    <a:bodyPr/>
                    <a:lstStyle/>
                    <a:p>
                      <a:pPr algn="ctr"/>
                      <a:r>
                        <a:rPr sz="1000" b="0">
                          <a:latin typeface="Times New Roman"/>
                        </a:rPr>
                        <a:t>-1.6</a:t>
                      </a:r>
                    </a:p>
                  </a:txBody>
                  <a:tcPr marL="36576" marR="36576" marT="18288" marB="18288">
                    <a:solidFill>
                      <a:srgbClr val="F7F3EC"/>
                    </a:solidFill>
                  </a:tcPr>
                </a:tc>
              </a:tr>
              <a:tr h="356616">
                <a:tc>
                  <a:txBody>
                    <a:bodyPr/>
                    <a:lstStyle/>
                    <a:p>
                      <a:pPr algn="l"/>
                      <a:r>
                        <a:rPr sz="1000" b="0">
                          <a:latin typeface="Times New Roman"/>
                        </a:rPr>
                        <a:t>mAP50-95</a:t>
                      </a:r>
                    </a:p>
                  </a:txBody>
                  <a:tcPr marL="36576" marR="36576" marT="18288" marB="18288">
                    <a:solidFill>
                      <a:srgbClr val="FFFFFF"/>
                    </a:solidFill>
                  </a:tcPr>
                </a:tc>
                <a:tc>
                  <a:txBody>
                    <a:bodyPr/>
                    <a:lstStyle/>
                    <a:p>
                      <a:pPr algn="ctr"/>
                      <a:r>
                        <a:rPr sz="1000" b="0">
                          <a:latin typeface="Times New Roman"/>
                        </a:rPr>
                        <a:t>34.0</a:t>
                      </a:r>
                    </a:p>
                  </a:txBody>
                  <a:tcPr marL="36576" marR="36576" marT="18288" marB="18288">
                    <a:solidFill>
                      <a:srgbClr val="FFFFFF"/>
                    </a:solidFill>
                  </a:tcPr>
                </a:tc>
                <a:tc>
                  <a:txBody>
                    <a:bodyPr/>
                    <a:lstStyle/>
                    <a:p>
                      <a:pPr algn="ctr"/>
                      <a:r>
                        <a:rPr sz="1000" b="0">
                          <a:latin typeface="Times New Roman"/>
                        </a:rPr>
                        <a:t>33.4</a:t>
                      </a:r>
                    </a:p>
                  </a:txBody>
                  <a:tcPr marL="36576" marR="36576" marT="18288" marB="18288">
                    <a:solidFill>
                      <a:srgbClr val="FFFFFF"/>
                    </a:solidFill>
                  </a:tcPr>
                </a:tc>
                <a:tc>
                  <a:txBody>
                    <a:bodyPr/>
                    <a:lstStyle/>
                    <a:p>
                      <a:pPr algn="ctr"/>
                      <a:r>
                        <a:rPr sz="1000" b="0">
                          <a:latin typeface="Times New Roman"/>
                        </a:rPr>
                        <a:t>+0.6</a:t>
                      </a:r>
                    </a:p>
                  </a:txBody>
                  <a:tcPr marL="36576" marR="36576" marT="18288" marB="18288">
                    <a:solidFill>
                      <a:srgbClr val="FFFFFF"/>
                    </a:solidFill>
                  </a:tcPr>
                </a:tc>
              </a:tr>
              <a:tr h="356616">
                <a:tc>
                  <a:txBody>
                    <a:bodyPr/>
                    <a:lstStyle/>
                    <a:p>
                      <a:pPr algn="l"/>
                      <a:r>
                        <a:rPr sz="1000" b="0">
                          <a:latin typeface="Times New Roman"/>
                        </a:rPr>
                        <a:t>Precision</a:t>
                      </a:r>
                    </a:p>
                  </a:txBody>
                  <a:tcPr marL="36576" marR="36576" marT="18288" marB="18288">
                    <a:solidFill>
                      <a:srgbClr val="F7F3EC"/>
                    </a:solidFill>
                  </a:tcPr>
                </a:tc>
                <a:tc>
                  <a:txBody>
                    <a:bodyPr/>
                    <a:lstStyle/>
                    <a:p>
                      <a:pPr algn="ctr"/>
                      <a:r>
                        <a:rPr sz="1000" b="0">
                          <a:latin typeface="Times New Roman"/>
                        </a:rPr>
                        <a:t>63.4</a:t>
                      </a:r>
                    </a:p>
                  </a:txBody>
                  <a:tcPr marL="36576" marR="36576" marT="18288" marB="18288">
                    <a:solidFill>
                      <a:srgbClr val="F7F3EC"/>
                    </a:solidFill>
                  </a:tcPr>
                </a:tc>
                <a:tc>
                  <a:txBody>
                    <a:bodyPr/>
                    <a:lstStyle/>
                    <a:p>
                      <a:pPr algn="ctr"/>
                      <a:r>
                        <a:rPr sz="1000" b="0">
                          <a:latin typeface="Times New Roman"/>
                        </a:rPr>
                        <a:t>71.0</a:t>
                      </a:r>
                    </a:p>
                  </a:txBody>
                  <a:tcPr marL="36576" marR="36576" marT="18288" marB="18288">
                    <a:solidFill>
                      <a:srgbClr val="F7F3EC"/>
                    </a:solidFill>
                  </a:tcPr>
                </a:tc>
                <a:tc>
                  <a:txBody>
                    <a:bodyPr/>
                    <a:lstStyle/>
                    <a:p>
                      <a:pPr algn="ctr"/>
                      <a:r>
                        <a:rPr sz="1000" b="0">
                          <a:latin typeface="Times New Roman"/>
                        </a:rPr>
                        <a:t>-7.6</a:t>
                      </a:r>
                    </a:p>
                  </a:txBody>
                  <a:tcPr marL="36576" marR="36576" marT="18288" marB="18288">
                    <a:solidFill>
                      <a:srgbClr val="F7F3EC"/>
                    </a:solidFill>
                  </a:tcPr>
                </a:tc>
              </a:tr>
              <a:tr h="356616">
                <a:tc>
                  <a:txBody>
                    <a:bodyPr/>
                    <a:lstStyle/>
                    <a:p>
                      <a:pPr algn="l"/>
                      <a:r>
                        <a:rPr sz="1000" b="0">
                          <a:latin typeface="Times New Roman"/>
                        </a:rPr>
                        <a:t>Recall</a:t>
                      </a:r>
                    </a:p>
                  </a:txBody>
                  <a:tcPr marL="36576" marR="36576" marT="18288" marB="18288">
                    <a:solidFill>
                      <a:srgbClr val="FFFFFF"/>
                    </a:solidFill>
                  </a:tcPr>
                </a:tc>
                <a:tc>
                  <a:txBody>
                    <a:bodyPr/>
                    <a:lstStyle/>
                    <a:p>
                      <a:pPr algn="ctr"/>
                      <a:r>
                        <a:rPr sz="1000" b="0">
                          <a:latin typeface="Times New Roman"/>
                        </a:rPr>
                        <a:t>66.2</a:t>
                      </a:r>
                    </a:p>
                  </a:txBody>
                  <a:tcPr marL="36576" marR="36576" marT="18288" marB="18288">
                    <a:solidFill>
                      <a:srgbClr val="FFFFFF"/>
                    </a:solidFill>
                  </a:tcPr>
                </a:tc>
                <a:tc>
                  <a:txBody>
                    <a:bodyPr/>
                    <a:lstStyle/>
                    <a:p>
                      <a:pPr algn="ctr"/>
                      <a:r>
                        <a:rPr sz="1000" b="0">
                          <a:latin typeface="Times New Roman"/>
                        </a:rPr>
                        <a:t>64.1</a:t>
                      </a:r>
                    </a:p>
                  </a:txBody>
                  <a:tcPr marL="36576" marR="36576" marT="18288" marB="18288">
                    <a:solidFill>
                      <a:srgbClr val="FFFFFF"/>
                    </a:solidFill>
                  </a:tcPr>
                </a:tc>
                <a:tc>
                  <a:txBody>
                    <a:bodyPr/>
                    <a:lstStyle/>
                    <a:p>
                      <a:pPr algn="ctr"/>
                      <a:r>
                        <a:rPr sz="1000" b="0">
                          <a:latin typeface="Times New Roman"/>
                        </a:rPr>
                        <a:t>+2.1</a:t>
                      </a:r>
                    </a:p>
                  </a:txBody>
                  <a:tcPr marL="36576" marR="36576" marT="18288" marB="18288">
                    <a:solidFill>
                      <a:srgbClr val="FFFFFF"/>
                    </a:solidFill>
                  </a:tcPr>
                </a:tc>
              </a:tr>
              <a:tr h="356616">
                <a:tc>
                  <a:txBody>
                    <a:bodyPr/>
                    <a:lstStyle/>
                    <a:p>
                      <a:pPr algn="l"/>
                      <a:r>
                        <a:rPr sz="1000" b="0">
                          <a:latin typeface="Times New Roman"/>
                        </a:rPr>
                        <a:t>F1</a:t>
                      </a:r>
                    </a:p>
                  </a:txBody>
                  <a:tcPr marL="36576" marR="36576" marT="18288" marB="18288">
                    <a:solidFill>
                      <a:srgbClr val="F7F3EC"/>
                    </a:solidFill>
                  </a:tcPr>
                </a:tc>
                <a:tc>
                  <a:txBody>
                    <a:bodyPr/>
                    <a:lstStyle/>
                    <a:p>
                      <a:pPr algn="ctr"/>
                      <a:r>
                        <a:rPr sz="1000" b="0">
                          <a:latin typeface="Times New Roman"/>
                        </a:rPr>
                        <a:t>64.7</a:t>
                      </a:r>
                    </a:p>
                  </a:txBody>
                  <a:tcPr marL="36576" marR="36576" marT="18288" marB="18288">
                    <a:solidFill>
                      <a:srgbClr val="F7F3EC"/>
                    </a:solidFill>
                  </a:tcPr>
                </a:tc>
                <a:tc>
                  <a:txBody>
                    <a:bodyPr/>
                    <a:lstStyle/>
                    <a:p>
                      <a:pPr algn="ctr"/>
                      <a:r>
                        <a:rPr sz="1000" b="0">
                          <a:latin typeface="Times New Roman"/>
                        </a:rPr>
                        <a:t>67.4</a:t>
                      </a:r>
                    </a:p>
                  </a:txBody>
                  <a:tcPr marL="36576" marR="36576" marT="18288" marB="18288">
                    <a:solidFill>
                      <a:srgbClr val="F7F3EC"/>
                    </a:solidFill>
                  </a:tcPr>
                </a:tc>
                <a:tc>
                  <a:txBody>
                    <a:bodyPr/>
                    <a:lstStyle/>
                    <a:p>
                      <a:pPr algn="ctr"/>
                      <a:r>
                        <a:rPr sz="1000" b="0">
                          <a:latin typeface="Times New Roman"/>
                        </a:rPr>
                        <a:t>-2.7</a:t>
                      </a:r>
                    </a:p>
                  </a:txBody>
                  <a:tcPr marL="36576" marR="36576" marT="18288" marB="18288">
                    <a:solidFill>
                      <a:srgbClr val="F7F3EC"/>
                    </a:solidFill>
                  </a:tcPr>
                </a:tc>
              </a:tr>
              <a:tr h="356616">
                <a:tc>
                  <a:txBody>
                    <a:bodyPr/>
                    <a:lstStyle/>
                    <a:p>
                      <a:pPr algn="l"/>
                      <a:r>
                        <a:rPr sz="1000" b="0">
                          <a:latin typeface="Times New Roman"/>
                        </a:rPr>
                        <a:t>Crack mAP50 / recall</a:t>
                      </a:r>
                    </a:p>
                  </a:txBody>
                  <a:tcPr marL="36576" marR="36576" marT="18288" marB="18288">
                    <a:solidFill>
                      <a:srgbClr val="FFFFFF"/>
                    </a:solidFill>
                  </a:tcPr>
                </a:tc>
                <a:tc>
                  <a:txBody>
                    <a:bodyPr/>
                    <a:lstStyle/>
                    <a:p>
                      <a:pPr algn="ctr"/>
                      <a:r>
                        <a:rPr sz="1000" b="0">
                          <a:latin typeface="Times New Roman"/>
                        </a:rPr>
                        <a:t>57.7 / 72.6</a:t>
                      </a:r>
                    </a:p>
                  </a:txBody>
                  <a:tcPr marL="36576" marR="36576" marT="18288" marB="18288">
                    <a:solidFill>
                      <a:srgbClr val="FFFFFF"/>
                    </a:solidFill>
                  </a:tcPr>
                </a:tc>
                <a:tc>
                  <a:txBody>
                    <a:bodyPr/>
                    <a:lstStyle/>
                    <a:p>
                      <a:pPr algn="ctr"/>
                      <a:r>
                        <a:rPr sz="1000" b="0">
                          <a:latin typeface="Times New Roman"/>
                        </a:rPr>
                        <a:t>53.0 / 63.2</a:t>
                      </a:r>
                    </a:p>
                  </a:txBody>
                  <a:tcPr marL="36576" marR="36576" marT="18288" marB="18288">
                    <a:solidFill>
                      <a:srgbClr val="FFFFFF"/>
                    </a:solidFill>
                  </a:tcPr>
                </a:tc>
                <a:tc>
                  <a:txBody>
                    <a:bodyPr/>
                    <a:lstStyle/>
                    <a:p>
                      <a:pPr algn="ctr"/>
                      <a:r>
                        <a:rPr sz="1000" b="0">
                          <a:latin typeface="Times New Roman"/>
                        </a:rPr>
                        <a:t>+4.7 / +9.4</a:t>
                      </a:r>
                    </a:p>
                  </a:txBody>
                  <a:tcPr marL="36576" marR="36576" marT="18288" marB="18288">
                    <a:solidFill>
                      <a:srgbClr val="FFFFFF"/>
                    </a:solidFill>
                  </a:tcPr>
                </a:tc>
              </a:tr>
              <a:tr h="356616">
                <a:tc>
                  <a:txBody>
                    <a:bodyPr/>
                    <a:lstStyle/>
                    <a:p>
                      <a:pPr algn="l"/>
                      <a:r>
                        <a:rPr sz="1000" b="0">
                          <a:latin typeface="Times New Roman"/>
                        </a:rPr>
                        <a:t>Inference, T4</a:t>
                      </a:r>
                    </a:p>
                  </a:txBody>
                  <a:tcPr marL="36576" marR="36576" marT="18288" marB="18288">
                    <a:solidFill>
                      <a:srgbClr val="F7F3EC"/>
                    </a:solidFill>
                  </a:tcPr>
                </a:tc>
                <a:tc>
                  <a:txBody>
                    <a:bodyPr/>
                    <a:lstStyle/>
                    <a:p>
                      <a:pPr algn="ctr"/>
                      <a:r>
                        <a:rPr sz="1000" b="0">
                          <a:latin typeface="Times New Roman"/>
                        </a:rPr>
                        <a:t>33.2 ms (30 FPS)</a:t>
                      </a:r>
                    </a:p>
                  </a:txBody>
                  <a:tcPr marL="36576" marR="36576" marT="18288" marB="18288">
                    <a:solidFill>
                      <a:srgbClr val="F7F3EC"/>
                    </a:solidFill>
                  </a:tcPr>
                </a:tc>
                <a:tc>
                  <a:txBody>
                    <a:bodyPr/>
                    <a:lstStyle/>
                    <a:p>
                      <a:pPr algn="ctr"/>
                      <a:r>
                        <a:rPr sz="1000" b="0">
                          <a:latin typeface="Times New Roman"/>
                        </a:rPr>
                        <a:t>11.7 ms (86 FPS)</a:t>
                      </a:r>
                    </a:p>
                  </a:txBody>
                  <a:tcPr marL="36576" marR="36576" marT="18288" marB="18288">
                    <a:solidFill>
                      <a:srgbClr val="F7F3EC"/>
                    </a:solidFill>
                  </a:tcPr>
                </a:tc>
                <a:tc>
                  <a:txBody>
                    <a:bodyPr/>
                    <a:lstStyle/>
                    <a:p>
                      <a:pPr algn="ctr"/>
                      <a:r>
                        <a:rPr sz="1000" b="0">
                          <a:latin typeface="Times New Roman"/>
                        </a:rPr>
                        <a:t>2.8x slower</a:t>
                      </a:r>
                    </a:p>
                  </a:txBody>
                  <a:tcPr marL="36576" marR="36576" marT="18288" marB="18288">
                    <a:solidFill>
                      <a:srgbClr val="F7F3EC"/>
                    </a:solidFill>
                  </a:tcPr>
                </a:tc>
              </a:tr>
              <a:tr h="356616">
                <a:tc>
                  <a:txBody>
                    <a:bodyPr/>
                    <a:lstStyle/>
                    <a:p>
                      <a:pPr algn="l"/>
                      <a:r>
                        <a:rPr sz="1000" b="0">
                          <a:latin typeface="Times New Roman"/>
                        </a:rPr>
                        <a:t>Training cost</a:t>
                      </a:r>
                    </a:p>
                  </a:txBody>
                  <a:tcPr marL="36576" marR="36576" marT="18288" marB="18288">
                    <a:solidFill>
                      <a:srgbClr val="FFFFFF"/>
                    </a:solidFill>
                  </a:tcPr>
                </a:tc>
                <a:tc>
                  <a:txBody>
                    <a:bodyPr/>
                    <a:lstStyle/>
                    <a:p>
                      <a:pPr algn="ctr"/>
                      <a:r>
                        <a:rPr sz="1000" b="0">
                          <a:latin typeface="Times New Roman"/>
                        </a:rPr>
                        <a:t>2.64 h</a:t>
                      </a:r>
                    </a:p>
                  </a:txBody>
                  <a:tcPr marL="36576" marR="36576" marT="18288" marB="18288">
                    <a:solidFill>
                      <a:srgbClr val="FFFFFF"/>
                    </a:solidFill>
                  </a:tcPr>
                </a:tc>
                <a:tc>
                  <a:txBody>
                    <a:bodyPr/>
                    <a:lstStyle/>
                    <a:p>
                      <a:pPr algn="ctr"/>
                      <a:r>
                        <a:rPr sz="1000" b="0">
                          <a:latin typeface="Times New Roman"/>
                        </a:rPr>
                        <a:t>1.43 h</a:t>
                      </a:r>
                    </a:p>
                  </a:txBody>
                  <a:tcPr marL="36576" marR="36576" marT="18288" marB="18288">
                    <a:solidFill>
                      <a:srgbClr val="FFFFFF"/>
                    </a:solidFill>
                  </a:tcPr>
                </a:tc>
                <a:tc>
                  <a:txBody>
                    <a:bodyPr/>
                    <a:lstStyle/>
                    <a:p>
                      <a:pPr algn="ctr"/>
                      <a:r>
                        <a:rPr sz="1000" b="0">
                          <a:latin typeface="Times New Roman"/>
                        </a:rPr>
                        <a:t>1.8x</a:t>
                      </a:r>
                    </a:p>
                  </a:txBody>
                  <a:tcPr marL="36576" marR="36576" marT="18288" marB="18288">
                    <a:solidFill>
                      <a:srgbClr val="FFFFFF"/>
                    </a:solidFill>
                  </a:tcPr>
                </a:tc>
              </a:tr>
              <a:tr h="356616">
                <a:tc>
                  <a:txBody>
                    <a:bodyPr/>
                    <a:lstStyle/>
                    <a:p>
                      <a:pPr algn="l"/>
                      <a:r>
                        <a:rPr sz="1000" b="0">
                          <a:latin typeface="Times New Roman"/>
                        </a:rPr>
                        <a:t>Parameters</a:t>
                      </a:r>
                    </a:p>
                  </a:txBody>
                  <a:tcPr marL="36576" marR="36576" marT="18288" marB="18288">
                    <a:solidFill>
                      <a:srgbClr val="F7F3EC"/>
                    </a:solidFill>
                  </a:tcPr>
                </a:tc>
                <a:tc>
                  <a:txBody>
                    <a:bodyPr/>
                    <a:lstStyle/>
                    <a:p>
                      <a:pPr algn="ctr"/>
                      <a:r>
                        <a:rPr sz="1000" b="0">
                          <a:latin typeface="Times New Roman"/>
                        </a:rPr>
                        <a:t>20.0 M</a:t>
                      </a:r>
                    </a:p>
                  </a:txBody>
                  <a:tcPr marL="36576" marR="36576" marT="18288" marB="18288">
                    <a:solidFill>
                      <a:srgbClr val="F7F3EC"/>
                    </a:solidFill>
                  </a:tcPr>
                </a:tc>
                <a:tc>
                  <a:txBody>
                    <a:bodyPr/>
                    <a:lstStyle/>
                    <a:p>
                      <a:pPr algn="ctr"/>
                      <a:r>
                        <a:rPr sz="1000" b="0">
                          <a:latin typeface="Times New Roman"/>
                        </a:rPr>
                        <a:t>9.4 M</a:t>
                      </a:r>
                    </a:p>
                  </a:txBody>
                  <a:tcPr marL="36576" marR="36576" marT="18288" marB="18288">
                    <a:solidFill>
                      <a:srgbClr val="F7F3EC"/>
                    </a:solidFill>
                  </a:tcPr>
                </a:tc>
                <a:tc>
                  <a:txBody>
                    <a:bodyPr/>
                    <a:lstStyle/>
                    <a:p>
                      <a:pPr algn="ctr"/>
                      <a:r>
                        <a:rPr sz="1000" b="0">
                          <a:latin typeface="Times New Roman"/>
                        </a:rPr>
                        <a:t>2.1x</a:t>
                      </a:r>
                    </a:p>
                  </a:txBody>
                  <a:tcPr marL="36576" marR="36576" marT="18288" marB="18288">
                    <a:solidFill>
                      <a:srgbClr val="F7F3EC"/>
                    </a:solidFill>
                  </a:tcPr>
                </a:tc>
              </a:tr>
            </a:tbl>
          </a:graphicData>
        </a:graphic>
      </p:graphicFrame>
      <p:pic>
        <p:nvPicPr>
          <p:cNvPr id="313" name="Picture 312" descr="confusion_matrix_normalized.png"/>
          <p:cNvPicPr>
            <a:picLocks noChangeAspect="1"/>
          </p:cNvPicPr>
          <p:nvPr/>
        </p:nvPicPr>
        <p:blipFill>
          <a:blip r:embed="rId7"/>
          <a:stretch>
            <a:fillRect/>
          </a:stretch>
        </p:blipFill>
        <p:spPr>
          <a:xfrm>
            <a:off x="5212080" y="1468755"/>
            <a:ext cx="3154680" cy="2366010"/>
          </a:xfrm>
          <a:prstGeom prst="rect">
            <a:avLst/>
          </a:prstGeom>
        </p:spPr>
      </p:pic>
      <p:sp>
        <p:nvSpPr>
          <p:cNvPr id="314" name="TextBox 313"/>
          <p:cNvSpPr txBox="1"/>
          <p:nvPr/>
        </p:nvSpPr>
        <p:spPr>
          <a:xfrm>
            <a:off x="5212080" y="4434840"/>
            <a:ext cx="3154680" cy="320040"/>
          </a:xfrm>
          <a:prstGeom prst="rect">
            <a:avLst/>
          </a:prstGeom>
          <a:noFill/>
        </p:spPr>
        <p:txBody>
          <a:bodyPr wrap="none">
            <a:spAutoFit/>
          </a:bodyPr>
          <a:lstStyle/>
          <a:p>
            <a:pPr marL="0" indent="0" lvl="0" algn="ctr">
              <a:lnSpc>
                <a:spcPct val="115000"/>
              </a:lnSpc>
              <a:spcBef>
                <a:spcPts val="600"/>
              </a:spcBef>
              <a:spcAft>
                <a:spcPts val="0"/>
              </a:spcAft>
              <a:buNone/>
            </a:pPr>
            <a:r>
              <a:rPr lang="en-US" sz="1100">
                <a:latin typeface="Times New Roman"/>
                <a:ea typeface="Times New Roman"/>
                <a:cs typeface="Times New Roman"/>
                <a:sym typeface="Times New Roman"/>
              </a:rPr>
              <a:t>Test confusion matrix, YOLO11m</a:t>
            </a:r>
            <a:endParaRPr lang="en-US" sz="1100">
              <a:latin typeface="Times New Roman"/>
              <a:ea typeface="Times New Roman"/>
              <a:cs typeface="Times New Roman"/>
              <a:sym typeface="Times New Roman"/>
            </a:endParaRPr>
          </a:p>
        </p:txBody>
      </p:sp>
      <p:sp>
        <p:nvSpPr>
          <p:cNvPr id="315" name="TextBox 314"/>
          <p:cNvSpPr txBox="1"/>
          <p:nvPr/>
        </p:nvSpPr>
        <p:spPr>
          <a:xfrm>
            <a:off x="274320" y="4617720"/>
            <a:ext cx="8046720" cy="1737360"/>
          </a:xfrm>
          <a:prstGeom prst="rect">
            <a:avLst/>
          </a:prstGeom>
          <a:noFill/>
        </p:spPr>
        <p:txBody>
          <a:bodyPr wrap="square">
            <a:spAutoFit/>
          </a:bodyPr>
          <a:lstStyle/>
          <a:p>
            <a:pPr marL="457200" indent="-330200" lvl="0" algn="l">
              <a:lnSpc>
                <a:spcPct val="108000"/>
              </a:lnSpc>
              <a:spcBef>
                <a:spcPts val="400"/>
              </a:spcBef>
              <a:spcAft>
                <a:spcPts val="0"/>
              </a:spcAft>
              <a:buSzPts val="1200"/>
              <a:buFont typeface="Times New Roman"/>
              <a:buChar char="●"/>
            </a:pPr>
            <a:r>
              <a:rPr lang="en-US" sz="1200">
                <a:latin typeface="Times New Roman"/>
                <a:ea typeface="Times New Roman"/>
                <a:cs typeface="Times New Roman"/>
                <a:sym typeface="Times New Roman"/>
              </a:rPr>
              <a:t>Same data, split, seed and recipe: differences are due to model size alone. Overall accuracy is tied within the noise of a 12-board test set.</a:t>
            </a:r>
            <a:endParaRPr lang="en-US" sz="1200">
              <a:latin typeface="Times New Roman"/>
              <a:ea typeface="Times New Roman"/>
              <a:cs typeface="Times New Roman"/>
              <a:sym typeface="Times New Roman"/>
            </a:endParaRPr>
          </a:p>
          <a:p>
            <a:pPr marL="457200" indent="-330200" lvl="0" algn="l">
              <a:lnSpc>
                <a:spcPct val="108000"/>
              </a:lnSpc>
              <a:spcBef>
                <a:spcPts val="400"/>
              </a:spcBef>
              <a:spcAft>
                <a:spcPts val="0"/>
              </a:spcAft>
              <a:buSzPts val="1200"/>
              <a:buFont typeface="Times New Roman"/>
              <a:buChar char="●"/>
            </a:pPr>
            <a:r>
              <a:rPr lang="en-US" sz="1200">
                <a:latin typeface="Times New Roman"/>
                <a:ea typeface="Times New Roman"/>
                <a:cs typeface="Times New Roman"/>
                <a:sym typeface="Times New Roman"/>
              </a:rPr>
              <a:t>YOLO11m trades precision for recall and is stronger on the thin Crack class; YOLO11s is more precise and 2.8x faster.</a:t>
            </a:r>
            <a:endParaRPr lang="en-US" sz="1200">
              <a:latin typeface="Times New Roman"/>
              <a:ea typeface="Times New Roman"/>
              <a:cs typeface="Times New Roman"/>
              <a:sym typeface="Times New Roman"/>
            </a:endParaRPr>
          </a:p>
          <a:p>
            <a:pPr marL="457200" indent="-330200" lvl="0" algn="l">
              <a:lnSpc>
                <a:spcPct val="108000"/>
              </a:lnSpc>
              <a:spcBef>
                <a:spcPts val="400"/>
              </a:spcBef>
              <a:spcAft>
                <a:spcPts val="0"/>
              </a:spcAft>
              <a:buSzPts val="1200"/>
              <a:buFont typeface="Times New Roman"/>
              <a:buChar char="●"/>
            </a:pPr>
            <a:r>
              <a:rPr lang="en-US" sz="1200">
                <a:latin typeface="Times New Roman"/>
                <a:ea typeface="Times New Roman"/>
                <a:cs typeface="Times New Roman"/>
                <a:sym typeface="Times New Roman"/>
              </a:rPr>
              <a:t>Model capacity is not the bottleneck: rare classes and similar knot sub-types are. Second half focuses on data, input enhancement and targeted architecture changes.</a:t>
            </a:r>
            <a:endParaRPr lang="en-US" sz="1200">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31"/>
          <p:cNvSpPr txBox="1"/>
          <p:nvPr/>
        </p:nvSpPr>
        <p:spPr>
          <a:xfrm>
            <a:off x="395605" y="131445"/>
            <a:ext cx="8054340" cy="53338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DEMO APP AND REMAINING WORK</a:t>
            </a:r>
            <a:endParaRPr b="0" i="0" sz="1400" u="none" cap="none" strike="noStrike">
              <a:solidFill>
                <a:srgbClr val="000000"/>
              </a:solidFill>
              <a:latin typeface="Arial"/>
              <a:ea typeface="Arial"/>
              <a:cs typeface="Arial"/>
              <a:sym typeface="Arial"/>
            </a:endParaRPr>
          </a:p>
        </p:txBody>
      </p:sp>
      <p:sp>
        <p:nvSpPr>
          <p:cNvPr id="317" name="Google Shape;317;p3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18" name="Google Shape;318;p31"/>
          <p:cNvPicPr preferRelativeResize="0"/>
          <p:nvPr/>
        </p:nvPicPr>
        <p:blipFill rotWithShape="1">
          <a:blip r:embed="rId21">
            <a:alphaModFix/>
          </a:blip>
          <a:srcRect b="0" l="0" r="0" t="0"/>
          <a:stretch/>
        </p:blipFill>
        <p:spPr>
          <a:xfrm>
            <a:off x="8450861" y="1377538"/>
            <a:ext cx="677790" cy="1129400"/>
          </a:xfrm>
          <a:prstGeom prst="rect">
            <a:avLst/>
          </a:prstGeom>
          <a:noFill/>
          <a:ln>
            <a:noFill/>
          </a:ln>
        </p:spPr>
      </p:pic>
      <p:pic>
        <p:nvPicPr>
          <p:cNvPr id="319" name="Google Shape;319;p31"/>
          <p:cNvPicPr preferRelativeResize="0"/>
          <p:nvPr/>
        </p:nvPicPr>
        <p:blipFill rotWithShape="1">
          <a:blip r:embed="rId22">
            <a:alphaModFix/>
          </a:blip>
          <a:srcRect b="0" l="0" r="0" t="0"/>
          <a:stretch/>
        </p:blipFill>
        <p:spPr>
          <a:xfrm>
            <a:off x="8450861" y="6157980"/>
            <a:ext cx="680353" cy="703613"/>
          </a:xfrm>
          <a:prstGeom prst="rect">
            <a:avLst/>
          </a:prstGeom>
          <a:noFill/>
          <a:ln>
            <a:noFill/>
          </a:ln>
        </p:spPr>
      </p:pic>
      <p:pic>
        <p:nvPicPr>
          <p:cNvPr id="320" name="Google Shape;320;p31"/>
          <p:cNvPicPr preferRelativeResize="0"/>
          <p:nvPr/>
        </p:nvPicPr>
        <p:blipFill rotWithShape="1">
          <a:blip r:embed="rId23">
            <a:alphaModFix/>
          </a:blip>
          <a:srcRect b="0" l="0" r="0" t="0"/>
          <a:stretch/>
        </p:blipFill>
        <p:spPr>
          <a:xfrm>
            <a:off x="8450861" y="3740295"/>
            <a:ext cx="695325" cy="1704975"/>
          </a:xfrm>
          <a:prstGeom prst="rect">
            <a:avLst/>
          </a:prstGeom>
          <a:noFill/>
          <a:ln>
            <a:noFill/>
          </a:ln>
        </p:spPr>
      </p:pic>
      <p:pic>
        <p:nvPicPr>
          <p:cNvPr id="321" name="Google Shape;321;p31"/>
          <p:cNvPicPr preferRelativeResize="0"/>
          <p:nvPr/>
        </p:nvPicPr>
        <p:blipFill rotWithShape="1">
          <a:blip r:embed="rId24">
            <a:alphaModFix/>
          </a:blip>
          <a:srcRect b="0" l="0" r="0" t="0"/>
          <a:stretch/>
        </p:blipFill>
        <p:spPr>
          <a:xfrm>
            <a:off x="8450860" y="2542563"/>
            <a:ext cx="693139" cy="1233357"/>
          </a:xfrm>
          <a:prstGeom prst="rect">
            <a:avLst/>
          </a:prstGeom>
          <a:noFill/>
          <a:ln>
            <a:noFill/>
          </a:ln>
        </p:spPr>
      </p:pic>
      <p:sp>
        <p:nvSpPr>
          <p:cNvPr id="322" name="Google Shape;322;p31"/>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323" name="Picture 322" descr="p2_1.png"/>
          <p:cNvPicPr>
            <a:picLocks noChangeAspect="1"/>
          </p:cNvPicPr>
          <p:nvPr/>
        </p:nvPicPr>
        <p:blipFill>
          <a:blip r:embed="rId25"/>
          <a:stretch>
            <a:fillRect/>
          </a:stretch>
        </p:blipFill>
        <p:spPr>
          <a:xfrm>
            <a:off x="274320" y="876148"/>
            <a:ext cx="4023359" cy="1768143"/>
          </a:xfrm>
          <a:prstGeom prst="rect">
            <a:avLst/>
          </a:prstGeom>
        </p:spPr>
      </p:pic>
      <p:pic>
        <p:nvPicPr>
          <p:cNvPr id="324" name="Picture 323" descr="heat_m.png"/>
          <p:cNvPicPr>
            <a:picLocks noChangeAspect="1"/>
          </p:cNvPicPr>
          <p:nvPr/>
        </p:nvPicPr>
        <p:blipFill>
          <a:blip r:embed="rId26"/>
          <a:stretch>
            <a:fillRect/>
          </a:stretch>
        </p:blipFill>
        <p:spPr>
          <a:xfrm>
            <a:off x="274320" y="2830460"/>
            <a:ext cx="4023360" cy="1471400"/>
          </a:xfrm>
          <a:prstGeom prst="rect">
            <a:avLst/>
          </a:prstGeom>
        </p:spPr>
      </p:pic>
      <p:sp>
        <p:nvSpPr>
          <p:cNvPr id="325" name="TextBox 324"/>
          <p:cNvSpPr txBox="1"/>
          <p:nvPr/>
        </p:nvSpPr>
        <p:spPr>
          <a:xfrm>
            <a:off x="274320" y="4343400"/>
            <a:ext cx="4023360" cy="320040"/>
          </a:xfrm>
          <a:prstGeom prst="rect">
            <a:avLst/>
          </a:prstGeom>
          <a:noFill/>
        </p:spPr>
        <p:txBody>
          <a:bodyPr wrap="none">
            <a:spAutoFit/>
          </a:bodyPr>
          <a:lstStyle/>
          <a:p>
            <a:pPr marL="0" indent="0" lvl="0" algn="ctr">
              <a:lnSpc>
                <a:spcPct val="115000"/>
              </a:lnSpc>
              <a:spcBef>
                <a:spcPts val="600"/>
              </a:spcBef>
              <a:spcAft>
                <a:spcPts val="0"/>
              </a:spcAft>
              <a:buNone/>
            </a:pPr>
            <a:r>
              <a:rPr lang="en-US" sz="1100">
                <a:latin typeface="Times New Roman"/>
                <a:ea typeface="Times New Roman"/>
                <a:cs typeface="Times New Roman"/>
                <a:sym typeface="Times New Roman"/>
              </a:rPr>
              <a:t>App output: detections on a board and confidence heatmap</a:t>
            </a:r>
            <a:endParaRPr lang="en-US" sz="1100">
              <a:latin typeface="Times New Roman"/>
              <a:ea typeface="Times New Roman"/>
              <a:cs typeface="Times New Roman"/>
              <a:sym typeface="Times New Roman"/>
            </a:endParaRPr>
          </a:p>
        </p:txBody>
      </p:sp>
      <p:sp>
        <p:nvSpPr>
          <p:cNvPr id="326" name="TextBox 325"/>
          <p:cNvSpPr txBox="1"/>
          <p:nvPr/>
        </p:nvSpPr>
        <p:spPr>
          <a:xfrm>
            <a:off x="4434840" y="777240"/>
            <a:ext cx="3886200" cy="2743200"/>
          </a:xfrm>
          <a:prstGeom prst="rect">
            <a:avLst/>
          </a:prstGeom>
          <a:noFill/>
        </p:spPr>
        <p:txBody>
          <a:bodyPr wrap="square">
            <a:spAutoFit/>
          </a:bodyPr>
          <a:lstStyle/>
          <a:p>
            <a:pPr marL="457200" indent="-330200" lvl="0" algn="l">
              <a:lnSpc>
                <a:spcPct val="108000"/>
              </a:lnSpc>
              <a:spcBef>
                <a:spcPts val="500"/>
              </a:spcBef>
              <a:spcAft>
                <a:spcPts val="0"/>
              </a:spcAft>
              <a:buSzPts val="1200"/>
              <a:buFont typeface="Times New Roman"/>
              <a:buChar char="●"/>
            </a:pPr>
            <a:r>
              <a:rPr lang="en-US" sz="1200" b="1">
                <a:latin typeface="Times New Roman"/>
                <a:ea typeface="Times New Roman"/>
                <a:cs typeface="Times New Roman"/>
                <a:sym typeface="Times New Roman"/>
              </a:rPr>
              <a:t>Application (done): </a:t>
            </a:r>
            <a:r>
              <a:rPr lang="en-US" sz="1200">
                <a:latin typeface="Times New Roman"/>
                <a:ea typeface="Times New Roman"/>
                <a:cs typeface="Times New Roman"/>
                <a:sym typeface="Times New Roman"/>
              </a:rPr>
              <a:t>upload a board, choose YOLO11m / YOLO11s or both, thresholds, automatic input size; colour-coded boxes, heatmap, per-class count and area, defect coverage, JSON report.</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b="1">
                <a:latin typeface="Times New Roman"/>
                <a:ea typeface="Times New Roman"/>
                <a:cs typeface="Times New Roman"/>
                <a:sym typeface="Times New Roman"/>
              </a:rPr>
              <a:t>Test-board view: </a:t>
            </a:r>
            <a:r>
              <a:rPr lang="en-US" sz="1200">
                <a:latin typeface="Times New Roman"/>
                <a:ea typeface="Times New Roman"/>
                <a:cs typeface="Times New Roman"/>
                <a:sym typeface="Times New Roman"/>
              </a:rPr>
              <a:t>annotator's boxes next to the model's prediction on the 12 unseen boards.</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b="1">
                <a:latin typeface="Times New Roman"/>
                <a:ea typeface="Times New Roman"/>
                <a:cs typeface="Times New Roman"/>
                <a:sym typeface="Times New Roman"/>
              </a:rPr>
              <a:t>Deployment: </a:t>
            </a:r>
            <a:r>
              <a:rPr lang="en-US" sz="1200">
                <a:latin typeface="Times New Roman"/>
                <a:ea typeface="Times New Roman"/>
                <a:cs typeface="Times New Roman"/>
                <a:sym typeface="Times New Roman"/>
              </a:rPr>
              <a:t>runs on a CPU laptop (0.2-0.6 s per image); packaged for Hugging Face Spaces.</a:t>
            </a:r>
            <a:endParaRPr lang="en-US" sz="1200">
              <a:latin typeface="Times New Roman"/>
              <a:ea typeface="Times New Roman"/>
              <a:cs typeface="Times New Roman"/>
              <a:sym typeface="Times New Roman"/>
            </a:endParaRPr>
          </a:p>
        </p:txBody>
      </p:sp>
      <p:sp>
        <p:nvSpPr>
          <p:cNvPr id="327" name="TextBox 326"/>
          <p:cNvSpPr txBox="1"/>
          <p:nvPr/>
        </p:nvSpPr>
        <p:spPr>
          <a:xfrm>
            <a:off x="4434840" y="3611880"/>
            <a:ext cx="3886200" cy="2743200"/>
          </a:xfrm>
          <a:prstGeom prst="rect">
            <a:avLst/>
          </a:prstGeom>
          <a:noFill/>
        </p:spPr>
        <p:txBody>
          <a:bodyPr wrap="square">
            <a:spAutoFit/>
          </a:bodyPr>
          <a:lstStyle/>
          <a:p>
            <a:pPr marL="0" indent="0" lvl="0" algn="l">
              <a:lnSpc>
                <a:spcPct val="105000"/>
              </a:lnSpc>
              <a:spcBef>
                <a:spcPts val="400"/>
              </a:spcBef>
              <a:spcAft>
                <a:spcPts val="0"/>
              </a:spcAft>
              <a:buNone/>
            </a:pPr>
            <a:r>
              <a:rPr lang="en-US" sz="1200" b="1">
                <a:latin typeface="Times New Roman"/>
                <a:ea typeface="Times New Roman"/>
                <a:cs typeface="Times New Roman"/>
                <a:sym typeface="Times New Roman"/>
              </a:rPr>
              <a:t>Remaining work: </a:t>
            </a:r>
            <a:r>
              <a:rPr lang="en-US" sz="1200">
                <a:latin typeface="Times New Roman"/>
                <a:ea typeface="Times New Roman"/>
                <a:cs typeface="Times New Roman"/>
                <a:sym typeface="Times New Roman"/>
              </a:rPr>
              <a:t/>
            </a:r>
            <a:endParaRPr lang="en-US" sz="12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image enhancement study (CLAHE, denoising, low-light) on validation</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rare-class and thin-defect improvements; multi-seed runs</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CWB-style architectural experiment on the YOLO11 baseline, with ablations</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recoverability grading rule (coverage, defect type, position) validated on expert-graded boards</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final single-shot evaluation, synopsis update and report</a:t>
            </a:r>
            <a:endParaRPr lang="en-US" sz="1100">
              <a:latin typeface="Times New Roman"/>
              <a:ea typeface="Times New Roman"/>
              <a:cs typeface="Times New Roman"/>
              <a:sym typeface="Times New Roman"/>
            </a:endParaRPr>
          </a:p>
        </p:txBody>
      </p:sp>
      <p:sp>
        <p:nvSpPr>
          <p:cNvPr id="328" name="TextBox 327"/>
          <p:cNvSpPr txBox="1"/>
          <p:nvPr/>
        </p:nvSpPr>
        <p:spPr>
          <a:xfrm>
            <a:off x="274320" y="4709160"/>
            <a:ext cx="4023360" cy="1554480"/>
          </a:xfrm>
          <a:prstGeom prst="rect">
            <a:avLst/>
          </a:prstGeom>
          <a:noFill/>
        </p:spPr>
        <p:txBody>
          <a:bodyPr wrap="square">
            <a:spAutoFit/>
          </a:bodyPr>
          <a:lstStyle/>
          <a:p>
            <a:pPr marL="0" indent="0" lvl="0" algn="l">
              <a:lnSpc>
                <a:spcPct val="105000"/>
              </a:lnSpc>
              <a:spcBef>
                <a:spcPts val="400"/>
              </a:spcBef>
              <a:spcAft>
                <a:spcPts val="0"/>
              </a:spcAft>
              <a:buNone/>
            </a:pPr>
            <a:r>
              <a:rPr lang="en-US" sz="1100" b="1">
                <a:latin typeface="Times New Roman"/>
                <a:ea typeface="Times New Roman"/>
                <a:cs typeface="Times New Roman"/>
                <a:sym typeface="Times New Roman"/>
              </a:rPr>
              <a:t>Limitations: </a:t>
            </a:r>
            <a:r>
              <a:rPr lang="en-US" sz="1100">
                <a:latin typeface="Times New Roman"/>
                <a:ea typeface="Times New Roman"/>
                <a:cs typeface="Times New Roman"/>
                <a:sym typeface="Times New Roman"/>
              </a:rPr>
              <a:t>12-board test set; single seed per configuration; trained on controlled line-scan imagery; recoverability not yet estimated.</a:t>
            </a:r>
            <a:endParaRPr lang="en-US" sz="1100">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31"/>
          <p:cNvSpPr txBox="1"/>
          <p:nvPr/>
        </p:nvSpPr>
        <p:spPr>
          <a:xfrm>
            <a:off x="395605" y="131445"/>
            <a:ext cx="8054340" cy="53338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REFERENCES</a:t>
            </a:r>
            <a:endParaRPr b="0" i="0" sz="1400" u="none" cap="none" strike="noStrike">
              <a:solidFill>
                <a:srgbClr val="000000"/>
              </a:solidFill>
              <a:latin typeface="Arial"/>
              <a:ea typeface="Arial"/>
              <a:cs typeface="Arial"/>
              <a:sym typeface="Arial"/>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[1] Y. Fang, Y. Ma, S. Gao, and J. Chen, “Recent advances in wood surface defect inspection using deep learning (2021–2025),” </a:t>
            </a:r>
            <a:r>
              <a:rPr i="1" lang="en-US" sz="1100">
                <a:latin typeface="Times New Roman"/>
                <a:ea typeface="Times New Roman"/>
                <a:cs typeface="Times New Roman"/>
                <a:sym typeface="Times New Roman"/>
              </a:rPr>
              <a:t>BioResources</a:t>
            </a:r>
            <a:r>
              <a:rPr lang="en-US" sz="1100">
                <a:latin typeface="Times New Roman"/>
                <a:ea typeface="Times New Roman"/>
                <a:cs typeface="Times New Roman"/>
                <a:sym typeface="Times New Roman"/>
              </a:rPr>
              <a:t>, vol. 21, no. 3, 2026.</a:t>
            </a:r>
            <a:r>
              <a:rPr lang="en-US" sz="1100">
                <a:uFill>
                  <a:noFill/>
                </a:uFill>
                <a:latin typeface="Times New Roman"/>
                <a:ea typeface="Times New Roman"/>
                <a:cs typeface="Times New Roman"/>
                <a:sym typeface="Times New Roman"/>
                <a:hlinkClick r:id="rId3"/>
              </a:rPr>
              <a:t> </a:t>
            </a:r>
            <a:r>
              <a:rPr lang="en-US" sz="1100" u="sng">
                <a:solidFill>
                  <a:srgbClr val="1155CC"/>
                </a:solidFill>
                <a:latin typeface="Times New Roman"/>
                <a:ea typeface="Times New Roman"/>
                <a:cs typeface="Times New Roman"/>
                <a:sym typeface="Times New Roman"/>
                <a:hlinkClick r:id="rId4">
                  <a:extLst>
                    <a:ext uri="{A12FA001-AC4F-418D-AE19-62706E023703}">
                      <ahyp:hlinkClr val="tx"/>
                    </a:ext>
                  </a:extLst>
                </a:hlinkClick>
              </a:rPr>
              <a:t>https://bioresources.cnr.ncsu.edu/resources/recent-advances-in-wood-surface-defect-inspection-using-deep-learning-2021-2025/</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5">
                  <a:extLst>
                    <a:ext uri="{A12FA001-AC4F-418D-AE19-62706E023703}">
                      <ahyp:hlinkClr val="tx"/>
                    </a:ext>
                  </a:extLst>
                </a:hlinkClick>
              </a:rPr>
              <a:t>BioResources</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[2] J. Zheng, “IEL-YOLO: A low-light robust wood defect detection method based on YOLOv11,” in </a:t>
            </a:r>
            <a:r>
              <a:rPr i="1" lang="en-US" sz="1100">
                <a:latin typeface="Times New Roman"/>
                <a:ea typeface="Times New Roman"/>
                <a:cs typeface="Times New Roman"/>
                <a:sym typeface="Times New Roman"/>
              </a:rPr>
              <a:t>Proc. 2026 3rd Int. Conf. Electrical Technology and Automation Engineering (ETAE)</a:t>
            </a:r>
            <a:r>
              <a:rPr lang="en-US" sz="1100">
                <a:latin typeface="Times New Roman"/>
                <a:ea typeface="Times New Roman"/>
                <a:cs typeface="Times New Roman"/>
                <a:sym typeface="Times New Roman"/>
              </a:rPr>
              <a:t>, 2026, pp. 818–821, doi: 10.1109/ETAE69474.2026.11496073.</a:t>
            </a:r>
            <a:r>
              <a:rPr lang="en-US" sz="1100">
                <a:uFill>
                  <a:noFill/>
                </a:uFill>
                <a:latin typeface="Times New Roman"/>
                <a:ea typeface="Times New Roman"/>
                <a:cs typeface="Times New Roman"/>
                <a:sym typeface="Times New Roman"/>
                <a:hlinkClick r:id="rId6"/>
              </a:rPr>
              <a:t> </a:t>
            </a:r>
            <a:r>
              <a:rPr lang="en-US" sz="1100" u="sng">
                <a:solidFill>
                  <a:srgbClr val="1155CC"/>
                </a:solidFill>
                <a:latin typeface="Times New Roman"/>
                <a:ea typeface="Times New Roman"/>
                <a:cs typeface="Times New Roman"/>
                <a:sym typeface="Times New Roman"/>
                <a:hlinkClick r:id="rId7">
                  <a:extLst>
                    <a:ext uri="{A12FA001-AC4F-418D-AE19-62706E023703}">
                      <ahyp:hlinkClr val="tx"/>
                    </a:ext>
                  </a:extLst>
                </a:hlinkClick>
              </a:rPr>
              <a:t>https://doi.org/10.1109/ETAE69474.2026.11496073</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8">
                  <a:extLst>
                    <a:ext uri="{A12FA001-AC4F-418D-AE19-62706E023703}">
                      <ahyp:hlinkClr val="tx"/>
                    </a:ext>
                  </a:extLst>
                </a:hlinkClick>
              </a:rPr>
              <a:t>ResearchGate</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[3] J. Qu, Y. Pang, and Z. Wang, “WD-SEG: A deep learning framework for delicate and accurate wood defect segmentation,” </a:t>
            </a:r>
            <a:r>
              <a:rPr i="1" lang="en-US" sz="1100">
                <a:latin typeface="Times New Roman"/>
                <a:ea typeface="Times New Roman"/>
                <a:cs typeface="Times New Roman"/>
                <a:sym typeface="Times New Roman"/>
              </a:rPr>
              <a:t>BioResources</a:t>
            </a:r>
            <a:r>
              <a:rPr lang="en-US" sz="1100">
                <a:latin typeface="Times New Roman"/>
                <a:ea typeface="Times New Roman"/>
                <a:cs typeface="Times New Roman"/>
                <a:sym typeface="Times New Roman"/>
              </a:rPr>
              <a:t>, vol. 21, no. 2, pp. 2925–2947, 2026.</a:t>
            </a:r>
            <a:r>
              <a:rPr lang="en-US" sz="1100">
                <a:uFill>
                  <a:noFill/>
                </a:uFill>
                <a:latin typeface="Times New Roman"/>
                <a:ea typeface="Times New Roman"/>
                <a:cs typeface="Times New Roman"/>
                <a:sym typeface="Times New Roman"/>
                <a:hlinkClick r:id="rId9"/>
              </a:rPr>
              <a:t> </a:t>
            </a:r>
            <a:r>
              <a:rPr lang="en-US" sz="1100" u="sng">
                <a:solidFill>
                  <a:srgbClr val="1155CC"/>
                </a:solidFill>
                <a:latin typeface="Times New Roman"/>
                <a:ea typeface="Times New Roman"/>
                <a:cs typeface="Times New Roman"/>
                <a:sym typeface="Times New Roman"/>
                <a:hlinkClick r:id="rId10">
                  <a:extLst>
                    <a:ext uri="{A12FA001-AC4F-418D-AE19-62706E023703}">
                      <ahyp:hlinkClr val="tx"/>
                    </a:ext>
                  </a:extLst>
                </a:hlinkClick>
              </a:rPr>
              <a:t>https://bioresources.cnr.ncsu.edu/resources/wd-seg-a-deep-learning-framework-for-delicate-and-accurate-wood-defect-segmentation/</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1">
                  <a:extLst>
                    <a:ext uri="{A12FA001-AC4F-418D-AE19-62706E023703}">
                      <ahyp:hlinkClr val="tx"/>
                    </a:ext>
                  </a:extLst>
                </a:hlinkClick>
              </a:rPr>
              <a:t>BioResources</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[4] J. Wang and S. Tang, “A novel IWPT-VMD denoising method for enhancing air-coupled ultrasonic detection of wood defects,” </a:t>
            </a:r>
            <a:r>
              <a:rPr i="1" lang="en-US" sz="1100">
                <a:latin typeface="Times New Roman"/>
                <a:ea typeface="Times New Roman"/>
                <a:cs typeface="Times New Roman"/>
                <a:sym typeface="Times New Roman"/>
              </a:rPr>
              <a:t>AIP Advances</a:t>
            </a:r>
            <a:r>
              <a:rPr lang="en-US" sz="1100">
                <a:latin typeface="Times New Roman"/>
                <a:ea typeface="Times New Roman"/>
                <a:cs typeface="Times New Roman"/>
                <a:sym typeface="Times New Roman"/>
              </a:rPr>
              <a:t>, vol. 16, no. 2, Art. no. 025217, 2026, doi: 10.1063/5.0313821.</a:t>
            </a:r>
            <a:r>
              <a:rPr lang="en-US" sz="1100">
                <a:uFill>
                  <a:noFill/>
                </a:uFill>
                <a:latin typeface="Times New Roman"/>
                <a:ea typeface="Times New Roman"/>
                <a:cs typeface="Times New Roman"/>
                <a:sym typeface="Times New Roman"/>
                <a:hlinkClick r:id="rId12"/>
              </a:rPr>
              <a:t> </a:t>
            </a:r>
            <a:r>
              <a:rPr lang="en-US" sz="1100" u="sng">
                <a:solidFill>
                  <a:srgbClr val="1155CC"/>
                </a:solidFill>
                <a:latin typeface="Times New Roman"/>
                <a:ea typeface="Times New Roman"/>
                <a:cs typeface="Times New Roman"/>
                <a:sym typeface="Times New Roman"/>
                <a:hlinkClick r:id="rId13">
                  <a:extLst>
                    <a:ext uri="{A12FA001-AC4F-418D-AE19-62706E023703}">
                      <ahyp:hlinkClr val="tx"/>
                    </a:ext>
                  </a:extLst>
                </a:hlinkClick>
              </a:rPr>
              <a:t>https://doi.org/10.1063/5.0313821</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4">
                  <a:extLst>
                    <a:ext uri="{A12FA001-AC4F-418D-AE19-62706E023703}">
                      <ahyp:hlinkClr val="tx"/>
                    </a:ext>
                  </a:extLst>
                </a:hlinkClick>
              </a:rPr>
              <a:t>ResearchGate</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[5] C. S. Erasmus, D. M. Drew, and M. J. Booysen, “A low-cost wireless dendrometer and digital twin for precision forestry applications,” </a:t>
            </a:r>
            <a:r>
              <a:rPr i="1" lang="en-US" sz="1100">
                <a:latin typeface="Times New Roman"/>
                <a:ea typeface="Times New Roman"/>
                <a:cs typeface="Times New Roman"/>
                <a:sym typeface="Times New Roman"/>
              </a:rPr>
              <a:t>Measurement</a:t>
            </a:r>
            <a:r>
              <a:rPr lang="en-US" sz="1100">
                <a:latin typeface="Times New Roman"/>
                <a:ea typeface="Times New Roman"/>
                <a:cs typeface="Times New Roman"/>
                <a:sym typeface="Times New Roman"/>
              </a:rPr>
              <a:t>, vol. 276, Art. no. 121442, 2026, doi: 10.1016/j.measurement.2026.121442.</a:t>
            </a:r>
            <a:r>
              <a:rPr lang="en-US" sz="1100">
                <a:uFill>
                  <a:noFill/>
                </a:uFill>
                <a:latin typeface="Times New Roman"/>
                <a:ea typeface="Times New Roman"/>
                <a:cs typeface="Times New Roman"/>
                <a:sym typeface="Times New Roman"/>
                <a:hlinkClick r:id="rId15"/>
              </a:rPr>
              <a:t> </a:t>
            </a:r>
            <a:r>
              <a:rPr lang="en-US" sz="1100" u="sng">
                <a:solidFill>
                  <a:srgbClr val="1155CC"/>
                </a:solidFill>
                <a:latin typeface="Times New Roman"/>
                <a:ea typeface="Times New Roman"/>
                <a:cs typeface="Times New Roman"/>
                <a:sym typeface="Times New Roman"/>
                <a:hlinkClick r:id="rId16">
                  <a:extLst>
                    <a:ext uri="{A12FA001-AC4F-418D-AE19-62706E023703}">
                      <ahyp:hlinkClr val="tx"/>
                    </a:ext>
                  </a:extLst>
                </a:hlinkClick>
              </a:rPr>
              <a:t>https://doi.org/10.1016/j.measurement.2026.121442</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7">
                  <a:extLst>
                    <a:ext uri="{A12FA001-AC4F-418D-AE19-62706E023703}">
                      <ahyp:hlinkCl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[6] N. Perry, J. Schweier, L. G. Bont, S. K. Kushwaha, H. Peltola, K. Eyvindson, R. Astrup, M. Chapman, and C. Blattert, “Towards precision forestry: A systematic review of optimisation methods for individual-tree decisions in forest management,” </a:t>
            </a:r>
            <a:r>
              <a:rPr i="1" lang="en-US" sz="1100">
                <a:latin typeface="Times New Roman"/>
                <a:ea typeface="Times New Roman"/>
                <a:cs typeface="Times New Roman"/>
                <a:sym typeface="Times New Roman"/>
              </a:rPr>
              <a:t>Trees, Forests and People</a:t>
            </a:r>
            <a:r>
              <a:rPr lang="en-US" sz="1100">
                <a:latin typeface="Times New Roman"/>
                <a:ea typeface="Times New Roman"/>
                <a:cs typeface="Times New Roman"/>
                <a:sym typeface="Times New Roman"/>
              </a:rPr>
              <a:t>, vol. 24, Art. no. 101226, 2026, doi: 10.1016/j.tfp.2026.101226.</a:t>
            </a:r>
            <a:r>
              <a:rPr lang="en-US" sz="1100">
                <a:uFill>
                  <a:noFill/>
                </a:uFill>
                <a:latin typeface="Times New Roman"/>
                <a:ea typeface="Times New Roman"/>
                <a:cs typeface="Times New Roman"/>
                <a:sym typeface="Times New Roman"/>
                <a:hlinkClick r:id="rId18"/>
              </a:rPr>
              <a:t> </a:t>
            </a:r>
            <a:r>
              <a:rPr lang="en-US" sz="1100" u="sng">
                <a:solidFill>
                  <a:srgbClr val="1155CC"/>
                </a:solidFill>
                <a:latin typeface="Times New Roman"/>
                <a:ea typeface="Times New Roman"/>
                <a:cs typeface="Times New Roman"/>
                <a:sym typeface="Times New Roman"/>
                <a:hlinkClick r:id="rId19">
                  <a:extLst>
                    <a:ext uri="{A12FA001-AC4F-418D-AE19-62706E023703}">
                      <ahyp:hlinkClr val="tx"/>
                    </a:ext>
                  </a:extLst>
                </a:hlinkClick>
              </a:rPr>
              <a:t>https://doi.org/10.1016/j.tfp.2026.101226</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20">
                  <a:extLst>
                    <a:ext uri="{A12FA001-AC4F-418D-AE19-62706E023703}">
                      <ahyp:hlinkCl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1200"/>
              </a:spcAft>
              <a:buNone/>
            </a:pPr>
            <a:r>
              <a:t/>
            </a:r>
            <a:endParaRPr b="1" sz="2800">
              <a:solidFill>
                <a:srgbClr val="41534B"/>
              </a:solidFill>
              <a:latin typeface="Times New Roman"/>
              <a:ea typeface="Times New Roman"/>
              <a:cs typeface="Times New Roman"/>
              <a:sym typeface="Times New Roman"/>
            </a:endParaRPr>
          </a:p>
        </p:txBody>
      </p:sp>
      <p:sp>
        <p:nvSpPr>
          <p:cNvPr id="317" name="Google Shape;317;p3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18" name="Google Shape;318;p31"/>
          <p:cNvPicPr preferRelativeResize="0"/>
          <p:nvPr/>
        </p:nvPicPr>
        <p:blipFill rotWithShape="1">
          <a:blip r:embed="rId21">
            <a:alphaModFix/>
          </a:blip>
          <a:srcRect b="0" l="0" r="0" t="0"/>
          <a:stretch/>
        </p:blipFill>
        <p:spPr>
          <a:xfrm>
            <a:off x="8450861" y="1377538"/>
            <a:ext cx="677790" cy="1129400"/>
          </a:xfrm>
          <a:prstGeom prst="rect">
            <a:avLst/>
          </a:prstGeom>
          <a:noFill/>
          <a:ln>
            <a:noFill/>
          </a:ln>
        </p:spPr>
      </p:pic>
      <p:pic>
        <p:nvPicPr>
          <p:cNvPr id="319" name="Google Shape;319;p31"/>
          <p:cNvPicPr preferRelativeResize="0"/>
          <p:nvPr/>
        </p:nvPicPr>
        <p:blipFill rotWithShape="1">
          <a:blip r:embed="rId22">
            <a:alphaModFix/>
          </a:blip>
          <a:srcRect b="0" l="0" r="0" t="0"/>
          <a:stretch/>
        </p:blipFill>
        <p:spPr>
          <a:xfrm>
            <a:off x="8450861" y="6157980"/>
            <a:ext cx="680353" cy="703613"/>
          </a:xfrm>
          <a:prstGeom prst="rect">
            <a:avLst/>
          </a:prstGeom>
          <a:noFill/>
          <a:ln>
            <a:noFill/>
          </a:ln>
        </p:spPr>
      </p:pic>
      <p:pic>
        <p:nvPicPr>
          <p:cNvPr id="320" name="Google Shape;320;p31"/>
          <p:cNvPicPr preferRelativeResize="0"/>
          <p:nvPr/>
        </p:nvPicPr>
        <p:blipFill rotWithShape="1">
          <a:blip r:embed="rId23">
            <a:alphaModFix/>
          </a:blip>
          <a:srcRect b="0" l="0" r="0" t="0"/>
          <a:stretch/>
        </p:blipFill>
        <p:spPr>
          <a:xfrm>
            <a:off x="8450861" y="3740295"/>
            <a:ext cx="695325" cy="1704975"/>
          </a:xfrm>
          <a:prstGeom prst="rect">
            <a:avLst/>
          </a:prstGeom>
          <a:noFill/>
          <a:ln>
            <a:noFill/>
          </a:ln>
        </p:spPr>
      </p:pic>
      <p:pic>
        <p:nvPicPr>
          <p:cNvPr id="321" name="Google Shape;321;p31"/>
          <p:cNvPicPr preferRelativeResize="0"/>
          <p:nvPr/>
        </p:nvPicPr>
        <p:blipFill rotWithShape="1">
          <a:blip r:embed="rId24">
            <a:alphaModFix/>
          </a:blip>
          <a:srcRect b="0" l="0" r="0" t="0"/>
          <a:stretch/>
        </p:blipFill>
        <p:spPr>
          <a:xfrm>
            <a:off x="8450860" y="2542563"/>
            <a:ext cx="693139" cy="1233357"/>
          </a:xfrm>
          <a:prstGeom prst="rect">
            <a:avLst/>
          </a:prstGeom>
          <a:noFill/>
          <a:ln>
            <a:noFill/>
          </a:ln>
        </p:spPr>
      </p:pic>
      <p:sp>
        <p:nvSpPr>
          <p:cNvPr id="322" name="Google Shape;322;p31"/>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32"/>
          <p:cNvSpPr txBox="1"/>
          <p:nvPr/>
        </p:nvSpPr>
        <p:spPr>
          <a:xfrm>
            <a:off x="395605" y="131445"/>
            <a:ext cx="8054400" cy="533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REFERENCES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800"/>
              <a:buFont typeface="Arial"/>
              <a:buNone/>
            </a:pPr>
            <a:r>
              <a:t/>
            </a:r>
            <a:endParaRPr b="1" i="0" sz="2800" u="none" cap="none" strike="noStrike">
              <a:solidFill>
                <a:srgbClr val="41534B"/>
              </a:solidFill>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[7] E. Z. Başkent, A. Bončina, and J. G. Borges, “A review and conceptual framework for a new era of forest management planning: Integrating hybrid digital twin systems toward sustainable forest ecosystems,” </a:t>
            </a:r>
            <a:r>
              <a:rPr i="1" lang="en-US" sz="1100">
                <a:latin typeface="Times New Roman"/>
                <a:ea typeface="Times New Roman"/>
                <a:cs typeface="Times New Roman"/>
                <a:sym typeface="Times New Roman"/>
              </a:rPr>
              <a:t>Ecosystem Services</a:t>
            </a:r>
            <a:r>
              <a:rPr lang="en-US" sz="1100">
                <a:latin typeface="Times New Roman"/>
                <a:ea typeface="Times New Roman"/>
                <a:cs typeface="Times New Roman"/>
                <a:sym typeface="Times New Roman"/>
              </a:rPr>
              <a:t>, vol. 79, Art. no. 101851, 2026, doi: 10.1016/j.ecoser.2026.101851.</a:t>
            </a:r>
            <a:r>
              <a:rPr lang="en-US" sz="1100">
                <a:uFill>
                  <a:noFill/>
                </a:uFill>
                <a:latin typeface="Times New Roman"/>
                <a:ea typeface="Times New Roman"/>
                <a:cs typeface="Times New Roman"/>
                <a:sym typeface="Times New Roman"/>
                <a:hlinkClick r:id="rId3"/>
              </a:rPr>
              <a:t> </a:t>
            </a:r>
            <a:r>
              <a:rPr lang="en-US" sz="1100" u="sng">
                <a:solidFill>
                  <a:srgbClr val="1155CC"/>
                </a:solidFill>
                <a:latin typeface="Times New Roman"/>
                <a:ea typeface="Times New Roman"/>
                <a:cs typeface="Times New Roman"/>
                <a:sym typeface="Times New Roman"/>
                <a:hlinkClick r:id="rId4">
                  <a:extLst>
                    <a:ext uri="{A12FA001-AC4F-418D-AE19-62706E023703}">
                      <ahyp:hlinkClr val="tx"/>
                    </a:ext>
                  </a:extLst>
                </a:hlinkClick>
              </a:rPr>
              <a:t>https://doi.org/10.1016/j.ecoser.2026.101851</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5">
                  <a:extLst>
                    <a:ext uri="{A12FA001-AC4F-418D-AE19-62706E023703}">
                      <ahyp:hlinkCl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[8] J. Tan, H. Zhang, J. Yang, Y. Liu, D. Zheng, and X. Liu, “ForestryBERT: A pre-trained language model with continual learning adapted to changing forestry text,” </a:t>
            </a:r>
            <a:r>
              <a:rPr i="1" lang="en-US" sz="1100">
                <a:latin typeface="Times New Roman"/>
                <a:ea typeface="Times New Roman"/>
                <a:cs typeface="Times New Roman"/>
                <a:sym typeface="Times New Roman"/>
              </a:rPr>
              <a:t>Knowledge-Based Systems</a:t>
            </a:r>
            <a:r>
              <a:rPr lang="en-US" sz="1100">
                <a:latin typeface="Times New Roman"/>
                <a:ea typeface="Times New Roman"/>
                <a:cs typeface="Times New Roman"/>
                <a:sym typeface="Times New Roman"/>
              </a:rPr>
              <a:t>, vol. 320, Art. no. 113706, 2025, doi: 10.1016/j.knosys.2025.113706.</a:t>
            </a:r>
            <a:r>
              <a:rPr lang="en-US" sz="1100">
                <a:uFill>
                  <a:noFill/>
                </a:uFill>
                <a:latin typeface="Times New Roman"/>
                <a:ea typeface="Times New Roman"/>
                <a:cs typeface="Times New Roman"/>
                <a:sym typeface="Times New Roman"/>
                <a:hlinkClick r:id="rId6"/>
              </a:rPr>
              <a:t> </a:t>
            </a:r>
            <a:r>
              <a:rPr lang="en-US" sz="1100" u="sng">
                <a:solidFill>
                  <a:srgbClr val="1155CC"/>
                </a:solidFill>
                <a:latin typeface="Times New Roman"/>
                <a:ea typeface="Times New Roman"/>
                <a:cs typeface="Times New Roman"/>
                <a:sym typeface="Times New Roman"/>
                <a:hlinkClick r:id="rId7">
                  <a:extLst>
                    <a:ext uri="{A12FA001-AC4F-418D-AE19-62706E023703}">
                      <ahyp:hlinkClr val="tx"/>
                    </a:ext>
                  </a:extLst>
                </a:hlinkClick>
              </a:rPr>
              <a:t>https://doi.org/10.1016/j.knosys.2025.113706</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8">
                  <a:extLst>
                    <a:ext uri="{A12FA001-AC4F-418D-AE19-62706E023703}">
                      <ahyp:hlinkCl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[9] T. I. Zohdi, “A machine-learning enabled digital-twin framework for next generation precision agriculture and forestry,” </a:t>
            </a:r>
            <a:r>
              <a:rPr i="1" lang="en-US" sz="1100">
                <a:latin typeface="Times New Roman"/>
                <a:ea typeface="Times New Roman"/>
                <a:cs typeface="Times New Roman"/>
                <a:sym typeface="Times New Roman"/>
              </a:rPr>
              <a:t>Computer Methods in Applied Mechanics and Engineering</a:t>
            </a:r>
            <a:r>
              <a:rPr lang="en-US" sz="1100">
                <a:latin typeface="Times New Roman"/>
                <a:ea typeface="Times New Roman"/>
                <a:cs typeface="Times New Roman"/>
                <a:sym typeface="Times New Roman"/>
              </a:rPr>
              <a:t>, vol. 431, Art. no. 117250, 2024, doi: 10.1016/j.cma.2024.117250.</a:t>
            </a:r>
            <a:r>
              <a:rPr lang="en-US" sz="1100">
                <a:uFill>
                  <a:noFill/>
                </a:uFill>
                <a:latin typeface="Times New Roman"/>
                <a:ea typeface="Times New Roman"/>
                <a:cs typeface="Times New Roman"/>
                <a:sym typeface="Times New Roman"/>
                <a:hlinkClick r:id="rId9"/>
              </a:rPr>
              <a:t> </a:t>
            </a:r>
            <a:r>
              <a:rPr lang="en-US" sz="1100" u="sng">
                <a:solidFill>
                  <a:srgbClr val="1155CC"/>
                </a:solidFill>
                <a:latin typeface="Times New Roman"/>
                <a:ea typeface="Times New Roman"/>
                <a:cs typeface="Times New Roman"/>
                <a:sym typeface="Times New Roman"/>
                <a:hlinkClick r:id="rId10">
                  <a:extLst>
                    <a:ext uri="{A12FA001-AC4F-418D-AE19-62706E023703}">
                      <ahyp:hlinkClr val="tx"/>
                    </a:ext>
                  </a:extLst>
                </a:hlinkClick>
              </a:rPr>
              <a:t>https://doi.org/10.1016/j.cma.2024.117250</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1">
                  <a:extLst>
                    <a:ext uri="{A12FA001-AC4F-418D-AE19-62706E023703}">
                      <ahyp:hlinkClr val="tx"/>
                    </a:ext>
                  </a:extLst>
                </a:hlinkClick>
              </a:rPr>
              <a:t>ScienceDirect</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[10] H. An, Z. Liang, M. Qin, Y. Huang, F. Xiong, and G. Zeng, “Wood defect detection based on the CWB-YOLOv8 algorithm,” </a:t>
            </a:r>
            <a:r>
              <a:rPr i="1" lang="en-US" sz="1100">
                <a:latin typeface="Times New Roman"/>
                <a:ea typeface="Times New Roman"/>
                <a:cs typeface="Times New Roman"/>
                <a:sym typeface="Times New Roman"/>
              </a:rPr>
              <a:t>Journal of Wood Science</a:t>
            </a:r>
            <a:r>
              <a:rPr lang="en-US" sz="1100">
                <a:latin typeface="Times New Roman"/>
                <a:ea typeface="Times New Roman"/>
                <a:cs typeface="Times New Roman"/>
                <a:sym typeface="Times New Roman"/>
              </a:rPr>
              <a:t>, vol. 70, Art. no. 26, 2024, doi: 10.1186/s10086-024-02139-z.</a:t>
            </a:r>
            <a:r>
              <a:rPr lang="en-US" sz="1100">
                <a:uFill>
                  <a:noFill/>
                </a:uFill>
                <a:latin typeface="Times New Roman"/>
                <a:ea typeface="Times New Roman"/>
                <a:cs typeface="Times New Roman"/>
                <a:sym typeface="Times New Roman"/>
                <a:hlinkClick r:id="rId12"/>
              </a:rPr>
              <a:t> </a:t>
            </a:r>
            <a:r>
              <a:rPr lang="en-US" sz="1100" u="sng">
                <a:solidFill>
                  <a:srgbClr val="1155CC"/>
                </a:solidFill>
                <a:latin typeface="Times New Roman"/>
                <a:ea typeface="Times New Roman"/>
                <a:cs typeface="Times New Roman"/>
                <a:sym typeface="Times New Roman"/>
                <a:hlinkClick r:id="rId13">
                  <a:extLst>
                    <a:ext uri="{A12FA001-AC4F-418D-AE19-62706E023703}">
                      <ahyp:hlinkClr val="tx"/>
                    </a:ext>
                  </a:extLst>
                </a:hlinkClick>
              </a:rPr>
              <a:t>https://doi.org/10.1186/s10086-024-02139-z</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4">
                  <a:extLst>
                    <a:ext uri="{A12FA001-AC4F-418D-AE19-62706E023703}">
                      <ahyp:hlinkClr val="tx"/>
                    </a:ext>
                  </a:extLst>
                </a:hlinkClick>
              </a:rPr>
              <a:t>Springer</a:t>
            </a:r>
            <a:r>
              <a:rPr lang="en-US" sz="1100">
                <a:latin typeface="Times New Roman"/>
                <a:ea typeface="Times New Roman"/>
                <a:cs typeface="Times New Roman"/>
                <a:sym typeface="Times New Roman"/>
              </a:rPr>
              <a:t>)</a:t>
            </a:r>
            <a:endParaRPr sz="1100">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rPr lang="en-US" sz="1100">
                <a:latin typeface="Times New Roman"/>
                <a:ea typeface="Times New Roman"/>
                <a:cs typeface="Times New Roman"/>
                <a:sym typeface="Times New Roman"/>
              </a:rPr>
              <a:t>[11] L. P. Yi, M. F. Akbar, M. N. A. Wahab, B. A. Rosdi, M. A. Fauthan, and N. H. M. M. Shrifan, “The prospect of artificial intelligence-based wood surface inspection: A review,” </a:t>
            </a:r>
            <a:r>
              <a:rPr i="1" lang="en-US" sz="1100">
                <a:latin typeface="Times New Roman"/>
                <a:ea typeface="Times New Roman"/>
                <a:cs typeface="Times New Roman"/>
                <a:sym typeface="Times New Roman"/>
              </a:rPr>
              <a:t>IEEE Access</a:t>
            </a:r>
            <a:r>
              <a:rPr lang="en-US" sz="1100">
                <a:latin typeface="Times New Roman"/>
                <a:ea typeface="Times New Roman"/>
                <a:cs typeface="Times New Roman"/>
                <a:sym typeface="Times New Roman"/>
              </a:rPr>
              <a:t>, vol. 12, pp. 84706–84725, 2024, doi: 10.1109/ACCESS.2024.3412928.</a:t>
            </a:r>
            <a:r>
              <a:rPr lang="en-US" sz="1100">
                <a:uFill>
                  <a:noFill/>
                </a:uFill>
                <a:latin typeface="Times New Roman"/>
                <a:ea typeface="Times New Roman"/>
                <a:cs typeface="Times New Roman"/>
                <a:sym typeface="Times New Roman"/>
                <a:hlinkClick r:id="rId15"/>
              </a:rPr>
              <a:t> </a:t>
            </a:r>
            <a:r>
              <a:rPr lang="en-US" sz="1100" u="sng">
                <a:solidFill>
                  <a:srgbClr val="1155CC"/>
                </a:solidFill>
                <a:latin typeface="Times New Roman"/>
                <a:ea typeface="Times New Roman"/>
                <a:cs typeface="Times New Roman"/>
                <a:sym typeface="Times New Roman"/>
                <a:hlinkClick r:id="rId16">
                  <a:extLst>
                    <a:ext uri="{A12FA001-AC4F-418D-AE19-62706E023703}">
                      <ahyp:hlinkClr val="tx"/>
                    </a:ext>
                  </a:extLst>
                </a:hlinkClick>
              </a:rPr>
              <a:t>https://doi.org/10.1109/ACCESS.2024.3412928</a:t>
            </a:r>
            <a:r>
              <a:rPr lang="en-US" sz="1100">
                <a:latin typeface="Times New Roman"/>
                <a:ea typeface="Times New Roman"/>
                <a:cs typeface="Times New Roman"/>
                <a:sym typeface="Times New Roman"/>
              </a:rPr>
              <a:t> (</a:t>
            </a:r>
            <a:r>
              <a:rPr lang="en-US" sz="1100" u="sng">
                <a:solidFill>
                  <a:srgbClr val="1155CC"/>
                </a:solidFill>
                <a:latin typeface="Times New Roman"/>
                <a:ea typeface="Times New Roman"/>
                <a:cs typeface="Times New Roman"/>
                <a:sym typeface="Times New Roman"/>
                <a:hlinkClick r:id="rId17">
                  <a:extLst>
                    <a:ext uri="{A12FA001-AC4F-418D-AE19-62706E023703}">
                      <ahyp:hlinkClr val="tx"/>
                    </a:ext>
                  </a:extLst>
                </a:hlinkClick>
              </a:rPr>
              <a:t>Ouci</a:t>
            </a:r>
            <a:r>
              <a:rPr lang="en-US" sz="1100">
                <a:latin typeface="Times New Roman"/>
                <a:ea typeface="Times New Roman"/>
                <a:cs typeface="Times New Roman"/>
                <a:sym typeface="Times New Roman"/>
              </a:rPr>
              <a:t>)</a:t>
            </a:r>
            <a:endParaRPr b="1" sz="2800">
              <a:solidFill>
                <a:srgbClr val="41534B"/>
              </a:solidFill>
              <a:latin typeface="Times New Roman"/>
              <a:ea typeface="Times New Roman"/>
              <a:cs typeface="Times New Roman"/>
              <a:sym typeface="Times New Roman"/>
            </a:endParaRPr>
          </a:p>
          <a:p>
            <a:pPr indent="0" lvl="0" marL="0" rtl="0" algn="l">
              <a:lnSpc>
                <a:spcPct val="150000"/>
              </a:lnSpc>
              <a:spcBef>
                <a:spcPts val="1200"/>
              </a:spcBef>
              <a:spcAft>
                <a:spcPts val="0"/>
              </a:spcAft>
              <a:buNone/>
            </a:pPr>
            <a:r>
              <a:t/>
            </a:r>
            <a:endParaRPr sz="1100">
              <a:latin typeface="Times New Roman"/>
              <a:ea typeface="Times New Roman"/>
              <a:cs typeface="Times New Roman"/>
              <a:sym typeface="Times New Roman"/>
            </a:endParaRPr>
          </a:p>
          <a:p>
            <a:pPr indent="0" lvl="0" marL="0" rtl="0" algn="l">
              <a:lnSpc>
                <a:spcPct val="150000"/>
              </a:lnSpc>
              <a:spcBef>
                <a:spcPts val="1200"/>
              </a:spcBef>
              <a:spcAft>
                <a:spcPts val="1200"/>
              </a:spcAft>
              <a:buNone/>
            </a:pPr>
            <a:r>
              <a:t/>
            </a:r>
            <a:endParaRPr b="1" sz="2800">
              <a:solidFill>
                <a:srgbClr val="41534B"/>
              </a:solidFill>
              <a:latin typeface="Times New Roman"/>
              <a:ea typeface="Times New Roman"/>
              <a:cs typeface="Times New Roman"/>
              <a:sym typeface="Times New Roman"/>
            </a:endParaRPr>
          </a:p>
        </p:txBody>
      </p:sp>
      <p:sp>
        <p:nvSpPr>
          <p:cNvPr id="328" name="Google Shape;328;p32"/>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29" name="Google Shape;329;p32"/>
          <p:cNvPicPr preferRelativeResize="0"/>
          <p:nvPr/>
        </p:nvPicPr>
        <p:blipFill rotWithShape="1">
          <a:blip r:embed="rId18">
            <a:alphaModFix/>
          </a:blip>
          <a:srcRect b="0" l="0" r="0" t="0"/>
          <a:stretch/>
        </p:blipFill>
        <p:spPr>
          <a:xfrm>
            <a:off x="8450861" y="1377538"/>
            <a:ext cx="677790" cy="1129400"/>
          </a:xfrm>
          <a:prstGeom prst="rect">
            <a:avLst/>
          </a:prstGeom>
          <a:noFill/>
          <a:ln>
            <a:noFill/>
          </a:ln>
        </p:spPr>
      </p:pic>
      <p:pic>
        <p:nvPicPr>
          <p:cNvPr id="330" name="Google Shape;330;p32"/>
          <p:cNvPicPr preferRelativeResize="0"/>
          <p:nvPr/>
        </p:nvPicPr>
        <p:blipFill rotWithShape="1">
          <a:blip r:embed="rId19">
            <a:alphaModFix/>
          </a:blip>
          <a:srcRect b="0" l="0" r="0" t="0"/>
          <a:stretch/>
        </p:blipFill>
        <p:spPr>
          <a:xfrm>
            <a:off x="8450861" y="6157980"/>
            <a:ext cx="680353" cy="703613"/>
          </a:xfrm>
          <a:prstGeom prst="rect">
            <a:avLst/>
          </a:prstGeom>
          <a:noFill/>
          <a:ln>
            <a:noFill/>
          </a:ln>
        </p:spPr>
      </p:pic>
      <p:pic>
        <p:nvPicPr>
          <p:cNvPr id="331" name="Google Shape;331;p32"/>
          <p:cNvPicPr preferRelativeResize="0"/>
          <p:nvPr/>
        </p:nvPicPr>
        <p:blipFill rotWithShape="1">
          <a:blip r:embed="rId20">
            <a:alphaModFix/>
          </a:blip>
          <a:srcRect b="0" l="0" r="0" t="0"/>
          <a:stretch/>
        </p:blipFill>
        <p:spPr>
          <a:xfrm>
            <a:off x="8450861" y="3740295"/>
            <a:ext cx="695325" cy="1704975"/>
          </a:xfrm>
          <a:prstGeom prst="rect">
            <a:avLst/>
          </a:prstGeom>
          <a:noFill/>
          <a:ln>
            <a:noFill/>
          </a:ln>
        </p:spPr>
      </p:pic>
      <p:pic>
        <p:nvPicPr>
          <p:cNvPr id="332" name="Google Shape;332;p32"/>
          <p:cNvPicPr preferRelativeResize="0"/>
          <p:nvPr/>
        </p:nvPicPr>
        <p:blipFill rotWithShape="1">
          <a:blip r:embed="rId21">
            <a:alphaModFix/>
          </a:blip>
          <a:srcRect b="0" l="0" r="0" t="0"/>
          <a:stretch/>
        </p:blipFill>
        <p:spPr>
          <a:xfrm>
            <a:off x="8450860" y="2542563"/>
            <a:ext cx="693139" cy="1233357"/>
          </a:xfrm>
          <a:prstGeom prst="rect">
            <a:avLst/>
          </a:prstGeom>
          <a:noFill/>
          <a:ln>
            <a:noFill/>
          </a:ln>
        </p:spPr>
      </p:pic>
      <p:sp>
        <p:nvSpPr>
          <p:cNvPr id="333" name="Google Shape;333;p32"/>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33"/>
          <p:cNvSpPr/>
          <p:nvPr/>
        </p:nvSpPr>
        <p:spPr>
          <a:xfrm>
            <a:off x="1988956" y="2967335"/>
            <a:ext cx="4692600" cy="923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5400"/>
              <a:buFont typeface="Arial"/>
              <a:buNone/>
            </a:pPr>
            <a:r>
              <a:rPr b="1" i="0" lang="en-US" sz="5900" u="none" cap="none" strike="noStrike">
                <a:solidFill>
                  <a:srgbClr val="F1C232"/>
                </a:solidFill>
                <a:latin typeface="Lobster"/>
                <a:ea typeface="Lobster"/>
                <a:cs typeface="Lobster"/>
                <a:sym typeface="Lobster"/>
              </a:rPr>
              <a:t>Thank You</a:t>
            </a:r>
            <a:r>
              <a:rPr b="1" i="0" lang="en-US" sz="5900" u="none" cap="none" strike="noStrike">
                <a:solidFill>
                  <a:srgbClr val="F1C232"/>
                </a:solidFill>
                <a:latin typeface="Calibri"/>
                <a:ea typeface="Calibri"/>
                <a:cs typeface="Calibri"/>
                <a:sym typeface="Calibri"/>
              </a:rPr>
              <a:t> </a:t>
            </a:r>
            <a:endParaRPr b="1" i="0" sz="5900" u="none" cap="none" strike="noStrike">
              <a:solidFill>
                <a:srgbClr val="F1C232"/>
              </a:solidFill>
              <a:latin typeface="Calibri"/>
              <a:ea typeface="Calibri"/>
              <a:cs typeface="Calibri"/>
              <a:sym typeface="Calibri"/>
            </a:endParaRPr>
          </a:p>
        </p:txBody>
      </p:sp>
      <p:sp>
        <p:nvSpPr>
          <p:cNvPr id="339" name="Google Shape;339;p33"/>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40" name="Google Shape;340;p33"/>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341" name="Google Shape;341;p33"/>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342" name="Google Shape;342;p33"/>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343" name="Google Shape;343;p33"/>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344" name="Google Shape;344;p33"/>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theme/theme1.xml><?xml version="1.0" encoding="utf-8"?>
<a:theme xmlns:a="http://schemas.openxmlformats.org/drawingml/2006/main" xmlns:r="http://schemas.openxmlformats.org/officeDocument/2006/relationships" name="Adjacency">
  <a:themeElements>
    <a:clrScheme name="Adjacency">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