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73" r:id="rId21"/>
    <p:sldId id="269" r:id="rId15"/>
    <p:sldId id="290" r:id="rId47"/>
    <p:sldId id="289" r:id="rId46"/>
    <p:sldId id="281" r:id="rId38"/>
    <p:sldId id="282" r:id="rId39"/>
    <p:sldId id="291" r:id="rId48"/>
    <p:sldId id="283" r:id="rId40"/>
    <p:sldId id="272" r:id="rId18"/>
    <p:sldId id="284" r:id="rId41"/>
    <p:sldId id="285" r:id="rId42"/>
    <p:sldId id="286" r:id="rId43"/>
    <p:sldId id="274" r:id="rId22"/>
    <p:sldId id="271" r:id="rId17"/>
    <p:sldId id="287" r:id="rId44"/>
    <p:sldId id="277" r:id="rId24"/>
    <p:sldId id="275" r:id="rId25"/>
    <p:sldId id="288" r:id="rId45"/>
    <p:sldId id="276" r:id="rId26"/>
  </p:sldIdLst>
  <p:sldSz cx="9144000" cy="6858000" type="screen4x3"/>
  <p:notesSz cx="6858000" cy="9144000"/>
  <p:embeddedFontLst>
    <p:embeddedFont>
      <p:font typeface="Balthazar" panose="020B0604020202020204" charset="0"/>
      <p:regular r:id="rId28"/>
    </p:embeddedFont>
    <p:embeddedFont>
      <p:font typeface="Cambria" panose="02040503050406030204" pitchFamily="18" charset="0"/>
      <p:regular r:id="rId29"/>
      <p:bold r:id="rId30"/>
      <p:italic r:id="rId31"/>
      <p:boldItalic r:id="rId32"/>
    </p:embeddedFont>
    <p:embeddedFont>
      <p:font typeface="Lobster" panose="00000500000000000000" pitchFamily="2" charset="0"/>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02">
          <p15:clr>
            <a:srgbClr val="A4A3A4"/>
          </p15:clr>
        </p15:guide>
        <p15:guide id="2" pos="2920">
          <p15:clr>
            <a:srgbClr val="A4A3A4"/>
          </p15:clr>
        </p15:guide>
      </p15:sldGuideLst>
    </p:ext>
    <p:ext uri="{2D200454-40CA-4A62-9FC3-DE9A4176ACB9}">
      <p15:notesGuideLst xmlns:p15="http://schemas.microsoft.com/office/powerpoint/2012/main">
        <p15:guide id="1" orient="horz" pos="2936">
          <p15:clr>
            <a:srgbClr val="A4A3A4"/>
          </p15:clr>
        </p15:guide>
        <p15:guide id="2" pos="219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D8EE20A-88A6-4723-80EF-92F8BEF2DCB8}">
  <a:tblStyle styleId="{8D8EE20A-88A6-4723-80EF-92F8BEF2DCB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7E7"/>
          </a:solidFill>
        </a:fill>
      </a:tcStyle>
    </a:wholeTbl>
    <a:band1H>
      <a:tcTxStyle b="off" i="off"/>
      <a:tcStyle>
        <a:tcBdr/>
        <a:fill>
          <a:solidFill>
            <a:srgbClr val="CCCBCB"/>
          </a:solidFill>
        </a:fill>
      </a:tcStyle>
    </a:band1H>
    <a:band2H>
      <a:tcTxStyle b="off" i="off"/>
      <a:tcStyle>
        <a:tcBdr/>
      </a:tcStyle>
    </a:band2H>
    <a:band1V>
      <a:tcTxStyle b="off" i="off"/>
      <a:tcStyle>
        <a:tcBdr/>
        <a:fill>
          <a:solidFill>
            <a:srgbClr val="CCCBCB"/>
          </a:solidFill>
        </a:fill>
      </a:tcStyle>
    </a:band1V>
    <a:band2V>
      <a:tcTxStyle b="off" i="off"/>
      <a:tcStyle>
        <a:tcBdr/>
      </a:tcStyle>
    </a:band2V>
    <a:lastCol>
      <a:tcTxStyle b="on" i="off">
        <a:font>
          <a:latin typeface="Calibri"/>
          <a:ea typeface="Calibri"/>
          <a:cs typeface="Calibri"/>
        </a:font>
        <a:schemeClr val="lt1"/>
      </a:tcTxStyle>
      <a:tcStyle>
        <a:tcBdr/>
        <a:fill>
          <a:solidFill>
            <a:schemeClr val="dk1"/>
          </a:solidFill>
        </a:fill>
      </a:tcStyle>
    </a:lastCol>
    <a:firstCol>
      <a:tcTxStyle b="on" i="off">
        <a:font>
          <a:latin typeface="Calibri"/>
          <a:ea typeface="Calibri"/>
          <a:cs typeface="Calibri"/>
        </a:font>
        <a:schemeClr val="lt1"/>
      </a:tcTxStyle>
      <a:tcStyle>
        <a:tcBdr/>
        <a:fill>
          <a:solidFill>
            <a:schemeClr val="dk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7" d="100"/>
          <a:sy n="77" d="100"/>
        </p:scale>
        <p:origin x="980" y="44"/>
      </p:cViewPr>
      <p:guideLst>
        <p:guide orient="horz" pos="2202"/>
        <p:guide pos="292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36"/>
        <p:guide pos="219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5" Type="http://schemas.openxmlformats.org/officeDocument/2006/relationships/slide" Target="slides/slide14.xml"/><Relationship Id="rId17" Type="http://schemas.openxmlformats.org/officeDocument/2006/relationships/slide" Target="slides/slide16.xml"/><Relationship Id="rId18" Type="http://schemas.openxmlformats.org/officeDocument/2006/relationships/slide" Target="slides/slide17.xml"/><Relationship Id="rId21" Type="http://schemas.openxmlformats.org/officeDocument/2006/relationships/slide" Target="slides/slide20.xml"/><Relationship Id="rId22" Type="http://schemas.openxmlformats.org/officeDocument/2006/relationships/slide" Target="slides/slide21.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8" name="Google Shape;8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f6a847483f_0_2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g3f6a847483f_0_2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 name="Google Shape;302;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f6ad0d8d00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g3f6ad0d8d00_0_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
          <p:cNvSpPr txBox="1">
            <a:spLocks noGrp="1"/>
          </p:cNvSpPr>
          <p:nvPr>
            <p:ph type="ctrTitle"/>
          </p:nvPr>
        </p:nvSpPr>
        <p:spPr>
          <a:xfrm>
            <a:off x="685800" y="1905000"/>
            <a:ext cx="7543800" cy="259397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6600"/>
              <a:buFont typeface="Cambria"/>
              <a:buNone/>
              <a:defRPr sz="66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subTitle" idx="1"/>
          </p:nvPr>
        </p:nvSpPr>
        <p:spPr>
          <a:xfrm>
            <a:off x="685800" y="4572000"/>
            <a:ext cx="6461760" cy="1066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400"/>
              </a:spcBef>
              <a:spcAft>
                <a:spcPts val="0"/>
              </a:spcAft>
              <a:buSzPts val="2000"/>
              <a:buNone/>
              <a:defRPr sz="2000">
                <a:solidFill>
                  <a:srgbClr val="8C8B8A"/>
                </a:solidFill>
              </a:defRPr>
            </a:lvl1pPr>
            <a:lvl2pPr lvl="1" algn="ctr">
              <a:lnSpc>
                <a:spcPct val="100000"/>
              </a:lnSpc>
              <a:spcBef>
                <a:spcPts val="400"/>
              </a:spcBef>
              <a:spcAft>
                <a:spcPts val="0"/>
              </a:spcAft>
              <a:buSzPts val="2000"/>
              <a:buNone/>
              <a:defRPr>
                <a:solidFill>
                  <a:srgbClr val="8C8B8A"/>
                </a:solidFill>
              </a:defRPr>
            </a:lvl2pPr>
            <a:lvl3pPr lvl="2" algn="ctr">
              <a:lnSpc>
                <a:spcPct val="100000"/>
              </a:lnSpc>
              <a:spcBef>
                <a:spcPts val="360"/>
              </a:spcBef>
              <a:spcAft>
                <a:spcPts val="0"/>
              </a:spcAft>
              <a:buSzPts val="1800"/>
              <a:buNone/>
              <a:defRPr>
                <a:solidFill>
                  <a:srgbClr val="8C8B8A"/>
                </a:solidFill>
              </a:defRPr>
            </a:lvl3pPr>
            <a:lvl4pPr lvl="3" algn="ctr">
              <a:lnSpc>
                <a:spcPct val="100000"/>
              </a:lnSpc>
              <a:spcBef>
                <a:spcPts val="320"/>
              </a:spcBef>
              <a:spcAft>
                <a:spcPts val="0"/>
              </a:spcAft>
              <a:buSzPts val="1600"/>
              <a:buNone/>
              <a:defRPr>
                <a:solidFill>
                  <a:srgbClr val="8C8B8A"/>
                </a:solidFill>
              </a:defRPr>
            </a:lvl4pPr>
            <a:lvl5pPr lvl="4" algn="ctr">
              <a:lnSpc>
                <a:spcPct val="100000"/>
              </a:lnSpc>
              <a:spcBef>
                <a:spcPts val="280"/>
              </a:spcBef>
              <a:spcAft>
                <a:spcPts val="0"/>
              </a:spcAft>
              <a:buSzPts val="1400"/>
              <a:buNone/>
              <a:defRPr>
                <a:solidFill>
                  <a:srgbClr val="8C8B8A"/>
                </a:solidFill>
              </a:defRPr>
            </a:lvl5pPr>
            <a:lvl6pPr lvl="5" algn="ctr">
              <a:lnSpc>
                <a:spcPct val="100000"/>
              </a:lnSpc>
              <a:spcBef>
                <a:spcPts val="280"/>
              </a:spcBef>
              <a:spcAft>
                <a:spcPts val="0"/>
              </a:spcAft>
              <a:buSzPts val="1400"/>
              <a:buNone/>
              <a:defRPr>
                <a:solidFill>
                  <a:srgbClr val="8C8B8A"/>
                </a:solidFill>
              </a:defRPr>
            </a:lvl6pPr>
            <a:lvl7pPr lvl="6" algn="ctr">
              <a:lnSpc>
                <a:spcPct val="100000"/>
              </a:lnSpc>
              <a:spcBef>
                <a:spcPts val="280"/>
              </a:spcBef>
              <a:spcAft>
                <a:spcPts val="0"/>
              </a:spcAft>
              <a:buSzPts val="1400"/>
              <a:buNone/>
              <a:defRPr>
                <a:solidFill>
                  <a:srgbClr val="8C8B8A"/>
                </a:solidFill>
              </a:defRPr>
            </a:lvl7pPr>
            <a:lvl8pPr lvl="7" algn="ctr">
              <a:lnSpc>
                <a:spcPct val="100000"/>
              </a:lnSpc>
              <a:spcBef>
                <a:spcPts val="280"/>
              </a:spcBef>
              <a:spcAft>
                <a:spcPts val="0"/>
              </a:spcAft>
              <a:buSzPts val="1400"/>
              <a:buNone/>
              <a:defRPr>
                <a:solidFill>
                  <a:srgbClr val="8C8B8A"/>
                </a:solidFill>
              </a:defRPr>
            </a:lvl8pPr>
            <a:lvl9pPr lvl="8" algn="ctr">
              <a:lnSpc>
                <a:spcPct val="100000"/>
              </a:lnSpc>
              <a:spcBef>
                <a:spcPts val="280"/>
              </a:spcBef>
              <a:spcAft>
                <a:spcPts val="0"/>
              </a:spcAft>
              <a:buSzPts val="1400"/>
              <a:buNone/>
              <a:defRPr>
                <a:solidFill>
                  <a:srgbClr val="8C8B8A"/>
                </a:solidFill>
              </a:defRPr>
            </a:lvl9pPr>
          </a:lstStyle>
          <a:p>
            <a:endParaRPr/>
          </a:p>
        </p:txBody>
      </p:sp>
      <p:sp>
        <p:nvSpPr>
          <p:cNvPr id="20" name="Google Shape;20;p2"/>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6" name="Google Shape;26;p3"/>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
        <p:cNvGrpSpPr/>
        <p:nvPr/>
      </p:nvGrpSpPr>
      <p:grpSpPr>
        <a:xfrm>
          <a:off x="0" y="0"/>
          <a:ext cx="0" cy="0"/>
          <a:chOff x="0" y="0"/>
          <a:chExt cx="0" cy="0"/>
        </a:xfrm>
      </p:grpSpPr>
      <p:sp>
        <p:nvSpPr>
          <p:cNvPr id="30" name="Google Shape;30;p4"/>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722313" y="5486400"/>
            <a:ext cx="7659687" cy="1168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2"/>
              </a:buClr>
              <a:buSzPts val="3600"/>
              <a:buFont typeface="Cambria"/>
              <a:buNone/>
              <a:defRPr sz="36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722313" y="3852863"/>
            <a:ext cx="6135687" cy="1633538"/>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SzPts val="2000"/>
              <a:buNone/>
              <a:defRPr sz="2000">
                <a:solidFill>
                  <a:srgbClr val="8C8B8A"/>
                </a:solidFill>
              </a:defRPr>
            </a:lvl1pPr>
            <a:lvl2pPr marL="914400" lvl="1" indent="-228600" algn="l">
              <a:lnSpc>
                <a:spcPct val="100000"/>
              </a:lnSpc>
              <a:spcBef>
                <a:spcPts val="360"/>
              </a:spcBef>
              <a:spcAft>
                <a:spcPts val="0"/>
              </a:spcAft>
              <a:buSzPts val="1800"/>
              <a:buNone/>
              <a:defRPr sz="1800">
                <a:solidFill>
                  <a:srgbClr val="8C8B8A"/>
                </a:solidFill>
              </a:defRPr>
            </a:lvl2pPr>
            <a:lvl3pPr marL="1371600" lvl="2" indent="-228600" algn="l">
              <a:lnSpc>
                <a:spcPct val="100000"/>
              </a:lnSpc>
              <a:spcBef>
                <a:spcPts val="320"/>
              </a:spcBef>
              <a:spcAft>
                <a:spcPts val="0"/>
              </a:spcAft>
              <a:buSzPts val="1600"/>
              <a:buNone/>
              <a:defRPr sz="1600">
                <a:solidFill>
                  <a:srgbClr val="8C8B8A"/>
                </a:solidFill>
              </a:defRPr>
            </a:lvl3pPr>
            <a:lvl4pPr marL="1828800" lvl="3" indent="-228600" algn="l">
              <a:lnSpc>
                <a:spcPct val="100000"/>
              </a:lnSpc>
              <a:spcBef>
                <a:spcPts val="280"/>
              </a:spcBef>
              <a:spcAft>
                <a:spcPts val="0"/>
              </a:spcAft>
              <a:buSzPts val="1400"/>
              <a:buNone/>
              <a:defRPr sz="1400">
                <a:solidFill>
                  <a:srgbClr val="8C8B8A"/>
                </a:solidFill>
              </a:defRPr>
            </a:lvl4pPr>
            <a:lvl5pPr marL="2286000" lvl="4" indent="-228600" algn="l">
              <a:lnSpc>
                <a:spcPct val="100000"/>
              </a:lnSpc>
              <a:spcBef>
                <a:spcPts val="280"/>
              </a:spcBef>
              <a:spcAft>
                <a:spcPts val="0"/>
              </a:spcAft>
              <a:buSzPts val="1400"/>
              <a:buNone/>
              <a:defRPr sz="1400">
                <a:solidFill>
                  <a:srgbClr val="8C8B8A"/>
                </a:solidFill>
              </a:defRPr>
            </a:lvl5pPr>
            <a:lvl6pPr marL="2743200" lvl="5" indent="-228600" algn="l">
              <a:lnSpc>
                <a:spcPct val="100000"/>
              </a:lnSpc>
              <a:spcBef>
                <a:spcPts val="280"/>
              </a:spcBef>
              <a:spcAft>
                <a:spcPts val="0"/>
              </a:spcAft>
              <a:buSzPts val="1400"/>
              <a:buNone/>
              <a:defRPr sz="1400">
                <a:solidFill>
                  <a:srgbClr val="8C8B8A"/>
                </a:solidFill>
              </a:defRPr>
            </a:lvl6pPr>
            <a:lvl7pPr marL="3200400" lvl="6" indent="-228600" algn="l">
              <a:lnSpc>
                <a:spcPct val="100000"/>
              </a:lnSpc>
              <a:spcBef>
                <a:spcPts val="280"/>
              </a:spcBef>
              <a:spcAft>
                <a:spcPts val="0"/>
              </a:spcAft>
              <a:buSzPts val="1400"/>
              <a:buNone/>
              <a:defRPr sz="1400">
                <a:solidFill>
                  <a:srgbClr val="8C8B8A"/>
                </a:solidFill>
              </a:defRPr>
            </a:lvl7pPr>
            <a:lvl8pPr marL="3657600" lvl="7" indent="-228600" algn="l">
              <a:lnSpc>
                <a:spcPct val="100000"/>
              </a:lnSpc>
              <a:spcBef>
                <a:spcPts val="280"/>
              </a:spcBef>
              <a:spcAft>
                <a:spcPts val="0"/>
              </a:spcAft>
              <a:buSzPts val="1400"/>
              <a:buNone/>
              <a:defRPr sz="1400">
                <a:solidFill>
                  <a:srgbClr val="8C8B8A"/>
                </a:solidFill>
              </a:defRPr>
            </a:lvl8pPr>
            <a:lvl9pPr marL="4114800" lvl="8" indent="-228600" algn="l">
              <a:lnSpc>
                <a:spcPct val="100000"/>
              </a:lnSpc>
              <a:spcBef>
                <a:spcPts val="280"/>
              </a:spcBef>
              <a:spcAft>
                <a:spcPts val="0"/>
              </a:spcAft>
              <a:buSzPts val="1400"/>
              <a:buNone/>
              <a:defRPr sz="1400">
                <a:solidFill>
                  <a:srgbClr val="8C8B8A"/>
                </a:solidFill>
              </a:defRPr>
            </a:lvl9pPr>
          </a:lstStyle>
          <a:p>
            <a:endParaRPr/>
          </a:p>
        </p:txBody>
      </p:sp>
      <p:sp>
        <p:nvSpPr>
          <p:cNvPr id="36" name="Google Shape;36;p5"/>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457200" y="1536192"/>
            <a:ext cx="3657600" cy="4590288"/>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SzPts val="2800"/>
              <a:buChar char="•"/>
              <a:defRPr sz="2800"/>
            </a:lvl1pPr>
            <a:lvl2pPr marL="914400" lvl="1" indent="-381000" algn="l">
              <a:lnSpc>
                <a:spcPct val="100000"/>
              </a:lnSpc>
              <a:spcBef>
                <a:spcPts val="48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2" name="Google Shape;42;p6"/>
          <p:cNvSpPr txBox="1">
            <a:spLocks noGrp="1"/>
          </p:cNvSpPr>
          <p:nvPr>
            <p:ph type="body" idx="2"/>
          </p:nvPr>
        </p:nvSpPr>
        <p:spPr>
          <a:xfrm>
            <a:off x="4419600" y="1536192"/>
            <a:ext cx="3657600" cy="4590288"/>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SzPts val="2800"/>
              <a:buChar char="•"/>
              <a:defRPr sz="2800"/>
            </a:lvl1pPr>
            <a:lvl2pPr marL="914400" lvl="1" indent="-381000" algn="l">
              <a:lnSpc>
                <a:spcPct val="100000"/>
              </a:lnSpc>
              <a:spcBef>
                <a:spcPts val="48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3" name="Google Shape;43;p6"/>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4600"/>
              <a:buFont typeface="Cambr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body" idx="1"/>
          </p:nvPr>
        </p:nvSpPr>
        <p:spPr>
          <a:xfrm>
            <a:off x="457200" y="1535113"/>
            <a:ext cx="3657600" cy="639762"/>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1">
                <a:solidFill>
                  <a:schemeClr val="dk2"/>
                </a:solidFill>
              </a:defRPr>
            </a:lvl1pPr>
            <a:lvl2pPr marL="914400" lvl="1" indent="-228600" algn="l">
              <a:lnSpc>
                <a:spcPct val="100000"/>
              </a:lnSpc>
              <a:spcBef>
                <a:spcPts val="4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49" name="Google Shape;49;p7"/>
          <p:cNvSpPr txBox="1">
            <a:spLocks noGrp="1"/>
          </p:cNvSpPr>
          <p:nvPr>
            <p:ph type="body" idx="2"/>
          </p:nvPr>
        </p:nvSpPr>
        <p:spPr>
          <a:xfrm>
            <a:off x="457200" y="2174875"/>
            <a:ext cx="3657600"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sz="2400"/>
            </a:lvl1pPr>
            <a:lvl2pPr marL="914400" lvl="1" indent="-355600" algn="l">
              <a:lnSpc>
                <a:spcPct val="100000"/>
              </a:lnSpc>
              <a:spcBef>
                <a:spcPts val="4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0" name="Google Shape;50;p7"/>
          <p:cNvSpPr txBox="1">
            <a:spLocks noGrp="1"/>
          </p:cNvSpPr>
          <p:nvPr>
            <p:ph type="body" idx="3"/>
          </p:nvPr>
        </p:nvSpPr>
        <p:spPr>
          <a:xfrm>
            <a:off x="4419600" y="1535113"/>
            <a:ext cx="3657600" cy="639762"/>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1">
                <a:solidFill>
                  <a:schemeClr val="dk2"/>
                </a:solidFill>
              </a:defRPr>
            </a:lvl1pPr>
            <a:lvl2pPr marL="914400" lvl="1" indent="-228600" algn="l">
              <a:lnSpc>
                <a:spcPct val="100000"/>
              </a:lnSpc>
              <a:spcBef>
                <a:spcPts val="4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51" name="Google Shape;51;p7"/>
          <p:cNvSpPr txBox="1">
            <a:spLocks noGrp="1"/>
          </p:cNvSpPr>
          <p:nvPr>
            <p:ph type="body" idx="4"/>
          </p:nvPr>
        </p:nvSpPr>
        <p:spPr>
          <a:xfrm>
            <a:off x="4419600" y="2174875"/>
            <a:ext cx="3657600"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sz="2400"/>
            </a:lvl1pPr>
            <a:lvl2pPr marL="914400" lvl="1" indent="-355600" algn="l">
              <a:lnSpc>
                <a:spcPct val="100000"/>
              </a:lnSpc>
              <a:spcBef>
                <a:spcPts val="4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2" name="Google Shape;52;p7"/>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7"/>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304801" y="5495544"/>
            <a:ext cx="7772400" cy="59436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200"/>
              <a:buFont typeface="Cambria"/>
              <a:buNone/>
              <a:defRPr sz="22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txBox="1">
            <a:spLocks noGrp="1"/>
          </p:cNvSpPr>
          <p:nvPr>
            <p:ph type="body" idx="1"/>
          </p:nvPr>
        </p:nvSpPr>
        <p:spPr>
          <a:xfrm>
            <a:off x="304799" y="6096000"/>
            <a:ext cx="7772401" cy="609600"/>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20"/>
              </a:spcBef>
              <a:spcAft>
                <a:spcPts val="0"/>
              </a:spcAft>
              <a:buSzPts val="1600"/>
              <a:buNone/>
              <a:defRPr sz="1600"/>
            </a:lvl1pPr>
            <a:lvl2pPr marL="914400" lvl="1" indent="-228600" algn="l">
              <a:lnSpc>
                <a:spcPct val="100000"/>
              </a:lnSpc>
              <a:spcBef>
                <a:spcPts val="24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63" name="Google Shape;63;p9"/>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66" name="Google Shape;66;p9"/>
          <p:cNvSpPr txBox="1">
            <a:spLocks noGrp="1"/>
          </p:cNvSpPr>
          <p:nvPr>
            <p:ph type="body" idx="2"/>
          </p:nvPr>
        </p:nvSpPr>
        <p:spPr>
          <a:xfrm>
            <a:off x="304800" y="381000"/>
            <a:ext cx="7772400" cy="494284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301752" y="5495278"/>
            <a:ext cx="7772400" cy="594626"/>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200"/>
              <a:buFont typeface="Cambria"/>
              <a:buNone/>
              <a:defRPr sz="22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a:spLocks noGrp="1"/>
          </p:cNvSpPr>
          <p:nvPr>
            <p:ph type="pic" idx="2"/>
          </p:nvPr>
        </p:nvSpPr>
        <p:spPr>
          <a:xfrm>
            <a:off x="0" y="0"/>
            <a:ext cx="8458200" cy="5486400"/>
          </a:xfrm>
          <a:prstGeom prst="rect">
            <a:avLst/>
          </a:prstGeom>
          <a:noFill/>
          <a:ln>
            <a:noFill/>
          </a:ln>
        </p:spPr>
      </p:sp>
      <p:sp>
        <p:nvSpPr>
          <p:cNvPr id="70" name="Google Shape;70;p10"/>
          <p:cNvSpPr txBox="1">
            <a:spLocks noGrp="1"/>
          </p:cNvSpPr>
          <p:nvPr>
            <p:ph type="body" idx="1"/>
          </p:nvPr>
        </p:nvSpPr>
        <p:spPr>
          <a:xfrm>
            <a:off x="301752" y="6096000"/>
            <a:ext cx="7772400" cy="612648"/>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20"/>
              </a:spcBef>
              <a:spcAft>
                <a:spcPts val="0"/>
              </a:spcAft>
              <a:buSzPts val="1600"/>
              <a:buNone/>
              <a:defRPr sz="1600"/>
            </a:lvl1pPr>
            <a:lvl2pPr marL="914400" lvl="1" indent="-228600" algn="l">
              <a:lnSpc>
                <a:spcPct val="100000"/>
              </a:lnSpc>
              <a:spcBef>
                <a:spcPts val="24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71" name="Google Shape;71;p10"/>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0"/>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73" name="Google Shape;73;p10"/>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1"/>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body" idx="1"/>
          </p:nvPr>
        </p:nvSpPr>
        <p:spPr>
          <a:xfrm rot="5400000">
            <a:off x="1866900" y="190500"/>
            <a:ext cx="4800600" cy="76200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7" name="Google Shape;77;p11"/>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1"/>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2"/>
          <p:cNvSpPr txBox="1">
            <a:spLocks noGrp="1"/>
          </p:cNvSpPr>
          <p:nvPr>
            <p:ph type="title"/>
          </p:nvPr>
        </p:nvSpPr>
        <p:spPr>
          <a:xfrm rot="5400000">
            <a:off x="4579938" y="2324101"/>
            <a:ext cx="5851525" cy="17526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3" name="Google Shape;83;p12"/>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2"/>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75000">
              <a:schemeClr val="lt1"/>
            </a:gs>
            <a:gs pos="100000">
              <a:srgbClr val="D8D8D8"/>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2"/>
              </a:buClr>
              <a:buSzPts val="4600"/>
              <a:buFont typeface="Cambria"/>
              <a:buNone/>
              <a:defRPr sz="4600" b="0" i="0" u="none" strike="noStrike" cap="none">
                <a:solidFill>
                  <a:schemeClr val="dk2"/>
                </a:solidFill>
                <a:latin typeface="Cambria"/>
                <a:ea typeface="Cambria"/>
                <a:cs typeface="Cambria"/>
                <a:sym typeface="Cambr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100000"/>
              </a:lnSpc>
              <a:spcBef>
                <a:spcPts val="440"/>
              </a:spcBef>
              <a:spcAft>
                <a:spcPts val="0"/>
              </a:spcAft>
              <a:buClr>
                <a:schemeClr val="accent1"/>
              </a:buClr>
              <a:buSzPts val="2200"/>
              <a:buFont typeface="Arial"/>
              <a:buChar char="•"/>
              <a:defRPr sz="22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accent2"/>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accent3"/>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accent4"/>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17500" algn="l" rtl="0">
              <a:lnSpc>
                <a:spcPct val="100000"/>
              </a:lnSpc>
              <a:spcBef>
                <a:spcPts val="280"/>
              </a:spcBef>
              <a:spcAft>
                <a:spcPts val="0"/>
              </a:spcAft>
              <a:buClr>
                <a:schemeClr val="accent5"/>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100000"/>
              </a:lnSpc>
              <a:spcBef>
                <a:spcPts val="280"/>
              </a:spcBef>
              <a:spcAft>
                <a:spcPts val="0"/>
              </a:spcAft>
              <a:buClr>
                <a:schemeClr val="accent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100000"/>
              </a:lnSpc>
              <a:spcBef>
                <a:spcPts val="28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100000"/>
              </a:lnSpc>
              <a:spcBef>
                <a:spcPts val="280"/>
              </a:spcBef>
              <a:spcAft>
                <a:spcPts val="0"/>
              </a:spcAft>
              <a:buClr>
                <a:schemeClr val="accent3"/>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100000"/>
              </a:lnSpc>
              <a:spcBef>
                <a:spcPts val="280"/>
              </a:spcBef>
              <a:spcAft>
                <a:spcPts val="0"/>
              </a:spcAft>
              <a:buClr>
                <a:schemeClr val="accent4"/>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2" name="Google Shape;12;p1"/>
          <p:cNvSpPr/>
          <p:nvPr/>
        </p:nvSpPr>
        <p:spPr>
          <a:xfrm>
            <a:off x="8458200" y="0"/>
            <a:ext cx="685800"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13;p1"/>
          <p:cNvSpPr/>
          <p:nvPr/>
        </p:nvSpPr>
        <p:spPr>
          <a:xfrm>
            <a:off x="8458200" y="5486400"/>
            <a:ext cx="685800" cy="6858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 name="Google Shape;14;p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15" name="Google Shape;15;p1"/>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lt2"/>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1"/>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lt2"/>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0.png"/><Relationship Id="rId8"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5.png"/><Relationship Id="rId8"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bioresources.cnr.ncsu.edu/resources/recent-advances-in-wood-surface-defect-inspection-using-deep-learning-2021-2025/?utm_source=chatgpt.com" TargetMode="External"/><Relationship Id="rId3" Type="http://schemas.openxmlformats.org/officeDocument/2006/relationships/hyperlink" Target="https://doi.org/10.1109/ETAE69474.2026.11496073?utm_source=chatgpt.com" TargetMode="External"/><Relationship Id="rId4" Type="http://schemas.openxmlformats.org/officeDocument/2006/relationships/hyperlink" Target="https://www.researchgate.net/publication/404642192_IEL-YOLO_A_Low-Light_Robust_Wood_Defect_Detection_Method_Based_on_YOLOv11?utm_source=chatgpt.com" TargetMode="External"/><Relationship Id="rId5" Type="http://schemas.openxmlformats.org/officeDocument/2006/relationships/hyperlink" Target="https://bioresources.cnr.ncsu.edu/resources/wd-seg-a-deep-learning-framework-for-delicate-and-accurate-wood-defect-segmentation/?utm_source=chatgpt.com" TargetMode="External"/><Relationship Id="rId6" Type="http://schemas.openxmlformats.org/officeDocument/2006/relationships/hyperlink" Target="https://doi.org/10.1063/5.0313821?utm_source=chatgpt.com" TargetMode="External"/><Relationship Id="rId7" Type="http://schemas.openxmlformats.org/officeDocument/2006/relationships/hyperlink" Target="https://www.researchgate.net/publication/400536927_A_novel_IWPT-VMD_denoising_method_for_enhancing_air-coupled_ultrasonic_detection_of_wood_defects?utm_source=chatgpt.com" TargetMode="External"/><Relationship Id="rId8" Type="http://schemas.openxmlformats.org/officeDocument/2006/relationships/hyperlink" Target="https://doi.org/10.1016/j.measurement.2026.121442?utm_source=chatgpt.com" TargetMode="External"/><Relationship Id="rId9" Type="http://schemas.openxmlformats.org/officeDocument/2006/relationships/hyperlink" Target="https://www.sciencedirect.com/science/article/pii/S0263224126011516?utm_source=chatgpt.com" TargetMode="External"/><Relationship Id="rId10" Type="http://schemas.openxmlformats.org/officeDocument/2006/relationships/hyperlink" Target="https://doi.org/10.1016/j.tfp.2026.101226?utm_source=chatgpt.com" TargetMode="External"/><Relationship Id="rId11" Type="http://schemas.openxmlformats.org/officeDocument/2006/relationships/hyperlink" Target="https://www.sciencedirect.com/science/article/pii/S2666719326000828?utm_source=chatgpt.com" TargetMode="External"/><Relationship Id="rId12" Type="http://schemas.openxmlformats.org/officeDocument/2006/relationships/image" Target="../media/image1.png"/><Relationship Id="rId13" Type="http://schemas.openxmlformats.org/officeDocument/2006/relationships/image" Target="../media/image2.png"/><Relationship Id="rId14" Type="http://schemas.openxmlformats.org/officeDocument/2006/relationships/image" Target="../media/image3.png"/><Relationship Id="rId15"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doi.org/10.1016/j.ecoser.2026.101851?utm_source=chatgpt.com" TargetMode="External"/><Relationship Id="rId4" Type="http://schemas.openxmlformats.org/officeDocument/2006/relationships/hyperlink" Target="https://www.sciencedirect.com/science/article/pii/S2212041626000392?utm_source=chatgpt.com" TargetMode="External"/><Relationship Id="rId5" Type="http://schemas.openxmlformats.org/officeDocument/2006/relationships/hyperlink" Target="https://doi.org/10.1016/j.knosys.2025.113706?utm_source=chatgpt.com" TargetMode="External"/><Relationship Id="rId6" Type="http://schemas.openxmlformats.org/officeDocument/2006/relationships/hyperlink" Target="https://www.sciencedirect.com/science/article/pii/S095070512500752X?utm_source=chatgpt.com" TargetMode="External"/><Relationship Id="rId7" Type="http://schemas.openxmlformats.org/officeDocument/2006/relationships/hyperlink" Target="https://doi.org/10.1016/j.cma.2024.117250?utm_source=chatgpt.com" TargetMode="External"/><Relationship Id="rId8" Type="http://schemas.openxmlformats.org/officeDocument/2006/relationships/hyperlink" Target="https://www.sciencedirect.com/science/article/pii/S0045782524005061?utm_source=chatgpt.com" TargetMode="External"/><Relationship Id="rId9" Type="http://schemas.openxmlformats.org/officeDocument/2006/relationships/hyperlink" Target="https://doi.org/10.1186/s10086-024-02139-z?utm_source=chatgpt.com" TargetMode="External"/><Relationship Id="rId10" Type="http://schemas.openxmlformats.org/officeDocument/2006/relationships/hyperlink" Target="https://link.springer.com/article/10.1186/s10086-024-02139-z?utm_source=chatgpt.com" TargetMode="External"/><Relationship Id="rId11" Type="http://schemas.openxmlformats.org/officeDocument/2006/relationships/hyperlink" Target="https://doi.org/10.1109/ACCESS.2024.3412928?utm_source=chatgpt.com" TargetMode="External"/><Relationship Id="rId12" Type="http://schemas.openxmlformats.org/officeDocument/2006/relationships/hyperlink" Target="https://ouci.dntb.gov.ua/en/works/7W38qvz7/?utm_source=chatgpt.com" TargetMode="External"/><Relationship Id="rId13" Type="http://schemas.openxmlformats.org/officeDocument/2006/relationships/image" Target="../media/image1.png"/><Relationship Id="rId14" Type="http://schemas.openxmlformats.org/officeDocument/2006/relationships/image" Target="../media/image2.png"/><Relationship Id="rId15" Type="http://schemas.openxmlformats.org/officeDocument/2006/relationships/image" Target="../media/image3.png"/><Relationship Id="rId16"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23.jpg"/><Relationship Id="rId7" Type="http://schemas.openxmlformats.org/officeDocument/2006/relationships/image" Target="../media/image2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sciencedirect.com/science/article/pii/S0045782524005061?utm_source=chatgpt.com" TargetMode="External"/><Relationship Id="rId3" Type="http://schemas.openxmlformats.org/officeDocument/2006/relationships/image" Target="../media/image1.png"/><Relationship Id="rId4" Type="http://schemas.openxmlformats.org/officeDocument/2006/relationships/hyperlink" Target="https://doi.org/10.1016/j.ecoser.2026.101851?utm_source=chatgpt.com" TargetMode="External"/><Relationship Id="rId5" Type="http://schemas.openxmlformats.org/officeDocument/2006/relationships/hyperlink" Target="https://doi.org/10.1016/j.cma.2024.117250?utm_source=chatgpt.com" TargetMode="External"/><Relationship Id="rId6" Type="http://schemas.openxmlformats.org/officeDocument/2006/relationships/hyperlink" Target="https://ouci.dntb.gov.ua/en/works/7W38qvz7/?utm_source=chatgpt.com" TargetMode="External"/><Relationship Id="rId7" Type="http://schemas.openxmlformats.org/officeDocument/2006/relationships/image" Target="../media/image4.png"/><Relationship Id="rId8" Type="http://schemas.openxmlformats.org/officeDocument/2006/relationships/hyperlink" Target="https://www.sciencedirect.com/science/article/pii/S095070512500752X?utm_source=chatgpt.com" TargetMode="External"/><Relationship Id="rId9" Type="http://schemas.openxmlformats.org/officeDocument/2006/relationships/hyperlink" Target="https://doi.org/10.1109/ACCESS.2024.3412928?utm_source=chatgpt.com" TargetMode="External"/><Relationship Id="rId10" Type="http://schemas.openxmlformats.org/officeDocument/2006/relationships/hyperlink" Target="https://doi.org/10.1016/j.knosys.2025.113706?utm_source=chatgpt.com" TargetMode="External"/><Relationship Id="rId11" Type="http://schemas.openxmlformats.org/officeDocument/2006/relationships/image" Target="../media/image3.png"/><Relationship Id="rId12" Type="http://schemas.openxmlformats.org/officeDocument/2006/relationships/hyperlink" Target="https://link.springer.com/article/10.1186/s10086-024-02139-z?utm_source=chatgpt.com" TargetMode="External"/><Relationship Id="rId13" Type="http://schemas.openxmlformats.org/officeDocument/2006/relationships/hyperlink" Target="https://www.sciencedirect.com/science/article/pii/S2212041626000392?utm_source=chatgpt.com" TargetMode="External"/><Relationship Id="rId14" Type="http://schemas.openxmlformats.org/officeDocument/2006/relationships/hyperlink" Target="https://doi.org/10.1186/s10086-024-02139-z?utm_source=chatgpt.com" TargetMode="External"/><Relationship Id="rId15"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ctrTitle"/>
          </p:nvPr>
        </p:nvSpPr>
        <p:spPr>
          <a:xfrm>
            <a:off x="427325" y="1516175"/>
            <a:ext cx="7837800" cy="864900"/>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2"/>
              </a:buClr>
              <a:buSzPts val="3200"/>
              <a:buFont typeface="Cambria"/>
              <a:buNone/>
            </a:pPr>
            <a:r>
              <a:rPr lang="en-US" sz="2900" b="1"/>
              <a:t>AI-Based Wood Quality Assessment</a:t>
            </a:r>
            <a:endParaRPr sz="2900" b="1"/>
          </a:p>
        </p:txBody>
      </p:sp>
      <p:sp>
        <p:nvSpPr>
          <p:cNvPr id="91" name="Google Shape;91;p13"/>
          <p:cNvSpPr txBox="1">
            <a:spLocks noGrp="1"/>
          </p:cNvSpPr>
          <p:nvPr>
            <p:ph type="subTitle" idx="1"/>
          </p:nvPr>
        </p:nvSpPr>
        <p:spPr>
          <a:xfrm>
            <a:off x="230560" y="4714190"/>
            <a:ext cx="3905400" cy="2143800"/>
          </a:xfrm>
          <a:prstGeom prst="rect">
            <a:avLst/>
          </a:prstGeom>
          <a:solidFill>
            <a:srgbClr val="000000">
              <a:alpha val="0"/>
            </a:srgbClr>
          </a:solidFill>
          <a:ln>
            <a:noFill/>
          </a:ln>
        </p:spPr>
        <p:txBody>
          <a:bodyPr spcFirstLastPara="1" wrap="square" lIns="47625" tIns="47625" rIns="47625" bIns="47625" anchor="t" anchorCtr="0">
            <a:normAutofit/>
          </a:bodyPr>
          <a:lstStyle/>
          <a:p>
            <a:pPr marL="0" lvl="0" indent="0" algn="l" rtl="0">
              <a:spcBef>
                <a:spcPts val="400"/>
              </a:spcBef>
              <a:spcAft>
                <a:spcPts val="0"/>
              </a:spcAft>
              <a:buNone/>
            </a:pPr>
            <a:r>
              <a:rPr lang="en-US" sz="1500" b="0">
                <a:solidFill>
                  <a:srgbClr val="8C8B8A"/>
                </a:solidFill>
                <a:latin typeface="Calibri"/>
                <a:ea typeface="Calibri"/>
                <a:cs typeface="Calibri"/>
                <a:sym typeface="Calibri"/>
              </a:rPr>
              <a:t>GURUGUBELLI GAYATRI           -    1DS23CB014</a:t>
            </a:r>
            <a:endParaRPr sz="1500" b="0">
              <a:solidFill>
                <a:srgbClr val="8C8B8A"/>
              </a:solidFill>
              <a:latin typeface="Calibri"/>
              <a:ea typeface="Calibri"/>
              <a:cs typeface="Calibri"/>
              <a:sym typeface="Calibri"/>
            </a:endParaRPr>
          </a:p>
          <a:p>
            <a:pPr marL="0" lvl="0" indent="0" algn="l" rtl="0">
              <a:spcBef>
                <a:spcPts val="900"/>
              </a:spcBef>
              <a:spcAft>
                <a:spcPts val="0"/>
              </a:spcAft>
              <a:buNone/>
            </a:pPr>
            <a:r>
              <a:rPr lang="en-US" sz="1500" b="0">
                <a:solidFill>
                  <a:srgbClr val="8C8B8A"/>
                </a:solidFill>
                <a:latin typeface="Calibri"/>
                <a:ea typeface="Calibri"/>
                <a:cs typeface="Calibri"/>
                <a:sym typeface="Calibri"/>
              </a:rPr>
              <a:t>PRAKYAT PRAMOD SHETTY     -    1DS23CB033</a:t>
            </a:r>
            <a:endParaRPr sz="1500" b="0">
              <a:solidFill>
                <a:srgbClr val="8C8B8A"/>
              </a:solidFill>
              <a:latin typeface="Calibri"/>
              <a:ea typeface="Calibri"/>
              <a:cs typeface="Calibri"/>
              <a:sym typeface="Calibri"/>
            </a:endParaRPr>
          </a:p>
          <a:p>
            <a:pPr marL="0" lvl="0" indent="0" algn="l" rtl="0">
              <a:spcBef>
                <a:spcPts val="900"/>
              </a:spcBef>
              <a:spcAft>
                <a:spcPts val="0"/>
              </a:spcAft>
              <a:buNone/>
            </a:pPr>
            <a:r>
              <a:rPr lang="en-US" sz="1500" b="0">
                <a:solidFill>
                  <a:srgbClr val="8C8B8A"/>
                </a:solidFill>
                <a:latin typeface="Calibri"/>
                <a:ea typeface="Calibri"/>
                <a:cs typeface="Calibri"/>
                <a:sym typeface="Calibri"/>
              </a:rPr>
              <a:t>SAIPRASAD RAO                      </a:t>
            </a:r>
            <a:r>
              <a:rPr lang="en-US" sz="1500"/>
              <a:t> </a:t>
            </a:r>
            <a:r>
              <a:rPr lang="en-US" sz="1500" b="0">
                <a:solidFill>
                  <a:srgbClr val="8C8B8A"/>
                </a:solidFill>
                <a:latin typeface="Calibri"/>
                <a:ea typeface="Calibri"/>
                <a:cs typeface="Calibri"/>
                <a:sym typeface="Calibri"/>
              </a:rPr>
              <a:t> -    1DS23CB041</a:t>
            </a:r>
            <a:endParaRPr sz="1500" b="0">
              <a:solidFill>
                <a:srgbClr val="8C8B8A"/>
              </a:solidFill>
              <a:latin typeface="Calibri"/>
              <a:ea typeface="Calibri"/>
              <a:cs typeface="Calibri"/>
              <a:sym typeface="Calibri"/>
            </a:endParaRPr>
          </a:p>
          <a:p>
            <a:pPr marL="0" lvl="0" indent="0" algn="l" rtl="0">
              <a:spcBef>
                <a:spcPts val="900"/>
              </a:spcBef>
              <a:spcAft>
                <a:spcPts val="0"/>
              </a:spcAft>
              <a:buNone/>
            </a:pPr>
            <a:r>
              <a:rPr lang="en-US" sz="1500" b="0">
                <a:solidFill>
                  <a:srgbClr val="8C8B8A"/>
                </a:solidFill>
                <a:latin typeface="Calibri"/>
                <a:ea typeface="Calibri"/>
                <a:cs typeface="Calibri"/>
                <a:sym typeface="Calibri"/>
              </a:rPr>
              <a:t>YASTI ANIL KOTAK                     -    1DS23CB063</a:t>
            </a:r>
            <a:endParaRPr sz="1500" b="0">
              <a:solidFill>
                <a:srgbClr val="8C8B8A"/>
              </a:solidFill>
              <a:latin typeface="Calibri"/>
              <a:ea typeface="Calibri"/>
              <a:cs typeface="Calibri"/>
              <a:sym typeface="Calibri"/>
            </a:endParaRPr>
          </a:p>
        </p:txBody>
      </p:sp>
      <p:sp>
        <p:nvSpPr>
          <p:cNvPr id="92" name="Google Shape;92;p13"/>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a:t>
            </a:fld>
            <a:endParaRPr/>
          </a:p>
        </p:txBody>
      </p:sp>
      <p:sp>
        <p:nvSpPr>
          <p:cNvPr id="93" name="Google Shape;93;p13"/>
          <p:cNvSpPr txBox="1"/>
          <p:nvPr/>
        </p:nvSpPr>
        <p:spPr>
          <a:xfrm>
            <a:off x="4203785" y="4368800"/>
            <a:ext cx="4179300" cy="2274300"/>
          </a:xfrm>
          <a:prstGeom prst="rect">
            <a:avLst/>
          </a:prstGeom>
          <a:noFill/>
          <a:ln>
            <a:noFill/>
          </a:ln>
        </p:spPr>
        <p:txBody>
          <a:bodyPr spcFirstLastPara="1" wrap="square" lIns="91425" tIns="45700" rIns="91425" bIns="45700" anchor="t" anchorCtr="0">
            <a:normAutofit/>
          </a:bodyPr>
          <a:lstStyle/>
          <a:p>
            <a:pPr marL="0" marR="0" lvl="0" indent="0" algn="l" rtl="0">
              <a:lnSpc>
                <a:spcPct val="12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Under the Guidance of</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Mrs. Aparna H D</a:t>
            </a: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120000"/>
              </a:lnSpc>
              <a:spcBef>
                <a:spcPts val="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Assistant Professor</a:t>
            </a:r>
            <a:r>
              <a:rPr lang="en-US" sz="1800" b="0" i="0" u="none" strike="noStrike" cap="none">
                <a:solidFill>
                  <a:schemeClr val="dk1"/>
                </a:solidFill>
                <a:latin typeface="Times New Roman"/>
                <a:ea typeface="Times New Roman"/>
                <a:cs typeface="Times New Roman"/>
                <a:sym typeface="Times New Roman"/>
              </a:rPr>
              <a:t>,</a:t>
            </a: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2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Department of CSBS,</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Dayananda Sagar College Of Engineering, Bengaluru</a:t>
            </a:r>
            <a:endParaRPr sz="1400" b="0" i="0" u="none" strike="noStrike" cap="none">
              <a:solidFill>
                <a:srgbClr val="000000"/>
              </a:solidFill>
              <a:latin typeface="Arial"/>
              <a:ea typeface="Arial"/>
              <a:cs typeface="Arial"/>
              <a:sym typeface="Arial"/>
            </a:endParaRPr>
          </a:p>
        </p:txBody>
      </p:sp>
      <p:sp>
        <p:nvSpPr>
          <p:cNvPr id="94" name="Google Shape;94;p13"/>
          <p:cNvSpPr txBox="1"/>
          <p:nvPr/>
        </p:nvSpPr>
        <p:spPr>
          <a:xfrm>
            <a:off x="475780" y="2491191"/>
            <a:ext cx="7740900" cy="1028446"/>
          </a:xfrm>
          <a:prstGeom prst="rect">
            <a:avLst/>
          </a:prstGeom>
          <a:noFill/>
          <a:ln>
            <a:noFill/>
          </a:ln>
        </p:spPr>
        <p:txBody>
          <a:bodyPr spcFirstLastPara="1" wrap="square" lIns="91425" tIns="45700" rIns="91425" bIns="45700" anchor="t" anchorCtr="0">
            <a:spAutoFit/>
          </a:bodyPr>
          <a:lstStyle/>
          <a:p>
            <a:pPr marL="0" lvl="0" indent="0" algn="ctr">
              <a:lnSpc>
                <a:spcPct val="115000"/>
              </a:lnSpc>
              <a:spcBef>
                <a:spcPts val="0"/>
              </a:spcBef>
              <a:spcAft>
                <a:spcPts val="0"/>
              </a:spcAft>
              <a:buNone/>
            </a:pPr>
            <a:r>
              <a:rPr lang="en-US" sz="1800" b="0" dirty="0">
                <a:latin typeface="Times New Roman"/>
                <a:ea typeface="Times New Roman"/>
                <a:cs typeface="Times New Roman"/>
                <a:sym typeface="Times New Roman"/>
              </a:rPr>
              <a:t>7th Semester Major Project: Final (100%) Presentation</a:t>
            </a:r>
          </a:p>
          <a:p>
            <a:pPr marL="0" lvl="0" indent="0" algn="ctr">
              <a:lnSpc>
                <a:spcPct val="115000"/>
              </a:lnSpc>
              <a:spcBef>
                <a:spcPts val="0"/>
              </a:spcBef>
              <a:spcAft>
                <a:spcPts val="0"/>
              </a:spcAft>
              <a:buNone/>
            </a:pPr>
            <a:r>
              <a:rPr lang="en-US" sz="1800" b="0" dirty="0">
                <a:latin typeface="Times New Roman"/>
                <a:ea typeface="Times New Roman"/>
                <a:cs typeface="Times New Roman"/>
                <a:sym typeface="Times New Roman"/>
              </a:rPr>
              <a:t>Date: 23 October 2026</a:t>
            </a:r>
          </a:p>
          <a:p>
            <a:pPr marL="0" lvl="0" indent="0" algn="ctr">
              <a:lnSpc>
                <a:spcPct val="115000"/>
              </a:lnSpc>
              <a:spcBef>
                <a:spcPts val="0"/>
              </a:spcBef>
              <a:spcAft>
                <a:spcPts val="0"/>
              </a:spcAft>
              <a:buNone/>
            </a:pPr>
            <a:r>
              <a:rPr lang="en-US" sz="1800" b="0" dirty="0">
                <a:latin typeface="Times New Roman"/>
                <a:ea typeface="Times New Roman"/>
                <a:cs typeface="Times New Roman"/>
                <a:sym typeface="Times New Roman"/>
              </a:rPr>
              <a:t>Time: 9Am Onwards</a:t>
            </a:r>
          </a:p>
        </p:txBody>
      </p:sp>
      <p:sp>
        <p:nvSpPr>
          <p:cNvPr id="95" name="Google Shape;95;p13"/>
          <p:cNvSpPr/>
          <p:nvPr/>
        </p:nvSpPr>
        <p:spPr>
          <a:xfrm>
            <a:off x="0" y="0"/>
            <a:ext cx="91440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6" name="Google Shape;96;p13"/>
          <p:cNvSpPr/>
          <p:nvPr/>
        </p:nvSpPr>
        <p:spPr>
          <a:xfrm>
            <a:off x="1413239" y="114282"/>
            <a:ext cx="7155000" cy="1169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DAYANANDA SAGAR COLLEGE OF ENGINEERING</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600"/>
              <a:buFont typeface="Calibri"/>
              <a:buNone/>
            </a:pPr>
            <a:r>
              <a:rPr lang="en-US" sz="1600" b="0" i="0" u="none" strike="noStrike" cap="none">
                <a:solidFill>
                  <a:schemeClr val="dk1"/>
                </a:solidFill>
                <a:latin typeface="Calibri"/>
                <a:ea typeface="Calibri"/>
                <a:cs typeface="Calibri"/>
                <a:sym typeface="Calibri"/>
              </a:rPr>
              <a:t>An Autonomous Institute Affiliated to VTU, Approved by AICTE &amp; UGC</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600"/>
              <a:buFont typeface="Calibri"/>
              <a:buNone/>
            </a:pPr>
            <a:r>
              <a:rPr lang="en-US" sz="1600" b="0" i="0" u="none" strike="noStrike" cap="none">
                <a:solidFill>
                  <a:schemeClr val="dk1"/>
                </a:solidFill>
                <a:latin typeface="Calibri"/>
                <a:ea typeface="Calibri"/>
                <a:cs typeface="Calibri"/>
                <a:sym typeface="Calibri"/>
              </a:rPr>
              <a:t>Accredited by National Assessment and Accreditation Council (NAAC) with ‘A’ Grade</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Department of Computer Science and Business Systems</a:t>
            </a:r>
            <a:endParaRPr sz="1800" b="0" i="0" u="none" strike="noStrike" cap="none">
              <a:solidFill>
                <a:schemeClr val="dk1"/>
              </a:solidFill>
              <a:latin typeface="Arial"/>
              <a:ea typeface="Arial"/>
              <a:cs typeface="Arial"/>
              <a:sym typeface="Arial"/>
            </a:endParaRPr>
          </a:p>
        </p:txBody>
      </p:sp>
      <p:cxnSp>
        <p:nvCxnSpPr>
          <p:cNvPr id="97" name="Google Shape;97;p13"/>
          <p:cNvCxnSpPr/>
          <p:nvPr/>
        </p:nvCxnSpPr>
        <p:spPr>
          <a:xfrm>
            <a:off x="190980" y="1377538"/>
            <a:ext cx="8822400" cy="0"/>
          </a:xfrm>
          <a:prstGeom prst="straightConnector1">
            <a:avLst/>
          </a:prstGeom>
          <a:noFill/>
          <a:ln w="38100" cap="flat" cmpd="sng">
            <a:solidFill>
              <a:schemeClr val="accent1"/>
            </a:solidFill>
            <a:prstDash val="solid"/>
            <a:round/>
            <a:headEnd type="none" w="sm" len="sm"/>
            <a:tailEnd type="none" w="sm" len="sm"/>
          </a:ln>
          <a:effectLst>
            <a:outerShdw blurRad="50800" dist="25400" algn="bl" rotWithShape="0">
              <a:srgbClr val="000000">
                <a:alpha val="60000"/>
              </a:srgbClr>
            </a:outerShdw>
          </a:effectLst>
        </p:spPr>
      </p:cxnSp>
      <p:pic>
        <p:nvPicPr>
          <p:cNvPr id="98" name="Google Shape;98;p13"/>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99" name="Google Shape;99;p13"/>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00" name="Google Shape;100;p13"/>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01" name="Google Shape;101;p13"/>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02" name="Google Shape;102;p13"/>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103" name="Google Shape;103;p13" descr="logo.jpeg"/>
          <p:cNvPicPr preferRelativeResize="0"/>
          <p:nvPr/>
        </p:nvPicPr>
        <p:blipFill rotWithShape="1">
          <a:blip r:embed="rId7">
            <a:alphaModFix/>
          </a:blip>
          <a:srcRect/>
          <a:stretch/>
        </p:blipFill>
        <p:spPr>
          <a:xfrm>
            <a:off x="288290" y="109220"/>
            <a:ext cx="1207135" cy="121094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323851" y="0"/>
            <a:ext cx="7977001" cy="729579"/>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41534B"/>
              </a:buClr>
              <a:buSzPts val="2800"/>
              <a:buFont typeface="Times New Roman"/>
              <a:buNone/>
            </a:pPr>
            <a:r>
              <a:rPr lang="en-US" sz="2800" b="1" cap="none">
                <a:solidFill>
                  <a:srgbClr val="41534B"/>
                </a:solidFill>
                <a:latin typeface="Times New Roman"/>
                <a:ea typeface="Times New Roman"/>
                <a:cs typeface="Times New Roman"/>
                <a:sym typeface="Times New Roman"/>
              </a:rPr>
              <a:t>ORGANIZATION OF THE PRESENTATION</a:t>
            </a:r>
            <a:endParaRPr/>
          </a:p>
        </p:txBody>
      </p:sp>
      <p:sp>
        <p:nvSpPr>
          <p:cNvPr id="109" name="Google Shape;109;p14"/>
          <p:cNvSpPr txBox="1">
            <a:spLocks noGrp="1"/>
          </p:cNvSpPr>
          <p:nvPr>
            <p:ph type="body" idx="1"/>
          </p:nvPr>
        </p:nvSpPr>
        <p:spPr>
          <a:xfrm>
            <a:off x="323851" y="729579"/>
            <a:ext cx="8560155" cy="5856277"/>
          </a:xfrm>
          <a:prstGeom prst="rect">
            <a:avLst/>
          </a:prstGeom>
          <a:noFill/>
          <a:ln>
            <a:noFill/>
          </a:ln>
        </p:spPr>
        <p:txBody>
          <a:bodyPr spcFirstLastPara="1" wrap="square" lIns="91425" tIns="45700" rIns="91425" bIns="45700" anchor="t" anchorCtr="0">
            <a:noAutofit/>
          </a:bodyPr>
          <a:lstStyle/>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Abstract</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Introduction</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Literature Survey</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Problem Statement</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Objectives and Final Status</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Methodology</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Recap: Results at the 50% Review</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System Design</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Feedback Received and Actions Taken</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Data Engineering and Expansion</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Mathematical Model: Class Balancing, Box Fusion, Recoverability Index</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How We Arrived at the Final Model</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Results: 50% Review vs Final</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Statistical and Grading Validation</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Image Enhancement Study</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Demonstration Application</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Plan of Action</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Conclusion and Future Work</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References</a:t>
            </a:r>
          </a:p>
        </p:txBody>
      </p:sp>
      <p:sp>
        <p:nvSpPr>
          <p:cNvPr id="110" name="Google Shape;110;p14"/>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a:t>
            </a:fld>
            <a:endParaRPr/>
          </a:p>
        </p:txBody>
      </p:sp>
      <p:pic>
        <p:nvPicPr>
          <p:cNvPr id="111" name="Google Shape;111;p14"/>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12" name="Google Shape;112;p14"/>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13" name="Google Shape;113;p14"/>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14" name="Google Shape;114;p14"/>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15" name="Google Shape;115;p14"/>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5"/>
          <p:cNvSpPr txBox="1">
            <a:spLocks noGrp="1"/>
          </p:cNvSpPr>
          <p:nvPr>
            <p:ph type="title"/>
          </p:nvPr>
        </p:nvSpPr>
        <p:spPr>
          <a:xfrm>
            <a:off x="334847" y="141515"/>
            <a:ext cx="7977001" cy="729579"/>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41534B"/>
              </a:buClr>
              <a:buSzPts val="2800"/>
              <a:buFont typeface="Times New Roman"/>
              <a:buNone/>
            </a:pPr>
            <a:r>
              <a:rPr lang="en-US" sz="2800" b="1" cap="none">
                <a:solidFill>
                  <a:srgbClr val="41534B"/>
                </a:solidFill>
                <a:latin typeface="Times New Roman"/>
                <a:ea typeface="Times New Roman"/>
                <a:cs typeface="Times New Roman"/>
                <a:sym typeface="Times New Roman"/>
              </a:rPr>
              <a:t>ABSTRACT</a:t>
            </a:r>
            <a:endParaRPr/>
          </a:p>
        </p:txBody>
      </p:sp>
      <p:sp>
        <p:nvSpPr>
          <p:cNvPr id="121" name="Google Shape;121;p15"/>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3</a:t>
            </a:fld>
            <a:endParaRPr/>
          </a:p>
        </p:txBody>
      </p:sp>
      <p:pic>
        <p:nvPicPr>
          <p:cNvPr id="122" name="Google Shape;122;p15"/>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23" name="Google Shape;123;p15"/>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24" name="Google Shape;124;p15"/>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25" name="Google Shape;125;p15"/>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26" name="Google Shape;126;p15"/>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27" name="Google Shape;127;p15"/>
          <p:cNvSpPr txBox="1">
            <a:spLocks noGrp="1"/>
          </p:cNvSpPr>
          <p:nvPr>
            <p:ph type="body" idx="1"/>
          </p:nvPr>
        </p:nvSpPr>
        <p:spPr>
          <a:xfrm>
            <a:off x="198348" y="141515"/>
            <a:ext cx="8113500" cy="5610600"/>
          </a:xfrm>
          <a:prstGeom prst="rect">
            <a:avLst/>
          </a:prstGeom>
          <a:noFill/>
          <a:ln>
            <a:noFill/>
          </a:ln>
        </p:spPr>
        <p:txBody>
          <a:bodyPr spcFirstLastPara="1" wrap="square" lIns="91425" tIns="45700" rIns="91425" bIns="45700" anchor="ctr" anchorCtr="0">
            <a:spAutoFit/>
          </a:bodyPr>
          <a:lstStyle/>
          <a:p>
            <a:pPr marL="457200" lvl="0" indent="-330200" algn="l">
              <a:lnSpc>
                <a:spcPct val="120000"/>
              </a:lnSpc>
              <a:spcBef>
                <a:spcPts val="600"/>
              </a:spcBef>
              <a:spcAft>
                <a:spcPts val="0"/>
              </a:spcAft>
              <a:buSzPts val="1500"/>
              <a:buFont typeface="Times New Roman"/>
              <a:buChar char="●"/>
            </a:pPr>
            <a:r>
              <a:rPr lang="en-US" sz="1300" dirty="0">
                <a:latin typeface="Times New Roman"/>
                <a:ea typeface="Times New Roman"/>
                <a:cs typeface="Times New Roman"/>
                <a:sym typeface="Times New Roman"/>
              </a:rPr>
              <a:t>Surface defects such as knots, cracks and resin pockets reduce the usable part of a wood board; manual grading is slow, subjective and inconsistent. The target application is high-value wood such as sandalwood.</a:t>
            </a:r>
          </a:p>
          <a:p>
            <a:pPr marL="457200" lvl="0" indent="-330200" algn="l">
              <a:lnSpc>
                <a:spcPct val="120000"/>
              </a:lnSpc>
              <a:spcBef>
                <a:spcPts val="600"/>
              </a:spcBef>
              <a:spcAft>
                <a:spcPts val="0"/>
              </a:spcAft>
              <a:buSzPts val="1500"/>
              <a:buFont typeface="Times New Roman"/>
              <a:buChar char="●"/>
            </a:pPr>
            <a:r>
              <a:rPr lang="en-US" sz="1300" dirty="0">
                <a:latin typeface="Times New Roman"/>
                <a:ea typeface="Times New Roman"/>
                <a:cs typeface="Times New Roman"/>
                <a:sym typeface="Times New Roman"/>
              </a:rPr>
              <a:t>We built an AI system that detects, classifies and localises surface defects on board images and turns them into a quality grade, a recoverable-area estimate and a value estimate.</a:t>
            </a:r>
          </a:p>
          <a:p>
            <a:pPr marL="457200" lvl="0" indent="-330200" algn="l">
              <a:lnSpc>
                <a:spcPct val="120000"/>
              </a:lnSpc>
              <a:spcBef>
                <a:spcPts val="600"/>
              </a:spcBef>
              <a:spcAft>
                <a:spcPts val="0"/>
              </a:spcAft>
              <a:buSzPts val="1500"/>
              <a:buFont typeface="Times New Roman"/>
              <a:buChar char="●"/>
            </a:pPr>
            <a:r>
              <a:rPr lang="en-US" sz="1300" dirty="0">
                <a:latin typeface="Times New Roman"/>
                <a:ea typeface="Times New Roman"/>
                <a:cs typeface="Times New Roman"/>
                <a:sym typeface="Times New Roman"/>
              </a:rPr>
              <a:t>At the 50% review, YOLO11m and YOLO11s reached 63.0 and 64.6 mAP50 over 8 classes on unseen boards, limited by scarce and imbalanced data.</a:t>
            </a:r>
          </a:p>
          <a:p>
            <a:pPr marL="457200" lvl="0" indent="-330200" algn="l">
              <a:lnSpc>
                <a:spcPct val="120000"/>
              </a:lnSpc>
              <a:spcBef>
                <a:spcPts val="600"/>
              </a:spcBef>
              <a:spcAft>
                <a:spcPts val="0"/>
              </a:spcAft>
              <a:buSzPts val="1500"/>
              <a:buFont typeface="Times New Roman"/>
              <a:buChar char="●"/>
            </a:pPr>
            <a:r>
              <a:rPr lang="en-US" sz="1300" dirty="0">
                <a:latin typeface="Times New Roman"/>
                <a:ea typeface="Times New Roman"/>
                <a:cs typeface="Times New Roman"/>
                <a:sym typeface="Times New Roman"/>
              </a:rPr>
              <a:t>Revised based on the feedback received: we expanded and engineered the data (20,276 images from 407 boards, synthetic class balancing) and built a mathematical model of class balancing and weighted box fusion with board-level statistical validation.</a:t>
            </a:r>
          </a:p>
          <a:p>
            <a:pPr marL="457200" lvl="0" indent="-330200" algn="l">
              <a:lnSpc>
                <a:spcPct val="120000"/>
              </a:lnSpc>
              <a:spcBef>
                <a:spcPts val="600"/>
              </a:spcBef>
              <a:spcAft>
                <a:spcPts val="0"/>
              </a:spcAft>
              <a:buSzPts val="1500"/>
              <a:buFont typeface="Times New Roman"/>
              <a:buChar char="●"/>
            </a:pPr>
            <a:r>
              <a:rPr lang="en-US" sz="1300" dirty="0">
                <a:latin typeface="Times New Roman"/>
                <a:ea typeface="Times New Roman"/>
                <a:cs typeface="Times New Roman"/>
                <a:sym typeface="Times New Roman"/>
              </a:rPr>
              <a:t>Result: 76.9 mAP50 on the same unseen test boards and 81.3 on 51 further unseen boards (from 64.6 at mid-term); the fusion gain is significant (95% CI +2.7 to +7.1).</a:t>
            </a:r>
          </a:p>
          <a:p>
            <a:pPr marL="457200" lvl="0" indent="-330200" algn="l">
              <a:lnSpc>
                <a:spcPct val="120000"/>
              </a:lnSpc>
              <a:spcBef>
                <a:spcPts val="600"/>
              </a:spcBef>
              <a:spcAft>
                <a:spcPts val="0"/>
              </a:spcAft>
              <a:buSzPts val="1500"/>
              <a:buFont typeface="Times New Roman"/>
              <a:buChar char="●"/>
            </a:pPr>
            <a:r>
              <a:rPr lang="en-US" sz="1300" dirty="0">
                <a:latin typeface="Times New Roman"/>
                <a:ea typeface="Times New Roman"/>
                <a:cs typeface="Times New Roman"/>
                <a:sym typeface="Times New Roman"/>
              </a:rPr>
              <a:t>Quality assessment: the Board Recoverability Index proposed by our guide, adapted to our images, matches annotation-based grades with weighted kappa 0.87; a web application shows defects, grade, recoverable area and value.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6"/>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4</a:t>
            </a:fld>
            <a:endParaRPr/>
          </a:p>
        </p:txBody>
      </p:sp>
      <p:sp>
        <p:nvSpPr>
          <p:cNvPr id="134" name="Google Shape;134;p16"/>
          <p:cNvSpPr/>
          <p:nvPr/>
        </p:nvSpPr>
        <p:spPr>
          <a:xfrm>
            <a:off x="322730" y="232193"/>
            <a:ext cx="3402105"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INTRODUCTION</a:t>
            </a:r>
            <a:endParaRPr sz="1400" b="0" i="0" u="none" strike="noStrike" cap="none">
              <a:solidFill>
                <a:srgbClr val="000000"/>
              </a:solidFill>
              <a:latin typeface="Arial"/>
              <a:ea typeface="Arial"/>
              <a:cs typeface="Arial"/>
              <a:sym typeface="Arial"/>
            </a:endParaRPr>
          </a:p>
        </p:txBody>
      </p:sp>
      <p:pic>
        <p:nvPicPr>
          <p:cNvPr id="135" name="Google Shape;135;p16"/>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36" name="Google Shape;136;p16"/>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37" name="Google Shape;137;p16"/>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38" name="Google Shape;138;p16"/>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39" name="Google Shape;139;p16"/>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40" name="Google Shape;140;p16"/>
          <p:cNvSpPr txBox="1"/>
          <p:nvPr/>
        </p:nvSpPr>
        <p:spPr>
          <a:xfrm>
            <a:off x="149500" y="849225"/>
            <a:ext cx="8178000" cy="5781000"/>
          </a:xfrm>
          <a:prstGeom prst="rect">
            <a:avLst/>
          </a:prstGeom>
          <a:noFill/>
          <a:ln>
            <a:noFill/>
          </a:ln>
        </p:spPr>
        <p:txBody>
          <a:bodyPr spcFirstLastPara="1" wrap="square" lIns="91425" tIns="45700" rIns="91425" bIns="45700" anchor="t" anchorCtr="0">
            <a:noAutofit/>
          </a:bodyPr>
          <a:lstStyle/>
          <a:p>
            <a:pPr marL="457200" lvl="0" indent="-330200" algn="l">
              <a:lnSpc>
                <a:spcPct val="130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Manual inspection of wood depends on human graders; fatigue and inter-inspector variation make results inconsistent, and throughput limits line speed.</a:t>
            </a:r>
          </a:p>
          <a:p>
            <a:pPr marL="457200" lvl="0" indent="-330200" algn="l">
              <a:lnSpc>
                <a:spcPct val="130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Defects differ in severity: a live knot is cosmetic, a dead or missing knot weakens the board, a crack may make a section unusable. Grading needs the defect type and its location, not a yes/no answer.</a:t>
            </a:r>
          </a:p>
          <a:p>
            <a:pPr marL="457200" lvl="0" indent="-330200" algn="l">
              <a:lnSpc>
                <a:spcPct val="130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One-stage detectors of the YOLO family find and classify small objects in real time, which suits a conveyor-mounted line-scan camera.</a:t>
            </a:r>
          </a:p>
          <a:p>
            <a:pPr marL="457200" lvl="0" indent="-330200" algn="l">
              <a:lnSpc>
                <a:spcPct val="130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Our system returns every visible defect with class, position, size and confidence, grades each board with the Board Recoverability Index (A / B / C / Reject), and estimates its recoverable area and value.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7"/>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5</a:t>
            </a:fld>
            <a:endParaRPr/>
          </a:p>
        </p:txBody>
      </p:sp>
      <p:sp>
        <p:nvSpPr>
          <p:cNvPr id="146" name="Google Shape;146;p17"/>
          <p:cNvSpPr txBox="1"/>
          <p:nvPr/>
        </p:nvSpPr>
        <p:spPr>
          <a:xfrm>
            <a:off x="132875" y="-18871"/>
            <a:ext cx="7717500" cy="1508400"/>
          </a:xfrm>
          <a:prstGeom prst="rect">
            <a:avLst/>
          </a:prstGeom>
          <a:noFill/>
          <a:ln>
            <a:noFill/>
          </a:ln>
        </p:spPr>
        <p:txBody>
          <a:bodyPr spcFirstLastPara="1" wrap="square" lIns="91425" tIns="45700" rIns="91425" bIns="45700" anchor="t" anchorCtr="0">
            <a:spAutoFit/>
          </a:bodyPr>
          <a:lstStyle/>
          <a:p>
            <a:pPr marL="457200" marR="0" lvl="1" indent="-457200" algn="l" rtl="0">
              <a:lnSpc>
                <a:spcPct val="15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LITERATURE SURVEY</a:t>
            </a:r>
            <a:endParaRPr sz="1400" b="0" i="0" u="none" strike="noStrike" cap="none">
              <a:solidFill>
                <a:srgbClr val="000000"/>
              </a:solidFill>
              <a:latin typeface="Arial"/>
              <a:ea typeface="Arial"/>
              <a:cs typeface="Arial"/>
              <a:sym typeface="Arial"/>
            </a:endParaRPr>
          </a:p>
          <a:p>
            <a:pPr marL="0" marR="0" lvl="1" indent="0" algn="l" rtl="0">
              <a:lnSpc>
                <a:spcPct val="150000"/>
              </a:lnSpc>
              <a:spcBef>
                <a:spcPts val="0"/>
              </a:spcBef>
              <a:spcAft>
                <a:spcPts val="0"/>
              </a:spcAft>
              <a:buClr>
                <a:schemeClr val="dk1"/>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a:p>
            <a:pPr marL="0" marR="0" lvl="1" indent="0" algn="l" rtl="0">
              <a:lnSpc>
                <a:spcPct val="150000"/>
              </a:lnSpc>
              <a:spcBef>
                <a:spcPts val="0"/>
              </a:spcBef>
              <a:spcAft>
                <a:spcPts val="0"/>
              </a:spcAft>
              <a:buClr>
                <a:srgbClr val="000000"/>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p:txBody>
      </p:sp>
      <p:pic>
        <p:nvPicPr>
          <p:cNvPr id="147" name="Google Shape;147;p17"/>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48" name="Google Shape;148;p17"/>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49" name="Google Shape;149;p17"/>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50" name="Google Shape;150;p17"/>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51" name="Google Shape;151;p17"/>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graphicFrame>
        <p:nvGraphicFramePr>
          <p:cNvPr id="152" name="Google Shape;152;p17"/>
          <p:cNvGraphicFramePr/>
          <p:nvPr/>
        </p:nvGraphicFramePr>
        <p:xfrm>
          <a:off x="132863" y="532309"/>
          <a:ext cx="8133725" cy="6246710"/>
        </p:xfrm>
        <a:graphic>
          <a:graphicData uri="http://schemas.openxmlformats.org/drawingml/2006/table">
            <a:tbl>
              <a:tblPr firstRow="1" bandRow="1">
                <a:noFill/>
                <a:tableStyleId>{8D8EE20A-88A6-4723-80EF-92F8BEF2DCB8}</a:tableStyleId>
              </a:tblPr>
              <a:tblGrid>
                <a:gridCol w="1357900">
                  <a:extLst>
                    <a:ext uri="{9D8B030D-6E8A-4147-A177-3AD203B41FA5}">
                      <a16:colId xmlns:a16="http://schemas.microsoft.com/office/drawing/2014/main" val="20000"/>
                    </a:ext>
                  </a:extLst>
                </a:gridCol>
                <a:gridCol w="615400">
                  <a:extLst>
                    <a:ext uri="{9D8B030D-6E8A-4147-A177-3AD203B41FA5}">
                      <a16:colId xmlns:a16="http://schemas.microsoft.com/office/drawing/2014/main" val="20001"/>
                    </a:ext>
                  </a:extLst>
                </a:gridCol>
                <a:gridCol w="1893550">
                  <a:extLst>
                    <a:ext uri="{9D8B030D-6E8A-4147-A177-3AD203B41FA5}">
                      <a16:colId xmlns:a16="http://schemas.microsoft.com/office/drawing/2014/main" val="20002"/>
                    </a:ext>
                  </a:extLst>
                </a:gridCol>
                <a:gridCol w="1501150">
                  <a:extLst>
                    <a:ext uri="{9D8B030D-6E8A-4147-A177-3AD203B41FA5}">
                      <a16:colId xmlns:a16="http://schemas.microsoft.com/office/drawing/2014/main" val="20003"/>
                    </a:ext>
                  </a:extLst>
                </a:gridCol>
                <a:gridCol w="1431900">
                  <a:extLst>
                    <a:ext uri="{9D8B030D-6E8A-4147-A177-3AD203B41FA5}">
                      <a16:colId xmlns:a16="http://schemas.microsoft.com/office/drawing/2014/main" val="20004"/>
                    </a:ext>
                  </a:extLst>
                </a:gridCol>
                <a:gridCol w="1333825">
                  <a:extLst>
                    <a:ext uri="{9D8B030D-6E8A-4147-A177-3AD203B41FA5}">
                      <a16:colId xmlns:a16="http://schemas.microsoft.com/office/drawing/2014/main" val="20005"/>
                    </a:ext>
                  </a:extLst>
                </a:gridCol>
              </a:tblGrid>
              <a:tr h="9059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Author(s)</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Year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Title of the Paper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Algorithm/</a:t>
                      </a:r>
                      <a:endParaRPr sz="1400" u="none" strike="noStrike" cap="none"/>
                    </a:p>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Technology used</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Result</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Drawbacks/Issues</a:t>
                      </a:r>
                      <a:endParaRPr sz="1400" u="none" strike="noStrike" cap="none"/>
                    </a:p>
                  </a:txBody>
                  <a:tcPr marL="91450" marR="91450" marT="45725" marB="45725"/>
                </a:tc>
                <a:extLst>
                  <a:ext uri="{0D108BD9-81ED-4DB2-BD59-A6C34878D82A}">
                    <a16:rowId xmlns:a16="http://schemas.microsoft.com/office/drawing/2014/main" val="10000"/>
                  </a:ext>
                </a:extLst>
              </a:tr>
              <a:tr h="15027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Y. Fang, Y. Ma, S. Gao &amp; J. Chen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Recent Advances in Wood Surface Defect Inspection using Deep Learning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Recent Advances in Wood Surface Defect Inspection using Deep Learning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Comprehensive review; supports automated wood-defect inspection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200"/>
                        <a:buFont typeface="Calibri"/>
                        <a:buNone/>
                      </a:pPr>
                      <a:r>
                        <a:rPr lang="en-US" sz="1200">
                          <a:latin typeface="Times New Roman"/>
                          <a:ea typeface="Times New Roman"/>
                          <a:cs typeface="Times New Roman"/>
                          <a:sym typeface="Times New Roman"/>
                        </a:rPr>
                        <a:t>Small datasets, poor generalisation &amp; real-time deployment challenges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1"/>
                  </a:ext>
                </a:extLst>
              </a:tr>
              <a:tr h="11777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J. Zheng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IEL-YOLO: A Low-Light Robust Wood Defect Detection Method Based on YOLOv11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Image Enhancement + YOLOv11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Improves defect visibility in low-light conditions; handles complex wood textures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Generalisation challenges; no multimodal integration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2"/>
                  </a:ext>
                </a:extLst>
              </a:tr>
              <a:tr h="13259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J. Qu, Y. Pang &amp; Z. Wang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WD-SEG: A Deep Learning Framework for Delicate and Accurate Wood Defect Segmentation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AFN + TFN + ICO + Deep Learning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Accurate defect segmentation; handles low contrast and reduces background interference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200"/>
                        <a:buFont typeface="Calibri"/>
                        <a:buNone/>
                      </a:pPr>
                      <a:r>
                        <a:rPr lang="en-US" sz="1200">
                          <a:latin typeface="Times New Roman"/>
                          <a:ea typeface="Times New Roman"/>
                          <a:cs typeface="Times New Roman"/>
                          <a:sym typeface="Times New Roman"/>
                        </a:rPr>
                        <a:t>Noise sensitivity, feature ambiguity &amp; real-time deployment challenges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3"/>
                  </a:ext>
                </a:extLst>
              </a:tr>
              <a:tr h="13259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J. Wang &amp; S. Tang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A Novel IWPT-VMD Denoising Method for Enhancing Air-Coupled Ultrasonic Detection of Wood Defects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IWPT + VMD + Ultrasonic Signal Processing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Reduces noise and improves signal quality and defect detection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Requires ultrasonic signals; limited AI integration and no multimodal fusion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8"/>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6</a:t>
            </a:fld>
            <a:endParaRPr/>
          </a:p>
        </p:txBody>
      </p:sp>
      <p:sp>
        <p:nvSpPr>
          <p:cNvPr id="158" name="Google Shape;158;p18"/>
          <p:cNvSpPr txBox="1"/>
          <p:nvPr/>
        </p:nvSpPr>
        <p:spPr>
          <a:xfrm>
            <a:off x="132875" y="-18871"/>
            <a:ext cx="7717500" cy="1508400"/>
          </a:xfrm>
          <a:prstGeom prst="rect">
            <a:avLst/>
          </a:prstGeom>
          <a:noFill/>
          <a:ln>
            <a:noFill/>
          </a:ln>
        </p:spPr>
        <p:txBody>
          <a:bodyPr spcFirstLastPara="1" wrap="square" lIns="91425" tIns="45700" rIns="91425" bIns="45700" anchor="t" anchorCtr="0">
            <a:spAutoFit/>
          </a:bodyPr>
          <a:lstStyle/>
          <a:p>
            <a:pPr marL="457200" marR="0" lvl="1" indent="-457200" algn="l" rtl="0">
              <a:lnSpc>
                <a:spcPct val="15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LITERATURE SURVEY</a:t>
            </a:r>
            <a:endParaRPr sz="1400" b="0" i="0" u="none" strike="noStrike" cap="none">
              <a:solidFill>
                <a:srgbClr val="000000"/>
              </a:solidFill>
              <a:latin typeface="Arial"/>
              <a:ea typeface="Arial"/>
              <a:cs typeface="Arial"/>
              <a:sym typeface="Arial"/>
            </a:endParaRPr>
          </a:p>
          <a:p>
            <a:pPr marL="0" marR="0" lvl="1" indent="0" algn="l" rtl="0">
              <a:lnSpc>
                <a:spcPct val="150000"/>
              </a:lnSpc>
              <a:spcBef>
                <a:spcPts val="0"/>
              </a:spcBef>
              <a:spcAft>
                <a:spcPts val="0"/>
              </a:spcAft>
              <a:buClr>
                <a:schemeClr val="dk1"/>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a:p>
            <a:pPr marL="0" marR="0" lvl="1" indent="0" algn="l" rtl="0">
              <a:lnSpc>
                <a:spcPct val="150000"/>
              </a:lnSpc>
              <a:spcBef>
                <a:spcPts val="0"/>
              </a:spcBef>
              <a:spcAft>
                <a:spcPts val="0"/>
              </a:spcAft>
              <a:buClr>
                <a:srgbClr val="000000"/>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p:txBody>
      </p:sp>
      <p:pic>
        <p:nvPicPr>
          <p:cNvPr id="159" name="Google Shape;159;p18"/>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60" name="Google Shape;160;p18"/>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61" name="Google Shape;161;p18"/>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62" name="Google Shape;162;p18"/>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63" name="Google Shape;163;p18"/>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graphicFrame>
        <p:nvGraphicFramePr>
          <p:cNvPr id="164" name="Google Shape;164;p18"/>
          <p:cNvGraphicFramePr/>
          <p:nvPr/>
        </p:nvGraphicFramePr>
        <p:xfrm>
          <a:off x="132863" y="532309"/>
          <a:ext cx="8133725" cy="6182375"/>
        </p:xfrm>
        <a:graphic>
          <a:graphicData uri="http://schemas.openxmlformats.org/drawingml/2006/table">
            <a:tbl>
              <a:tblPr firstRow="1" bandRow="1">
                <a:noFill/>
                <a:tableStyleId>{8D8EE20A-88A6-4723-80EF-92F8BEF2DCB8}</a:tableStyleId>
              </a:tblPr>
              <a:tblGrid>
                <a:gridCol w="1357900">
                  <a:extLst>
                    <a:ext uri="{9D8B030D-6E8A-4147-A177-3AD203B41FA5}">
                      <a16:colId xmlns:a16="http://schemas.microsoft.com/office/drawing/2014/main" val="20000"/>
                    </a:ext>
                  </a:extLst>
                </a:gridCol>
                <a:gridCol w="615400">
                  <a:extLst>
                    <a:ext uri="{9D8B030D-6E8A-4147-A177-3AD203B41FA5}">
                      <a16:colId xmlns:a16="http://schemas.microsoft.com/office/drawing/2014/main" val="20001"/>
                    </a:ext>
                  </a:extLst>
                </a:gridCol>
                <a:gridCol w="1893550">
                  <a:extLst>
                    <a:ext uri="{9D8B030D-6E8A-4147-A177-3AD203B41FA5}">
                      <a16:colId xmlns:a16="http://schemas.microsoft.com/office/drawing/2014/main" val="20002"/>
                    </a:ext>
                  </a:extLst>
                </a:gridCol>
                <a:gridCol w="1384525">
                  <a:extLst>
                    <a:ext uri="{9D8B030D-6E8A-4147-A177-3AD203B41FA5}">
                      <a16:colId xmlns:a16="http://schemas.microsoft.com/office/drawing/2014/main" val="20003"/>
                    </a:ext>
                  </a:extLst>
                </a:gridCol>
                <a:gridCol w="1412450">
                  <a:extLst>
                    <a:ext uri="{9D8B030D-6E8A-4147-A177-3AD203B41FA5}">
                      <a16:colId xmlns:a16="http://schemas.microsoft.com/office/drawing/2014/main" val="20004"/>
                    </a:ext>
                  </a:extLst>
                </a:gridCol>
                <a:gridCol w="1469900">
                  <a:extLst>
                    <a:ext uri="{9D8B030D-6E8A-4147-A177-3AD203B41FA5}">
                      <a16:colId xmlns:a16="http://schemas.microsoft.com/office/drawing/2014/main" val="20005"/>
                    </a:ext>
                  </a:extLst>
                </a:gridCol>
              </a:tblGrid>
              <a:tr h="9059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Author(s)</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Year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Title of the Paper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Algorithm/</a:t>
                      </a:r>
                      <a:endParaRPr sz="1400" u="none" strike="noStrike" cap="none"/>
                    </a:p>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Technology used</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Result</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Drawbacks/</a:t>
                      </a:r>
                      <a:endParaRPr sz="1800"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Issues</a:t>
                      </a:r>
                      <a:endParaRPr sz="1400" u="none" strike="noStrike" cap="none"/>
                    </a:p>
                  </a:txBody>
                  <a:tcPr marL="91450" marR="91450" marT="45725" marB="45725"/>
                </a:tc>
                <a:extLst>
                  <a:ext uri="{0D108BD9-81ED-4DB2-BD59-A6C34878D82A}">
                    <a16:rowId xmlns:a16="http://schemas.microsoft.com/office/drawing/2014/main" val="10000"/>
                  </a:ext>
                </a:extLst>
              </a:tr>
              <a:tr h="109587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C. S. Erasmus, D. Drew &amp; M. J. Booysen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2026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A Low-Cost Wireless Dendrometer and Digital Twin for Precision Forestry Applications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IoT + LoRaWAN + Digital Twin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Low-cost, scalable system enabling continuous monitoring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No wood-quality assessment; no harvest optimisation; limited data fusion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1"/>
                  </a:ext>
                </a:extLst>
              </a:tr>
              <a:tr h="1311100">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N. Perry et al. </a:t>
                      </a:r>
                      <a:endParaRPr sz="1200">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2026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Towards Precision Forestry: A Systematic Review of Optimisation Methods for Individual-Tree Decisions in Forest Management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Heuristics, Mathematical Programming &amp; Machine Learning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Supports optimal forest-management decisions across different objectives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Limited real-world implementation; disturbance risks not fully integrated; limited multi-scale planning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2"/>
                  </a:ext>
                </a:extLst>
              </a:tr>
              <a:tr h="13065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E. Z. Başkent, A. Bončina &amp; J. G. Borges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2026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A Review and Conceptual Framework for a New Era of Forest Management Planning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Digital Twin, Monitoring, Simulation &amp; Forecasting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Supports adaptive forest planning and integrates monitoring with forecasting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Limited ML implementation; no harvesting optimisation; no wood-quality assessment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3"/>
                  </a:ext>
                </a:extLst>
              </a:tr>
              <a:tr h="1325925">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J. Tan, H. Zhang, J. Yang, Y. Liu, D. Zheng &amp; X. Liu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2025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ForestryBERT: Continual Learning Adapted to Forestry Text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BERT + NLP + Continual Learning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Provides domain-specific forestry knowledge management and adapts to continuously growing forestry text data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Catastrophic forgetting; limited application to wood-quality assessment; no defect-detection component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9"/>
          <p:cNvSpPr/>
          <p:nvPr/>
        </p:nvSpPr>
        <p:spPr>
          <a:xfrm>
            <a:off x="386806" y="319177"/>
            <a:ext cx="7282762" cy="599755"/>
          </a:xfrm>
          <a:prstGeom prst="rect">
            <a:avLst/>
          </a:prstGeom>
          <a:noFill/>
          <a:ln>
            <a:noFill/>
          </a:ln>
        </p:spPr>
        <p:txBody>
          <a:bodyPr spcFirstLastPara="1" wrap="square" lIns="91425" tIns="45700" rIns="91425" bIns="45700" anchor="t" anchorCtr="0">
            <a:noAutofit/>
          </a:bodyPr>
          <a:lstStyle/>
          <a:p>
            <a:pPr marL="457200" marR="0" lvl="1" indent="-457200" algn="l" rtl="0">
              <a:lnSpc>
                <a:spcPct val="150000"/>
              </a:lnSpc>
              <a:spcBef>
                <a:spcPts val="0"/>
              </a:spcBef>
              <a:spcAft>
                <a:spcPts val="0"/>
              </a:spcAft>
              <a:buClr>
                <a:srgbClr val="000000"/>
              </a:buClr>
              <a:buSzPts val="2800"/>
              <a:buFont typeface="Arial"/>
              <a:buNone/>
            </a:pPr>
            <a:r>
              <a:rPr lang="en-US" sz="2800" b="1" i="0" u="none" strike="noStrike" cap="none" dirty="0">
                <a:solidFill>
                  <a:srgbClr val="41534B"/>
                </a:solidFill>
                <a:latin typeface="Times New Roman"/>
                <a:ea typeface="Times New Roman"/>
                <a:cs typeface="Times New Roman"/>
                <a:sym typeface="Times New Roman"/>
              </a:rPr>
              <a:t>PROBLEM STATEMENT</a:t>
            </a:r>
            <a:endParaRPr sz="1400" b="0" i="0" u="none" strike="noStrike" cap="none" dirty="0">
              <a:solidFill>
                <a:srgbClr val="000000"/>
              </a:solidFill>
              <a:latin typeface="Arial"/>
              <a:ea typeface="Arial"/>
              <a:cs typeface="Arial"/>
              <a:sym typeface="Arial"/>
            </a:endParaRPr>
          </a:p>
        </p:txBody>
      </p:sp>
      <p:sp>
        <p:nvSpPr>
          <p:cNvPr id="170" name="Google Shape;170;p1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7</a:t>
            </a:fld>
            <a:endParaRPr/>
          </a:p>
        </p:txBody>
      </p:sp>
      <p:pic>
        <p:nvPicPr>
          <p:cNvPr id="171" name="Google Shape;171;p19"/>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72" name="Google Shape;172;p19"/>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73" name="Google Shape;173;p19"/>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74" name="Google Shape;174;p19"/>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75" name="Google Shape;175;p1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76" name="Google Shape;176;p19"/>
          <p:cNvSpPr txBox="1"/>
          <p:nvPr/>
        </p:nvSpPr>
        <p:spPr>
          <a:xfrm>
            <a:off x="386806" y="1226714"/>
            <a:ext cx="7543800" cy="2385228"/>
          </a:xfrm>
          <a:prstGeom prst="rect">
            <a:avLst/>
          </a:prstGeom>
          <a:noFill/>
          <a:ln>
            <a:noFill/>
          </a:ln>
        </p:spPr>
        <p:txBody>
          <a:bodyPr spcFirstLastPara="1" wrap="square" lIns="91425" tIns="45700" rIns="91425" bIns="45700" anchor="t" anchorCtr="0">
            <a:spAutoFit/>
          </a:bodyPr>
          <a:lstStyle/>
          <a:p>
            <a:pPr lvl="0" algn="just">
              <a:lnSpc>
                <a:spcPct val="150000"/>
              </a:lnSpc>
              <a:spcBef>
                <a:spcPts val="600"/>
              </a:spcBef>
            </a:pPr>
            <a:r>
              <a:rPr lang="en-IN" sz="1600" dirty="0">
                <a:latin typeface="Times New Roman" panose="02020603050405020304" pitchFamily="18" charset="0"/>
                <a:cs typeface="Times New Roman" panose="02020603050405020304" pitchFamily="18" charset="0"/>
              </a:rPr>
              <a:t>Manual wood quality inspection is time-consuming and subjective, and existing AI approaches mostly stop at detecting defects without a leakage-free evaluation or a path to usable-area estimation; this project therefore aims to develop an AI-based computer-vision system that detects, classifies and localises visible surface defects on wooden boards, evaluates the detector on boards it has never seen, and uses the detections to estimate the recoverable portion of each board.</a:t>
            </a:r>
            <a:endParaRPr lang="en-US" sz="16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0"/>
          <p:cNvSpPr/>
          <p:nvPr/>
        </p:nvSpPr>
        <p:spPr>
          <a:xfrm>
            <a:off x="379768" y="230811"/>
            <a:ext cx="8625745" cy="795963"/>
          </a:xfrm>
          <a:prstGeom prst="rect">
            <a:avLst/>
          </a:prstGeom>
          <a:noFill/>
          <a:ln>
            <a:noFill/>
          </a:ln>
        </p:spPr>
        <p:txBody>
          <a:bodyPr spcFirstLastPara="1" wrap="square" lIns="91425" tIns="45700" rIns="91425" bIns="45700" anchor="ctr" anchorCtr="0">
            <a:noAutofit/>
          </a:bodyPr>
          <a:lstStyle/>
          <a:p>
            <a:pPr marL="457200" marR="0" lvl="1" indent="-457200" algn="l" rtl="0">
              <a:lnSpc>
                <a:spcPct val="150000"/>
              </a:lnSpc>
              <a:spcBef>
                <a:spcPts val="0"/>
              </a:spcBef>
              <a:spcAft>
                <a:spcPts val="0"/>
              </a:spcAft>
              <a:buClr>
                <a:srgbClr val="000000"/>
              </a:buClr>
              <a:buSzPts val="2200"/>
              <a:buFont typeface="Arial"/>
              <a:buNone/>
            </a:pPr>
            <a:r>
              <a:rPr lang="en-US" sz="2600" b="1" i="0" u="none" strike="noStrike" cap="none" dirty="0">
                <a:solidFill>
                  <a:srgbClr val="41534B"/>
                </a:solidFill>
                <a:latin typeface="Times New Roman"/>
                <a:ea typeface="Times New Roman"/>
                <a:cs typeface="Times New Roman"/>
                <a:sym typeface="Times New Roman"/>
              </a:rPr>
              <a:t>OBJECTIVES AND FINAL STATUS</a:t>
            </a:r>
            <a:endParaRPr sz="2600" b="0" i="0" u="none" strike="noStrike" cap="none" dirty="0">
              <a:solidFill>
                <a:srgbClr val="000000"/>
              </a:solidFill>
              <a:latin typeface="Arial"/>
              <a:ea typeface="Arial"/>
              <a:cs typeface="Arial"/>
              <a:sym typeface="Arial"/>
            </a:endParaRPr>
          </a:p>
        </p:txBody>
      </p:sp>
      <p:sp>
        <p:nvSpPr>
          <p:cNvPr id="182" name="Google Shape;182;p20"/>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8</a:t>
            </a:fld>
            <a:endParaRPr/>
          </a:p>
        </p:txBody>
      </p:sp>
      <p:pic>
        <p:nvPicPr>
          <p:cNvPr id="183" name="Google Shape;183;p20"/>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84" name="Google Shape;184;p20"/>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85" name="Google Shape;185;p20"/>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86" name="Google Shape;186;p20"/>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87" name="Google Shape;187;p20"/>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88" name="Google Shape;188;p20"/>
          <p:cNvSpPr txBox="1"/>
          <p:nvPr/>
        </p:nvSpPr>
        <p:spPr>
          <a:xfrm>
            <a:off x="190245" y="1139554"/>
            <a:ext cx="7887000" cy="3901028"/>
          </a:xfrm>
          <a:prstGeom prst="rect">
            <a:avLst/>
          </a:prstGeom>
          <a:noFill/>
          <a:ln>
            <a:noFill/>
          </a:ln>
        </p:spPr>
        <p:txBody>
          <a:bodyPr spcFirstLastPara="1" wrap="square" lIns="91425" tIns="45700" rIns="91425" bIns="45700" anchor="t" anchorCtr="0">
            <a:spAutoFit/>
          </a:bodyPr>
          <a:lstStyle/>
          <a:p>
            <a:pPr marL="457200" lvl="0" indent="-330200">
              <a:lnSpc>
                <a:spcPct val="150000"/>
              </a:lnSpc>
              <a:buSzPts val="1500"/>
              <a:buFont typeface="Times New Roman"/>
              <a:buChar char="●"/>
            </a:pPr>
            <a:r>
              <a:rPr lang="en-US" sz="1500" b="1" dirty="0">
                <a:latin typeface="Times New Roman"/>
                <a:ea typeface="Times New Roman"/>
                <a:cs typeface="Times New Roman"/>
                <a:sym typeface="Times New Roman"/>
              </a:rPr>
              <a:t>Objective 1 (achieved): </a:t>
            </a:r>
            <a:r>
              <a:rPr lang="en-US" sz="1500" dirty="0">
                <a:latin typeface="Times New Roman"/>
                <a:ea typeface="Times New Roman"/>
                <a:cs typeface="Times New Roman"/>
                <a:sym typeface="Times New Roman"/>
              </a:rPr>
              <a:t>Annotated dataset of 4,000 line-scan images, 8 classes, 9,053 boxes, split by physical board with zero overlap, expanded to 20,276 images from 407 boards. Higher-resolution input (1280 px), CLAHE / denoising and copy-paste balancing of rare classes were all implemented and evaluated.</a:t>
            </a:r>
          </a:p>
          <a:p>
            <a:pPr marL="457200" lvl="0" indent="-330200">
              <a:lnSpc>
                <a:spcPct val="150000"/>
              </a:lnSpc>
              <a:buSzPts val="1500"/>
              <a:buFont typeface="Times New Roman"/>
              <a:buChar char="●"/>
            </a:pPr>
            <a:r>
              <a:rPr lang="en-US" sz="1500" b="1" dirty="0">
                <a:latin typeface="Times New Roman"/>
                <a:ea typeface="Times New Roman"/>
                <a:cs typeface="Times New Roman"/>
                <a:sym typeface="Times New Roman"/>
              </a:rPr>
              <a:t>Objective 2 (achieved): </a:t>
            </a:r>
            <a:r>
              <a:rPr lang="en-US" sz="1500" dirty="0">
                <a:latin typeface="Times New Roman"/>
                <a:ea typeface="Times New Roman"/>
                <a:cs typeface="Times New Roman"/>
                <a:sym typeface="Times New Roman"/>
              </a:rPr>
              <a:t>Deep-learning framework for detection and localisation: reproducible preparation, balancing, training and evaluation scripts; 8-class YOLO11m / YOLO11s and 4-class YOLO11s models, each tested once on held-out boards.</a:t>
            </a:r>
          </a:p>
          <a:p>
            <a:pPr marL="457200" lvl="0" indent="-330200">
              <a:lnSpc>
                <a:spcPct val="150000"/>
              </a:lnSpc>
              <a:buSzPts val="1500"/>
              <a:buFont typeface="Times New Roman"/>
              <a:buChar char="●"/>
            </a:pPr>
            <a:r>
              <a:rPr lang="en-US" sz="1500" b="1" dirty="0">
                <a:latin typeface="Times New Roman"/>
                <a:ea typeface="Times New Roman"/>
                <a:cs typeface="Times New Roman"/>
                <a:sym typeface="Times New Roman"/>
              </a:rPr>
              <a:t>Objective 3 (achieved): </a:t>
            </a:r>
            <a:r>
              <a:rPr lang="en-US" sz="1500" dirty="0">
                <a:latin typeface="Times New Roman"/>
                <a:ea typeface="Times New Roman"/>
                <a:cs typeface="Times New Roman"/>
                <a:sym typeface="Times New Roman"/>
              </a:rPr>
              <a:t>Recoverable-area estimation: the guide's Board Recoverability Index gives a damage score, recoverable area and grade per board; validated against annotation-based grades (weighted kappa 0.87); market value estimated from grade.</a:t>
            </a:r>
          </a:p>
          <a:p>
            <a:pPr marL="457200" lvl="0" indent="-330200">
              <a:lnSpc>
                <a:spcPct val="150000"/>
              </a:lnSpc>
              <a:buSzPts val="1500"/>
              <a:buFont typeface="Times New Roman"/>
              <a:buChar char="●"/>
            </a:pPr>
            <a:r>
              <a:rPr lang="en-US" sz="1500" b="1" dirty="0">
                <a:latin typeface="Times New Roman"/>
                <a:ea typeface="Times New Roman"/>
                <a:cs typeface="Times New Roman"/>
                <a:sym typeface="Times New Roman"/>
              </a:rPr>
              <a:t>Objective 4 (achieved): </a:t>
            </a:r>
            <a:r>
              <a:rPr lang="en-US" sz="1500" dirty="0">
                <a:latin typeface="Times New Roman"/>
                <a:ea typeface="Times New Roman"/>
                <a:cs typeface="Times New Roman"/>
                <a:sym typeface="Times New Roman"/>
              </a:rPr>
              <a:t>Comparison with P, R, F1, mAP50, mAP50-95 and inference time at identical settings, plus our mathematical model: class-balancing rule, weighted box fusion, Wise-IoU loss, per-class thresholds and statistical validation.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1"/>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 METHODOLOGY</a:t>
            </a:r>
            <a:endParaRPr sz="1400" b="0" i="0" u="none" strike="noStrike" cap="none" dirty="0">
              <a:solidFill>
                <a:srgbClr val="FF0000"/>
              </a:solidFill>
              <a:sym typeface="Arial"/>
            </a:endParaRPr>
          </a:p>
        </p:txBody>
      </p:sp>
      <p:sp>
        <p:nvSpPr>
          <p:cNvPr id="194" name="Google Shape;194;p2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9</a:t>
            </a:fld>
            <a:endParaRPr/>
          </a:p>
        </p:txBody>
      </p:sp>
      <p:pic>
        <p:nvPicPr>
          <p:cNvPr id="195" name="Google Shape;195;p21"/>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96" name="Google Shape;196;p21"/>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97" name="Google Shape;197;p21"/>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98" name="Google Shape;198;p21"/>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99" name="Google Shape;199;p2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00" name="Google Shape;200;p21"/>
          <p:cNvSpPr txBox="1"/>
          <p:nvPr/>
        </p:nvSpPr>
        <p:spPr>
          <a:xfrm>
            <a:off x="914400" y="6035040"/>
            <a:ext cx="73152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Fig. Methodology as completed for the final review</a:t>
            </a:r>
            <a:endParaRPr sz="1400" b="0" i="0" u="none" strike="noStrike" cap="none">
              <a:solidFill>
                <a:srgbClr val="000000"/>
              </a:solidFill>
              <a:latin typeface="Arial"/>
              <a:ea typeface="Arial"/>
              <a:cs typeface="Arial"/>
              <a:sym typeface="Arial"/>
            </a:endParaRPr>
          </a:p>
        </p:txBody>
      </p:sp>
      <p:pic>
        <p:nvPicPr>
          <p:cNvPr id="201" name="Picture 200" descr="methodology_final.png"/>
          <p:cNvPicPr>
            <a:picLocks noChangeAspect="1"/>
          </p:cNvPicPr>
          <p:nvPr/>
        </p:nvPicPr>
        <p:blipFill>
          <a:blip r:embed="rId8"/>
          <a:stretch>
            <a:fillRect/>
          </a:stretch>
        </p:blipFill>
        <p:spPr>
          <a:xfrm>
            <a:off x="1752248" y="685800"/>
            <a:ext cx="5456624" cy="52577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6"/>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14</a:t>
            </a:fld>
            <a:endParaRPr/>
          </a:p>
        </p:txBody>
      </p:sp>
      <p:sp>
        <p:nvSpPr>
          <p:cNvPr id="255" name="Google Shape;255;p26"/>
          <p:cNvSpPr txBox="1"/>
          <p:nvPr/>
        </p:nvSpPr>
        <p:spPr>
          <a:xfrm>
            <a:off x="914400" y="6035040"/>
            <a:ext cx="73152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Fig. System design as implemented for the final review</a:t>
            </a:r>
            <a:endParaRPr sz="1400" b="0" i="0" u="none" strike="noStrike" cap="none">
              <a:solidFill>
                <a:srgbClr val="000000"/>
              </a:solidFill>
              <a:latin typeface="Arial"/>
              <a:ea typeface="Arial"/>
              <a:cs typeface="Arial"/>
              <a:sym typeface="Arial"/>
            </a:endParaRPr>
          </a:p>
        </p:txBody>
      </p:sp>
      <p:pic>
        <p:nvPicPr>
          <p:cNvPr id="257" name="Google Shape;257;p26"/>
          <p:cNvPicPr preferRelativeResize="0"/>
          <p:nvPr/>
        </p:nvPicPr>
        <p:blipFill rotWithShape="1">
          <a:blip r:embed="rId3">
            <a:alphaModFix/>
          </a:blip>
          <a:srcRect/>
          <a:stretch/>
        </p:blipFill>
        <p:spPr>
          <a:xfrm>
            <a:off x="8450861" y="6157980"/>
            <a:ext cx="680353" cy="703613"/>
          </a:xfrm>
          <a:prstGeom prst="rect">
            <a:avLst/>
          </a:prstGeom>
          <a:noFill/>
          <a:ln>
            <a:noFill/>
          </a:ln>
        </p:spPr>
      </p:pic>
      <p:sp>
        <p:nvSpPr>
          <p:cNvPr id="258" name="Google Shape;258;p26"/>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59" name="Google Shape;259;p26"/>
          <p:cNvPicPr preferRelativeResize="0"/>
          <p:nvPr/>
        </p:nvPicPr>
        <p:blipFill rotWithShape="1">
          <a:blip r:embed="rId4">
            <a:alphaModFix/>
          </a:blip>
          <a:srcRect/>
          <a:stretch/>
        </p:blipFill>
        <p:spPr>
          <a:xfrm>
            <a:off x="8450861" y="1377538"/>
            <a:ext cx="677790" cy="1129400"/>
          </a:xfrm>
          <a:prstGeom prst="rect">
            <a:avLst/>
          </a:prstGeom>
          <a:noFill/>
          <a:ln>
            <a:noFill/>
          </a:ln>
        </p:spPr>
      </p:pic>
      <p:pic>
        <p:nvPicPr>
          <p:cNvPr id="260" name="Google Shape;260;p26"/>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61" name="Google Shape;261;p26"/>
          <p:cNvPicPr preferRelativeResize="0"/>
          <p:nvPr/>
        </p:nvPicPr>
        <p:blipFill rotWithShape="1">
          <a:blip r:embed="rId6">
            <a:alphaModFix/>
          </a:blip>
          <a:srcRect/>
          <a:stretch/>
        </p:blipFill>
        <p:spPr>
          <a:xfrm>
            <a:off x="8450860" y="2542563"/>
            <a:ext cx="693139" cy="1233357"/>
          </a:xfrm>
          <a:prstGeom prst="rect">
            <a:avLst/>
          </a:prstGeom>
          <a:noFill/>
          <a:ln>
            <a:noFill/>
          </a:ln>
        </p:spPr>
      </p:pic>
      <p:pic>
        <p:nvPicPr>
          <p:cNvPr id="262" name="Picture 261" descr="system_design_final.png"/>
          <p:cNvPicPr>
            <a:picLocks noChangeAspect="1"/>
          </p:cNvPicPr>
          <p:nvPr/>
        </p:nvPicPr>
        <p:blipFill>
          <a:blip r:embed="rId8"/>
          <a:stretch>
            <a:fillRect/>
          </a:stretch>
        </p:blipFill>
        <p:spPr>
          <a:xfrm>
            <a:off x="1088654" y="320040"/>
            <a:ext cx="6418052" cy="56692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8"/>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PLAN OF ACTION: COMPLETED</a:t>
            </a:r>
            <a:endParaRPr sz="1400" b="0" i="0" u="none" strike="noStrike" cap="none">
              <a:solidFill>
                <a:srgbClr val="000000"/>
              </a:solidFill>
              <a:latin typeface="Arial"/>
              <a:ea typeface="Arial"/>
              <a:cs typeface="Arial"/>
              <a:sym typeface="Arial"/>
            </a:endParaRPr>
          </a:p>
        </p:txBody>
      </p:sp>
      <p:sp>
        <p:nvSpPr>
          <p:cNvPr id="279" name="Google Shape;279;p28"/>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16</a:t>
            </a:fld>
            <a:endParaRPr/>
          </a:p>
        </p:txBody>
      </p:sp>
      <p:pic>
        <p:nvPicPr>
          <p:cNvPr id="280" name="Google Shape;280;p28"/>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81" name="Google Shape;281;p28"/>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82" name="Google Shape;282;p28"/>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83" name="Google Shape;283;p28"/>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84" name="Google Shape;284;p28"/>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85" name="Google Shape;285;p28"/>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287" name="TextBox 286"/>
          <p:cNvSpPr txBox="1"/>
          <p:nvPr/>
        </p:nvSpPr>
        <p:spPr>
          <a:xfrm>
            <a:off x="320040" y="5532120"/>
            <a:ext cx="7955279" cy="822960"/>
          </a:xfrm>
          <a:prstGeom prst="rect">
            <a:avLst/>
          </a:prstGeom>
          <a:noFill/>
        </p:spPr>
        <p:txBody>
          <a:bodyPr wrap="square">
            <a:spAutoFit/>
          </a:bodyPr>
          <a:lstStyle/>
          <a:p>
            <a:pPr marL="0" lvl="0" indent="0" algn="l">
              <a:lnSpc>
                <a:spcPct val="110000"/>
              </a:lnSpc>
              <a:spcBef>
                <a:spcPts val="400"/>
              </a:spcBef>
              <a:spcAft>
                <a:spcPts val="0"/>
              </a:spcAft>
              <a:buNone/>
            </a:pPr>
            <a:r>
              <a:rPr lang="en-US" sz="1200">
                <a:latin typeface="Times New Roman"/>
                <a:ea typeface="Times New Roman"/>
                <a:cs typeface="Times New Roman"/>
                <a:sym typeface="Times New Roman"/>
              </a:rPr>
              <a:t>All planned work is complete: dataset and preprocessing, defect detection, the mathematical model and accuracy experiments, recoverability estimation and market value, evaluation, application and report.</a:t>
            </a:r>
          </a:p>
        </p:txBody>
      </p:sp>
      <p:pic>
        <p:nvPicPr>
          <p:cNvPr id="288" name="Picture 287" descr="plan_of_action_final.png"/>
          <p:cNvPicPr>
            <a:picLocks noChangeAspect="1"/>
          </p:cNvPicPr>
          <p:nvPr/>
        </p:nvPicPr>
        <p:blipFill>
          <a:blip r:embed="rId8"/>
          <a:stretch>
            <a:fillRect/>
          </a:stretch>
        </p:blipFill>
        <p:spPr>
          <a:xfrm>
            <a:off x="182880" y="1588883"/>
            <a:ext cx="7955279" cy="267439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RESULTS: 50% REVIEW vs FINAL</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777240"/>
          <a:ext cx="7955280" cy="960120"/>
        </p:xfrm>
        <a:graphic>
          <a:graphicData uri="http://schemas.openxmlformats.org/drawingml/2006/table">
            <a:tbl>
              <a:tblPr firstRow="1" bandRow="1">
                <a:tableStyleId>{5C22544A-7EE6-4342-B048-85BDC9FD1C3A}</a:tableStyleId>
              </a:tblPr>
              <a:tblGrid>
                <a:gridCol w="2553546">
                  <a:extLst>
                    <a:ext uri="{9D8B030D-6E8A-4147-A177-3AD203B41FA5}">
                      <a16:colId xmlns:a16="http://schemas.microsoft.com/office/drawing/2014/main" val="20000"/>
                    </a:ext>
                  </a:extLst>
                </a:gridCol>
                <a:gridCol w="589280">
                  <a:extLst>
                    <a:ext uri="{9D8B030D-6E8A-4147-A177-3AD203B41FA5}">
                      <a16:colId xmlns:a16="http://schemas.microsoft.com/office/drawing/2014/main" val="20001"/>
                    </a:ext>
                  </a:extLst>
                </a:gridCol>
                <a:gridCol w="589280">
                  <a:extLst>
                    <a:ext uri="{9D8B030D-6E8A-4147-A177-3AD203B41FA5}">
                      <a16:colId xmlns:a16="http://schemas.microsoft.com/office/drawing/2014/main" val="20002"/>
                    </a:ext>
                  </a:extLst>
                </a:gridCol>
                <a:gridCol w="589280">
                  <a:extLst>
                    <a:ext uri="{9D8B030D-6E8A-4147-A177-3AD203B41FA5}">
                      <a16:colId xmlns:a16="http://schemas.microsoft.com/office/drawing/2014/main" val="20003"/>
                    </a:ext>
                  </a:extLst>
                </a:gridCol>
                <a:gridCol w="589280">
                  <a:extLst>
                    <a:ext uri="{9D8B030D-6E8A-4147-A177-3AD203B41FA5}">
                      <a16:colId xmlns:a16="http://schemas.microsoft.com/office/drawing/2014/main" val="20004"/>
                    </a:ext>
                  </a:extLst>
                </a:gridCol>
                <a:gridCol w="687493">
                  <a:extLst>
                    <a:ext uri="{9D8B030D-6E8A-4147-A177-3AD203B41FA5}">
                      <a16:colId xmlns:a16="http://schemas.microsoft.com/office/drawing/2014/main" val="20005"/>
                    </a:ext>
                  </a:extLst>
                </a:gridCol>
                <a:gridCol w="785706">
                  <a:extLst>
                    <a:ext uri="{9D8B030D-6E8A-4147-A177-3AD203B41FA5}">
                      <a16:colId xmlns:a16="http://schemas.microsoft.com/office/drawing/2014/main" val="20006"/>
                    </a:ext>
                  </a:extLst>
                </a:gridCol>
                <a:gridCol w="883920">
                  <a:extLst>
                    <a:ext uri="{9D8B030D-6E8A-4147-A177-3AD203B41FA5}">
                      <a16:colId xmlns:a16="http://schemas.microsoft.com/office/drawing/2014/main" val="20007"/>
                    </a:ext>
                  </a:extLst>
                </a:gridCol>
                <a:gridCol w="687493">
                  <a:extLst>
                    <a:ext uri="{9D8B030D-6E8A-4147-A177-3AD203B41FA5}">
                      <a16:colId xmlns:a16="http://schemas.microsoft.com/office/drawing/2014/main" val="20008"/>
                    </a:ext>
                  </a:extLst>
                </a:gridCol>
              </a:tblGrid>
              <a:tr h="219456">
                <a:tc>
                  <a:txBody>
                    <a:bodyPr/>
                    <a:lstStyle/>
                    <a:p>
                      <a:pPr algn="l"/>
                      <a:r>
                        <a:rPr sz="850" b="1" dirty="0">
                          <a:solidFill>
                            <a:srgbClr val="FFFFFF"/>
                          </a:solidFill>
                          <a:latin typeface="Times New Roman"/>
                        </a:rPr>
                        <a:t>Model</a:t>
                      </a:r>
                    </a:p>
                  </a:txBody>
                  <a:tcPr marL="36576" marR="36576" marT="18288" marB="18288">
                    <a:solidFill>
                      <a:srgbClr val="41534B"/>
                    </a:solidFill>
                  </a:tcPr>
                </a:tc>
                <a:tc>
                  <a:txBody>
                    <a:bodyPr/>
                    <a:lstStyle/>
                    <a:p>
                      <a:pPr algn="ctr"/>
                      <a:r>
                        <a:rPr sz="850" b="1">
                          <a:solidFill>
                            <a:srgbClr val="FFFFFF"/>
                          </a:solidFill>
                          <a:latin typeface="Times New Roman"/>
                        </a:rPr>
                        <a:t>Classes</a:t>
                      </a:r>
                    </a:p>
                  </a:txBody>
                  <a:tcPr marL="36576" marR="36576" marT="18288" marB="18288">
                    <a:solidFill>
                      <a:srgbClr val="41534B"/>
                    </a:solidFill>
                  </a:tcPr>
                </a:tc>
                <a:tc>
                  <a:txBody>
                    <a:bodyPr/>
                    <a:lstStyle/>
                    <a:p>
                      <a:pPr algn="ctr"/>
                      <a:r>
                        <a:rPr sz="850" b="1">
                          <a:solidFill>
                            <a:srgbClr val="FFFFFF"/>
                          </a:solidFill>
                          <a:latin typeface="Times New Roman"/>
                        </a:rPr>
                        <a:t>P</a:t>
                      </a:r>
                    </a:p>
                  </a:txBody>
                  <a:tcPr marL="36576" marR="36576" marT="18288" marB="18288">
                    <a:solidFill>
                      <a:srgbClr val="41534B"/>
                    </a:solidFill>
                  </a:tcPr>
                </a:tc>
                <a:tc>
                  <a:txBody>
                    <a:bodyPr/>
                    <a:lstStyle/>
                    <a:p>
                      <a:pPr algn="ctr"/>
                      <a:r>
                        <a:rPr sz="850" b="1">
                          <a:solidFill>
                            <a:srgbClr val="FFFFFF"/>
                          </a:solidFill>
                          <a:latin typeface="Times New Roman"/>
                        </a:rPr>
                        <a:t>R</a:t>
                      </a:r>
                    </a:p>
                  </a:txBody>
                  <a:tcPr marL="36576" marR="36576" marT="18288" marB="18288">
                    <a:solidFill>
                      <a:srgbClr val="41534B"/>
                    </a:solidFill>
                  </a:tcPr>
                </a:tc>
                <a:tc>
                  <a:txBody>
                    <a:bodyPr/>
                    <a:lstStyle/>
                    <a:p>
                      <a:pPr algn="ctr"/>
                      <a:r>
                        <a:rPr sz="850" b="1">
                          <a:solidFill>
                            <a:srgbClr val="FFFFFF"/>
                          </a:solidFill>
                          <a:latin typeface="Times New Roman"/>
                        </a:rPr>
                        <a:t>F1</a:t>
                      </a:r>
                    </a:p>
                  </a:txBody>
                  <a:tcPr marL="36576" marR="36576" marT="18288" marB="18288">
                    <a:solidFill>
                      <a:srgbClr val="41534B"/>
                    </a:solidFill>
                  </a:tcPr>
                </a:tc>
                <a:tc>
                  <a:txBody>
                    <a:bodyPr/>
                    <a:lstStyle/>
                    <a:p>
                      <a:pPr algn="ctr"/>
                      <a:r>
                        <a:rPr sz="850" b="1">
                          <a:solidFill>
                            <a:srgbClr val="FFFFFF"/>
                          </a:solidFill>
                          <a:latin typeface="Times New Roman"/>
                        </a:rPr>
                        <a:t>mAP50</a:t>
                      </a:r>
                    </a:p>
                  </a:txBody>
                  <a:tcPr marL="36576" marR="36576" marT="18288" marB="18288">
                    <a:solidFill>
                      <a:srgbClr val="41534B"/>
                    </a:solidFill>
                  </a:tcPr>
                </a:tc>
                <a:tc>
                  <a:txBody>
                    <a:bodyPr/>
                    <a:lstStyle/>
                    <a:p>
                      <a:pPr algn="ctr"/>
                      <a:r>
                        <a:rPr sz="850" b="1">
                          <a:solidFill>
                            <a:srgbClr val="FFFFFF"/>
                          </a:solidFill>
                          <a:latin typeface="Times New Roman"/>
                        </a:rPr>
                        <a:t>mAP50-95</a:t>
                      </a:r>
                    </a:p>
                  </a:txBody>
                  <a:tcPr marL="36576" marR="36576" marT="18288" marB="18288">
                    <a:solidFill>
                      <a:srgbClr val="41534B"/>
                    </a:solidFill>
                  </a:tcPr>
                </a:tc>
                <a:tc>
                  <a:txBody>
                    <a:bodyPr/>
                    <a:lstStyle/>
                    <a:p>
                      <a:pPr algn="ctr"/>
                      <a:r>
                        <a:rPr sz="850" b="1">
                          <a:solidFill>
                            <a:srgbClr val="FFFFFF"/>
                          </a:solidFill>
                          <a:latin typeface="Times New Roman"/>
                        </a:rPr>
                        <a:t>ms / img (T4)</a:t>
                      </a:r>
                    </a:p>
                  </a:txBody>
                  <a:tcPr marL="36576" marR="36576" marT="18288" marB="18288">
                    <a:solidFill>
                      <a:srgbClr val="41534B"/>
                    </a:solidFill>
                  </a:tcPr>
                </a:tc>
                <a:tc>
                  <a:txBody>
                    <a:bodyPr/>
                    <a:lstStyle/>
                    <a:p>
                      <a:pPr algn="ctr"/>
                      <a:r>
                        <a:rPr sz="850" b="1">
                          <a:solidFill>
                            <a:srgbClr val="FFFFFF"/>
                          </a:solidFill>
                          <a:latin typeface="Times New Roman"/>
                        </a:rPr>
                        <a:t>Params</a:t>
                      </a:r>
                    </a:p>
                  </a:txBody>
                  <a:tcPr marL="36576" marR="36576" marT="18288" marB="18288">
                    <a:solidFill>
                      <a:srgbClr val="41534B"/>
                    </a:solidFill>
                  </a:tcPr>
                </a:tc>
                <a:extLst>
                  <a:ext uri="{0D108BD9-81ED-4DB2-BD59-A6C34878D82A}">
                    <a16:rowId xmlns:a16="http://schemas.microsoft.com/office/drawing/2014/main" val="10000"/>
                  </a:ext>
                </a:extLst>
              </a:tr>
              <a:tr h="219456">
                <a:tc>
                  <a:txBody>
                    <a:bodyPr/>
                    <a:lstStyle/>
                    <a:p>
                      <a:pPr algn="l"/>
                      <a:r>
                        <a:rPr sz="850" b="0" dirty="0">
                          <a:latin typeface="Times New Roman"/>
                        </a:rPr>
                        <a:t>50% review: YOLO11m</a:t>
                      </a:r>
                    </a:p>
                  </a:txBody>
                  <a:tcPr marL="36576" marR="36576" marT="18288" marB="18288">
                    <a:solidFill>
                      <a:srgbClr val="F7F3EC"/>
                    </a:solidFill>
                  </a:tcPr>
                </a:tc>
                <a:tc>
                  <a:txBody>
                    <a:bodyPr/>
                    <a:lstStyle/>
                    <a:p>
                      <a:pPr algn="ctr"/>
                      <a:r>
                        <a:rPr sz="850" b="0">
                          <a:latin typeface="Times New Roman"/>
                        </a:rPr>
                        <a:t>8</a:t>
                      </a:r>
                    </a:p>
                  </a:txBody>
                  <a:tcPr marL="36576" marR="36576" marT="18288" marB="18288">
                    <a:solidFill>
                      <a:srgbClr val="F7F3EC"/>
                    </a:solidFill>
                  </a:tcPr>
                </a:tc>
                <a:tc>
                  <a:txBody>
                    <a:bodyPr/>
                    <a:lstStyle/>
                    <a:p>
                      <a:pPr algn="ctr"/>
                      <a:r>
                        <a:rPr sz="850" b="0">
                          <a:latin typeface="Times New Roman"/>
                        </a:rPr>
                        <a:t>63.4</a:t>
                      </a:r>
                    </a:p>
                  </a:txBody>
                  <a:tcPr marL="36576" marR="36576" marT="18288" marB="18288">
                    <a:solidFill>
                      <a:srgbClr val="F7F3EC"/>
                    </a:solidFill>
                  </a:tcPr>
                </a:tc>
                <a:tc>
                  <a:txBody>
                    <a:bodyPr/>
                    <a:lstStyle/>
                    <a:p>
                      <a:pPr algn="ctr"/>
                      <a:r>
                        <a:rPr sz="850" b="0">
                          <a:latin typeface="Times New Roman"/>
                        </a:rPr>
                        <a:t>66.2</a:t>
                      </a:r>
                    </a:p>
                  </a:txBody>
                  <a:tcPr marL="36576" marR="36576" marT="18288" marB="18288">
                    <a:solidFill>
                      <a:srgbClr val="F7F3EC"/>
                    </a:solidFill>
                  </a:tcPr>
                </a:tc>
                <a:tc>
                  <a:txBody>
                    <a:bodyPr/>
                    <a:lstStyle/>
                    <a:p>
                      <a:pPr algn="ctr"/>
                      <a:r>
                        <a:rPr sz="850" b="0">
                          <a:latin typeface="Times New Roman"/>
                        </a:rPr>
                        <a:t>64.7</a:t>
                      </a:r>
                    </a:p>
                  </a:txBody>
                  <a:tcPr marL="36576" marR="36576" marT="18288" marB="18288">
                    <a:solidFill>
                      <a:srgbClr val="F7F3EC"/>
                    </a:solidFill>
                  </a:tcPr>
                </a:tc>
                <a:tc>
                  <a:txBody>
                    <a:bodyPr/>
                    <a:lstStyle/>
                    <a:p>
                      <a:pPr algn="ctr"/>
                      <a:r>
                        <a:rPr sz="850" b="0">
                          <a:latin typeface="Times New Roman"/>
                        </a:rPr>
                        <a:t>63.0</a:t>
                      </a:r>
                    </a:p>
                  </a:txBody>
                  <a:tcPr marL="36576" marR="36576" marT="18288" marB="18288">
                    <a:solidFill>
                      <a:srgbClr val="F7F3EC"/>
                    </a:solidFill>
                  </a:tcPr>
                </a:tc>
                <a:tc>
                  <a:txBody>
                    <a:bodyPr/>
                    <a:lstStyle/>
                    <a:p>
                      <a:pPr algn="ctr"/>
                      <a:r>
                        <a:rPr sz="850" b="0">
                          <a:latin typeface="Times New Roman"/>
                        </a:rPr>
                        <a:t>34.0</a:t>
                      </a:r>
                    </a:p>
                  </a:txBody>
                  <a:tcPr marL="36576" marR="36576" marT="18288" marB="18288">
                    <a:solidFill>
                      <a:srgbClr val="F7F3EC"/>
                    </a:solidFill>
                  </a:tcPr>
                </a:tc>
                <a:tc>
                  <a:txBody>
                    <a:bodyPr/>
                    <a:lstStyle/>
                    <a:p>
                      <a:pPr algn="ctr"/>
                      <a:r>
                        <a:rPr sz="850" b="0">
                          <a:latin typeface="Times New Roman"/>
                        </a:rPr>
                        <a:t>33.2</a:t>
                      </a:r>
                    </a:p>
                  </a:txBody>
                  <a:tcPr marL="36576" marR="36576" marT="18288" marB="18288">
                    <a:solidFill>
                      <a:srgbClr val="F7F3EC"/>
                    </a:solidFill>
                  </a:tcPr>
                </a:tc>
                <a:tc>
                  <a:txBody>
                    <a:bodyPr/>
                    <a:lstStyle/>
                    <a:p>
                      <a:pPr algn="ctr"/>
                      <a:r>
                        <a:rPr sz="850" b="0">
                          <a:latin typeface="Times New Roman"/>
                        </a:rPr>
                        <a:t>20.0 M</a:t>
                      </a:r>
                    </a:p>
                  </a:txBody>
                  <a:tcPr marL="36576" marR="36576" marT="18288" marB="18288">
                    <a:solidFill>
                      <a:srgbClr val="F7F3EC"/>
                    </a:solidFill>
                  </a:tcPr>
                </a:tc>
                <a:extLst>
                  <a:ext uri="{0D108BD9-81ED-4DB2-BD59-A6C34878D82A}">
                    <a16:rowId xmlns:a16="http://schemas.microsoft.com/office/drawing/2014/main" val="10001"/>
                  </a:ext>
                </a:extLst>
              </a:tr>
              <a:tr h="219456">
                <a:tc>
                  <a:txBody>
                    <a:bodyPr/>
                    <a:lstStyle/>
                    <a:p>
                      <a:pPr algn="l"/>
                      <a:r>
                        <a:rPr sz="850" b="0" dirty="0">
                          <a:latin typeface="Times New Roman"/>
                        </a:rPr>
                        <a:t>50% review: YOLO11s</a:t>
                      </a:r>
                    </a:p>
                  </a:txBody>
                  <a:tcPr marL="36576" marR="36576" marT="18288" marB="18288">
                    <a:solidFill>
                      <a:srgbClr val="FFFFFF"/>
                    </a:solidFill>
                  </a:tcPr>
                </a:tc>
                <a:tc>
                  <a:txBody>
                    <a:bodyPr/>
                    <a:lstStyle/>
                    <a:p>
                      <a:pPr algn="ctr"/>
                      <a:r>
                        <a:rPr sz="850" b="0">
                          <a:latin typeface="Times New Roman"/>
                        </a:rPr>
                        <a:t>8</a:t>
                      </a:r>
                    </a:p>
                  </a:txBody>
                  <a:tcPr marL="36576" marR="36576" marT="18288" marB="18288">
                    <a:solidFill>
                      <a:srgbClr val="FFFFFF"/>
                    </a:solidFill>
                  </a:tcPr>
                </a:tc>
                <a:tc>
                  <a:txBody>
                    <a:bodyPr/>
                    <a:lstStyle/>
                    <a:p>
                      <a:pPr algn="ctr"/>
                      <a:r>
                        <a:rPr sz="850" b="0">
                          <a:latin typeface="Times New Roman"/>
                        </a:rPr>
                        <a:t>71.0</a:t>
                      </a:r>
                    </a:p>
                  </a:txBody>
                  <a:tcPr marL="36576" marR="36576" marT="18288" marB="18288">
                    <a:solidFill>
                      <a:srgbClr val="FFFFFF"/>
                    </a:solidFill>
                  </a:tcPr>
                </a:tc>
                <a:tc>
                  <a:txBody>
                    <a:bodyPr/>
                    <a:lstStyle/>
                    <a:p>
                      <a:pPr algn="ctr"/>
                      <a:r>
                        <a:rPr sz="850" b="0">
                          <a:latin typeface="Times New Roman"/>
                        </a:rPr>
                        <a:t>64.1</a:t>
                      </a:r>
                    </a:p>
                  </a:txBody>
                  <a:tcPr marL="36576" marR="36576" marT="18288" marB="18288">
                    <a:solidFill>
                      <a:srgbClr val="FFFFFF"/>
                    </a:solidFill>
                  </a:tcPr>
                </a:tc>
                <a:tc>
                  <a:txBody>
                    <a:bodyPr/>
                    <a:lstStyle/>
                    <a:p>
                      <a:pPr algn="ctr"/>
                      <a:r>
                        <a:rPr sz="850" b="0">
                          <a:latin typeface="Times New Roman"/>
                        </a:rPr>
                        <a:t>67.4</a:t>
                      </a:r>
                    </a:p>
                  </a:txBody>
                  <a:tcPr marL="36576" marR="36576" marT="18288" marB="18288">
                    <a:solidFill>
                      <a:srgbClr val="FFFFFF"/>
                    </a:solidFill>
                  </a:tcPr>
                </a:tc>
                <a:tc>
                  <a:txBody>
                    <a:bodyPr/>
                    <a:lstStyle/>
                    <a:p>
                      <a:pPr algn="ctr"/>
                      <a:r>
                        <a:rPr sz="850" b="0">
                          <a:latin typeface="Times New Roman"/>
                        </a:rPr>
                        <a:t>64.6</a:t>
                      </a:r>
                    </a:p>
                  </a:txBody>
                  <a:tcPr marL="36576" marR="36576" marT="18288" marB="18288">
                    <a:solidFill>
                      <a:srgbClr val="FFFFFF"/>
                    </a:solidFill>
                  </a:tcPr>
                </a:tc>
                <a:tc>
                  <a:txBody>
                    <a:bodyPr/>
                    <a:lstStyle/>
                    <a:p>
                      <a:pPr algn="ctr"/>
                      <a:r>
                        <a:rPr sz="850" b="0">
                          <a:latin typeface="Times New Roman"/>
                        </a:rPr>
                        <a:t>33.4</a:t>
                      </a:r>
                    </a:p>
                  </a:txBody>
                  <a:tcPr marL="36576" marR="36576" marT="18288" marB="18288">
                    <a:solidFill>
                      <a:srgbClr val="FFFFFF"/>
                    </a:solidFill>
                  </a:tcPr>
                </a:tc>
                <a:tc>
                  <a:txBody>
                    <a:bodyPr/>
                    <a:lstStyle/>
                    <a:p>
                      <a:pPr algn="ctr"/>
                      <a:r>
                        <a:rPr sz="850" b="0">
                          <a:latin typeface="Times New Roman"/>
                        </a:rPr>
                        <a:t>11.7</a:t>
                      </a:r>
                    </a:p>
                  </a:txBody>
                  <a:tcPr marL="36576" marR="36576" marT="18288" marB="18288">
                    <a:solidFill>
                      <a:srgbClr val="FFFFFF"/>
                    </a:solidFill>
                  </a:tcPr>
                </a:tc>
                <a:tc>
                  <a:txBody>
                    <a:bodyPr/>
                    <a:lstStyle/>
                    <a:p>
                      <a:pPr algn="ctr"/>
                      <a:r>
                        <a:rPr sz="850" b="0" dirty="0">
                          <a:latin typeface="Times New Roman"/>
                        </a:rPr>
                        <a:t>9.4 M</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dirty="0">
                          <a:latin typeface="Times New Roman"/>
                        </a:rPr>
                        <a:t>50% review YOLO11s, scored on the 4 classes</a:t>
                      </a:r>
                    </a:p>
                  </a:txBody>
                  <a:tcPr marL="36576" marR="36576" marT="18288" marB="18288">
                    <a:solidFill>
                      <a:srgbClr val="FFFFFF"/>
                    </a:solidFill>
                  </a:tcPr>
                </a:tc>
                <a:tc>
                  <a:txBody>
                    <a:bodyPr/>
                    <a:lstStyle/>
                    <a:p>
                      <a:pPr algn="ctr"/>
                      <a:r>
                        <a:rPr sz="850" b="0">
                          <a:latin typeface="Times New Roman"/>
                        </a:rPr>
                        <a:t>4</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69.6</a:t>
                      </a:r>
                    </a:p>
                  </a:txBody>
                  <a:tcPr marL="36576" marR="36576" marT="18288" marB="18288">
                    <a:solidFill>
                      <a:srgbClr val="FFFFFF"/>
                    </a:solidFill>
                  </a:tcPr>
                </a:tc>
                <a:tc>
                  <a:txBody>
                    <a:bodyPr/>
                    <a:lstStyle/>
                    <a:p>
                      <a:pPr algn="ctr"/>
                      <a:r>
                        <a:rPr sz="850" b="0">
                          <a:latin typeface="Times New Roman"/>
                        </a:rPr>
                        <a:t>32.9</a:t>
                      </a:r>
                    </a:p>
                  </a:txBody>
                  <a:tcPr marL="36576" marR="36576" marT="18288" marB="18288">
                    <a:solidFill>
                      <a:srgbClr val="FFFFFF"/>
                    </a:solidFill>
                  </a:tcPr>
                </a:tc>
                <a:tc>
                  <a:txBody>
                    <a:bodyPr/>
                    <a:lstStyle/>
                    <a:p>
                      <a:pPr algn="ctr"/>
                      <a:r>
                        <a:rPr sz="850" b="0">
                          <a:latin typeface="Times New Roman"/>
                        </a:rPr>
                        <a:t>11.7</a:t>
                      </a:r>
                    </a:p>
                  </a:txBody>
                  <a:tcPr marL="36576" marR="36576" marT="18288" marB="18288">
                    <a:solidFill>
                      <a:srgbClr val="FFFFFF"/>
                    </a:solidFill>
                  </a:tcPr>
                </a:tc>
                <a:tc>
                  <a:txBody>
                    <a:bodyPr/>
                    <a:lstStyle/>
                    <a:p>
                      <a:pPr algn="ctr"/>
                      <a:r>
                        <a:rPr sz="850" b="0" dirty="0">
                          <a:latin typeface="Times New Roman"/>
                        </a:rPr>
                        <a:t>9.4 M</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dirty="0">
                          <a:latin typeface="Times New Roman"/>
                        </a:rPr>
                        <a:t>YOLO11s 4 classes, partial balance</a:t>
                      </a:r>
                    </a:p>
                  </a:txBody>
                  <a:tcPr marL="36576" marR="36576" marT="18288" marB="18288">
                    <a:solidFill>
                      <a:srgbClr val="FFFFFF"/>
                    </a:solidFill>
                  </a:tcPr>
                </a:tc>
                <a:tc>
                  <a:txBody>
                    <a:bodyPr/>
                    <a:lstStyle/>
                    <a:p>
                      <a:pPr algn="ctr"/>
                      <a:r>
                        <a:rPr sz="850" b="0">
                          <a:latin typeface="Times New Roman"/>
                        </a:rPr>
                        <a:t>4</a:t>
                      </a:r>
                    </a:p>
                  </a:txBody>
                  <a:tcPr marL="36576" marR="36576" marT="18288" marB="18288">
                    <a:solidFill>
                      <a:srgbClr val="FFFFFF"/>
                    </a:solidFill>
                  </a:tcPr>
                </a:tc>
                <a:tc>
                  <a:txBody>
                    <a:bodyPr/>
                    <a:lstStyle/>
                    <a:p>
                      <a:pPr algn="ctr"/>
                      <a:r>
                        <a:rPr sz="850" b="0">
                          <a:latin typeface="Times New Roman"/>
                        </a:rPr>
                        <a:t>74.8</a:t>
                      </a:r>
                    </a:p>
                  </a:txBody>
                  <a:tcPr marL="36576" marR="36576" marT="18288" marB="18288">
                    <a:solidFill>
                      <a:srgbClr val="FFFFFF"/>
                    </a:solidFill>
                  </a:tcPr>
                </a:tc>
                <a:tc>
                  <a:txBody>
                    <a:bodyPr/>
                    <a:lstStyle/>
                    <a:p>
                      <a:pPr algn="ctr"/>
                      <a:r>
                        <a:rPr sz="850" b="0">
                          <a:latin typeface="Times New Roman"/>
                        </a:rPr>
                        <a:t>69.4</a:t>
                      </a:r>
                    </a:p>
                  </a:txBody>
                  <a:tcPr marL="36576" marR="36576" marT="18288" marB="18288">
                    <a:solidFill>
                      <a:srgbClr val="FFFFFF"/>
                    </a:solidFill>
                  </a:tcPr>
                </a:tc>
                <a:tc>
                  <a:txBody>
                    <a:bodyPr/>
                    <a:lstStyle/>
                    <a:p>
                      <a:pPr algn="ctr"/>
                      <a:r>
                        <a:rPr sz="850" b="0">
                          <a:latin typeface="Times New Roman"/>
                        </a:rPr>
                        <a:t>72.0</a:t>
                      </a:r>
                    </a:p>
                  </a:txBody>
                  <a:tcPr marL="36576" marR="36576" marT="18288" marB="18288">
                    <a:solidFill>
                      <a:srgbClr val="FFFFFF"/>
                    </a:solidFill>
                  </a:tcPr>
                </a:tc>
                <a:tc>
                  <a:txBody>
                    <a:bodyPr/>
                    <a:lstStyle/>
                    <a:p>
                      <a:pPr algn="ctr"/>
                      <a:r>
                        <a:rPr sz="850" b="0">
                          <a:latin typeface="Times New Roman"/>
                        </a:rPr>
                        <a:t>69.2</a:t>
                      </a:r>
                    </a:p>
                  </a:txBody>
                  <a:tcPr marL="36576" marR="36576" marT="18288" marB="18288">
                    <a:solidFill>
                      <a:srgbClr val="FFFFFF"/>
                    </a:solidFill>
                  </a:tcPr>
                </a:tc>
                <a:tc>
                  <a:txBody>
                    <a:bodyPr/>
                    <a:lstStyle/>
                    <a:p>
                      <a:pPr algn="ctr"/>
                      <a:r>
                        <a:rPr sz="850" b="0">
                          <a:latin typeface="Times New Roman"/>
                        </a:rPr>
                        <a:t>33.1</a:t>
                      </a:r>
                    </a:p>
                  </a:txBody>
                  <a:tcPr marL="36576" marR="36576" marT="18288" marB="18288">
                    <a:solidFill>
                      <a:srgbClr val="FFFFFF"/>
                    </a:solidFill>
                  </a:tcPr>
                </a:tc>
                <a:tc>
                  <a:txBody>
                    <a:bodyPr/>
                    <a:lstStyle/>
                    <a:p>
                      <a:pPr algn="ctr"/>
                      <a:r>
                        <a:rPr sz="850" b="0">
                          <a:latin typeface="Times New Roman"/>
                        </a:rPr>
                        <a:t>11.7</a:t>
                      </a:r>
                    </a:p>
                  </a:txBody>
                  <a:tcPr marL="36576" marR="36576" marT="18288" marB="18288">
                    <a:solidFill>
                      <a:srgbClr val="FFFFFF"/>
                    </a:solidFill>
                  </a:tcPr>
                </a:tc>
                <a:tc>
                  <a:txBody>
                    <a:bodyPr/>
                    <a:lstStyle/>
                    <a:p>
                      <a:pPr algn="ctr"/>
                      <a:r>
                        <a:rPr sz="850" b="0" dirty="0">
                          <a:latin typeface="Times New Roman"/>
                        </a:rPr>
                        <a:t>9.4 M</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dirty="0">
                          <a:latin typeface="Times New Roman"/>
                        </a:rPr>
                        <a:t>Mathematical model: fusion of four 4-class models</a:t>
                      </a:r>
                    </a:p>
                  </a:txBody>
                  <a:tcPr marL="36576" marR="36576" marT="18288" marB="18288">
                    <a:solidFill>
                      <a:srgbClr val="FFFFFF"/>
                    </a:solidFill>
                  </a:tcPr>
                </a:tc>
                <a:tc>
                  <a:txBody>
                    <a:bodyPr/>
                    <a:lstStyle/>
                    <a:p>
                      <a:pPr algn="ctr"/>
                      <a:r>
                        <a:rPr sz="850" b="0">
                          <a:latin typeface="Times New Roman"/>
                        </a:rPr>
                        <a:t>4</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74.7</a:t>
                      </a:r>
                    </a:p>
                  </a:txBody>
                  <a:tcPr marL="36576" marR="36576" marT="18288" marB="18288">
                    <a:solidFill>
                      <a:srgbClr val="FFFFFF"/>
                    </a:solidFill>
                  </a:tcPr>
                </a:tc>
                <a:tc>
                  <a:txBody>
                    <a:bodyPr/>
                    <a:lstStyle/>
                    <a:p>
                      <a:pPr algn="ctr"/>
                      <a:r>
                        <a:rPr sz="850" b="0">
                          <a:latin typeface="Times New Roman"/>
                        </a:rPr>
                        <a:t>36.7</a:t>
                      </a:r>
                    </a:p>
                  </a:txBody>
                  <a:tcPr marL="36576" marR="36576" marT="18288" marB="18288">
                    <a:solidFill>
                      <a:srgbClr val="FFFFFF"/>
                    </a:solidFill>
                  </a:tcPr>
                </a:tc>
                <a:tc>
                  <a:txBody>
                    <a:bodyPr/>
                    <a:lstStyle/>
                    <a:p>
                      <a:pPr algn="ctr"/>
                      <a:r>
                        <a:rPr sz="850" b="0">
                          <a:latin typeface="Times New Roman"/>
                        </a:rPr>
                        <a:t>~60</a:t>
                      </a:r>
                    </a:p>
                  </a:txBody>
                  <a:tcPr marL="36576" marR="36576" marT="18288" marB="18288">
                    <a:solidFill>
                      <a:srgbClr val="FFFFFF"/>
                    </a:solidFill>
                  </a:tcPr>
                </a:tc>
                <a:tc>
                  <a:txBody>
                    <a:bodyPr/>
                    <a:lstStyle/>
                    <a:p>
                      <a:pPr algn="ctr"/>
                      <a:r>
                        <a:rPr sz="850" b="0" dirty="0">
                          <a:latin typeface="Times New Roman"/>
                        </a:rPr>
                        <a:t>37.7 M</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dirty="0">
                          <a:latin typeface="Times New Roman"/>
                        </a:rPr>
                        <a:t>Final: fusion of two models, expanded data</a:t>
                      </a:r>
                    </a:p>
                  </a:txBody>
                  <a:tcPr marL="36576" marR="36576" marT="18288" marB="18288">
                    <a:solidFill>
                      <a:srgbClr val="FFFFFF"/>
                    </a:solidFill>
                  </a:tcPr>
                </a:tc>
                <a:tc>
                  <a:txBody>
                    <a:bodyPr/>
                    <a:lstStyle/>
                    <a:p>
                      <a:pPr algn="ctr"/>
                      <a:r>
                        <a:rPr sz="850" b="0">
                          <a:latin typeface="Times New Roman"/>
                        </a:rPr>
                        <a:t>4</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76.9</a:t>
                      </a:r>
                    </a:p>
                  </a:txBody>
                  <a:tcPr marL="36576" marR="36576" marT="18288" marB="18288">
                    <a:solidFill>
                      <a:srgbClr val="FFFFFF"/>
                    </a:solidFill>
                  </a:tcPr>
                </a:tc>
                <a:tc>
                  <a:txBody>
                    <a:bodyPr/>
                    <a:lstStyle/>
                    <a:p>
                      <a:pPr algn="ctr"/>
                      <a:r>
                        <a:rPr sz="850" b="0">
                          <a:latin typeface="Times New Roman"/>
                        </a:rPr>
                        <a:t>39.3</a:t>
                      </a:r>
                    </a:p>
                  </a:txBody>
                  <a:tcPr marL="36576" marR="36576" marT="18288" marB="18288">
                    <a:solidFill>
                      <a:srgbClr val="FFFFFF"/>
                    </a:solidFill>
                  </a:tcPr>
                </a:tc>
                <a:tc>
                  <a:txBody>
                    <a:bodyPr/>
                    <a:lstStyle/>
                    <a:p>
                      <a:pPr algn="ctr"/>
                      <a:r>
                        <a:rPr sz="850" b="0">
                          <a:latin typeface="Times New Roman"/>
                        </a:rPr>
                        <a:t>~30</a:t>
                      </a:r>
                    </a:p>
                  </a:txBody>
                  <a:tcPr marL="36576" marR="36576" marT="18288" marB="18288">
                    <a:solidFill>
                      <a:srgbClr val="FFFFFF"/>
                    </a:solidFill>
                  </a:tcPr>
                </a:tc>
                <a:tc>
                  <a:txBody>
                    <a:bodyPr/>
                    <a:lstStyle/>
                    <a:p>
                      <a:pPr algn="ctr"/>
                      <a:r>
                        <a:rPr sz="850" b="0" dirty="0">
                          <a:latin typeface="Times New Roman"/>
                        </a:rPr>
                        <a:t>18.8 M</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dirty="0">
                          <a:latin typeface="Times New Roman"/>
                        </a:rPr>
                        <a:t>Final, on 51 further unseen boards</a:t>
                      </a:r>
                    </a:p>
                  </a:txBody>
                  <a:tcPr marL="36576" marR="36576" marT="18288" marB="18288">
                    <a:solidFill>
                      <a:srgbClr val="FFFFFF"/>
                    </a:solidFill>
                  </a:tcPr>
                </a:tc>
                <a:tc>
                  <a:txBody>
                    <a:bodyPr/>
                    <a:lstStyle/>
                    <a:p>
                      <a:pPr algn="ctr"/>
                      <a:r>
                        <a:rPr sz="850" b="0">
                          <a:latin typeface="Times New Roman"/>
                        </a:rPr>
                        <a:t>4</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81.3</a:t>
                      </a:r>
                    </a:p>
                  </a:txBody>
                  <a:tcPr marL="36576" marR="36576" marT="18288" marB="18288">
                    <a:solidFill>
                      <a:srgbClr val="FFFFFF"/>
                    </a:solidFill>
                  </a:tcPr>
                </a:tc>
                <a:tc>
                  <a:txBody>
                    <a:bodyPr/>
                    <a:lstStyle/>
                    <a:p>
                      <a:pPr algn="ctr"/>
                      <a:r>
                        <a:rPr sz="850" b="0">
                          <a:latin typeface="Times New Roman"/>
                        </a:rPr>
                        <a:t>44.1</a:t>
                      </a:r>
                    </a:p>
                  </a:txBody>
                  <a:tcPr marL="36576" marR="36576" marT="18288" marB="18288">
                    <a:solidFill>
                      <a:srgbClr val="FFFFFF"/>
                    </a:solidFill>
                  </a:tcPr>
                </a:tc>
                <a:tc>
                  <a:txBody>
                    <a:bodyPr/>
                    <a:lstStyle/>
                    <a:p>
                      <a:pPr algn="ctr"/>
                      <a:r>
                        <a:rPr sz="850" b="0">
                          <a:latin typeface="Times New Roman"/>
                        </a:rPr>
                        <a:t>~30</a:t>
                      </a:r>
                    </a:p>
                  </a:txBody>
                  <a:tcPr marL="36576" marR="36576" marT="18288" marB="18288">
                    <a:solidFill>
                      <a:srgbClr val="FFFFFF"/>
                    </a:solidFill>
                  </a:tcPr>
                </a:tc>
                <a:tc>
                  <a:txBody>
                    <a:bodyPr/>
                    <a:lstStyle/>
                    <a:p>
                      <a:pPr algn="ctr"/>
                      <a:r>
                        <a:rPr sz="850" b="0" dirty="0">
                          <a:latin typeface="Times New Roman"/>
                        </a:rPr>
                        <a:t>18.8 M</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graphicFrame>
        <p:nvGraphicFramePr>
          <p:cNvPr id="300" name="Table 299"/>
          <p:cNvGraphicFramePr>
            <a:graphicFrameLocks noGrp="1"/>
          </p:cNvGraphicFramePr>
          <p:nvPr>
            <p:extLst>
              <p:ext uri="{D42A27DB-BD31-4B8C-83A1-F6EECF244321}">
                <p14:modId xmlns:p14="http://schemas.microsoft.com/office/powerpoint/2010/main" val="435854719"/>
              </p:ext>
            </p:extLst>
          </p:nvPr>
        </p:nvGraphicFramePr>
        <p:xfrm>
          <a:off x="173353" y="2761488"/>
          <a:ext cx="8202894" cy="3108960"/>
        </p:xfrm>
        <a:graphic>
          <a:graphicData uri="http://schemas.openxmlformats.org/drawingml/2006/table">
            <a:tbl>
              <a:tblPr firstRow="1" bandRow="1">
                <a:tableStyleId>{5C22544A-7EE6-4342-B048-85BDC9FD1C3A}</a:tableStyleId>
              </a:tblPr>
              <a:tblGrid>
                <a:gridCol w="1662748">
                  <a:extLst>
                    <a:ext uri="{9D8B030D-6E8A-4147-A177-3AD203B41FA5}">
                      <a16:colId xmlns:a16="http://schemas.microsoft.com/office/drawing/2014/main" val="20000"/>
                    </a:ext>
                  </a:extLst>
                </a:gridCol>
                <a:gridCol w="886799">
                  <a:extLst>
                    <a:ext uri="{9D8B030D-6E8A-4147-A177-3AD203B41FA5}">
                      <a16:colId xmlns:a16="http://schemas.microsoft.com/office/drawing/2014/main" val="20001"/>
                    </a:ext>
                  </a:extLst>
                </a:gridCol>
                <a:gridCol w="1219349">
                  <a:extLst>
                    <a:ext uri="{9D8B030D-6E8A-4147-A177-3AD203B41FA5}">
                      <a16:colId xmlns:a16="http://schemas.microsoft.com/office/drawing/2014/main" val="20002"/>
                    </a:ext>
                  </a:extLst>
                </a:gridCol>
                <a:gridCol w="1773598">
                  <a:extLst>
                    <a:ext uri="{9D8B030D-6E8A-4147-A177-3AD203B41FA5}">
                      <a16:colId xmlns:a16="http://schemas.microsoft.com/office/drawing/2014/main" val="20003"/>
                    </a:ext>
                  </a:extLst>
                </a:gridCol>
                <a:gridCol w="1108499">
                  <a:extLst>
                    <a:ext uri="{9D8B030D-6E8A-4147-A177-3AD203B41FA5}">
                      <a16:colId xmlns:a16="http://schemas.microsoft.com/office/drawing/2014/main" val="20004"/>
                    </a:ext>
                  </a:extLst>
                </a:gridCol>
                <a:gridCol w="1551898">
                  <a:extLst>
                    <a:ext uri="{9D8B030D-6E8A-4147-A177-3AD203B41FA5}">
                      <a16:colId xmlns:a16="http://schemas.microsoft.com/office/drawing/2014/main" val="20005"/>
                    </a:ext>
                  </a:extLst>
                </a:gridCol>
              </a:tblGrid>
              <a:tr h="219456">
                <a:tc>
                  <a:txBody>
                    <a:bodyPr/>
                    <a:lstStyle/>
                    <a:p>
                      <a:pPr algn="l"/>
                      <a:r>
                        <a:rPr sz="850" b="1" dirty="0">
                          <a:solidFill>
                            <a:srgbClr val="FFFFFF"/>
                          </a:solidFill>
                          <a:latin typeface="Times New Roman"/>
                        </a:rPr>
                        <a:t>Class (test mAP50)</a:t>
                      </a:r>
                    </a:p>
                  </a:txBody>
                  <a:tcPr marL="36576" marR="36576" marT="18288" marB="18288">
                    <a:solidFill>
                      <a:srgbClr val="41534B"/>
                    </a:solidFill>
                  </a:tcPr>
                </a:tc>
                <a:tc>
                  <a:txBody>
                    <a:bodyPr/>
                    <a:lstStyle/>
                    <a:p>
                      <a:pPr algn="ctr"/>
                      <a:r>
                        <a:rPr sz="850" b="1">
                          <a:solidFill>
                            <a:srgbClr val="FFFFFF"/>
                          </a:solidFill>
                          <a:latin typeface="Times New Roman"/>
                        </a:rPr>
                        <a:t>Test boxes</a:t>
                      </a:r>
                    </a:p>
                  </a:txBody>
                  <a:tcPr marL="36576" marR="36576" marT="18288" marB="18288">
                    <a:solidFill>
                      <a:srgbClr val="41534B"/>
                    </a:solidFill>
                  </a:tcPr>
                </a:tc>
                <a:tc>
                  <a:txBody>
                    <a:bodyPr/>
                    <a:lstStyle/>
                    <a:p>
                      <a:pPr algn="ctr"/>
                      <a:r>
                        <a:rPr sz="850" b="1">
                          <a:solidFill>
                            <a:srgbClr val="FFFFFF"/>
                          </a:solidFill>
                          <a:latin typeface="Times New Roman"/>
                        </a:rPr>
                        <a:t>50% review (YOLO11s)</a:t>
                      </a:r>
                    </a:p>
                  </a:txBody>
                  <a:tcPr marL="36576" marR="36576" marT="18288" marB="18288">
                    <a:solidFill>
                      <a:srgbClr val="41534B"/>
                    </a:solidFill>
                  </a:tcPr>
                </a:tc>
                <a:tc>
                  <a:txBody>
                    <a:bodyPr/>
                    <a:lstStyle/>
                    <a:p>
                      <a:pPr algn="ctr"/>
                      <a:r>
                        <a:rPr sz="850" b="1">
                          <a:solidFill>
                            <a:srgbClr val="FFFFFF"/>
                          </a:solidFill>
                          <a:latin typeface="Times New Roman"/>
                        </a:rPr>
                        <a:t>Best single 4-class (P / R)</a:t>
                      </a:r>
                    </a:p>
                  </a:txBody>
                  <a:tcPr marL="36576" marR="36576" marT="18288" marB="18288">
                    <a:solidFill>
                      <a:srgbClr val="41534B"/>
                    </a:solidFill>
                  </a:tcPr>
                </a:tc>
                <a:tc>
                  <a:txBody>
                    <a:bodyPr/>
                    <a:lstStyle/>
                    <a:p>
                      <a:pPr algn="ctr"/>
                      <a:r>
                        <a:rPr sz="850" b="1">
                          <a:solidFill>
                            <a:srgbClr val="FFFFFF"/>
                          </a:solidFill>
                          <a:latin typeface="Times New Roman"/>
                        </a:rPr>
                        <a:t>Single mAP50</a:t>
                      </a:r>
                    </a:p>
                  </a:txBody>
                  <a:tcPr marL="36576" marR="36576" marT="18288" marB="18288">
                    <a:solidFill>
                      <a:srgbClr val="41534B"/>
                    </a:solidFill>
                  </a:tcPr>
                </a:tc>
                <a:tc>
                  <a:txBody>
                    <a:bodyPr/>
                    <a:lstStyle/>
                    <a:p>
                      <a:pPr algn="ctr"/>
                      <a:r>
                        <a:rPr sz="850" b="1">
                          <a:solidFill>
                            <a:srgbClr val="FFFFFF"/>
                          </a:solidFill>
                          <a:latin typeface="Times New Roman"/>
                        </a:rPr>
                        <a:t>Final detector mAP50</a:t>
                      </a:r>
                    </a:p>
                  </a:txBody>
                  <a:tcPr marL="36576" marR="36576" marT="18288" marB="18288">
                    <a:solidFill>
                      <a:srgbClr val="41534B"/>
                    </a:solidFill>
                  </a:tcPr>
                </a:tc>
                <a:extLst>
                  <a:ext uri="{0D108BD9-81ED-4DB2-BD59-A6C34878D82A}">
                    <a16:rowId xmlns:a16="http://schemas.microsoft.com/office/drawing/2014/main" val="10000"/>
                  </a:ext>
                </a:extLst>
              </a:tr>
              <a:tr h="219456">
                <a:tc>
                  <a:txBody>
                    <a:bodyPr/>
                    <a:lstStyle/>
                    <a:p>
                      <a:pPr algn="l"/>
                      <a:r>
                        <a:rPr sz="850" b="0">
                          <a:latin typeface="Times New Roman"/>
                        </a:rPr>
                        <a:t>Dead_Knot</a:t>
                      </a:r>
                    </a:p>
                  </a:txBody>
                  <a:tcPr marL="36576" marR="36576" marT="18288" marB="18288">
                    <a:solidFill>
                      <a:srgbClr val="F7F3EC"/>
                    </a:solidFill>
                  </a:tcPr>
                </a:tc>
                <a:tc>
                  <a:txBody>
                    <a:bodyPr/>
                    <a:lstStyle/>
                    <a:p>
                      <a:pPr algn="ctr"/>
                      <a:r>
                        <a:rPr sz="850" b="0">
                          <a:latin typeface="Times New Roman"/>
                        </a:rPr>
                        <a:t>343</a:t>
                      </a:r>
                    </a:p>
                  </a:txBody>
                  <a:tcPr marL="36576" marR="36576" marT="18288" marB="18288">
                    <a:solidFill>
                      <a:srgbClr val="F7F3EC"/>
                    </a:solidFill>
                  </a:tcPr>
                </a:tc>
                <a:tc>
                  <a:txBody>
                    <a:bodyPr/>
                    <a:lstStyle/>
                    <a:p>
                      <a:pPr algn="ctr"/>
                      <a:r>
                        <a:rPr sz="850" b="0">
                          <a:latin typeface="Times New Roman"/>
                        </a:rPr>
                        <a:t>89.1</a:t>
                      </a:r>
                    </a:p>
                  </a:txBody>
                  <a:tcPr marL="36576" marR="36576" marT="18288" marB="18288">
                    <a:solidFill>
                      <a:srgbClr val="F7F3EC"/>
                    </a:solidFill>
                  </a:tcPr>
                </a:tc>
                <a:tc>
                  <a:txBody>
                    <a:bodyPr/>
                    <a:lstStyle/>
                    <a:p>
                      <a:pPr algn="ctr"/>
                      <a:r>
                        <a:rPr sz="850" b="0">
                          <a:latin typeface="Times New Roman"/>
                        </a:rPr>
                        <a:t>83.7 / 82.5</a:t>
                      </a:r>
                    </a:p>
                  </a:txBody>
                  <a:tcPr marL="36576" marR="36576" marT="18288" marB="18288">
                    <a:solidFill>
                      <a:srgbClr val="F7F3EC"/>
                    </a:solidFill>
                  </a:tcPr>
                </a:tc>
                <a:tc>
                  <a:txBody>
                    <a:bodyPr/>
                    <a:lstStyle/>
                    <a:p>
                      <a:pPr algn="ctr"/>
                      <a:r>
                        <a:rPr sz="850" b="0">
                          <a:latin typeface="Times New Roman"/>
                        </a:rPr>
                        <a:t>87.5</a:t>
                      </a:r>
                    </a:p>
                  </a:txBody>
                  <a:tcPr marL="36576" marR="36576" marT="18288" marB="18288">
                    <a:solidFill>
                      <a:srgbClr val="F7F3EC"/>
                    </a:solidFill>
                  </a:tcPr>
                </a:tc>
                <a:tc>
                  <a:txBody>
                    <a:bodyPr/>
                    <a:lstStyle/>
                    <a:p>
                      <a:pPr algn="ctr"/>
                      <a:r>
                        <a:rPr sz="850" b="0">
                          <a:latin typeface="Times New Roman"/>
                        </a:rPr>
                        <a:t>89.6</a:t>
                      </a:r>
                    </a:p>
                  </a:txBody>
                  <a:tcPr marL="36576" marR="36576" marT="18288" marB="18288">
                    <a:solidFill>
                      <a:srgbClr val="F7F3EC"/>
                    </a:solidFill>
                  </a:tcPr>
                </a:tc>
                <a:extLst>
                  <a:ext uri="{0D108BD9-81ED-4DB2-BD59-A6C34878D82A}">
                    <a16:rowId xmlns:a16="http://schemas.microsoft.com/office/drawing/2014/main" val="10001"/>
                  </a:ext>
                </a:extLst>
              </a:tr>
              <a:tr h="219456">
                <a:tc>
                  <a:txBody>
                    <a:bodyPr/>
                    <a:lstStyle/>
                    <a:p>
                      <a:pPr algn="l"/>
                      <a:r>
                        <a:rPr sz="850" b="0">
                          <a:latin typeface="Times New Roman"/>
                        </a:rPr>
                        <a:t>Live_Knot</a:t>
                      </a:r>
                    </a:p>
                  </a:txBody>
                  <a:tcPr marL="36576" marR="36576" marT="18288" marB="18288">
                    <a:solidFill>
                      <a:srgbClr val="FFFFFF"/>
                    </a:solidFill>
                  </a:tcPr>
                </a:tc>
                <a:tc>
                  <a:txBody>
                    <a:bodyPr/>
                    <a:lstStyle/>
                    <a:p>
                      <a:pPr algn="ctr"/>
                      <a:r>
                        <a:rPr sz="850" b="0">
                          <a:latin typeface="Times New Roman"/>
                        </a:rPr>
                        <a:t>406</a:t>
                      </a:r>
                    </a:p>
                  </a:txBody>
                  <a:tcPr marL="36576" marR="36576" marT="18288" marB="18288">
                    <a:solidFill>
                      <a:srgbClr val="FFFFFF"/>
                    </a:solidFill>
                  </a:tcPr>
                </a:tc>
                <a:tc>
                  <a:txBody>
                    <a:bodyPr/>
                    <a:lstStyle/>
                    <a:p>
                      <a:pPr algn="ctr"/>
                      <a:r>
                        <a:rPr sz="850" b="0">
                          <a:latin typeface="Times New Roman"/>
                        </a:rPr>
                        <a:t>75.8</a:t>
                      </a:r>
                    </a:p>
                  </a:txBody>
                  <a:tcPr marL="36576" marR="36576" marT="18288" marB="18288">
                    <a:solidFill>
                      <a:srgbClr val="FFFFFF"/>
                    </a:solidFill>
                  </a:tcPr>
                </a:tc>
                <a:tc>
                  <a:txBody>
                    <a:bodyPr/>
                    <a:lstStyle/>
                    <a:p>
                      <a:pPr algn="ctr"/>
                      <a:r>
                        <a:rPr sz="850" b="0">
                          <a:latin typeface="Times New Roman"/>
                        </a:rPr>
                        <a:t>74.2 / 77.3</a:t>
                      </a:r>
                    </a:p>
                  </a:txBody>
                  <a:tcPr marL="36576" marR="36576" marT="18288" marB="18288">
                    <a:solidFill>
                      <a:srgbClr val="FFFFFF"/>
                    </a:solidFill>
                  </a:tcPr>
                </a:tc>
                <a:tc>
                  <a:txBody>
                    <a:bodyPr/>
                    <a:lstStyle/>
                    <a:p>
                      <a:pPr algn="ctr"/>
                      <a:r>
                        <a:rPr sz="850" b="0">
                          <a:latin typeface="Times New Roman"/>
                        </a:rPr>
                        <a:t>76.4</a:t>
                      </a:r>
                    </a:p>
                  </a:txBody>
                  <a:tcPr marL="36576" marR="36576" marT="18288" marB="18288">
                    <a:solidFill>
                      <a:srgbClr val="FFFFFF"/>
                    </a:solidFill>
                  </a:tcPr>
                </a:tc>
                <a:tc>
                  <a:txBody>
                    <a:bodyPr/>
                    <a:lstStyle/>
                    <a:p>
                      <a:pPr algn="ctr"/>
                      <a:r>
                        <a:rPr sz="850" b="0">
                          <a:latin typeface="Times New Roman"/>
                        </a:rPr>
                        <a:t>79.3</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a:latin typeface="Times New Roman"/>
                        </a:rPr>
                        <a:t>Resin</a:t>
                      </a:r>
                    </a:p>
                  </a:txBody>
                  <a:tcPr marL="36576" marR="36576" marT="18288" marB="18288">
                    <a:solidFill>
                      <a:srgbClr val="F7F3EC"/>
                    </a:solidFill>
                  </a:tcPr>
                </a:tc>
                <a:tc>
                  <a:txBody>
                    <a:bodyPr/>
                    <a:lstStyle/>
                    <a:p>
                      <a:pPr algn="ctr"/>
                      <a:r>
                        <a:rPr sz="850" b="0">
                          <a:latin typeface="Times New Roman"/>
                        </a:rPr>
                        <a:t>69</a:t>
                      </a:r>
                    </a:p>
                  </a:txBody>
                  <a:tcPr marL="36576" marR="36576" marT="18288" marB="18288">
                    <a:solidFill>
                      <a:srgbClr val="F7F3EC"/>
                    </a:solidFill>
                  </a:tcPr>
                </a:tc>
                <a:tc>
                  <a:txBody>
                    <a:bodyPr/>
                    <a:lstStyle/>
                    <a:p>
                      <a:pPr algn="ctr"/>
                      <a:r>
                        <a:rPr sz="850" b="0">
                          <a:latin typeface="Times New Roman"/>
                        </a:rPr>
                        <a:t>60.4</a:t>
                      </a:r>
                    </a:p>
                  </a:txBody>
                  <a:tcPr marL="36576" marR="36576" marT="18288" marB="18288">
                    <a:solidFill>
                      <a:srgbClr val="F7F3EC"/>
                    </a:solidFill>
                  </a:tcPr>
                </a:tc>
                <a:tc>
                  <a:txBody>
                    <a:bodyPr/>
                    <a:lstStyle/>
                    <a:p>
                      <a:pPr algn="ctr"/>
                      <a:r>
                        <a:rPr sz="850" b="0">
                          <a:latin typeface="Times New Roman"/>
                        </a:rPr>
                        <a:t>84.7 / 58.0</a:t>
                      </a:r>
                    </a:p>
                  </a:txBody>
                  <a:tcPr marL="36576" marR="36576" marT="18288" marB="18288">
                    <a:solidFill>
                      <a:srgbClr val="F7F3EC"/>
                    </a:solidFill>
                  </a:tcPr>
                </a:tc>
                <a:tc>
                  <a:txBody>
                    <a:bodyPr/>
                    <a:lstStyle/>
                    <a:p>
                      <a:pPr algn="ctr"/>
                      <a:r>
                        <a:rPr sz="850" b="0">
                          <a:latin typeface="Times New Roman"/>
                        </a:rPr>
                        <a:t>64.2</a:t>
                      </a:r>
                    </a:p>
                  </a:txBody>
                  <a:tcPr marL="36576" marR="36576" marT="18288" marB="18288">
                    <a:solidFill>
                      <a:srgbClr val="F7F3EC"/>
                    </a:solidFill>
                  </a:tcPr>
                </a:tc>
                <a:tc>
                  <a:txBody>
                    <a:bodyPr/>
                    <a:lstStyle/>
                    <a:p>
                      <a:pPr algn="ctr"/>
                      <a:r>
                        <a:rPr sz="850" b="0">
                          <a:latin typeface="Times New Roman"/>
                        </a:rPr>
                        <a:t>76.6</a:t>
                      </a:r>
                    </a:p>
                  </a:txBody>
                  <a:tcPr marL="36576" marR="36576" marT="18288" marB="18288">
                    <a:solidFill>
                      <a:srgbClr val="F7F3EC"/>
                    </a:solidFill>
                  </a:tcPr>
                </a:tc>
                <a:extLst>
                  <a:ext uri="{0D108BD9-81ED-4DB2-BD59-A6C34878D82A}">
                    <a16:rowId xmlns:a16="http://schemas.microsoft.com/office/drawing/2014/main" val="10003"/>
                  </a:ext>
                </a:extLst>
              </a:tr>
              <a:tr h="219456">
                <a:tc>
                  <a:txBody>
                    <a:bodyPr/>
                    <a:lstStyle/>
                    <a:p>
                      <a:pPr algn="l"/>
                      <a:r>
                        <a:rPr sz="850" b="0">
                          <a:latin typeface="Times New Roman"/>
                        </a:rPr>
                        <a:t>Crack</a:t>
                      </a:r>
                    </a:p>
                  </a:txBody>
                  <a:tcPr marL="36576" marR="36576" marT="18288" marB="18288">
                    <a:solidFill>
                      <a:srgbClr val="FFFFFF"/>
                    </a:solidFill>
                  </a:tcPr>
                </a:tc>
                <a:tc>
                  <a:txBody>
                    <a:bodyPr/>
                    <a:lstStyle/>
                    <a:p>
                      <a:pPr algn="ctr"/>
                      <a:r>
                        <a:rPr sz="850" b="0">
                          <a:latin typeface="Times New Roman"/>
                        </a:rPr>
                        <a:t>95</a:t>
                      </a:r>
                    </a:p>
                  </a:txBody>
                  <a:tcPr marL="36576" marR="36576" marT="18288" marB="18288">
                    <a:solidFill>
                      <a:srgbClr val="FFFFFF"/>
                    </a:solidFill>
                  </a:tcPr>
                </a:tc>
                <a:tc>
                  <a:txBody>
                    <a:bodyPr/>
                    <a:lstStyle/>
                    <a:p>
                      <a:pPr algn="ctr"/>
                      <a:r>
                        <a:rPr sz="850" b="0">
                          <a:latin typeface="Times New Roman"/>
                        </a:rPr>
                        <a:t>53.0</a:t>
                      </a:r>
                    </a:p>
                  </a:txBody>
                  <a:tcPr marL="36576" marR="36576" marT="18288" marB="18288">
                    <a:solidFill>
                      <a:srgbClr val="FFFFFF"/>
                    </a:solidFill>
                  </a:tcPr>
                </a:tc>
                <a:tc>
                  <a:txBody>
                    <a:bodyPr/>
                    <a:lstStyle/>
                    <a:p>
                      <a:pPr algn="ctr"/>
                      <a:r>
                        <a:rPr sz="850" b="0">
                          <a:latin typeface="Times New Roman"/>
                        </a:rPr>
                        <a:t>56.5 / 60.0</a:t>
                      </a:r>
                    </a:p>
                  </a:txBody>
                  <a:tcPr marL="36576" marR="36576" marT="18288" marB="18288">
                    <a:solidFill>
                      <a:srgbClr val="FFFFFF"/>
                    </a:solidFill>
                  </a:tcPr>
                </a:tc>
                <a:tc>
                  <a:txBody>
                    <a:bodyPr/>
                    <a:lstStyle/>
                    <a:p>
                      <a:pPr algn="ctr"/>
                      <a:r>
                        <a:rPr sz="850" b="0">
                          <a:latin typeface="Times New Roman"/>
                        </a:rPr>
                        <a:t>48.7</a:t>
                      </a:r>
                    </a:p>
                  </a:txBody>
                  <a:tcPr marL="36576" marR="36576" marT="18288" marB="18288">
                    <a:solidFill>
                      <a:srgbClr val="FFFFFF"/>
                    </a:solidFill>
                  </a:tcPr>
                </a:tc>
                <a:tc>
                  <a:txBody>
                    <a:bodyPr/>
                    <a:lstStyle/>
                    <a:p>
                      <a:pPr algn="ctr"/>
                      <a:r>
                        <a:rPr sz="850" b="0">
                          <a:latin typeface="Times New Roman"/>
                        </a:rPr>
                        <a:t>62.2</a:t>
                      </a:r>
                    </a:p>
                  </a:txBody>
                  <a:tcPr marL="36576" marR="36576" marT="18288" marB="18288">
                    <a:solidFill>
                      <a:srgbClr val="FFFFFF"/>
                    </a:solidFill>
                  </a:tcPr>
                </a:tc>
                <a:extLst>
                  <a:ext uri="{0D108BD9-81ED-4DB2-BD59-A6C34878D82A}">
                    <a16:rowId xmlns:a16="http://schemas.microsoft.com/office/drawing/2014/main" val="10004"/>
                  </a:ext>
                </a:extLst>
              </a:tr>
              <a:tr h="219456">
                <a:tc>
                  <a:txBody>
                    <a:bodyPr/>
                    <a:lstStyle/>
                    <a:p>
                      <a:pPr algn="l"/>
                      <a:r>
                        <a:rPr sz="850" b="1">
                          <a:latin typeface="Times New Roman"/>
                        </a:rPr>
                        <a:t>ALL (4 classes)</a:t>
                      </a:r>
                    </a:p>
                  </a:txBody>
                  <a:tcPr marL="36576" marR="36576" marT="18288" marB="18288">
                    <a:solidFill>
                      <a:srgbClr val="F7F3EC"/>
                    </a:solidFill>
                  </a:tcPr>
                </a:tc>
                <a:tc>
                  <a:txBody>
                    <a:bodyPr/>
                    <a:lstStyle/>
                    <a:p>
                      <a:pPr algn="ctr"/>
                      <a:r>
                        <a:rPr sz="850" b="1">
                          <a:latin typeface="Times New Roman"/>
                        </a:rPr>
                        <a:t>913</a:t>
                      </a:r>
                    </a:p>
                  </a:txBody>
                  <a:tcPr marL="36576" marR="36576" marT="18288" marB="18288">
                    <a:solidFill>
                      <a:srgbClr val="F7F3EC"/>
                    </a:solidFill>
                  </a:tcPr>
                </a:tc>
                <a:tc>
                  <a:txBody>
                    <a:bodyPr/>
                    <a:lstStyle/>
                    <a:p>
                      <a:pPr algn="ctr"/>
                      <a:r>
                        <a:rPr sz="850" b="1">
                          <a:latin typeface="Times New Roman"/>
                        </a:rPr>
                        <a:t>69.6</a:t>
                      </a:r>
                    </a:p>
                  </a:txBody>
                  <a:tcPr marL="36576" marR="36576" marT="18288" marB="18288">
                    <a:solidFill>
                      <a:srgbClr val="F7F3EC"/>
                    </a:solidFill>
                  </a:tcPr>
                </a:tc>
                <a:tc>
                  <a:txBody>
                    <a:bodyPr/>
                    <a:lstStyle/>
                    <a:p>
                      <a:pPr algn="ctr"/>
                      <a:r>
                        <a:rPr sz="850" b="1">
                          <a:latin typeface="Times New Roman"/>
                        </a:rPr>
                        <a:t>74.8 / 69.4</a:t>
                      </a:r>
                    </a:p>
                  </a:txBody>
                  <a:tcPr marL="36576" marR="36576" marT="18288" marB="18288">
                    <a:solidFill>
                      <a:srgbClr val="F7F3EC"/>
                    </a:solidFill>
                  </a:tcPr>
                </a:tc>
                <a:tc>
                  <a:txBody>
                    <a:bodyPr/>
                    <a:lstStyle/>
                    <a:p>
                      <a:pPr algn="ctr"/>
                      <a:r>
                        <a:rPr sz="850" b="1">
                          <a:latin typeface="Times New Roman"/>
                        </a:rPr>
                        <a:t>69.2</a:t>
                      </a:r>
                    </a:p>
                  </a:txBody>
                  <a:tcPr marL="36576" marR="36576" marT="18288" marB="18288">
                    <a:solidFill>
                      <a:srgbClr val="F7F3EC"/>
                    </a:solidFill>
                  </a:tcPr>
                </a:tc>
                <a:tc>
                  <a:txBody>
                    <a:bodyPr/>
                    <a:lstStyle/>
                    <a:p>
                      <a:pPr algn="ctr"/>
                      <a:r>
                        <a:rPr sz="850" b="1">
                          <a:latin typeface="Times New Roman"/>
                        </a:rPr>
                        <a:t>76.9</a:t>
                      </a:r>
                    </a:p>
                  </a:txBody>
                  <a:tcPr marL="36576" marR="36576" marT="18288" marB="18288">
                    <a:solidFill>
                      <a:srgbClr val="F7F3EC"/>
                    </a:solidFill>
                  </a:tcPr>
                </a:tc>
                <a:extLst>
                  <a:ext uri="{0D108BD9-81ED-4DB2-BD59-A6C34878D82A}">
                    <a16:rowId xmlns:a16="http://schemas.microsoft.com/office/drawing/2014/main" val="10005"/>
                  </a:ext>
                </a:extLst>
              </a:tr>
            </a:tbl>
          </a:graphicData>
        </a:graphic>
      </p:graphicFrame>
      <p:sp>
        <p:nvSpPr>
          <p:cNvPr id="301" name="TextBox 300"/>
          <p:cNvSpPr txBox="1"/>
          <p:nvPr/>
        </p:nvSpPr>
        <p:spPr>
          <a:xfrm>
            <a:off x="274320" y="4261104"/>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Same 12 unseen test boards throughout: mAP50 64.6 at the 50% review (69.6 on the 4 main classes) -&gt; 76.9 now; Crack 53.0 -&gt; 62.2, Resin 60.4 -&gt; 76.6.</a:t>
            </a:r>
          </a:p>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Before the data expansion, only fusion beat the best single model (+2.7 to +7.1 mAP50, 95% CI). The final detector, trained on the expanded data, adds +2.2 on the same boards (CI +0.5 to +4.3) and scores 81.3 on 51 unseen boards.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0"/>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20</a:t>
            </a:fld>
            <a:endParaRPr/>
          </a:p>
        </p:txBody>
      </p:sp>
      <p:sp>
        <p:nvSpPr>
          <p:cNvPr id="305" name="Google Shape;305;p30"/>
          <p:cNvSpPr txBox="1"/>
          <p:nvPr/>
        </p:nvSpPr>
        <p:spPr>
          <a:xfrm>
            <a:off x="573740" y="340659"/>
            <a:ext cx="786384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41534B"/>
                </a:solidFill>
                <a:latin typeface="Times New Roman"/>
                <a:ea typeface="Times New Roman"/>
                <a:cs typeface="Times New Roman"/>
                <a:sym typeface="Times New Roman"/>
              </a:rPr>
              <a:t>RECAP: RESULTS AT THE 50% REVIEW</a:t>
            </a:r>
            <a:endParaRPr sz="1400" b="0" i="0" u="none" strike="noStrike" cap="none">
              <a:solidFill>
                <a:srgbClr val="000000"/>
              </a:solidFill>
              <a:latin typeface="Arial"/>
              <a:ea typeface="Arial"/>
              <a:cs typeface="Arial"/>
              <a:sym typeface="Arial"/>
            </a:endParaRPr>
          </a:p>
        </p:txBody>
      </p:sp>
      <p:sp>
        <p:nvSpPr>
          <p:cNvPr id="307" name="Google Shape;307;p30"/>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308" name="Google Shape;308;p30"/>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09" name="Google Shape;309;p30"/>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310" name="Google Shape;310;p30"/>
          <p:cNvPicPr preferRelativeResize="0"/>
          <p:nvPr/>
        </p:nvPicPr>
        <p:blipFill rotWithShape="1">
          <a:blip r:embed="rId5">
            <a:alphaModFix/>
          </a:blip>
          <a:srcRect/>
          <a:stretch/>
        </p:blipFill>
        <p:spPr>
          <a:xfrm>
            <a:off x="8450860" y="2542563"/>
            <a:ext cx="693139" cy="1233357"/>
          </a:xfrm>
          <a:prstGeom prst="rect">
            <a:avLst/>
          </a:prstGeom>
          <a:noFill/>
          <a:ln>
            <a:noFill/>
          </a:ln>
        </p:spPr>
      </p:pic>
      <p:pic>
        <p:nvPicPr>
          <p:cNvPr id="311" name="Google Shape;311;p30"/>
          <p:cNvPicPr preferRelativeResize="0"/>
          <p:nvPr/>
        </p:nvPicPr>
        <p:blipFill rotWithShape="1">
          <a:blip r:embed="rId6">
            <a:alphaModFix/>
          </a:blip>
          <a:srcRect/>
          <a:stretch/>
        </p:blipFill>
        <p:spPr>
          <a:xfrm>
            <a:off x="8450861" y="6157980"/>
            <a:ext cx="680353" cy="703613"/>
          </a:xfrm>
          <a:prstGeom prst="rect">
            <a:avLst/>
          </a:prstGeom>
          <a:noFill/>
          <a:ln>
            <a:noFill/>
          </a:ln>
        </p:spPr>
      </p:pic>
      <p:graphicFrame>
        <p:nvGraphicFramePr>
          <p:cNvPr id="312" name="Table 311"/>
          <p:cNvGraphicFramePr>
            <a:graphicFrameLocks noGrp="1"/>
          </p:cNvGraphicFramePr>
          <p:nvPr/>
        </p:nvGraphicFramePr>
        <p:xfrm>
          <a:off x="274320" y="868680"/>
          <a:ext cx="4846320" cy="356616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56616">
                <a:tc>
                  <a:txBody>
                    <a:bodyPr/>
                    <a:lstStyle/>
                    <a:p>
                      <a:pPr algn="l"/>
                      <a:r>
                        <a:rPr sz="1000" b="1">
                          <a:solidFill>
                            <a:srgbClr val="FFFFFF"/>
                          </a:solidFill>
                          <a:latin typeface="Times New Roman"/>
                        </a:rPr>
                        <a:t>Aspect</a:t>
                      </a:r>
                    </a:p>
                  </a:txBody>
                  <a:tcPr marL="36576" marR="36576" marT="18288" marB="18288">
                    <a:solidFill>
                      <a:srgbClr val="41534B"/>
                    </a:solidFill>
                  </a:tcPr>
                </a:tc>
                <a:tc>
                  <a:txBody>
                    <a:bodyPr/>
                    <a:lstStyle/>
                    <a:p>
                      <a:pPr algn="ctr"/>
                      <a:r>
                        <a:rPr sz="1000" b="1">
                          <a:solidFill>
                            <a:srgbClr val="FFFFFF"/>
                          </a:solidFill>
                          <a:latin typeface="Times New Roman"/>
                        </a:rPr>
                        <a:t>YOLO11m</a:t>
                      </a:r>
                    </a:p>
                  </a:txBody>
                  <a:tcPr marL="36576" marR="36576" marT="18288" marB="18288">
                    <a:solidFill>
                      <a:srgbClr val="41534B"/>
                    </a:solidFill>
                  </a:tcPr>
                </a:tc>
                <a:tc>
                  <a:txBody>
                    <a:bodyPr/>
                    <a:lstStyle/>
                    <a:p>
                      <a:pPr algn="ctr"/>
                      <a:r>
                        <a:rPr sz="1000" b="1">
                          <a:solidFill>
                            <a:srgbClr val="FFFFFF"/>
                          </a:solidFill>
                          <a:latin typeface="Times New Roman"/>
                        </a:rPr>
                        <a:t>YOLO11s</a:t>
                      </a:r>
                    </a:p>
                  </a:txBody>
                  <a:tcPr marL="36576" marR="36576" marT="18288" marB="18288">
                    <a:solidFill>
                      <a:srgbClr val="41534B"/>
                    </a:solidFill>
                  </a:tcPr>
                </a:tc>
                <a:tc>
                  <a:txBody>
                    <a:bodyPr/>
                    <a:lstStyle/>
                    <a:p>
                      <a:pPr algn="ctr"/>
                      <a:r>
                        <a:rPr sz="1000" b="1">
                          <a:solidFill>
                            <a:srgbClr val="FFFFFF"/>
                          </a:solidFill>
                          <a:latin typeface="Times New Roman"/>
                        </a:rPr>
                        <a:t>m - s</a:t>
                      </a:r>
                    </a:p>
                  </a:txBody>
                  <a:tcPr marL="36576" marR="36576" marT="18288" marB="18288">
                    <a:solidFill>
                      <a:srgbClr val="41534B"/>
                    </a:solidFill>
                  </a:tcPr>
                </a:tc>
                <a:extLst>
                  <a:ext uri="{0D108BD9-81ED-4DB2-BD59-A6C34878D82A}">
                    <a16:rowId xmlns:a16="http://schemas.microsoft.com/office/drawing/2014/main" val="10000"/>
                  </a:ext>
                </a:extLst>
              </a:tr>
              <a:tr h="356616">
                <a:tc>
                  <a:txBody>
                    <a:bodyPr/>
                    <a:lstStyle/>
                    <a:p>
                      <a:pPr algn="l"/>
                      <a:r>
                        <a:rPr sz="1000" b="0">
                          <a:latin typeface="Times New Roman"/>
                        </a:rPr>
                        <a:t>mAP50</a:t>
                      </a:r>
                    </a:p>
                  </a:txBody>
                  <a:tcPr marL="36576" marR="36576" marT="18288" marB="18288">
                    <a:solidFill>
                      <a:srgbClr val="F7F3EC"/>
                    </a:solidFill>
                  </a:tcPr>
                </a:tc>
                <a:tc>
                  <a:txBody>
                    <a:bodyPr/>
                    <a:lstStyle/>
                    <a:p>
                      <a:pPr algn="ctr"/>
                      <a:r>
                        <a:rPr sz="1000" b="0">
                          <a:latin typeface="Times New Roman"/>
                        </a:rPr>
                        <a:t>63.0</a:t>
                      </a:r>
                    </a:p>
                  </a:txBody>
                  <a:tcPr marL="36576" marR="36576" marT="18288" marB="18288">
                    <a:solidFill>
                      <a:srgbClr val="F7F3EC"/>
                    </a:solidFill>
                  </a:tcPr>
                </a:tc>
                <a:tc>
                  <a:txBody>
                    <a:bodyPr/>
                    <a:lstStyle/>
                    <a:p>
                      <a:pPr algn="ctr"/>
                      <a:r>
                        <a:rPr sz="1000" b="0">
                          <a:latin typeface="Times New Roman"/>
                        </a:rPr>
                        <a:t>64.6</a:t>
                      </a:r>
                    </a:p>
                  </a:txBody>
                  <a:tcPr marL="36576" marR="36576" marT="18288" marB="18288">
                    <a:solidFill>
                      <a:srgbClr val="F7F3EC"/>
                    </a:solidFill>
                  </a:tcPr>
                </a:tc>
                <a:tc>
                  <a:txBody>
                    <a:bodyPr/>
                    <a:lstStyle/>
                    <a:p>
                      <a:pPr algn="ctr"/>
                      <a:r>
                        <a:rPr sz="1000" b="0">
                          <a:latin typeface="Times New Roman"/>
                        </a:rPr>
                        <a:t>-1.6</a:t>
                      </a:r>
                    </a:p>
                  </a:txBody>
                  <a:tcPr marL="36576" marR="36576" marT="18288" marB="18288">
                    <a:solidFill>
                      <a:srgbClr val="F7F3EC"/>
                    </a:solidFill>
                  </a:tcPr>
                </a:tc>
                <a:extLst>
                  <a:ext uri="{0D108BD9-81ED-4DB2-BD59-A6C34878D82A}">
                    <a16:rowId xmlns:a16="http://schemas.microsoft.com/office/drawing/2014/main" val="10001"/>
                  </a:ext>
                </a:extLst>
              </a:tr>
              <a:tr h="356616">
                <a:tc>
                  <a:txBody>
                    <a:bodyPr/>
                    <a:lstStyle/>
                    <a:p>
                      <a:pPr algn="l"/>
                      <a:r>
                        <a:rPr sz="1000" b="0">
                          <a:latin typeface="Times New Roman"/>
                        </a:rPr>
                        <a:t>mAP50-95</a:t>
                      </a:r>
                    </a:p>
                  </a:txBody>
                  <a:tcPr marL="36576" marR="36576" marT="18288" marB="18288">
                    <a:solidFill>
                      <a:srgbClr val="FFFFFF"/>
                    </a:solidFill>
                  </a:tcPr>
                </a:tc>
                <a:tc>
                  <a:txBody>
                    <a:bodyPr/>
                    <a:lstStyle/>
                    <a:p>
                      <a:pPr algn="ctr"/>
                      <a:r>
                        <a:rPr sz="1000" b="0">
                          <a:latin typeface="Times New Roman"/>
                        </a:rPr>
                        <a:t>34.0</a:t>
                      </a:r>
                    </a:p>
                  </a:txBody>
                  <a:tcPr marL="36576" marR="36576" marT="18288" marB="18288">
                    <a:solidFill>
                      <a:srgbClr val="FFFFFF"/>
                    </a:solidFill>
                  </a:tcPr>
                </a:tc>
                <a:tc>
                  <a:txBody>
                    <a:bodyPr/>
                    <a:lstStyle/>
                    <a:p>
                      <a:pPr algn="ctr"/>
                      <a:r>
                        <a:rPr sz="1000" b="0">
                          <a:latin typeface="Times New Roman"/>
                        </a:rPr>
                        <a:t>33.4</a:t>
                      </a:r>
                    </a:p>
                  </a:txBody>
                  <a:tcPr marL="36576" marR="36576" marT="18288" marB="18288">
                    <a:solidFill>
                      <a:srgbClr val="FFFFFF"/>
                    </a:solidFill>
                  </a:tcPr>
                </a:tc>
                <a:tc>
                  <a:txBody>
                    <a:bodyPr/>
                    <a:lstStyle/>
                    <a:p>
                      <a:pPr algn="ctr"/>
                      <a:r>
                        <a:rPr sz="1000" b="0">
                          <a:latin typeface="Times New Roman"/>
                        </a:rPr>
                        <a:t>+0.6</a:t>
                      </a:r>
                    </a:p>
                  </a:txBody>
                  <a:tcPr marL="36576" marR="36576" marT="18288" marB="18288">
                    <a:solidFill>
                      <a:srgbClr val="FFFFFF"/>
                    </a:solidFill>
                  </a:tcPr>
                </a:tc>
                <a:extLst>
                  <a:ext uri="{0D108BD9-81ED-4DB2-BD59-A6C34878D82A}">
                    <a16:rowId xmlns:a16="http://schemas.microsoft.com/office/drawing/2014/main" val="10002"/>
                  </a:ext>
                </a:extLst>
              </a:tr>
              <a:tr h="356616">
                <a:tc>
                  <a:txBody>
                    <a:bodyPr/>
                    <a:lstStyle/>
                    <a:p>
                      <a:pPr algn="l"/>
                      <a:r>
                        <a:rPr sz="1000" b="0">
                          <a:latin typeface="Times New Roman"/>
                        </a:rPr>
                        <a:t>Precision</a:t>
                      </a:r>
                    </a:p>
                  </a:txBody>
                  <a:tcPr marL="36576" marR="36576" marT="18288" marB="18288">
                    <a:solidFill>
                      <a:srgbClr val="F7F3EC"/>
                    </a:solidFill>
                  </a:tcPr>
                </a:tc>
                <a:tc>
                  <a:txBody>
                    <a:bodyPr/>
                    <a:lstStyle/>
                    <a:p>
                      <a:pPr algn="ctr"/>
                      <a:r>
                        <a:rPr sz="1000" b="0">
                          <a:latin typeface="Times New Roman"/>
                        </a:rPr>
                        <a:t>63.4</a:t>
                      </a:r>
                    </a:p>
                  </a:txBody>
                  <a:tcPr marL="36576" marR="36576" marT="18288" marB="18288">
                    <a:solidFill>
                      <a:srgbClr val="F7F3EC"/>
                    </a:solidFill>
                  </a:tcPr>
                </a:tc>
                <a:tc>
                  <a:txBody>
                    <a:bodyPr/>
                    <a:lstStyle/>
                    <a:p>
                      <a:pPr algn="ctr"/>
                      <a:r>
                        <a:rPr sz="1000" b="0">
                          <a:latin typeface="Times New Roman"/>
                        </a:rPr>
                        <a:t>71.0</a:t>
                      </a:r>
                    </a:p>
                  </a:txBody>
                  <a:tcPr marL="36576" marR="36576" marT="18288" marB="18288">
                    <a:solidFill>
                      <a:srgbClr val="F7F3EC"/>
                    </a:solidFill>
                  </a:tcPr>
                </a:tc>
                <a:tc>
                  <a:txBody>
                    <a:bodyPr/>
                    <a:lstStyle/>
                    <a:p>
                      <a:pPr algn="ctr"/>
                      <a:r>
                        <a:rPr sz="1000" b="0">
                          <a:latin typeface="Times New Roman"/>
                        </a:rPr>
                        <a:t>-7.6</a:t>
                      </a:r>
                    </a:p>
                  </a:txBody>
                  <a:tcPr marL="36576" marR="36576" marT="18288" marB="18288">
                    <a:solidFill>
                      <a:srgbClr val="F7F3EC"/>
                    </a:solidFill>
                  </a:tcPr>
                </a:tc>
                <a:extLst>
                  <a:ext uri="{0D108BD9-81ED-4DB2-BD59-A6C34878D82A}">
                    <a16:rowId xmlns:a16="http://schemas.microsoft.com/office/drawing/2014/main" val="10003"/>
                  </a:ext>
                </a:extLst>
              </a:tr>
              <a:tr h="356616">
                <a:tc>
                  <a:txBody>
                    <a:bodyPr/>
                    <a:lstStyle/>
                    <a:p>
                      <a:pPr algn="l"/>
                      <a:r>
                        <a:rPr sz="1000" b="0">
                          <a:latin typeface="Times New Roman"/>
                        </a:rPr>
                        <a:t>Recall</a:t>
                      </a:r>
                    </a:p>
                  </a:txBody>
                  <a:tcPr marL="36576" marR="36576" marT="18288" marB="18288">
                    <a:solidFill>
                      <a:srgbClr val="FFFFFF"/>
                    </a:solidFill>
                  </a:tcPr>
                </a:tc>
                <a:tc>
                  <a:txBody>
                    <a:bodyPr/>
                    <a:lstStyle/>
                    <a:p>
                      <a:pPr algn="ctr"/>
                      <a:r>
                        <a:rPr sz="1000" b="0">
                          <a:latin typeface="Times New Roman"/>
                        </a:rPr>
                        <a:t>66.2</a:t>
                      </a:r>
                    </a:p>
                  </a:txBody>
                  <a:tcPr marL="36576" marR="36576" marT="18288" marB="18288">
                    <a:solidFill>
                      <a:srgbClr val="FFFFFF"/>
                    </a:solidFill>
                  </a:tcPr>
                </a:tc>
                <a:tc>
                  <a:txBody>
                    <a:bodyPr/>
                    <a:lstStyle/>
                    <a:p>
                      <a:pPr algn="ctr"/>
                      <a:r>
                        <a:rPr sz="1000" b="0">
                          <a:latin typeface="Times New Roman"/>
                        </a:rPr>
                        <a:t>64.1</a:t>
                      </a:r>
                    </a:p>
                  </a:txBody>
                  <a:tcPr marL="36576" marR="36576" marT="18288" marB="18288">
                    <a:solidFill>
                      <a:srgbClr val="FFFFFF"/>
                    </a:solidFill>
                  </a:tcPr>
                </a:tc>
                <a:tc>
                  <a:txBody>
                    <a:bodyPr/>
                    <a:lstStyle/>
                    <a:p>
                      <a:pPr algn="ctr"/>
                      <a:r>
                        <a:rPr sz="1000" b="0">
                          <a:latin typeface="Times New Roman"/>
                        </a:rPr>
                        <a:t>+2.1</a:t>
                      </a:r>
                    </a:p>
                  </a:txBody>
                  <a:tcPr marL="36576" marR="36576" marT="18288" marB="18288">
                    <a:solidFill>
                      <a:srgbClr val="FFFFFF"/>
                    </a:solidFill>
                  </a:tcPr>
                </a:tc>
                <a:extLst>
                  <a:ext uri="{0D108BD9-81ED-4DB2-BD59-A6C34878D82A}">
                    <a16:rowId xmlns:a16="http://schemas.microsoft.com/office/drawing/2014/main" val="10004"/>
                  </a:ext>
                </a:extLst>
              </a:tr>
              <a:tr h="356616">
                <a:tc>
                  <a:txBody>
                    <a:bodyPr/>
                    <a:lstStyle/>
                    <a:p>
                      <a:pPr algn="l"/>
                      <a:r>
                        <a:rPr sz="1000" b="0">
                          <a:latin typeface="Times New Roman"/>
                        </a:rPr>
                        <a:t>F1</a:t>
                      </a:r>
                    </a:p>
                  </a:txBody>
                  <a:tcPr marL="36576" marR="36576" marT="18288" marB="18288">
                    <a:solidFill>
                      <a:srgbClr val="F7F3EC"/>
                    </a:solidFill>
                  </a:tcPr>
                </a:tc>
                <a:tc>
                  <a:txBody>
                    <a:bodyPr/>
                    <a:lstStyle/>
                    <a:p>
                      <a:pPr algn="ctr"/>
                      <a:r>
                        <a:rPr sz="1000" b="0">
                          <a:latin typeface="Times New Roman"/>
                        </a:rPr>
                        <a:t>64.7</a:t>
                      </a:r>
                    </a:p>
                  </a:txBody>
                  <a:tcPr marL="36576" marR="36576" marT="18288" marB="18288">
                    <a:solidFill>
                      <a:srgbClr val="F7F3EC"/>
                    </a:solidFill>
                  </a:tcPr>
                </a:tc>
                <a:tc>
                  <a:txBody>
                    <a:bodyPr/>
                    <a:lstStyle/>
                    <a:p>
                      <a:pPr algn="ctr"/>
                      <a:r>
                        <a:rPr sz="1000" b="0">
                          <a:latin typeface="Times New Roman"/>
                        </a:rPr>
                        <a:t>67.4</a:t>
                      </a:r>
                    </a:p>
                  </a:txBody>
                  <a:tcPr marL="36576" marR="36576" marT="18288" marB="18288">
                    <a:solidFill>
                      <a:srgbClr val="F7F3EC"/>
                    </a:solidFill>
                  </a:tcPr>
                </a:tc>
                <a:tc>
                  <a:txBody>
                    <a:bodyPr/>
                    <a:lstStyle/>
                    <a:p>
                      <a:pPr algn="ctr"/>
                      <a:r>
                        <a:rPr sz="1000" b="0">
                          <a:latin typeface="Times New Roman"/>
                        </a:rPr>
                        <a:t>-2.7</a:t>
                      </a:r>
                    </a:p>
                  </a:txBody>
                  <a:tcPr marL="36576" marR="36576" marT="18288" marB="18288">
                    <a:solidFill>
                      <a:srgbClr val="F7F3EC"/>
                    </a:solidFill>
                  </a:tcPr>
                </a:tc>
                <a:extLst>
                  <a:ext uri="{0D108BD9-81ED-4DB2-BD59-A6C34878D82A}">
                    <a16:rowId xmlns:a16="http://schemas.microsoft.com/office/drawing/2014/main" val="10005"/>
                  </a:ext>
                </a:extLst>
              </a:tr>
              <a:tr h="356616">
                <a:tc>
                  <a:txBody>
                    <a:bodyPr/>
                    <a:lstStyle/>
                    <a:p>
                      <a:pPr algn="l"/>
                      <a:r>
                        <a:rPr sz="1000" b="0">
                          <a:latin typeface="Times New Roman"/>
                        </a:rPr>
                        <a:t>Crack mAP50 / recall</a:t>
                      </a:r>
                    </a:p>
                  </a:txBody>
                  <a:tcPr marL="36576" marR="36576" marT="18288" marB="18288">
                    <a:solidFill>
                      <a:srgbClr val="FFFFFF"/>
                    </a:solidFill>
                  </a:tcPr>
                </a:tc>
                <a:tc>
                  <a:txBody>
                    <a:bodyPr/>
                    <a:lstStyle/>
                    <a:p>
                      <a:pPr algn="ctr"/>
                      <a:r>
                        <a:rPr sz="1000" b="0">
                          <a:latin typeface="Times New Roman"/>
                        </a:rPr>
                        <a:t>57.7 / 72.6</a:t>
                      </a:r>
                    </a:p>
                  </a:txBody>
                  <a:tcPr marL="36576" marR="36576" marT="18288" marB="18288">
                    <a:solidFill>
                      <a:srgbClr val="FFFFFF"/>
                    </a:solidFill>
                  </a:tcPr>
                </a:tc>
                <a:tc>
                  <a:txBody>
                    <a:bodyPr/>
                    <a:lstStyle/>
                    <a:p>
                      <a:pPr algn="ctr"/>
                      <a:r>
                        <a:rPr sz="1000" b="0">
                          <a:latin typeface="Times New Roman"/>
                        </a:rPr>
                        <a:t>53.0 / 63.2</a:t>
                      </a:r>
                    </a:p>
                  </a:txBody>
                  <a:tcPr marL="36576" marR="36576" marT="18288" marB="18288">
                    <a:solidFill>
                      <a:srgbClr val="FFFFFF"/>
                    </a:solidFill>
                  </a:tcPr>
                </a:tc>
                <a:tc>
                  <a:txBody>
                    <a:bodyPr/>
                    <a:lstStyle/>
                    <a:p>
                      <a:pPr algn="ctr"/>
                      <a:r>
                        <a:rPr sz="1000" b="0">
                          <a:latin typeface="Times New Roman"/>
                        </a:rPr>
                        <a:t>+4.7 / +9.4</a:t>
                      </a:r>
                    </a:p>
                  </a:txBody>
                  <a:tcPr marL="36576" marR="36576" marT="18288" marB="18288">
                    <a:solidFill>
                      <a:srgbClr val="FFFFFF"/>
                    </a:solidFill>
                  </a:tcPr>
                </a:tc>
                <a:extLst>
                  <a:ext uri="{0D108BD9-81ED-4DB2-BD59-A6C34878D82A}">
                    <a16:rowId xmlns:a16="http://schemas.microsoft.com/office/drawing/2014/main" val="10006"/>
                  </a:ext>
                </a:extLst>
              </a:tr>
              <a:tr h="356616">
                <a:tc>
                  <a:txBody>
                    <a:bodyPr/>
                    <a:lstStyle/>
                    <a:p>
                      <a:pPr algn="l"/>
                      <a:r>
                        <a:rPr sz="1000" b="0">
                          <a:latin typeface="Times New Roman"/>
                        </a:rPr>
                        <a:t>Inference, T4</a:t>
                      </a:r>
                    </a:p>
                  </a:txBody>
                  <a:tcPr marL="36576" marR="36576" marT="18288" marB="18288">
                    <a:solidFill>
                      <a:srgbClr val="F7F3EC"/>
                    </a:solidFill>
                  </a:tcPr>
                </a:tc>
                <a:tc>
                  <a:txBody>
                    <a:bodyPr/>
                    <a:lstStyle/>
                    <a:p>
                      <a:pPr algn="ctr"/>
                      <a:r>
                        <a:rPr sz="1000" b="0">
                          <a:latin typeface="Times New Roman"/>
                        </a:rPr>
                        <a:t>33.2 ms (30 FPS)</a:t>
                      </a:r>
                    </a:p>
                  </a:txBody>
                  <a:tcPr marL="36576" marR="36576" marT="18288" marB="18288">
                    <a:solidFill>
                      <a:srgbClr val="F7F3EC"/>
                    </a:solidFill>
                  </a:tcPr>
                </a:tc>
                <a:tc>
                  <a:txBody>
                    <a:bodyPr/>
                    <a:lstStyle/>
                    <a:p>
                      <a:pPr algn="ctr"/>
                      <a:r>
                        <a:rPr sz="1000" b="0">
                          <a:latin typeface="Times New Roman"/>
                        </a:rPr>
                        <a:t>11.7 ms (86 FPS)</a:t>
                      </a:r>
                    </a:p>
                  </a:txBody>
                  <a:tcPr marL="36576" marR="36576" marT="18288" marB="18288">
                    <a:solidFill>
                      <a:srgbClr val="F7F3EC"/>
                    </a:solidFill>
                  </a:tcPr>
                </a:tc>
                <a:tc>
                  <a:txBody>
                    <a:bodyPr/>
                    <a:lstStyle/>
                    <a:p>
                      <a:pPr algn="ctr"/>
                      <a:r>
                        <a:rPr sz="1000" b="0">
                          <a:latin typeface="Times New Roman"/>
                        </a:rPr>
                        <a:t>2.8x slower</a:t>
                      </a:r>
                    </a:p>
                  </a:txBody>
                  <a:tcPr marL="36576" marR="36576" marT="18288" marB="18288">
                    <a:solidFill>
                      <a:srgbClr val="F7F3EC"/>
                    </a:solidFill>
                  </a:tcPr>
                </a:tc>
                <a:extLst>
                  <a:ext uri="{0D108BD9-81ED-4DB2-BD59-A6C34878D82A}">
                    <a16:rowId xmlns:a16="http://schemas.microsoft.com/office/drawing/2014/main" val="10007"/>
                  </a:ext>
                </a:extLst>
              </a:tr>
              <a:tr h="356616">
                <a:tc>
                  <a:txBody>
                    <a:bodyPr/>
                    <a:lstStyle/>
                    <a:p>
                      <a:pPr algn="l"/>
                      <a:r>
                        <a:rPr sz="1000" b="0">
                          <a:latin typeface="Times New Roman"/>
                        </a:rPr>
                        <a:t>Training cost</a:t>
                      </a:r>
                    </a:p>
                  </a:txBody>
                  <a:tcPr marL="36576" marR="36576" marT="18288" marB="18288">
                    <a:solidFill>
                      <a:srgbClr val="FFFFFF"/>
                    </a:solidFill>
                  </a:tcPr>
                </a:tc>
                <a:tc>
                  <a:txBody>
                    <a:bodyPr/>
                    <a:lstStyle/>
                    <a:p>
                      <a:pPr algn="ctr"/>
                      <a:r>
                        <a:rPr sz="1000" b="0">
                          <a:latin typeface="Times New Roman"/>
                        </a:rPr>
                        <a:t>2.64 h</a:t>
                      </a:r>
                    </a:p>
                  </a:txBody>
                  <a:tcPr marL="36576" marR="36576" marT="18288" marB="18288">
                    <a:solidFill>
                      <a:srgbClr val="FFFFFF"/>
                    </a:solidFill>
                  </a:tcPr>
                </a:tc>
                <a:tc>
                  <a:txBody>
                    <a:bodyPr/>
                    <a:lstStyle/>
                    <a:p>
                      <a:pPr algn="ctr"/>
                      <a:r>
                        <a:rPr sz="1000" b="0">
                          <a:latin typeface="Times New Roman"/>
                        </a:rPr>
                        <a:t>1.43 h</a:t>
                      </a:r>
                    </a:p>
                  </a:txBody>
                  <a:tcPr marL="36576" marR="36576" marT="18288" marB="18288">
                    <a:solidFill>
                      <a:srgbClr val="FFFFFF"/>
                    </a:solidFill>
                  </a:tcPr>
                </a:tc>
                <a:tc>
                  <a:txBody>
                    <a:bodyPr/>
                    <a:lstStyle/>
                    <a:p>
                      <a:pPr algn="ctr"/>
                      <a:r>
                        <a:rPr sz="1000" b="0">
                          <a:latin typeface="Times New Roman"/>
                        </a:rPr>
                        <a:t>1.8x</a:t>
                      </a:r>
                    </a:p>
                  </a:txBody>
                  <a:tcPr marL="36576" marR="36576" marT="18288" marB="18288">
                    <a:solidFill>
                      <a:srgbClr val="FFFFFF"/>
                    </a:solidFill>
                  </a:tcPr>
                </a:tc>
                <a:extLst>
                  <a:ext uri="{0D108BD9-81ED-4DB2-BD59-A6C34878D82A}">
                    <a16:rowId xmlns:a16="http://schemas.microsoft.com/office/drawing/2014/main" val="10008"/>
                  </a:ext>
                </a:extLst>
              </a:tr>
              <a:tr h="356616">
                <a:tc>
                  <a:txBody>
                    <a:bodyPr/>
                    <a:lstStyle/>
                    <a:p>
                      <a:pPr algn="l"/>
                      <a:r>
                        <a:rPr sz="1000" b="0">
                          <a:latin typeface="Times New Roman"/>
                        </a:rPr>
                        <a:t>Parameters</a:t>
                      </a:r>
                    </a:p>
                  </a:txBody>
                  <a:tcPr marL="36576" marR="36576" marT="18288" marB="18288">
                    <a:solidFill>
                      <a:srgbClr val="F7F3EC"/>
                    </a:solidFill>
                  </a:tcPr>
                </a:tc>
                <a:tc>
                  <a:txBody>
                    <a:bodyPr/>
                    <a:lstStyle/>
                    <a:p>
                      <a:pPr algn="ctr"/>
                      <a:r>
                        <a:rPr sz="1000" b="0">
                          <a:latin typeface="Times New Roman"/>
                        </a:rPr>
                        <a:t>20.0 M</a:t>
                      </a:r>
                    </a:p>
                  </a:txBody>
                  <a:tcPr marL="36576" marR="36576" marT="18288" marB="18288">
                    <a:solidFill>
                      <a:srgbClr val="F7F3EC"/>
                    </a:solidFill>
                  </a:tcPr>
                </a:tc>
                <a:tc>
                  <a:txBody>
                    <a:bodyPr/>
                    <a:lstStyle/>
                    <a:p>
                      <a:pPr algn="ctr"/>
                      <a:r>
                        <a:rPr sz="1000" b="0">
                          <a:latin typeface="Times New Roman"/>
                        </a:rPr>
                        <a:t>9.4 M</a:t>
                      </a:r>
                    </a:p>
                  </a:txBody>
                  <a:tcPr marL="36576" marR="36576" marT="18288" marB="18288">
                    <a:solidFill>
                      <a:srgbClr val="F7F3EC"/>
                    </a:solidFill>
                  </a:tcPr>
                </a:tc>
                <a:tc>
                  <a:txBody>
                    <a:bodyPr/>
                    <a:lstStyle/>
                    <a:p>
                      <a:pPr algn="ctr"/>
                      <a:r>
                        <a:rPr sz="1000" b="0">
                          <a:latin typeface="Times New Roman"/>
                        </a:rPr>
                        <a:t>2.1x</a:t>
                      </a:r>
                    </a:p>
                  </a:txBody>
                  <a:tcPr marL="36576" marR="36576" marT="18288" marB="18288">
                    <a:solidFill>
                      <a:srgbClr val="F7F3EC"/>
                    </a:solidFill>
                  </a:tcPr>
                </a:tc>
                <a:extLst>
                  <a:ext uri="{0D108BD9-81ED-4DB2-BD59-A6C34878D82A}">
                    <a16:rowId xmlns:a16="http://schemas.microsoft.com/office/drawing/2014/main" val="10009"/>
                  </a:ext>
                </a:extLst>
              </a:tr>
            </a:tbl>
          </a:graphicData>
        </a:graphic>
      </p:graphicFrame>
      <p:pic>
        <p:nvPicPr>
          <p:cNvPr id="313" name="Picture 312" descr="confusion_matrix_normalized.png"/>
          <p:cNvPicPr>
            <a:picLocks noChangeAspect="1"/>
          </p:cNvPicPr>
          <p:nvPr/>
        </p:nvPicPr>
        <p:blipFill>
          <a:blip r:embed="rId7"/>
          <a:stretch>
            <a:fillRect/>
          </a:stretch>
        </p:blipFill>
        <p:spPr>
          <a:xfrm>
            <a:off x="5212080" y="1468755"/>
            <a:ext cx="3154680" cy="2366010"/>
          </a:xfrm>
          <a:prstGeom prst="rect">
            <a:avLst/>
          </a:prstGeom>
        </p:spPr>
      </p:pic>
      <p:sp>
        <p:nvSpPr>
          <p:cNvPr id="314" name="TextBox 313"/>
          <p:cNvSpPr txBox="1"/>
          <p:nvPr/>
        </p:nvSpPr>
        <p:spPr>
          <a:xfrm>
            <a:off x="5212080" y="3900002"/>
            <a:ext cx="3154680" cy="320040"/>
          </a:xfrm>
          <a:prstGeom prst="rect">
            <a:avLst/>
          </a:prstGeom>
          <a:noFill/>
        </p:spPr>
        <p:txBody>
          <a:bodyPr wrap="none">
            <a:spAutoFit/>
          </a:bodyPr>
          <a:lstStyle/>
          <a:p>
            <a:pPr marL="0" lvl="0" indent="0" algn="ctr">
              <a:lnSpc>
                <a:spcPct val="115000"/>
              </a:lnSpc>
              <a:spcBef>
                <a:spcPts val="600"/>
              </a:spcBef>
              <a:spcAft>
                <a:spcPts val="0"/>
              </a:spcAft>
              <a:buNone/>
            </a:pPr>
            <a:r>
              <a:rPr lang="en-US" sz="1100" dirty="0">
                <a:latin typeface="Times New Roman"/>
                <a:ea typeface="Times New Roman"/>
                <a:cs typeface="Times New Roman"/>
                <a:sym typeface="Times New Roman"/>
              </a:rPr>
              <a:t>Test confusion matrix, YOLO11m</a:t>
            </a:r>
          </a:p>
        </p:txBody>
      </p:sp>
      <p:sp>
        <p:nvSpPr>
          <p:cNvPr id="315" name="TextBox 314"/>
          <p:cNvSpPr txBox="1"/>
          <p:nvPr/>
        </p:nvSpPr>
        <p:spPr>
          <a:xfrm>
            <a:off x="274320" y="4617720"/>
            <a:ext cx="8046720" cy="1737360"/>
          </a:xfrm>
          <a:prstGeom prst="rect">
            <a:avLst/>
          </a:prstGeom>
          <a:noFill/>
        </p:spPr>
        <p:txBody>
          <a:bodyPr wrap="square">
            <a:spAutoFit/>
          </a:bodyPr>
          <a:lstStyle/>
          <a:p>
            <a:pPr marL="457200" lvl="0" indent="-330200" algn="l">
              <a:lnSpc>
                <a:spcPct val="108000"/>
              </a:lnSpc>
              <a:spcBef>
                <a:spcPts val="400"/>
              </a:spcBef>
              <a:spcAft>
                <a:spcPts val="0"/>
              </a:spcAft>
              <a:buSzPts val="1200"/>
              <a:buFont typeface="Times New Roman"/>
              <a:buChar char="●"/>
            </a:pPr>
            <a:r>
              <a:rPr lang="en-US" sz="1000" b="1">
                <a:latin typeface="Times New Roman"/>
                <a:ea typeface="Times New Roman"/>
                <a:cs typeface="Times New Roman"/>
                <a:sym typeface="Times New Roman"/>
              </a:rPr>
              <a:t>Clean evaluation: </a:t>
            </a:r>
            <a:r>
              <a:rPr lang="en-US" sz="1000">
                <a:latin typeface="Times New Roman"/>
                <a:ea typeface="Times New Roman"/>
                <a:cs typeface="Times New Roman"/>
                <a:sym typeface="Times New Roman"/>
              </a:rPr>
              <a:t>split by physical board (52 / 17 / 12 boards, zero overlap); the earlier 62.2 was inflated by boards shared between training and test.</a:t>
            </a:r>
          </a:p>
          <a:p>
            <a:pPr marL="457200" lvl="0" indent="-330200" algn="l">
              <a:lnSpc>
                <a:spcPct val="108000"/>
              </a:lnSpc>
              <a:spcBef>
                <a:spcPts val="400"/>
              </a:spcBef>
              <a:spcAft>
                <a:spcPts val="0"/>
              </a:spcAft>
              <a:buSzPts val="1200"/>
              <a:buFont typeface="Times New Roman"/>
              <a:buChar char="●"/>
            </a:pPr>
            <a:r>
              <a:rPr lang="en-US" sz="1000" b="1">
                <a:latin typeface="Times New Roman"/>
                <a:ea typeface="Times New Roman"/>
                <a:cs typeface="Times New Roman"/>
                <a:sym typeface="Times New Roman"/>
              </a:rPr>
              <a:t>Input: </a:t>
            </a:r>
            <a:r>
              <a:rPr lang="en-US" sz="1000">
                <a:latin typeface="Times New Roman"/>
                <a:ea typeface="Times New Roman"/>
                <a:cs typeface="Times New Roman"/>
                <a:sym typeface="Times New Roman"/>
              </a:rPr>
              <a:t>rectangular 1024-px input instead of 640 x 640 squares (63 % padding removed), grain-safe augmentation.</a:t>
            </a:r>
          </a:p>
          <a:p>
            <a:pPr marL="457200" lvl="0" indent="-330200" algn="l">
              <a:lnSpc>
                <a:spcPct val="108000"/>
              </a:lnSpc>
              <a:spcBef>
                <a:spcPts val="400"/>
              </a:spcBef>
              <a:spcAft>
                <a:spcPts val="0"/>
              </a:spcAft>
              <a:buSzPts val="1200"/>
              <a:buFont typeface="Times New Roman"/>
              <a:buChar char="●"/>
            </a:pPr>
            <a:r>
              <a:rPr lang="en-US" sz="1000" b="1">
                <a:latin typeface="Times New Roman"/>
                <a:ea typeface="Times New Roman"/>
                <a:cs typeface="Times New Roman"/>
                <a:sym typeface="Times New Roman"/>
              </a:rPr>
              <a:t>Result: </a:t>
            </a:r>
            <a:r>
              <a:rPr lang="en-US" sz="1000">
                <a:latin typeface="Times New Roman"/>
                <a:ea typeface="Times New Roman"/>
                <a:cs typeface="Times New Roman"/>
                <a:sym typeface="Times New Roman"/>
              </a:rPr>
              <a:t>YOLO11m and YOLO11s tied at 63-65 mAP50 over 8 classes; YOLO11s is 2.8x faster.</a:t>
            </a:r>
          </a:p>
          <a:p>
            <a:pPr marL="457200" lvl="0" indent="-330200" algn="l">
              <a:lnSpc>
                <a:spcPct val="108000"/>
              </a:lnSpc>
              <a:spcBef>
                <a:spcPts val="400"/>
              </a:spcBef>
              <a:spcAft>
                <a:spcPts val="0"/>
              </a:spcAft>
              <a:buSzPts val="1200"/>
              <a:buFont typeface="Times New Roman"/>
              <a:buChar char="●"/>
            </a:pPr>
            <a:r>
              <a:rPr lang="en-US" sz="1000" b="1">
                <a:latin typeface="Times New Roman"/>
                <a:ea typeface="Times New Roman"/>
                <a:cs typeface="Times New Roman"/>
                <a:sym typeface="Times New Roman"/>
              </a:rPr>
              <a:t>Conclusion at 50 %: </a:t>
            </a:r>
            <a:r>
              <a:rPr lang="en-US" sz="1000">
                <a:latin typeface="Times New Roman"/>
                <a:ea typeface="Times New Roman"/>
                <a:cs typeface="Times New Roman"/>
                <a:sym typeface="Times New Roman"/>
              </a:rPr>
              <a:t>model size is not the bottleneck; scarce and imbalanced data is. This set the plan for the second half.</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1"/>
          <p:cNvSpPr txBox="1"/>
          <p:nvPr/>
        </p:nvSpPr>
        <p:spPr>
          <a:xfrm>
            <a:off x="395605" y="131445"/>
            <a:ext cx="8054340" cy="53338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DEMONSTRATION APPLICATION</a:t>
            </a:r>
            <a:endParaRPr sz="1400" b="0" i="0" u="none" strike="noStrike" cap="none">
              <a:solidFill>
                <a:srgbClr val="000000"/>
              </a:solidFill>
              <a:latin typeface="Arial"/>
              <a:ea typeface="Arial"/>
              <a:cs typeface="Arial"/>
              <a:sym typeface="Arial"/>
            </a:endParaRPr>
          </a:p>
        </p:txBody>
      </p:sp>
      <p:sp>
        <p:nvSpPr>
          <p:cNvPr id="317" name="Google Shape;317;p3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21</a:t>
            </a:fld>
            <a:endParaRPr/>
          </a:p>
        </p:txBody>
      </p:sp>
      <p:pic>
        <p:nvPicPr>
          <p:cNvPr id="318" name="Google Shape;318;p31"/>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19" name="Google Shape;319;p31"/>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320" name="Google Shape;320;p31"/>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321" name="Google Shape;321;p31"/>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322" name="Google Shape;322;p3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326" name="TextBox 325"/>
          <p:cNvSpPr txBox="1"/>
          <p:nvPr/>
        </p:nvSpPr>
        <p:spPr>
          <a:xfrm>
            <a:off x="365760" y="914400"/>
            <a:ext cx="7589520" cy="3108960"/>
          </a:xfrm>
          <a:prstGeom prst="rect">
            <a:avLst/>
          </a:prstGeom>
          <a:noFill/>
        </p:spPr>
        <p:txBody>
          <a:bodyPr wrap="square">
            <a:spAutoFit/>
          </a:bodyPr>
          <a:lstStyle/>
          <a:p>
            <a:pPr marL="457200" lvl="0" indent="-330200" algn="l">
              <a:lnSpc>
                <a:spcPct val="108000"/>
              </a:lnSpc>
              <a:spcBef>
                <a:spcPts val="500"/>
              </a:spcBef>
              <a:spcAft>
                <a:spcPts val="0"/>
              </a:spcAft>
              <a:buSzPts val="1200"/>
              <a:buFont typeface="Times New Roman"/>
              <a:buChar char="●"/>
            </a:pPr>
            <a:r>
              <a:rPr lang="en-US" sz="1050" b="1">
                <a:latin typeface="Times New Roman"/>
                <a:ea typeface="Times New Roman"/>
                <a:cs typeface="Times New Roman"/>
                <a:sym typeface="Times New Roman"/>
              </a:rPr>
              <a:t>Detect: </a:t>
            </a:r>
            <a:r>
              <a:rPr lang="en-US" sz="1050">
                <a:latin typeface="Times New Roman"/>
                <a:ea typeface="Times New Roman"/>
                <a:cs typeface="Times New Roman"/>
                <a:sym typeface="Times New Roman"/>
              </a:rPr>
              <a:t>upload a board image; the final detector (fusion of two models) draws colour-coded boxes with class and confidence; defect heatmap; per-class counts and area.</a:t>
            </a:r>
          </a:p>
          <a:p>
            <a:pPr marL="457200" lvl="0" indent="-330200" algn="l">
              <a:lnSpc>
                <a:spcPct val="108000"/>
              </a:lnSpc>
              <a:spcBef>
                <a:spcPts val="500"/>
              </a:spcBef>
              <a:spcAft>
                <a:spcPts val="0"/>
              </a:spcAft>
              <a:buSzPts val="1200"/>
              <a:buFont typeface="Times New Roman"/>
              <a:buChar char="●"/>
            </a:pPr>
            <a:r>
              <a:rPr lang="en-US" sz="1050" b="1">
                <a:latin typeface="Times New Roman"/>
                <a:ea typeface="Times New Roman"/>
                <a:cs typeface="Times New Roman"/>
                <a:sym typeface="Times New Roman"/>
              </a:rPr>
              <a:t>Grade: </a:t>
            </a:r>
            <a:r>
              <a:rPr lang="en-US" sz="1050">
                <a:latin typeface="Times New Roman"/>
                <a:ea typeface="Times New Roman"/>
                <a:cs typeface="Times New Roman"/>
                <a:sym typeface="Times New Roman"/>
              </a:rPr>
              <a:t>Board Recoverability Index grade A / B / C / Reject with the damage score and the cut-offs it is compared to; recoverable area.</a:t>
            </a:r>
          </a:p>
          <a:p>
            <a:pPr marL="457200" lvl="0" indent="-330200" algn="l">
              <a:lnSpc>
                <a:spcPct val="108000"/>
              </a:lnSpc>
              <a:spcBef>
                <a:spcPts val="500"/>
              </a:spcBef>
              <a:spcAft>
                <a:spcPts val="0"/>
              </a:spcAft>
              <a:buSzPts val="1200"/>
              <a:buFont typeface="Times New Roman"/>
              <a:buChar char="●"/>
            </a:pPr>
            <a:r>
              <a:rPr lang="en-US" sz="1050" b="1">
                <a:latin typeface="Times New Roman"/>
                <a:ea typeface="Times New Roman"/>
                <a:cs typeface="Times New Roman"/>
                <a:sym typeface="Times New Roman"/>
              </a:rPr>
              <a:t>Compare: </a:t>
            </a:r>
            <a:r>
              <a:rPr lang="en-US" sz="1050">
                <a:latin typeface="Times New Roman"/>
                <a:ea typeface="Times New Roman"/>
                <a:cs typeface="Times New Roman"/>
                <a:sym typeface="Times New Roman"/>
              </a:rPr>
              <a:t>on the unseen test boards, the annotators' boxes and grade are shown next to the model's.</a:t>
            </a:r>
          </a:p>
          <a:p>
            <a:pPr marL="457200" lvl="0" indent="-330200" algn="l">
              <a:lnSpc>
                <a:spcPct val="108000"/>
              </a:lnSpc>
              <a:spcBef>
                <a:spcPts val="500"/>
              </a:spcBef>
              <a:spcAft>
                <a:spcPts val="0"/>
              </a:spcAft>
              <a:buSzPts val="1200"/>
              <a:buFont typeface="Times New Roman"/>
              <a:buChar char="●"/>
            </a:pPr>
            <a:r>
              <a:rPr lang="en-US" sz="1050" b="1">
                <a:latin typeface="Times New Roman"/>
                <a:ea typeface="Times New Roman"/>
                <a:cs typeface="Times New Roman"/>
                <a:sym typeface="Times New Roman"/>
              </a:rPr>
              <a:t>Value (add-on): </a:t>
            </a:r>
            <a:r>
              <a:rPr lang="en-US" sz="1050">
                <a:latin typeface="Times New Roman"/>
                <a:ea typeface="Times New Roman"/>
                <a:cs typeface="Times New Roman"/>
                <a:sym typeface="Times New Roman"/>
              </a:rPr>
              <a:t>illustrative estimate = volume x recoverable share x grade-A price x grade factor; all inputs editable.</a:t>
            </a:r>
          </a:p>
          <a:p>
            <a:pPr marL="457200" lvl="0" indent="-330200" algn="l">
              <a:lnSpc>
                <a:spcPct val="108000"/>
              </a:lnSpc>
              <a:spcBef>
                <a:spcPts val="500"/>
              </a:spcBef>
              <a:spcAft>
                <a:spcPts val="0"/>
              </a:spcAft>
              <a:buSzPts val="1200"/>
              <a:buFont typeface="Times New Roman"/>
              <a:buChar char="●"/>
            </a:pPr>
            <a:r>
              <a:rPr lang="en-US" sz="1050" b="1">
                <a:latin typeface="Times New Roman"/>
                <a:ea typeface="Times New Roman"/>
                <a:cs typeface="Times New Roman"/>
                <a:sym typeface="Times New Roman"/>
              </a:rPr>
              <a:t>Report and deployment: </a:t>
            </a:r>
            <a:r>
              <a:rPr lang="en-US" sz="1050">
                <a:latin typeface="Times New Roman"/>
                <a:ea typeface="Times New Roman"/>
                <a:cs typeface="Times New Roman"/>
                <a:sym typeface="Times New Roman"/>
              </a:rPr>
              <a:t>downloadable JSON report per image; runs on a laptop CPU, about 0.5 s per image; earlier models selectable for comparison.</a:t>
            </a:r>
          </a:p>
        </p:txBody>
      </p:sp>
      <p:sp>
        <p:nvSpPr>
          <p:cNvPr id="327" name="TextBox 326"/>
          <p:cNvSpPr txBox="1"/>
          <p:nvPr/>
        </p:nvSpPr>
        <p:spPr>
          <a:xfrm>
            <a:off x="365760" y="4206240"/>
            <a:ext cx="7589520" cy="2743200"/>
          </a:xfrm>
          <a:prstGeom prst="rect">
            <a:avLst/>
          </a:prstGeom>
          <a:noFill/>
        </p:spPr>
        <p:txBody>
          <a:bodyPr wrap="square">
            <a:spAutoFit/>
          </a:bodyPr>
          <a:lstStyle/>
          <a:p>
            <a:pPr marL="0" lvl="0" indent="0" algn="l">
              <a:lnSpc>
                <a:spcPct val="105000"/>
              </a:lnSpc>
              <a:spcBef>
                <a:spcPts val="400"/>
              </a:spcBef>
              <a:spcAft>
                <a:spcPts val="0"/>
              </a:spcAft>
              <a:buNone/>
            </a:pPr>
            <a:r>
              <a:rPr lang="en-US" sz="1000" b="1" dirty="0">
                <a:latin typeface="Times New Roman"/>
                <a:ea typeface="Times New Roman"/>
                <a:cs typeface="Times New Roman"/>
                <a:sym typeface="Times New Roman"/>
              </a:rPr>
              <a:t>Validated components: </a:t>
            </a:r>
            <a:r>
              <a:rPr lang="en-US" sz="1000" b="0" dirty="0">
                <a:latin typeface="Times New Roman"/>
                <a:ea typeface="Times New Roman"/>
                <a:cs typeface="Times New Roman"/>
                <a:sym typeface="Times New Roman"/>
              </a:rPr>
              <a:t>detection (single-shot test), grading (weighted kappa), enhancement (study on validation).</a:t>
            </a:r>
          </a:p>
        </p:txBody>
      </p:sp>
      <p:sp>
        <p:nvSpPr>
          <p:cNvPr id="328" name="TextBox 327"/>
          <p:cNvSpPr txBox="1"/>
          <p:nvPr/>
        </p:nvSpPr>
        <p:spPr>
          <a:xfrm>
            <a:off x="365760" y="4846320"/>
            <a:ext cx="7589520" cy="1554480"/>
          </a:xfrm>
          <a:prstGeom prst="rect">
            <a:avLst/>
          </a:prstGeom>
          <a:noFill/>
        </p:spPr>
        <p:txBody>
          <a:bodyPr wrap="square">
            <a:spAutoFit/>
          </a:bodyPr>
          <a:lstStyle/>
          <a:p>
            <a:pPr marL="0" lvl="0" indent="0" algn="l">
              <a:lnSpc>
                <a:spcPct val="105000"/>
              </a:lnSpc>
              <a:spcBef>
                <a:spcPts val="400"/>
              </a:spcBef>
              <a:spcAft>
                <a:spcPts val="0"/>
              </a:spcAft>
              <a:buNone/>
            </a:pPr>
            <a:r>
              <a:rPr lang="en-US" sz="950">
                <a:latin typeface="Times New Roman"/>
                <a:ea typeface="Times New Roman"/>
                <a:cs typeface="Times New Roman"/>
                <a:sym typeface="Times New Roman"/>
              </a:rPr>
              <a:t>Limitations: 12-board original test set (plus 51 boards on the expanded data); severity weights and grade thresholds await expert calibration; trained on controlled line-scan imagery.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1"/>
          <p:cNvSpPr txBox="1"/>
          <p:nvPr/>
        </p:nvSpPr>
        <p:spPr>
          <a:xfrm>
            <a:off x="395605" y="131445"/>
            <a:ext cx="8054340" cy="53338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REFERENCES</a:t>
            </a:r>
            <a:endParaRPr sz="1400" b="0" i="0" u="none" strike="noStrike" cap="none">
              <a:solidFill>
                <a:srgbClr val="000000"/>
              </a:solidFill>
              <a:latin typeface="Arial"/>
              <a:ea typeface="Arial"/>
              <a:cs typeface="Arial"/>
              <a:sym typeface="Arial"/>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[1] Y. Fang, Y. Ma, S. Gao, and J. Chen, “Recent advances in wood surface defect inspection using deep learning (2021–2025),” </a:t>
            </a:r>
            <a:r>
              <a:rPr lang="en-US" sz="1100" i="1">
                <a:latin typeface="Times New Roman"/>
                <a:ea typeface="Times New Roman"/>
                <a:cs typeface="Times New Roman"/>
                <a:sym typeface="Times New Roman"/>
              </a:rPr>
              <a:t>BioResources</a:t>
            </a:r>
            <a:r>
              <a:rPr lang="en-US" sz="1100">
                <a:latin typeface="Times New Roman"/>
                <a:ea typeface="Times New Roman"/>
                <a:cs typeface="Times New Roman"/>
                <a:sym typeface="Times New Roman"/>
              </a:rPr>
              <a:t>, vol. 21, no. 3, 2026.</a:t>
            </a:r>
            <a:r>
              <a:rPr lang="en-US" sz="1100">
                <a:uFill>
                  <a:noFill/>
                </a:uFill>
                <a:latin typeface="Times New Roman"/>
                <a:ea typeface="Times New Roman"/>
                <a:cs typeface="Times New Roman"/>
                <a:sym typeface="Times New Roman"/>
                <a:hlinkClick r:id="rId2"/>
              </a:rPr>
              <a:t> </a:t>
            </a:r>
            <a:r>
              <a:rPr lang="en-US" sz="1100" u="sng">
                <a:solidFill>
                  <a:srgbClr val="1155CC"/>
                </a:solidFill>
                <a:latin typeface="Times New Roman"/>
                <a:ea typeface="Times New Roman"/>
                <a:cs typeface="Times New Roman"/>
                <a:sym typeface="Times New Roman"/>
                <a:hlinkClick r:id="rId2">
                  <a:extLst>
                    <a:ext uri="{A12FA001-AC4F-418D-AE19-62706E023703}">
                      <ahyp:hlinkClr xmlns:ahyp="http://schemas.microsoft.com/office/drawing/2018/hyperlinkcolor" val="tx"/>
                    </a:ext>
                  </a:extLst>
                </a:hlinkClick>
              </a:rPr>
              <a:t>https://bioresources.cnr.ncsu.edu/resources/recent-advances-in-wood-surface-defect-inspection-using-deep-learning-2021-2025/</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2">
                  <a:extLst>
                    <a:ext uri="{A12FA001-AC4F-418D-AE19-62706E023703}">
                      <ahyp:hlinkClr xmlns:ahyp="http://schemas.microsoft.com/office/drawing/2018/hyperlinkcolor" val="tx"/>
                    </a:ext>
                  </a:extLst>
                </a:hlinkClick>
              </a:rPr>
              <a:t>BioResources</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[2] J. Zheng, “IEL-YOLO: A low-light robust wood defect detection method based on YOLOv11,” in </a:t>
            </a:r>
            <a:r>
              <a:rPr lang="en-US" sz="1100" i="1">
                <a:latin typeface="Times New Roman"/>
                <a:ea typeface="Times New Roman"/>
                <a:cs typeface="Times New Roman"/>
                <a:sym typeface="Times New Roman"/>
              </a:rPr>
              <a:t>Proc. 2026 3rd Int. Conf. Electrical Technology and Automation Engineering (ETAE)</a:t>
            </a:r>
            <a:r>
              <a:rPr lang="en-US" sz="1100">
                <a:latin typeface="Times New Roman"/>
                <a:ea typeface="Times New Roman"/>
                <a:cs typeface="Times New Roman"/>
                <a:sym typeface="Times New Roman"/>
              </a:rPr>
              <a:t>, 2026, pp. 818–821, doi: 10.1109/ETAE69474.2026.11496073.</a:t>
            </a:r>
            <a:r>
              <a:rPr lang="en-US" sz="1100">
                <a:uFill>
                  <a:noFill/>
                </a:uFill>
                <a:latin typeface="Times New Roman"/>
                <a:ea typeface="Times New Roman"/>
                <a:cs typeface="Times New Roman"/>
                <a:sym typeface="Times New Roman"/>
                <a:hlinkClick r:id="rId3"/>
              </a:rPr>
              <a:t> </a:t>
            </a:r>
            <a:r>
              <a:rPr lang="en-US" sz="1100" u="sng">
                <a:solidFill>
                  <a:srgbClr val="1155CC"/>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https://doi.org/10.1109/ETAE69474.2026.11496073</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ResearchGate</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[3] J. Qu, Y. Pang, and Z. Wang, “WD-SEG: A deep learning framework for delicate and accurate wood defect segmentation,” </a:t>
            </a:r>
            <a:r>
              <a:rPr lang="en-US" sz="1100" i="1">
                <a:latin typeface="Times New Roman"/>
                <a:ea typeface="Times New Roman"/>
                <a:cs typeface="Times New Roman"/>
                <a:sym typeface="Times New Roman"/>
              </a:rPr>
              <a:t>BioResources</a:t>
            </a:r>
            <a:r>
              <a:rPr lang="en-US" sz="1100">
                <a:latin typeface="Times New Roman"/>
                <a:ea typeface="Times New Roman"/>
                <a:cs typeface="Times New Roman"/>
                <a:sym typeface="Times New Roman"/>
              </a:rPr>
              <a:t>, vol. 21, no. 2, pp. 2925–2947, 2026.</a:t>
            </a:r>
            <a:r>
              <a:rPr lang="en-US" sz="1100">
                <a:uFill>
                  <a:noFill/>
                </a:uFill>
                <a:latin typeface="Times New Roman"/>
                <a:ea typeface="Times New Roman"/>
                <a:cs typeface="Times New Roman"/>
                <a:sym typeface="Times New Roman"/>
                <a:hlinkClick r:id="rId5"/>
              </a:rPr>
              <a:t> </a:t>
            </a:r>
            <a:r>
              <a:rPr lang="en-US" sz="1100" u="sng">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https://bioresources.cnr.ncsu.edu/resources/wd-seg-a-deep-learning-framework-for-delicate-and-accurate-wood-defect-segmentation/</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BioResources</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[4] J. Wang and S. Tang, “A novel IWPT-VMD denoising method for enhancing air-coupled ultrasonic detection of wood defects,” </a:t>
            </a:r>
            <a:r>
              <a:rPr lang="en-US" sz="1100" i="1">
                <a:latin typeface="Times New Roman"/>
                <a:ea typeface="Times New Roman"/>
                <a:cs typeface="Times New Roman"/>
                <a:sym typeface="Times New Roman"/>
              </a:rPr>
              <a:t>AIP Advances</a:t>
            </a:r>
            <a:r>
              <a:rPr lang="en-US" sz="1100">
                <a:latin typeface="Times New Roman"/>
                <a:ea typeface="Times New Roman"/>
                <a:cs typeface="Times New Roman"/>
                <a:sym typeface="Times New Roman"/>
              </a:rPr>
              <a:t>, vol. 16, no. 2, Art. no. 025217, 2026, doi: 10.1063/5.0313821.</a:t>
            </a:r>
            <a:r>
              <a:rPr lang="en-US" sz="1100">
                <a:uFill>
                  <a:noFill/>
                </a:uFill>
                <a:latin typeface="Times New Roman"/>
                <a:ea typeface="Times New Roman"/>
                <a:cs typeface="Times New Roman"/>
                <a:sym typeface="Times New Roman"/>
                <a:hlinkClick r:id="rId6"/>
              </a:rPr>
              <a:t> </a:t>
            </a:r>
            <a:r>
              <a:rPr lang="en-US" sz="1100" u="sng">
                <a:solidFill>
                  <a:srgbClr val="1155CC"/>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https://doi.org/10.1063/5.0313821</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ResearchGate</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[5] C. S. Erasmus, D. M. Drew, and M. J. Booysen, “A low-cost wireless dendrometer and digital twin for precision forestry applications,” </a:t>
            </a:r>
            <a:r>
              <a:rPr lang="en-US" sz="1100" i="1">
                <a:latin typeface="Times New Roman"/>
                <a:ea typeface="Times New Roman"/>
                <a:cs typeface="Times New Roman"/>
                <a:sym typeface="Times New Roman"/>
              </a:rPr>
              <a:t>Measurement</a:t>
            </a:r>
            <a:r>
              <a:rPr lang="en-US" sz="1100">
                <a:latin typeface="Times New Roman"/>
                <a:ea typeface="Times New Roman"/>
                <a:cs typeface="Times New Roman"/>
                <a:sym typeface="Times New Roman"/>
              </a:rPr>
              <a:t>, vol. 276, Art. no. 121442, 2026, doi: 10.1016/j.measurement.2026.121442.</a:t>
            </a:r>
            <a:r>
              <a:rPr lang="en-US" sz="1100">
                <a:uFill>
                  <a:noFill/>
                </a:uFill>
                <a:latin typeface="Times New Roman"/>
                <a:ea typeface="Times New Roman"/>
                <a:cs typeface="Times New Roman"/>
                <a:sym typeface="Times New Roman"/>
                <a:hlinkClick r:id="rId8"/>
              </a:rPr>
              <a:t> </a:t>
            </a:r>
            <a:r>
              <a:rPr lang="en-US" sz="1100" u="sng">
                <a:solidFill>
                  <a:srgbClr val="1155CC"/>
                </a:solidFill>
                <a:latin typeface="Times New Roman"/>
                <a:ea typeface="Times New Roman"/>
                <a:cs typeface="Times New Roman"/>
                <a:sym typeface="Times New Roman"/>
                <a:hlinkClick r:id="rId8">
                  <a:extLst>
                    <a:ext uri="{A12FA001-AC4F-418D-AE19-62706E023703}">
                      <ahyp:hlinkClr xmlns:ahyp="http://schemas.microsoft.com/office/drawing/2018/hyperlinkcolor" val="tx"/>
                    </a:ext>
                  </a:extLst>
                </a:hlinkClick>
              </a:rPr>
              <a:t>https://doi.org/10.1016/j.measurement.2026.121442</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9">
                  <a:extLst>
                    <a:ext uri="{A12FA001-AC4F-418D-AE19-62706E023703}">
                      <ahyp:hlinkClr xmlns:ahyp="http://schemas.microsoft.com/office/drawing/2018/hyperlinkcolor" val="tx"/>
                    </a:ext>
                  </a:extLst>
                </a:hlinkClick>
              </a:rPr>
              <a:t>ScienceDirect</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[6] N. Perry, J. Schweier, L. G. Bont, S. K. Kushwaha, H. Peltola, K. Eyvindson, R. Astrup, M. Chapman, and C. Blattert, “Towards precision forestry: A systematic review of optimisation methods for individual-tree decisions in forest management,” </a:t>
            </a:r>
            <a:r>
              <a:rPr lang="en-US" sz="1100" i="1">
                <a:latin typeface="Times New Roman"/>
                <a:ea typeface="Times New Roman"/>
                <a:cs typeface="Times New Roman"/>
                <a:sym typeface="Times New Roman"/>
              </a:rPr>
              <a:t>Trees, Forests and People</a:t>
            </a:r>
            <a:r>
              <a:rPr lang="en-US" sz="1100">
                <a:latin typeface="Times New Roman"/>
                <a:ea typeface="Times New Roman"/>
                <a:cs typeface="Times New Roman"/>
                <a:sym typeface="Times New Roman"/>
              </a:rPr>
              <a:t>, vol. 24, Art. no. 101226, 2026, doi: 10.1016/j.tfp.2026.101226.</a:t>
            </a:r>
            <a:r>
              <a:rPr lang="en-US" sz="1100">
                <a:uFill>
                  <a:noFill/>
                </a:uFill>
                <a:latin typeface="Times New Roman"/>
                <a:ea typeface="Times New Roman"/>
                <a:cs typeface="Times New Roman"/>
                <a:sym typeface="Times New Roman"/>
                <a:hlinkClick r:id="rId10"/>
              </a:rPr>
              <a:t> </a:t>
            </a:r>
            <a:r>
              <a:rPr lang="en-US" sz="1100" u="sng">
                <a:solidFill>
                  <a:srgbClr val="1155CC"/>
                </a:solidFill>
                <a:latin typeface="Times New Roman"/>
                <a:ea typeface="Times New Roman"/>
                <a:cs typeface="Times New Roman"/>
                <a:sym typeface="Times New Roman"/>
                <a:hlinkClick r:id="rId10">
                  <a:extLst>
                    <a:ext uri="{A12FA001-AC4F-418D-AE19-62706E023703}">
                      <ahyp:hlinkClr xmlns:ahyp="http://schemas.microsoft.com/office/drawing/2018/hyperlinkcolor" val="tx"/>
                    </a:ext>
                  </a:extLst>
                </a:hlinkClick>
              </a:rPr>
              <a:t>https://doi.org/10.1016/j.tfp.2026.101226</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11">
                  <a:extLst>
                    <a:ext uri="{A12FA001-AC4F-418D-AE19-62706E023703}">
                      <ahyp:hlinkClr xmlns:ahyp="http://schemas.microsoft.com/office/drawing/2018/hyperlinkcolor" val="tx"/>
                    </a:ext>
                  </a:extLst>
                </a:hlinkClick>
              </a:rPr>
              <a:t>ScienceDirect</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1200"/>
              </a:spcAft>
              <a:buNone/>
            </a:pPr>
            <a:endParaRPr sz="2800" b="1">
              <a:solidFill>
                <a:srgbClr val="41534B"/>
              </a:solidFill>
              <a:latin typeface="Times New Roman"/>
              <a:ea typeface="Times New Roman"/>
              <a:cs typeface="Times New Roman"/>
              <a:sym typeface="Times New Roman"/>
            </a:endParaRPr>
          </a:p>
        </p:txBody>
      </p:sp>
      <p:sp>
        <p:nvSpPr>
          <p:cNvPr id="317" name="Google Shape;317;p3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23</a:t>
            </a:fld>
            <a:endParaRPr/>
          </a:p>
        </p:txBody>
      </p:sp>
      <p:pic>
        <p:nvPicPr>
          <p:cNvPr id="318" name="Google Shape;318;p31"/>
          <p:cNvPicPr preferRelativeResize="0"/>
          <p:nvPr/>
        </p:nvPicPr>
        <p:blipFill rotWithShape="1">
          <a:blip r:embed="rId12">
            <a:alphaModFix/>
          </a:blip>
          <a:srcRect/>
          <a:stretch/>
        </p:blipFill>
        <p:spPr>
          <a:xfrm>
            <a:off x="8450861" y="1377538"/>
            <a:ext cx="677790" cy="1129400"/>
          </a:xfrm>
          <a:prstGeom prst="rect">
            <a:avLst/>
          </a:prstGeom>
          <a:noFill/>
          <a:ln>
            <a:noFill/>
          </a:ln>
        </p:spPr>
      </p:pic>
      <p:pic>
        <p:nvPicPr>
          <p:cNvPr id="319" name="Google Shape;319;p31"/>
          <p:cNvPicPr preferRelativeResize="0"/>
          <p:nvPr/>
        </p:nvPicPr>
        <p:blipFill rotWithShape="1">
          <a:blip r:embed="rId13">
            <a:alphaModFix/>
          </a:blip>
          <a:srcRect/>
          <a:stretch/>
        </p:blipFill>
        <p:spPr>
          <a:xfrm>
            <a:off x="8450861" y="6157980"/>
            <a:ext cx="680353" cy="703613"/>
          </a:xfrm>
          <a:prstGeom prst="rect">
            <a:avLst/>
          </a:prstGeom>
          <a:noFill/>
          <a:ln>
            <a:noFill/>
          </a:ln>
        </p:spPr>
      </p:pic>
      <p:pic>
        <p:nvPicPr>
          <p:cNvPr id="320" name="Google Shape;320;p31"/>
          <p:cNvPicPr preferRelativeResize="0"/>
          <p:nvPr/>
        </p:nvPicPr>
        <p:blipFill rotWithShape="1">
          <a:blip r:embed="rId14">
            <a:alphaModFix/>
          </a:blip>
          <a:srcRect/>
          <a:stretch/>
        </p:blipFill>
        <p:spPr>
          <a:xfrm>
            <a:off x="8450861" y="3740295"/>
            <a:ext cx="695325" cy="1704975"/>
          </a:xfrm>
          <a:prstGeom prst="rect">
            <a:avLst/>
          </a:prstGeom>
          <a:noFill/>
          <a:ln>
            <a:noFill/>
          </a:ln>
        </p:spPr>
      </p:pic>
      <p:pic>
        <p:nvPicPr>
          <p:cNvPr id="321" name="Google Shape;321;p31"/>
          <p:cNvPicPr preferRelativeResize="0"/>
          <p:nvPr/>
        </p:nvPicPr>
        <p:blipFill rotWithShape="1">
          <a:blip r:embed="rId15">
            <a:alphaModFix/>
          </a:blip>
          <a:srcRect/>
          <a:stretch/>
        </p:blipFill>
        <p:spPr>
          <a:xfrm>
            <a:off x="8450860" y="2542563"/>
            <a:ext cx="693139" cy="1233357"/>
          </a:xfrm>
          <a:prstGeom prst="rect">
            <a:avLst/>
          </a:prstGeom>
          <a:noFill/>
          <a:ln>
            <a:noFill/>
          </a:ln>
        </p:spPr>
      </p:pic>
      <p:sp>
        <p:nvSpPr>
          <p:cNvPr id="322" name="Google Shape;322;p3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2"/>
          <p:cNvSpPr txBox="1"/>
          <p:nvPr/>
        </p:nvSpPr>
        <p:spPr>
          <a:xfrm>
            <a:off x="395605" y="131445"/>
            <a:ext cx="8054400" cy="53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rgbClr val="41534B"/>
                </a:solidFill>
                <a:latin typeface="Times New Roman"/>
                <a:ea typeface="Times New Roman"/>
                <a:cs typeface="Times New Roman"/>
                <a:sym typeface="Times New Roman"/>
              </a:rPr>
              <a:t>REFERENCES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800" b="1" i="0" u="none" strike="noStrike" cap="none" dirty="0">
              <a:solidFill>
                <a:srgbClr val="41534B"/>
              </a:solidFill>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[7] E. Z. </a:t>
            </a:r>
            <a:r>
              <a:rPr lang="en-US" sz="1100" dirty="0" err="1">
                <a:latin typeface="Times New Roman"/>
                <a:ea typeface="Times New Roman"/>
                <a:cs typeface="Times New Roman"/>
                <a:sym typeface="Times New Roman"/>
              </a:rPr>
              <a:t>Başkent</a:t>
            </a:r>
            <a:r>
              <a:rPr lang="en-US" sz="1100" dirty="0">
                <a:latin typeface="Times New Roman"/>
                <a:ea typeface="Times New Roman"/>
                <a:cs typeface="Times New Roman"/>
                <a:sym typeface="Times New Roman"/>
              </a:rPr>
              <a:t>, A. Bončina, and J. G. Borges, “A review and conceptual framework for a new era of forest management planning: Integrating hybrid digital twin systems toward sustainable forest ecosystems,” </a:t>
            </a:r>
            <a:r>
              <a:rPr lang="en-US" sz="1100" i="1" dirty="0">
                <a:latin typeface="Times New Roman"/>
                <a:ea typeface="Times New Roman"/>
                <a:cs typeface="Times New Roman"/>
                <a:sym typeface="Times New Roman"/>
              </a:rPr>
              <a:t>Ecosystem Services</a:t>
            </a:r>
            <a:r>
              <a:rPr lang="en-US" sz="1100" dirty="0">
                <a:latin typeface="Times New Roman"/>
                <a:ea typeface="Times New Roman"/>
                <a:cs typeface="Times New Roman"/>
                <a:sym typeface="Times New Roman"/>
              </a:rPr>
              <a:t>, vol. 79, Art. no. 101851, 2026,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10.1016/j.ecoser.2026.101851.</a:t>
            </a:r>
            <a:r>
              <a:rPr lang="en-US" sz="1100" dirty="0">
                <a:uFill>
                  <a:noFill/>
                </a:uFill>
                <a:latin typeface="Times New Roman"/>
                <a:ea typeface="Times New Roman"/>
                <a:cs typeface="Times New Roman"/>
                <a:sym typeface="Times New Roman"/>
                <a:hlinkClick r:id="rId3"/>
              </a:rPr>
              <a:t> </a:t>
            </a:r>
            <a:r>
              <a:rPr lang="en-US" sz="1100" u="sng" dirty="0">
                <a:solidFill>
                  <a:srgbClr val="1155CC"/>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https://doi.org/10.1016/j.ecoser.2026.101851</a:t>
            </a:r>
            <a:r>
              <a:rPr lang="en-US" sz="1100" dirty="0">
                <a:latin typeface="Times New Roman"/>
                <a:ea typeface="Times New Roman"/>
                <a:cs typeface="Times New Roman"/>
                <a:sym typeface="Times New Roman"/>
              </a:rPr>
              <a:t> (</a:t>
            </a:r>
            <a:r>
              <a:rPr lang="en-US" sz="1100" u="sng" dirty="0">
                <a:solidFill>
                  <a:srgbClr val="1155CC"/>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ScienceDirect</a:t>
            </a:r>
            <a:r>
              <a:rPr lang="en-US" sz="1100" dirty="0">
                <a:latin typeface="Times New Roman"/>
                <a:ea typeface="Times New Roman"/>
                <a:cs typeface="Times New Roman"/>
                <a:sym typeface="Times New Roman"/>
              </a:rPr>
              <a:t>)</a:t>
            </a: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[8] J. Tan, H. Zhang, J. Yang, Y. Liu, D. Zheng, and X. Liu, “</a:t>
            </a:r>
            <a:r>
              <a:rPr lang="en-US" sz="1100" dirty="0" err="1">
                <a:latin typeface="Times New Roman"/>
                <a:ea typeface="Times New Roman"/>
                <a:cs typeface="Times New Roman"/>
                <a:sym typeface="Times New Roman"/>
              </a:rPr>
              <a:t>ForestryBERT</a:t>
            </a:r>
            <a:r>
              <a:rPr lang="en-US" sz="1100" dirty="0">
                <a:latin typeface="Times New Roman"/>
                <a:ea typeface="Times New Roman"/>
                <a:cs typeface="Times New Roman"/>
                <a:sym typeface="Times New Roman"/>
              </a:rPr>
              <a:t>: A pre-trained language model with continual learning adapted to changing forestry text,” </a:t>
            </a:r>
            <a:r>
              <a:rPr lang="en-US" sz="1100" i="1" dirty="0">
                <a:latin typeface="Times New Roman"/>
                <a:ea typeface="Times New Roman"/>
                <a:cs typeface="Times New Roman"/>
                <a:sym typeface="Times New Roman"/>
              </a:rPr>
              <a:t>Knowledge-Based Systems</a:t>
            </a:r>
            <a:r>
              <a:rPr lang="en-US" sz="1100" dirty="0">
                <a:latin typeface="Times New Roman"/>
                <a:ea typeface="Times New Roman"/>
                <a:cs typeface="Times New Roman"/>
                <a:sym typeface="Times New Roman"/>
              </a:rPr>
              <a:t>, vol. 320, Art. no. 113706, 2025,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10.1016/j.knosys.2025.113706.</a:t>
            </a:r>
            <a:r>
              <a:rPr lang="en-US" sz="1100" dirty="0">
                <a:uFill>
                  <a:noFill/>
                </a:uFill>
                <a:latin typeface="Times New Roman"/>
                <a:ea typeface="Times New Roman"/>
                <a:cs typeface="Times New Roman"/>
                <a:sym typeface="Times New Roman"/>
                <a:hlinkClick r:id="rId5"/>
              </a:rPr>
              <a:t> </a:t>
            </a:r>
            <a:r>
              <a:rPr lang="en-US" sz="1100" u="sng" dirty="0">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https://doi.org/10.1016/j.knosys.2025.113706</a:t>
            </a:r>
            <a:r>
              <a:rPr lang="en-US" sz="1100" dirty="0">
                <a:latin typeface="Times New Roman"/>
                <a:ea typeface="Times New Roman"/>
                <a:cs typeface="Times New Roman"/>
                <a:sym typeface="Times New Roman"/>
              </a:rPr>
              <a:t> (</a:t>
            </a:r>
            <a:r>
              <a:rPr lang="en-US" sz="1100" u="sng" dirty="0">
                <a:solidFill>
                  <a:srgbClr val="1155CC"/>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ScienceDirect</a:t>
            </a:r>
            <a:r>
              <a:rPr lang="en-US" sz="1100" dirty="0">
                <a:latin typeface="Times New Roman"/>
                <a:ea typeface="Times New Roman"/>
                <a:cs typeface="Times New Roman"/>
                <a:sym typeface="Times New Roman"/>
              </a:rPr>
              <a:t>)</a:t>
            </a: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[9] T. I. </a:t>
            </a:r>
            <a:r>
              <a:rPr lang="en-US" sz="1100" dirty="0" err="1">
                <a:latin typeface="Times New Roman"/>
                <a:ea typeface="Times New Roman"/>
                <a:cs typeface="Times New Roman"/>
                <a:sym typeface="Times New Roman"/>
              </a:rPr>
              <a:t>Zohdi</a:t>
            </a:r>
            <a:r>
              <a:rPr lang="en-US" sz="1100" dirty="0">
                <a:latin typeface="Times New Roman"/>
                <a:ea typeface="Times New Roman"/>
                <a:cs typeface="Times New Roman"/>
                <a:sym typeface="Times New Roman"/>
              </a:rPr>
              <a:t>, “A machine-learning enabled digital-twin framework for next generation precision agriculture and forestry,” </a:t>
            </a:r>
            <a:r>
              <a:rPr lang="en-US" sz="1100" i="1" dirty="0">
                <a:latin typeface="Times New Roman"/>
                <a:ea typeface="Times New Roman"/>
                <a:cs typeface="Times New Roman"/>
                <a:sym typeface="Times New Roman"/>
              </a:rPr>
              <a:t>Computer Methods in Applied Mechanics and Engineering</a:t>
            </a:r>
            <a:r>
              <a:rPr lang="en-US" sz="1100" dirty="0">
                <a:latin typeface="Times New Roman"/>
                <a:ea typeface="Times New Roman"/>
                <a:cs typeface="Times New Roman"/>
                <a:sym typeface="Times New Roman"/>
              </a:rPr>
              <a:t>, vol. 431, Art. no. 117250, 2024,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10.1016/j.cma.2024.117250.</a:t>
            </a:r>
            <a:r>
              <a:rPr lang="en-US" sz="1100" dirty="0">
                <a:uFill>
                  <a:noFill/>
                </a:uFill>
                <a:latin typeface="Times New Roman"/>
                <a:ea typeface="Times New Roman"/>
                <a:cs typeface="Times New Roman"/>
                <a:sym typeface="Times New Roman"/>
                <a:hlinkClick r:id="rId7"/>
              </a:rPr>
              <a:t> </a:t>
            </a:r>
            <a:r>
              <a:rPr lang="en-US" sz="1100" u="sng" dirty="0">
                <a:solidFill>
                  <a:srgbClr val="1155CC"/>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https://doi.org/10.1016/j.cma.2024.117250</a:t>
            </a:r>
            <a:r>
              <a:rPr lang="en-US" sz="1100" dirty="0">
                <a:latin typeface="Times New Roman"/>
                <a:ea typeface="Times New Roman"/>
                <a:cs typeface="Times New Roman"/>
                <a:sym typeface="Times New Roman"/>
              </a:rPr>
              <a:t> (</a:t>
            </a:r>
            <a:r>
              <a:rPr lang="en-US" sz="1100" u="sng" dirty="0">
                <a:solidFill>
                  <a:srgbClr val="1155CC"/>
                </a:solidFill>
                <a:latin typeface="Times New Roman"/>
                <a:ea typeface="Times New Roman"/>
                <a:cs typeface="Times New Roman"/>
                <a:sym typeface="Times New Roman"/>
                <a:hlinkClick r:id="rId8">
                  <a:extLst>
                    <a:ext uri="{A12FA001-AC4F-418D-AE19-62706E023703}">
                      <ahyp:hlinkClr xmlns:ahyp="http://schemas.microsoft.com/office/drawing/2018/hyperlinkcolor" val="tx"/>
                    </a:ext>
                  </a:extLst>
                </a:hlinkClick>
              </a:rPr>
              <a:t>ScienceDirect</a:t>
            </a:r>
            <a:r>
              <a:rPr lang="en-US" sz="1100" dirty="0">
                <a:latin typeface="Times New Roman"/>
                <a:ea typeface="Times New Roman"/>
                <a:cs typeface="Times New Roman"/>
                <a:sym typeface="Times New Roman"/>
              </a:rPr>
              <a:t>)</a:t>
            </a: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[10] H. An, Z. Liang, M. Qin, Y. Huang, F. Xiong, and G. Zeng, “Wood defect detection based on the CWB-YOLOv8 algorithm,” </a:t>
            </a:r>
            <a:r>
              <a:rPr lang="en-US" sz="1100" i="1" dirty="0">
                <a:latin typeface="Times New Roman"/>
                <a:ea typeface="Times New Roman"/>
                <a:cs typeface="Times New Roman"/>
                <a:sym typeface="Times New Roman"/>
              </a:rPr>
              <a:t>Journal of Wood Science</a:t>
            </a:r>
            <a:r>
              <a:rPr lang="en-US" sz="1100" dirty="0">
                <a:latin typeface="Times New Roman"/>
                <a:ea typeface="Times New Roman"/>
                <a:cs typeface="Times New Roman"/>
                <a:sym typeface="Times New Roman"/>
              </a:rPr>
              <a:t>, vol. 70, Art. no. 26, 2024,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10.1186/s10086-024-02139-z.</a:t>
            </a:r>
            <a:r>
              <a:rPr lang="en-US" sz="1100" dirty="0">
                <a:uFill>
                  <a:noFill/>
                </a:uFill>
                <a:latin typeface="Times New Roman"/>
                <a:ea typeface="Times New Roman"/>
                <a:cs typeface="Times New Roman"/>
                <a:sym typeface="Times New Roman"/>
                <a:hlinkClick r:id="rId9"/>
              </a:rPr>
              <a:t> </a:t>
            </a:r>
            <a:r>
              <a:rPr lang="en-US" sz="1100" u="sng" dirty="0">
                <a:solidFill>
                  <a:srgbClr val="1155CC"/>
                </a:solidFill>
                <a:latin typeface="Times New Roman"/>
                <a:ea typeface="Times New Roman"/>
                <a:cs typeface="Times New Roman"/>
                <a:sym typeface="Times New Roman"/>
                <a:hlinkClick r:id="rId9">
                  <a:extLst>
                    <a:ext uri="{A12FA001-AC4F-418D-AE19-62706E023703}">
                      <ahyp:hlinkClr xmlns:ahyp="http://schemas.microsoft.com/office/drawing/2018/hyperlinkcolor" val="tx"/>
                    </a:ext>
                  </a:extLst>
                </a:hlinkClick>
              </a:rPr>
              <a:t>https://doi.org/10.1186/s10086-024-02139-z</a:t>
            </a:r>
            <a:r>
              <a:rPr lang="en-US" sz="1100" dirty="0">
                <a:latin typeface="Times New Roman"/>
                <a:ea typeface="Times New Roman"/>
                <a:cs typeface="Times New Roman"/>
                <a:sym typeface="Times New Roman"/>
              </a:rPr>
              <a:t> (</a:t>
            </a:r>
            <a:r>
              <a:rPr lang="en-US" sz="1100" u="sng" dirty="0">
                <a:solidFill>
                  <a:srgbClr val="1155CC"/>
                </a:solidFill>
                <a:latin typeface="Times New Roman"/>
                <a:ea typeface="Times New Roman"/>
                <a:cs typeface="Times New Roman"/>
                <a:sym typeface="Times New Roman"/>
                <a:hlinkClick r:id="rId10">
                  <a:extLst>
                    <a:ext uri="{A12FA001-AC4F-418D-AE19-62706E023703}">
                      <ahyp:hlinkClr xmlns:ahyp="http://schemas.microsoft.com/office/drawing/2018/hyperlinkcolor" val="tx"/>
                    </a:ext>
                  </a:extLst>
                </a:hlinkClick>
              </a:rPr>
              <a:t>Springer</a:t>
            </a:r>
            <a:r>
              <a:rPr lang="en-US" sz="1100" dirty="0">
                <a:latin typeface="Times New Roman"/>
                <a:ea typeface="Times New Roman"/>
                <a:cs typeface="Times New Roman"/>
                <a:sym typeface="Times New Roman"/>
              </a:rPr>
              <a:t>)</a:t>
            </a: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[11] L. P. Yi, M. F. Akbar, M. N. A. Wahab, B. A. </a:t>
            </a:r>
            <a:r>
              <a:rPr lang="en-US" sz="1100" dirty="0" err="1">
                <a:latin typeface="Times New Roman"/>
                <a:ea typeface="Times New Roman"/>
                <a:cs typeface="Times New Roman"/>
                <a:sym typeface="Times New Roman"/>
              </a:rPr>
              <a:t>Rosdi</a:t>
            </a:r>
            <a:r>
              <a:rPr lang="en-US" sz="1100" dirty="0">
                <a:latin typeface="Times New Roman"/>
                <a:ea typeface="Times New Roman"/>
                <a:cs typeface="Times New Roman"/>
                <a:sym typeface="Times New Roman"/>
              </a:rPr>
              <a:t>, M. A. </a:t>
            </a:r>
            <a:r>
              <a:rPr lang="en-US" sz="1100" dirty="0" err="1">
                <a:latin typeface="Times New Roman"/>
                <a:ea typeface="Times New Roman"/>
                <a:cs typeface="Times New Roman"/>
                <a:sym typeface="Times New Roman"/>
              </a:rPr>
              <a:t>Fauthan</a:t>
            </a:r>
            <a:r>
              <a:rPr lang="en-US" sz="1100" dirty="0">
                <a:latin typeface="Times New Roman"/>
                <a:ea typeface="Times New Roman"/>
                <a:cs typeface="Times New Roman"/>
                <a:sym typeface="Times New Roman"/>
              </a:rPr>
              <a:t>, and N. H. M. M. </a:t>
            </a:r>
            <a:r>
              <a:rPr lang="en-US" sz="1100" dirty="0" err="1">
                <a:latin typeface="Times New Roman"/>
                <a:ea typeface="Times New Roman"/>
                <a:cs typeface="Times New Roman"/>
                <a:sym typeface="Times New Roman"/>
              </a:rPr>
              <a:t>Shrifan</a:t>
            </a:r>
            <a:r>
              <a:rPr lang="en-US" sz="1100" dirty="0">
                <a:latin typeface="Times New Roman"/>
                <a:ea typeface="Times New Roman"/>
                <a:cs typeface="Times New Roman"/>
                <a:sym typeface="Times New Roman"/>
              </a:rPr>
              <a:t>, “The prospect of artificial intelligence-based wood surface inspection: A review,” </a:t>
            </a:r>
            <a:r>
              <a:rPr lang="en-US" sz="1100" i="1" dirty="0">
                <a:latin typeface="Times New Roman"/>
                <a:ea typeface="Times New Roman"/>
                <a:cs typeface="Times New Roman"/>
                <a:sym typeface="Times New Roman"/>
              </a:rPr>
              <a:t>IEEE Access</a:t>
            </a:r>
            <a:r>
              <a:rPr lang="en-US" sz="1100" dirty="0">
                <a:latin typeface="Times New Roman"/>
                <a:ea typeface="Times New Roman"/>
                <a:cs typeface="Times New Roman"/>
                <a:sym typeface="Times New Roman"/>
              </a:rPr>
              <a:t>, vol. 12, pp. 84706–84725, 2024,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10.1109/ACCESS.2024.3412928.</a:t>
            </a:r>
            <a:r>
              <a:rPr lang="en-US" sz="1100" dirty="0">
                <a:uFill>
                  <a:noFill/>
                </a:uFill>
                <a:latin typeface="Times New Roman"/>
                <a:ea typeface="Times New Roman"/>
                <a:cs typeface="Times New Roman"/>
                <a:sym typeface="Times New Roman"/>
                <a:hlinkClick r:id="rId11"/>
              </a:rPr>
              <a:t> </a:t>
            </a:r>
            <a:r>
              <a:rPr lang="en-US" sz="1100" u="sng" dirty="0">
                <a:solidFill>
                  <a:srgbClr val="1155CC"/>
                </a:solidFill>
                <a:latin typeface="Times New Roman"/>
                <a:ea typeface="Times New Roman"/>
                <a:cs typeface="Times New Roman"/>
                <a:sym typeface="Times New Roman"/>
                <a:hlinkClick r:id="rId11">
                  <a:extLst>
                    <a:ext uri="{A12FA001-AC4F-418D-AE19-62706E023703}">
                      <ahyp:hlinkClr xmlns:ahyp="http://schemas.microsoft.com/office/drawing/2018/hyperlinkcolor" val="tx"/>
                    </a:ext>
                  </a:extLst>
                </a:hlinkClick>
              </a:rPr>
              <a:t>https://doi.org/10.1109/ACCESS.2024.3412928</a:t>
            </a:r>
            <a:r>
              <a:rPr lang="en-US" sz="1100" dirty="0">
                <a:latin typeface="Times New Roman"/>
                <a:ea typeface="Times New Roman"/>
                <a:cs typeface="Times New Roman"/>
                <a:sym typeface="Times New Roman"/>
              </a:rPr>
              <a:t> (</a:t>
            </a:r>
            <a:r>
              <a:rPr lang="en-US" sz="1100" u="sng" dirty="0" err="1">
                <a:solidFill>
                  <a:srgbClr val="1155CC"/>
                </a:solidFill>
                <a:latin typeface="Times New Roman"/>
                <a:ea typeface="Times New Roman"/>
                <a:cs typeface="Times New Roman"/>
                <a:sym typeface="Times New Roman"/>
                <a:hlinkClick r:id="rId12">
                  <a:extLst>
                    <a:ext uri="{A12FA001-AC4F-418D-AE19-62706E023703}">
                      <ahyp:hlinkClr xmlns:ahyp="http://schemas.microsoft.com/office/drawing/2018/hyperlinkcolor" val="tx"/>
                    </a:ext>
                  </a:extLst>
                </a:hlinkClick>
              </a:rPr>
              <a:t>Ouci</a:t>
            </a:r>
            <a:r>
              <a:rPr lang="en-US" sz="1100" dirty="0">
                <a:latin typeface="Times New Roman"/>
                <a:ea typeface="Times New Roman"/>
                <a:cs typeface="Times New Roman"/>
                <a:sym typeface="Times New Roman"/>
              </a:rPr>
              <a:t>)</a:t>
            </a:r>
            <a:endParaRPr sz="2800" b="1" dirty="0">
              <a:solidFill>
                <a:srgbClr val="41534B"/>
              </a:solidFill>
              <a:latin typeface="Times New Roman"/>
              <a:ea typeface="Times New Roman"/>
              <a:cs typeface="Times New Roman"/>
              <a:sym typeface="Times New Roman"/>
            </a:endParaRPr>
          </a:p>
          <a:p>
            <a:pPr marL="0" lvl="0" indent="0" algn="l" rtl="0">
              <a:lnSpc>
                <a:spcPct val="150000"/>
              </a:lnSpc>
              <a:spcBef>
                <a:spcPts val="1200"/>
              </a:spcBef>
              <a:spcAft>
                <a:spcPts val="0"/>
              </a:spcAft>
              <a:buNone/>
            </a:pP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1200"/>
              </a:spcAft>
              <a:buNone/>
            </a:pPr>
            <a:endParaRPr sz="2800" b="1" dirty="0">
              <a:solidFill>
                <a:srgbClr val="41534B"/>
              </a:solidFill>
              <a:latin typeface="Times New Roman"/>
              <a:ea typeface="Times New Roman"/>
              <a:cs typeface="Times New Roman"/>
              <a:sym typeface="Times New Roman"/>
            </a:endParaRPr>
          </a:p>
        </p:txBody>
      </p:sp>
      <p:sp>
        <p:nvSpPr>
          <p:cNvPr id="328" name="Google Shape;328;p32"/>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24</a:t>
            </a:fld>
            <a:endParaRPr/>
          </a:p>
        </p:txBody>
      </p:sp>
      <p:pic>
        <p:nvPicPr>
          <p:cNvPr id="329" name="Google Shape;329;p32"/>
          <p:cNvPicPr preferRelativeResize="0"/>
          <p:nvPr/>
        </p:nvPicPr>
        <p:blipFill rotWithShape="1">
          <a:blip r:embed="rId13">
            <a:alphaModFix/>
          </a:blip>
          <a:srcRect/>
          <a:stretch/>
        </p:blipFill>
        <p:spPr>
          <a:xfrm>
            <a:off x="8450861" y="1377538"/>
            <a:ext cx="677790" cy="1129400"/>
          </a:xfrm>
          <a:prstGeom prst="rect">
            <a:avLst/>
          </a:prstGeom>
          <a:noFill/>
          <a:ln>
            <a:noFill/>
          </a:ln>
        </p:spPr>
      </p:pic>
      <p:pic>
        <p:nvPicPr>
          <p:cNvPr id="330" name="Google Shape;330;p32"/>
          <p:cNvPicPr preferRelativeResize="0"/>
          <p:nvPr/>
        </p:nvPicPr>
        <p:blipFill rotWithShape="1">
          <a:blip r:embed="rId14">
            <a:alphaModFix/>
          </a:blip>
          <a:srcRect/>
          <a:stretch/>
        </p:blipFill>
        <p:spPr>
          <a:xfrm>
            <a:off x="8450861" y="6157980"/>
            <a:ext cx="680353" cy="703613"/>
          </a:xfrm>
          <a:prstGeom prst="rect">
            <a:avLst/>
          </a:prstGeom>
          <a:noFill/>
          <a:ln>
            <a:noFill/>
          </a:ln>
        </p:spPr>
      </p:pic>
      <p:pic>
        <p:nvPicPr>
          <p:cNvPr id="331" name="Google Shape;331;p32"/>
          <p:cNvPicPr preferRelativeResize="0"/>
          <p:nvPr/>
        </p:nvPicPr>
        <p:blipFill rotWithShape="1">
          <a:blip r:embed="rId15">
            <a:alphaModFix/>
          </a:blip>
          <a:srcRect/>
          <a:stretch/>
        </p:blipFill>
        <p:spPr>
          <a:xfrm>
            <a:off x="8450861" y="3740295"/>
            <a:ext cx="695325" cy="1704975"/>
          </a:xfrm>
          <a:prstGeom prst="rect">
            <a:avLst/>
          </a:prstGeom>
          <a:noFill/>
          <a:ln>
            <a:noFill/>
          </a:ln>
        </p:spPr>
      </p:pic>
      <p:pic>
        <p:nvPicPr>
          <p:cNvPr id="332" name="Google Shape;332;p32"/>
          <p:cNvPicPr preferRelativeResize="0"/>
          <p:nvPr/>
        </p:nvPicPr>
        <p:blipFill rotWithShape="1">
          <a:blip r:embed="rId16">
            <a:alphaModFix/>
          </a:blip>
          <a:srcRect/>
          <a:stretch/>
        </p:blipFill>
        <p:spPr>
          <a:xfrm>
            <a:off x="8450860" y="2542563"/>
            <a:ext cx="693139" cy="1233357"/>
          </a:xfrm>
          <a:prstGeom prst="rect">
            <a:avLst/>
          </a:prstGeom>
          <a:noFill/>
          <a:ln>
            <a:noFill/>
          </a:ln>
        </p:spPr>
      </p:pic>
      <p:sp>
        <p:nvSpPr>
          <p:cNvPr id="333" name="Google Shape;333;p3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3"/>
          <p:cNvSpPr/>
          <p:nvPr/>
        </p:nvSpPr>
        <p:spPr>
          <a:xfrm>
            <a:off x="1988956" y="2967335"/>
            <a:ext cx="4692600" cy="923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5400"/>
              <a:buFont typeface="Arial"/>
              <a:buNone/>
            </a:pPr>
            <a:r>
              <a:rPr lang="en-US" sz="5900" b="1" i="0" u="none" strike="noStrike" cap="none">
                <a:solidFill>
                  <a:srgbClr val="F1C232"/>
                </a:solidFill>
                <a:latin typeface="Lobster"/>
                <a:ea typeface="Lobster"/>
                <a:cs typeface="Lobster"/>
                <a:sym typeface="Lobster"/>
              </a:rPr>
              <a:t>Thank You</a:t>
            </a:r>
            <a:r>
              <a:rPr lang="en-US" sz="5900" b="1" i="0" u="none" strike="noStrike" cap="none">
                <a:solidFill>
                  <a:srgbClr val="F1C232"/>
                </a:solidFill>
                <a:latin typeface="Calibri"/>
                <a:ea typeface="Calibri"/>
                <a:cs typeface="Calibri"/>
                <a:sym typeface="Calibri"/>
              </a:rPr>
              <a:t> </a:t>
            </a:r>
            <a:endParaRPr sz="5900" b="1" i="0" u="none" strike="noStrike" cap="none">
              <a:solidFill>
                <a:srgbClr val="F1C232"/>
              </a:solidFill>
              <a:latin typeface="Calibri"/>
              <a:ea typeface="Calibri"/>
              <a:cs typeface="Calibri"/>
              <a:sym typeface="Calibri"/>
            </a:endParaRPr>
          </a:p>
        </p:txBody>
      </p:sp>
      <p:sp>
        <p:nvSpPr>
          <p:cNvPr id="339" name="Google Shape;339;p33"/>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25</a:t>
            </a:fld>
            <a:endParaRPr/>
          </a:p>
        </p:txBody>
      </p:sp>
      <p:pic>
        <p:nvPicPr>
          <p:cNvPr id="340" name="Google Shape;340;p33"/>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41" name="Google Shape;341;p33"/>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342" name="Google Shape;342;p33"/>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343" name="Google Shape;343;p33"/>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344" name="Google Shape;344;p33"/>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MATH MODEL I: CLASS BALANCING</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914400"/>
          <a:ext cx="4754880" cy="96012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274320">
                <a:tc>
                  <a:txBody>
                    <a:bodyPr/>
                    <a:lstStyle/>
                    <a:p>
                      <a:pPr algn="l"/>
                      <a:r>
                        <a:rPr sz="1000" b="1" dirty="0">
                          <a:solidFill>
                            <a:srgbClr val="FFFFFF"/>
                          </a:solidFill>
                          <a:latin typeface="Times New Roman"/>
                        </a:rPr>
                        <a:t>Class</a:t>
                      </a:r>
                    </a:p>
                  </a:txBody>
                  <a:tcPr marL="36576" marR="36576" marT="18288" marB="18288">
                    <a:solidFill>
                      <a:srgbClr val="41534B"/>
                    </a:solidFill>
                  </a:tcPr>
                </a:tc>
                <a:tc>
                  <a:txBody>
                    <a:bodyPr/>
                    <a:lstStyle/>
                    <a:p>
                      <a:pPr algn="ctr"/>
                      <a:r>
                        <a:rPr sz="1000" b="1">
                          <a:solidFill>
                            <a:srgbClr val="FFFFFF"/>
                          </a:solidFill>
                          <a:latin typeface="Times New Roman"/>
                        </a:rPr>
                        <a:t>Training boxes</a:t>
                      </a:r>
                    </a:p>
                  </a:txBody>
                  <a:tcPr marL="36576" marR="36576" marT="18288" marB="18288">
                    <a:solidFill>
                      <a:srgbClr val="41534B"/>
                    </a:solidFill>
                  </a:tcPr>
                </a:tc>
                <a:tc>
                  <a:txBody>
                    <a:bodyPr/>
                    <a:lstStyle/>
                    <a:p>
                      <a:pPr algn="ctr"/>
                      <a:r>
                        <a:rPr sz="1000" b="1">
                          <a:solidFill>
                            <a:srgbClr val="FFFFFF"/>
                          </a:solidFill>
                          <a:latin typeface="Times New Roman"/>
                        </a:rPr>
                        <a:t>Full balance (1:1)</a:t>
                      </a:r>
                    </a:p>
                  </a:txBody>
                  <a:tcPr marL="36576" marR="36576" marT="18288" marB="18288">
                    <a:solidFill>
                      <a:srgbClr val="41534B"/>
                    </a:solidFill>
                  </a:tcPr>
                </a:tc>
                <a:tc>
                  <a:txBody>
                    <a:bodyPr/>
                    <a:lstStyle/>
                    <a:p>
                      <a:pPr algn="ctr"/>
                      <a:r>
                        <a:rPr sz="1000" b="1">
                          <a:solidFill>
                            <a:srgbClr val="FFFFFF"/>
                          </a:solidFill>
                          <a:latin typeface="Times New Roman"/>
                        </a:rPr>
                        <a:t>Partial balance sqrt(n_c n_max)</a:t>
                      </a:r>
                    </a:p>
                  </a:txBody>
                  <a:tcPr marL="36576" marR="36576" marT="18288" marB="18288">
                    <a:solidFill>
                      <a:srgbClr val="41534B"/>
                    </a:solidFill>
                  </a:tcPr>
                </a:tc>
                <a:extLst>
                  <a:ext uri="{0D108BD9-81ED-4DB2-BD59-A6C34878D82A}">
                    <a16:rowId xmlns:a16="http://schemas.microsoft.com/office/drawing/2014/main" val="10000"/>
                  </a:ext>
                </a:extLst>
              </a:tr>
              <a:tr h="274320">
                <a:tc>
                  <a:txBody>
                    <a:bodyPr/>
                    <a:lstStyle/>
                    <a:p>
                      <a:pPr algn="l"/>
                      <a:r>
                        <a:rPr sz="1000" b="0" dirty="0">
                          <a:latin typeface="Times New Roman"/>
                        </a:rPr>
                        <a:t>Live_Knot</a:t>
                      </a:r>
                    </a:p>
                  </a:txBody>
                  <a:tcPr marL="36576" marR="36576" marT="18288" marB="18288">
                    <a:solidFill>
                      <a:srgbClr val="F7F3EC"/>
                    </a:solidFill>
                  </a:tcPr>
                </a:tc>
                <a:tc>
                  <a:txBody>
                    <a:bodyPr/>
                    <a:lstStyle/>
                    <a:p>
                      <a:pPr algn="ctr"/>
                      <a:r>
                        <a:rPr sz="1000" b="0">
                          <a:latin typeface="Times New Roman"/>
                        </a:rPr>
                        <a:t>2899</a:t>
                      </a:r>
                    </a:p>
                  </a:txBody>
                  <a:tcPr marL="36576" marR="36576" marT="18288" marB="18288">
                    <a:solidFill>
                      <a:srgbClr val="F7F3EC"/>
                    </a:solidFill>
                  </a:tcPr>
                </a:tc>
                <a:tc>
                  <a:txBody>
                    <a:bodyPr/>
                    <a:lstStyle/>
                    <a:p>
                      <a:pPr algn="ctr"/>
                      <a:r>
                        <a:rPr sz="1000" b="0">
                          <a:latin typeface="Times New Roman"/>
                        </a:rPr>
                        <a:t>2899</a:t>
                      </a:r>
                    </a:p>
                  </a:txBody>
                  <a:tcPr marL="36576" marR="36576" marT="18288" marB="18288">
                    <a:solidFill>
                      <a:srgbClr val="F7F3EC"/>
                    </a:solidFill>
                  </a:tcPr>
                </a:tc>
                <a:tc>
                  <a:txBody>
                    <a:bodyPr/>
                    <a:lstStyle/>
                    <a:p>
                      <a:pPr algn="ctr"/>
                      <a:r>
                        <a:rPr sz="1000" b="0">
                          <a:latin typeface="Times New Roman"/>
                        </a:rPr>
                        <a:t>2899</a:t>
                      </a:r>
                    </a:p>
                  </a:txBody>
                  <a:tcPr marL="36576" marR="36576" marT="18288" marB="18288">
                    <a:solidFill>
                      <a:srgbClr val="F7F3EC"/>
                    </a:solidFill>
                  </a:tcPr>
                </a:tc>
                <a:extLst>
                  <a:ext uri="{0D108BD9-81ED-4DB2-BD59-A6C34878D82A}">
                    <a16:rowId xmlns:a16="http://schemas.microsoft.com/office/drawing/2014/main" val="10001"/>
                  </a:ext>
                </a:extLst>
              </a:tr>
              <a:tr h="274320">
                <a:tc>
                  <a:txBody>
                    <a:bodyPr/>
                    <a:lstStyle/>
                    <a:p>
                      <a:pPr algn="l"/>
                      <a:r>
                        <a:rPr sz="1000" b="0" dirty="0">
                          <a:latin typeface="Times New Roman"/>
                        </a:rPr>
                        <a:t>Dead_Knot</a:t>
                      </a:r>
                    </a:p>
                  </a:txBody>
                  <a:tcPr marL="36576" marR="36576" marT="18288" marB="18288">
                    <a:solidFill>
                      <a:srgbClr val="FFFFFF"/>
                    </a:solidFill>
                  </a:tcPr>
                </a:tc>
                <a:tc>
                  <a:txBody>
                    <a:bodyPr/>
                    <a:lstStyle/>
                    <a:p>
                      <a:pPr algn="ctr"/>
                      <a:r>
                        <a:rPr sz="1000" b="0">
                          <a:latin typeface="Times New Roman"/>
                        </a:rPr>
                        <a:t>2071</a:t>
                      </a:r>
                    </a:p>
                  </a:txBody>
                  <a:tcPr marL="36576" marR="36576" marT="18288" marB="18288">
                    <a:solidFill>
                      <a:srgbClr val="FFFFFF"/>
                    </a:solidFill>
                  </a:tcPr>
                </a:tc>
                <a:tc>
                  <a:txBody>
                    <a:bodyPr/>
                    <a:lstStyle/>
                    <a:p>
                      <a:pPr algn="ctr"/>
                      <a:r>
                        <a:rPr sz="1000" b="0">
                          <a:latin typeface="Times New Roman"/>
                        </a:rPr>
                        <a:t>3071</a:t>
                      </a:r>
                    </a:p>
                  </a:txBody>
                  <a:tcPr marL="36576" marR="36576" marT="18288" marB="18288">
                    <a:solidFill>
                      <a:srgbClr val="FFFFFF"/>
                    </a:solidFill>
                  </a:tcPr>
                </a:tc>
                <a:tc>
                  <a:txBody>
                    <a:bodyPr/>
                    <a:lstStyle/>
                    <a:p>
                      <a:pPr algn="ctr"/>
                      <a:r>
                        <a:rPr sz="1000" b="0">
                          <a:latin typeface="Times New Roman"/>
                        </a:rPr>
                        <a:t>2470</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Resin</a:t>
                      </a:r>
                    </a:p>
                  </a:txBody>
                  <a:tcPr marL="36576" marR="36576" marT="18288" marB="18288">
                    <a:solidFill>
                      <a:srgbClr val="FFFFFF"/>
                    </a:solidFill>
                  </a:tcPr>
                </a:tc>
                <a:tc>
                  <a:txBody>
                    <a:bodyPr/>
                    <a:lstStyle/>
                    <a:p>
                      <a:pPr algn="ctr"/>
                      <a:r>
                        <a:rPr sz="1000" b="0">
                          <a:latin typeface="Times New Roman"/>
                        </a:rPr>
                        <a:t>489</a:t>
                      </a:r>
                    </a:p>
                  </a:txBody>
                  <a:tcPr marL="36576" marR="36576" marT="18288" marB="18288">
                    <a:solidFill>
                      <a:srgbClr val="FFFFFF"/>
                    </a:solidFill>
                  </a:tcPr>
                </a:tc>
                <a:tc>
                  <a:txBody>
                    <a:bodyPr/>
                    <a:lstStyle/>
                    <a:p>
                      <a:pPr algn="ctr"/>
                      <a:r>
                        <a:rPr sz="1000" b="0">
                          <a:latin typeface="Times New Roman"/>
                        </a:rPr>
                        <a:t>2899</a:t>
                      </a:r>
                    </a:p>
                  </a:txBody>
                  <a:tcPr marL="36576" marR="36576" marT="18288" marB="18288">
                    <a:solidFill>
                      <a:srgbClr val="FFFFFF"/>
                    </a:solidFill>
                  </a:tcPr>
                </a:tc>
                <a:tc>
                  <a:txBody>
                    <a:bodyPr/>
                    <a:lstStyle/>
                    <a:p>
                      <a:pPr algn="ctr"/>
                      <a:r>
                        <a:rPr sz="1000" b="0">
                          <a:latin typeface="Times New Roman"/>
                        </a:rPr>
                        <a:t>1191</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Crack</a:t>
                      </a:r>
                    </a:p>
                  </a:txBody>
                  <a:tcPr marL="36576" marR="36576" marT="18288" marB="18288">
                    <a:solidFill>
                      <a:srgbClr val="FFFFFF"/>
                    </a:solidFill>
                  </a:tcPr>
                </a:tc>
                <a:tc>
                  <a:txBody>
                    <a:bodyPr/>
                    <a:lstStyle/>
                    <a:p>
                      <a:pPr algn="ctr"/>
                      <a:r>
                        <a:rPr sz="1000" b="0">
                          <a:latin typeface="Times New Roman"/>
                        </a:rPr>
                        <a:t>306</a:t>
                      </a:r>
                    </a:p>
                  </a:txBody>
                  <a:tcPr marL="36576" marR="36576" marT="18288" marB="18288">
                    <a:solidFill>
                      <a:srgbClr val="FFFFFF"/>
                    </a:solidFill>
                  </a:tcPr>
                </a:tc>
                <a:tc>
                  <a:txBody>
                    <a:bodyPr/>
                    <a:lstStyle/>
                    <a:p>
                      <a:pPr algn="ctr"/>
                      <a:r>
                        <a:rPr sz="1000" b="0">
                          <a:latin typeface="Times New Roman"/>
                        </a:rPr>
                        <a:t>2899</a:t>
                      </a:r>
                    </a:p>
                  </a:txBody>
                  <a:tcPr marL="36576" marR="36576" marT="18288" marB="18288">
                    <a:solidFill>
                      <a:srgbClr val="FFFFFF"/>
                    </a:solidFill>
                  </a:tcPr>
                </a:tc>
                <a:tc>
                  <a:txBody>
                    <a:bodyPr/>
                    <a:lstStyle/>
                    <a:p>
                      <a:pPr algn="ctr"/>
                      <a:r>
                        <a:rPr sz="1000" b="0">
                          <a:latin typeface="Times New Roman"/>
                        </a:rPr>
                        <a:t>942</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Imbalance max : min</a:t>
                      </a:r>
                    </a:p>
                  </a:txBody>
                  <a:tcPr marL="36576" marR="36576" marT="18288" marB="18288">
                    <a:solidFill>
                      <a:srgbClr val="FFFFFF"/>
                    </a:solidFill>
                  </a:tcPr>
                </a:tc>
                <a:tc>
                  <a:txBody>
                    <a:bodyPr/>
                    <a:lstStyle/>
                    <a:p>
                      <a:pPr algn="ctr"/>
                      <a:r>
                        <a:rPr sz="1000" b="0">
                          <a:latin typeface="Times New Roman"/>
                        </a:rPr>
                        <a:t>9.5 : 1</a:t>
                      </a:r>
                    </a:p>
                  </a:txBody>
                  <a:tcPr marL="36576" marR="36576" marT="18288" marB="18288">
                    <a:solidFill>
                      <a:srgbClr val="FFFFFF"/>
                    </a:solidFill>
                  </a:tcPr>
                </a:tc>
                <a:tc>
                  <a:txBody>
                    <a:bodyPr/>
                    <a:lstStyle/>
                    <a:p>
                      <a:pPr algn="ctr"/>
                      <a:r>
                        <a:rPr sz="1000" b="0">
                          <a:latin typeface="Times New Roman"/>
                        </a:rPr>
                        <a:t>1.06 : 1</a:t>
                      </a:r>
                    </a:p>
                  </a:txBody>
                  <a:tcPr marL="36576" marR="36576" marT="18288" marB="18288">
                    <a:solidFill>
                      <a:srgbClr val="FFFFFF"/>
                    </a:solidFill>
                  </a:tcPr>
                </a:tc>
                <a:tc>
                  <a:txBody>
                    <a:bodyPr/>
                    <a:lstStyle/>
                    <a:p>
                      <a:pPr algn="ctr"/>
                      <a:r>
                        <a:rPr sz="1000" b="0">
                          <a:latin typeface="Times New Roman"/>
                        </a:rPr>
                        <a:t>3.1 : 1</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sp>
        <p:nvSpPr>
          <p:cNvPr id="301" name="TextBox 300"/>
          <p:cNvSpPr txBox="1"/>
          <p:nvPr/>
        </p:nvSpPr>
        <p:spPr>
          <a:xfrm>
            <a:off x="274320" y="2697480"/>
            <a:ext cx="4754880" cy="3017520"/>
          </a:xfrm>
          <a:prstGeom prst="rect">
            <a:avLst/>
          </a:prstGeom>
          <a:noFill/>
        </p:spPr>
        <p:txBody>
          <a:bodyPr wrap="square">
            <a:spAutoFit/>
          </a:bodyPr>
          <a:lstStyle/>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Rule: </a:t>
            </a:r>
            <a:r>
              <a:rPr lang="en-US" sz="1050">
                <a:latin typeface="Times New Roman"/>
                <a:ea typeface="Times New Roman"/>
                <a:cs typeface="Times New Roman"/>
                <a:sym typeface="Times New Roman"/>
              </a:rPr>
              <a:t>target boxes per class n_c* = n_max (full) or n_c* = sqrt(n_c x n_max) (partial, the repeat-factor rule of LVIS [15], same idea as the effective number of samples [14]).</a:t>
            </a:r>
          </a:p>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Synthesis: </a:t>
            </a:r>
            <a:r>
              <a:rPr lang="en-US" sz="1050">
                <a:latin typeface="Times New Roman"/>
                <a:ea typeface="Times New Roman"/>
                <a:cs typeface="Times New Roman"/>
                <a:sym typeface="Times New Roman"/>
              </a:rPr>
              <a:t>real defect crops cut from training boards and pasted onto defect-free training boards (2-5 per image), only inside the board mask, no rotation, Poisson or feathered blending [16]; training split only.</a:t>
            </a:r>
          </a:p>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Result: </a:t>
            </a:r>
            <a:r>
              <a:rPr lang="en-US" sz="1050">
                <a:latin typeface="Times New Roman"/>
                <a:ea typeface="Times New Roman"/>
                <a:cs typeface="Times New Roman"/>
                <a:sym typeface="Times New Roman"/>
              </a:rPr>
              <a:t>partial balance raised validation mAP50 from 73.1 to 75.3 but scored 69.2 on test vs 71.7 without balancing; difference not significant (95% CI -4.6 to +0.3).</a:t>
            </a:r>
          </a:p>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Why full balance lost: </a:t>
            </a:r>
            <a:r>
              <a:rPr lang="en-US" sz="1050">
                <a:latin typeface="Times New Roman"/>
                <a:ea typeface="Times New Roman"/>
                <a:cs typeface="Times New Roman"/>
                <a:sym typeface="Times New Roman"/>
              </a:rPr>
              <a:t>only 160 cracks could be cut out cleanly, so each was pasted up to 17 times.</a:t>
            </a:r>
          </a:p>
        </p:txBody>
      </p:sp>
      <p:pic>
        <p:nvPicPr>
          <p:cNvPr id="302" name="Picture 301" descr="train_sqrt_042fff_104900047s0216.jpg"/>
          <p:cNvPicPr>
            <a:picLocks noChangeAspect="1"/>
          </p:cNvPicPr>
          <p:nvPr/>
        </p:nvPicPr>
        <p:blipFill>
          <a:blip r:embed="rId6"/>
          <a:stretch>
            <a:fillRect/>
          </a:stretch>
        </p:blipFill>
        <p:spPr>
          <a:xfrm>
            <a:off x="5074920" y="940264"/>
            <a:ext cx="3108960" cy="1136991"/>
          </a:xfrm>
          <a:prstGeom prst="rect">
            <a:avLst/>
          </a:prstGeom>
        </p:spPr>
      </p:pic>
      <p:pic>
        <p:nvPicPr>
          <p:cNvPr id="303" name="Picture 302" descr="train_sqrt_24b8d1_111200005s0176.jpg"/>
          <p:cNvPicPr>
            <a:picLocks noChangeAspect="1"/>
          </p:cNvPicPr>
          <p:nvPr/>
        </p:nvPicPr>
        <p:blipFill>
          <a:blip r:embed="rId7"/>
          <a:stretch>
            <a:fillRect/>
          </a:stretch>
        </p:blipFill>
        <p:spPr>
          <a:xfrm>
            <a:off x="5074920" y="2266144"/>
            <a:ext cx="3108960" cy="1136991"/>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MATH MODEL II: FUSION AND LOSS</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914400"/>
          <a:ext cx="7955280" cy="960120"/>
        </p:xfrm>
        <a:graphic>
          <a:graphicData uri="http://schemas.openxmlformats.org/drawingml/2006/table">
            <a:tbl>
              <a:tblPr firstRow="1" bandRow="1">
                <a:tableStyleId>{5C22544A-7EE6-4342-B048-85BDC9FD1C3A}</a:tableStyleId>
              </a:tblPr>
              <a:tblGrid>
                <a:gridCol w="1358218">
                  <a:extLst>
                    <a:ext uri="{9D8B030D-6E8A-4147-A177-3AD203B41FA5}">
                      <a16:colId xmlns:a16="http://schemas.microsoft.com/office/drawing/2014/main" val="20000"/>
                    </a:ext>
                  </a:extLst>
                </a:gridCol>
                <a:gridCol w="3104499">
                  <a:extLst>
                    <a:ext uri="{9D8B030D-6E8A-4147-A177-3AD203B41FA5}">
                      <a16:colId xmlns:a16="http://schemas.microsoft.com/office/drawing/2014/main" val="20001"/>
                    </a:ext>
                  </a:extLst>
                </a:gridCol>
                <a:gridCol w="3492561">
                  <a:extLst>
                    <a:ext uri="{9D8B030D-6E8A-4147-A177-3AD203B41FA5}">
                      <a16:colId xmlns:a16="http://schemas.microsoft.com/office/drawing/2014/main" val="20002"/>
                    </a:ext>
                  </a:extLst>
                </a:gridCol>
              </a:tblGrid>
              <a:tr h="411480">
                <a:tc>
                  <a:txBody>
                    <a:bodyPr/>
                    <a:lstStyle/>
                    <a:p>
                      <a:pPr algn="l"/>
                      <a:r>
                        <a:rPr sz="900" b="1" dirty="0">
                          <a:solidFill>
                            <a:srgbClr val="FFFFFF"/>
                          </a:solidFill>
                          <a:latin typeface="Times New Roman"/>
                        </a:rPr>
                        <a:t>Component</a:t>
                      </a:r>
                    </a:p>
                  </a:txBody>
                  <a:tcPr marL="36576" marR="36576" marT="18288" marB="18288">
                    <a:solidFill>
                      <a:srgbClr val="41534B"/>
                    </a:solidFill>
                  </a:tcPr>
                </a:tc>
                <a:tc>
                  <a:txBody>
                    <a:bodyPr/>
                    <a:lstStyle/>
                    <a:p>
                      <a:pPr algn="ctr"/>
                      <a:r>
                        <a:rPr sz="900" b="1">
                          <a:solidFill>
                            <a:srgbClr val="FFFFFF"/>
                          </a:solidFill>
                          <a:latin typeface="Times New Roman"/>
                        </a:rPr>
                        <a:t>Formula</a:t>
                      </a:r>
                    </a:p>
                  </a:txBody>
                  <a:tcPr marL="36576" marR="36576" marT="18288" marB="18288">
                    <a:solidFill>
                      <a:srgbClr val="41534B"/>
                    </a:solidFill>
                  </a:tcPr>
                </a:tc>
                <a:tc>
                  <a:txBody>
                    <a:bodyPr/>
                    <a:lstStyle/>
                    <a:p>
                      <a:pPr algn="ctr"/>
                      <a:r>
                        <a:rPr sz="900" b="1">
                          <a:solidFill>
                            <a:srgbClr val="FFFFFF"/>
                          </a:solidFill>
                          <a:latin typeface="Times New Roman"/>
                        </a:rPr>
                        <a:t>Test result (chosen on validation)</a:t>
                      </a:r>
                    </a:p>
                  </a:txBody>
                  <a:tcPr marL="36576" marR="36576" marT="18288" marB="18288">
                    <a:solidFill>
                      <a:srgbClr val="41534B"/>
                    </a:solidFill>
                  </a:tcPr>
                </a:tc>
                <a:extLst>
                  <a:ext uri="{0D108BD9-81ED-4DB2-BD59-A6C34878D82A}">
                    <a16:rowId xmlns:a16="http://schemas.microsoft.com/office/drawing/2014/main" val="10000"/>
                  </a:ext>
                </a:extLst>
              </a:tr>
              <a:tr h="411480">
                <a:tc>
                  <a:txBody>
                    <a:bodyPr/>
                    <a:lstStyle/>
                    <a:p>
                      <a:pPr algn="l"/>
                      <a:r>
                        <a:rPr sz="900" b="0" dirty="0">
                          <a:latin typeface="Times New Roman"/>
                        </a:rPr>
                        <a:t>Weighted box fusion [17]</a:t>
                      </a:r>
                    </a:p>
                  </a:txBody>
                  <a:tcPr marL="36576" marR="36576" marT="18288" marB="18288">
                    <a:solidFill>
                      <a:srgbClr val="F7F3EC"/>
                    </a:solidFill>
                  </a:tcPr>
                </a:tc>
                <a:tc>
                  <a:txBody>
                    <a:bodyPr/>
                    <a:lstStyle/>
                    <a:p>
                      <a:pPr algn="ctr"/>
                      <a:r>
                        <a:rPr sz="900" b="0">
                          <a:latin typeface="Times New Roman"/>
                        </a:rPr>
                        <a:t>b_f = sum(w c b) / sum(w c);  c_f = (sum w c / sum w) x min(sum w, W) / W</a:t>
                      </a:r>
                    </a:p>
                  </a:txBody>
                  <a:tcPr marL="36576" marR="36576" marT="18288" marB="18288">
                    <a:solidFill>
                      <a:srgbClr val="F7F3EC"/>
                    </a:solidFill>
                  </a:tcPr>
                </a:tc>
                <a:tc>
                  <a:txBody>
                    <a:bodyPr/>
                    <a:lstStyle/>
                    <a:p>
                      <a:pPr algn="ctr"/>
                      <a:r>
                        <a:rPr sz="900" b="0">
                          <a:latin typeface="Times New Roman"/>
                        </a:rPr>
                        <a:t>YOLO11m + YOLO11s: mAP50 65.7, mAP50-95 36.1 (best single 64.6 / 33.7); mAP50-95 +1.6 to +3.2 (95% CI)</a:t>
                      </a:r>
                    </a:p>
                  </a:txBody>
                  <a:tcPr marL="36576" marR="36576" marT="18288" marB="18288">
                    <a:solidFill>
                      <a:srgbClr val="F7F3EC"/>
                    </a:solidFill>
                  </a:tcPr>
                </a:tc>
                <a:extLst>
                  <a:ext uri="{0D108BD9-81ED-4DB2-BD59-A6C34878D82A}">
                    <a16:rowId xmlns:a16="http://schemas.microsoft.com/office/drawing/2014/main" val="10001"/>
                  </a:ext>
                </a:extLst>
              </a:tr>
              <a:tr h="411480">
                <a:tc>
                  <a:txBody>
                    <a:bodyPr/>
                    <a:lstStyle/>
                    <a:p>
                      <a:pPr algn="l"/>
                      <a:r>
                        <a:rPr sz="900" b="0" dirty="0">
                          <a:latin typeface="Times New Roman"/>
                        </a:rPr>
                        <a:t>Wise-IoU v3 [18]</a:t>
                      </a:r>
                    </a:p>
                  </a:txBody>
                  <a:tcPr marL="36576" marR="36576" marT="18288" marB="18288">
                    <a:solidFill>
                      <a:srgbClr val="FFFFFF"/>
                    </a:solidFill>
                  </a:tcPr>
                </a:tc>
                <a:tc>
                  <a:txBody>
                    <a:bodyPr/>
                    <a:lstStyle/>
                    <a:p>
                      <a:pPr algn="ctr"/>
                      <a:r>
                        <a:rPr sz="900" b="0">
                          <a:latin typeface="Times New Roman"/>
                        </a:rPr>
                        <a:t>L = r x exp(d^2 / (W_g^2 + H_g^2)) x (1 - IoU);  r = beta / (delta alpha^(beta - delta))</a:t>
                      </a:r>
                    </a:p>
                  </a:txBody>
                  <a:tcPr marL="36576" marR="36576" marT="18288" marB="18288">
                    <a:solidFill>
                      <a:srgbClr val="FFFFFF"/>
                    </a:solidFill>
                  </a:tcPr>
                </a:tc>
                <a:tc>
                  <a:txBody>
                    <a:bodyPr/>
                    <a:lstStyle/>
                    <a:p>
                      <a:pPr algn="ctr"/>
                      <a:r>
                        <a:rPr sz="900" b="0">
                          <a:latin typeface="Times New Roman"/>
                        </a:rPr>
                        <a:t>val mAP50 74.6 vs 75.3 (CIoU); seed spread 0.8; adopted: no</a:t>
                      </a:r>
                    </a:p>
                  </a:txBody>
                  <a:tcPr marL="36576" marR="36576" marT="18288" marB="18288">
                    <a:solidFill>
                      <a:srgbClr val="FFFFFF"/>
                    </a:solidFill>
                  </a:tcPr>
                </a:tc>
                <a:extLst>
                  <a:ext uri="{0D108BD9-81ED-4DB2-BD59-A6C34878D82A}">
                    <a16:rowId xmlns:a16="http://schemas.microsoft.com/office/drawing/2014/main" val="10002"/>
                  </a:ext>
                </a:extLst>
              </a:tr>
              <a:tr h="411480">
                <a:tc>
                  <a:txBody>
                    <a:bodyPr/>
                    <a:lstStyle/>
                    <a:p>
                      <a:pPr algn="l"/>
                      <a:r>
                        <a:rPr sz="900" b="0" dirty="0">
                          <a:latin typeface="Times New Roman"/>
                        </a:rPr>
                        <a:t>Per-class thresholds</a:t>
                      </a:r>
                    </a:p>
                  </a:txBody>
                  <a:tcPr marL="36576" marR="36576" marT="18288" marB="18288">
                    <a:solidFill>
                      <a:srgbClr val="FFFFFF"/>
                    </a:solidFill>
                  </a:tcPr>
                </a:tc>
                <a:tc>
                  <a:txBody>
                    <a:bodyPr/>
                    <a:lstStyle/>
                    <a:p>
                      <a:pPr algn="ctr"/>
                      <a:r>
                        <a:rPr sz="900" b="0">
                          <a:latin typeface="Times New Roman"/>
                        </a:rPr>
                        <a:t>t_c = argmax_t F1_c(t) on validation</a:t>
                      </a:r>
                    </a:p>
                  </a:txBody>
                  <a:tcPr marL="36576" marR="36576" marT="18288" marB="18288">
                    <a:solidFill>
                      <a:srgbClr val="FFFFFF"/>
                    </a:solidFill>
                  </a:tcPr>
                </a:tc>
                <a:tc>
                  <a:txBody>
                    <a:bodyPr/>
                    <a:lstStyle/>
                    <a:p>
                      <a:pPr algn="ctr"/>
                      <a:r>
                        <a:rPr sz="900" b="0">
                          <a:latin typeface="Times New Roman"/>
                        </a:rPr>
                        <a:t>macro-F1 66.2 vs 66.9 with one global threshold: not adopted</a:t>
                      </a:r>
                    </a:p>
                  </a:txBody>
                  <a:tcPr marL="36576" marR="36576" marT="18288" marB="18288">
                    <a:solidFill>
                      <a:srgbClr val="FFFFFF"/>
                    </a:solidFill>
                  </a:tcPr>
                </a:tc>
                <a:extLst>
                  <a:ext uri="{0D108BD9-81ED-4DB2-BD59-A6C34878D82A}">
                    <a16:rowId xmlns:a16="http://schemas.microsoft.com/office/drawing/2014/main" val="10002"/>
                  </a:ext>
                </a:extLst>
              </a:tr>
              <a:tr h="411480">
                <a:tc>
                  <a:txBody>
                    <a:bodyPr/>
                    <a:lstStyle/>
                    <a:p>
                      <a:pPr algn="l"/>
                      <a:r>
                        <a:rPr sz="900" b="0" dirty="0">
                          <a:latin typeface="Times New Roman"/>
                        </a:rPr>
                        <a:t>Fusion of 4-class models</a:t>
                      </a:r>
                    </a:p>
                  </a:txBody>
                  <a:tcPr marL="36576" marR="36576" marT="18288" marB="18288">
                    <a:solidFill>
                      <a:srgbClr val="FFFFFF"/>
                    </a:solidFill>
                  </a:tcPr>
                </a:tc>
                <a:tc>
                  <a:txBody>
                    <a:bodyPr/>
                    <a:lstStyle/>
                    <a:p>
                      <a:pPr algn="ctr"/>
                      <a:r>
                        <a:rPr sz="900" b="0">
                          <a:latin typeface="Times New Roman"/>
                        </a:rPr>
                        <a:t>IoU 0.55, weights [2, 1, 1, 1]</a:t>
                      </a:r>
                    </a:p>
                  </a:txBody>
                  <a:tcPr marL="36576" marR="36576" marT="18288" marB="18288">
                    <a:solidFill>
                      <a:srgbClr val="FFFFFF"/>
                    </a:solidFill>
                  </a:tcPr>
                </a:tc>
                <a:tc>
                  <a:txBody>
                    <a:bodyPr/>
                    <a:lstStyle/>
                    <a:p>
                      <a:pPr algn="ctr"/>
                      <a:r>
                        <a:rPr sz="900" b="0">
                          <a:latin typeface="Times New Roman"/>
                        </a:rPr>
                        <a:t>val 78.1 vs best single 75.6; adopted, test 74.7 / 36.7</a:t>
                      </a:r>
                    </a:p>
                  </a:txBody>
                  <a:tcPr marL="36576" marR="36576" marT="18288" marB="18288">
                    <a:solidFill>
                      <a:srgbClr val="FFFFFF"/>
                    </a:solidFill>
                  </a:tcPr>
                </a:tc>
                <a:extLst>
                  <a:ext uri="{0D108BD9-81ED-4DB2-BD59-A6C34878D82A}">
                    <a16:rowId xmlns:a16="http://schemas.microsoft.com/office/drawing/2014/main" val="10002"/>
                  </a:ext>
                </a:extLst>
              </a:tr>
              <a:tr h="411480">
                <a:tc>
                  <a:txBody>
                    <a:bodyPr/>
                    <a:lstStyle/>
                    <a:p>
                      <a:pPr algn="l"/>
                      <a:r>
                        <a:rPr sz="900" b="0" dirty="0">
                          <a:latin typeface="Times New Roman"/>
                        </a:rPr>
                        <a:t>Fusion of the expanded-data models</a:t>
                      </a:r>
                    </a:p>
                  </a:txBody>
                  <a:tcPr marL="36576" marR="36576" marT="18288" marB="18288">
                    <a:solidFill>
                      <a:srgbClr val="FFFFFF"/>
                    </a:solidFill>
                  </a:tcPr>
                </a:tc>
                <a:tc>
                  <a:txBody>
                    <a:bodyPr/>
                    <a:lstStyle/>
                    <a:p>
                      <a:pPr algn="ctr"/>
                      <a:r>
                        <a:rPr sz="900" b="0">
                          <a:latin typeface="Times New Roman"/>
                        </a:rPr>
                        <a:t>IoU 0.65, weights [1, 1]</a:t>
                      </a:r>
                    </a:p>
                  </a:txBody>
                  <a:tcPr marL="36576" marR="36576" marT="18288" marB="18288">
                    <a:solidFill>
                      <a:srgbClr val="FFFFFF"/>
                    </a:solidFill>
                  </a:tcPr>
                </a:tc>
                <a:tc>
                  <a:txBody>
                    <a:bodyPr/>
                    <a:lstStyle/>
                    <a:p>
                      <a:pPr algn="ctr"/>
                      <a:r>
                        <a:rPr sz="900" b="0">
                          <a:latin typeface="Times New Roman"/>
                        </a:rPr>
                        <a:t>val 81.3 (full val); adopted, test 76.9 / 39.3 (12 boards), 81.3 / 44.1 (51 boards)</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sp>
        <p:nvSpPr>
          <p:cNvPr id="301" name="TextBox 300"/>
          <p:cNvSpPr txBox="1"/>
          <p:nvPr/>
        </p:nvSpPr>
        <p:spPr>
          <a:xfrm>
            <a:off x="274320" y="3931920"/>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50">
                <a:latin typeface="Times New Roman"/>
                <a:ea typeface="Times New Roman"/>
                <a:cs typeface="Times New Roman"/>
                <a:sym typeface="Times New Roman"/>
              </a:rPr>
              <a:t>Fusion averages the boxes of several detectors weighted by confidence and lowers the confidence of boxes only one model finds. Fusing four 4-class YOLO11s models (1024 and 1280 px, with and without balancing) raised test mAP50 from 69.2 to 74.7.</a:t>
            </a:r>
          </a:p>
          <a:p>
            <a:pPr marL="0" lvl="0" indent="0" algn="l">
              <a:lnSpc>
                <a:spcPct val="105000"/>
              </a:lnSpc>
              <a:spcBef>
                <a:spcPts val="400"/>
              </a:spcBef>
              <a:spcAft>
                <a:spcPts val="0"/>
              </a:spcAft>
              <a:buNone/>
            </a:pPr>
            <a:r>
              <a:rPr lang="en-US" sz="1050">
                <a:latin typeface="Times New Roman"/>
                <a:ea typeface="Times New Roman"/>
                <a:cs typeface="Times New Roman"/>
                <a:sym typeface="Times New Roman"/>
              </a:rPr>
              <a:t>Thresholds tuned per class over-fit the few validation boxes of Resin and Crack, so one global threshold is kept.</a:t>
            </a:r>
          </a:p>
          <a:p>
            <a:pPr marL="0" lvl="0" indent="0" algn="l">
              <a:lnSpc>
                <a:spcPct val="105000"/>
              </a:lnSpc>
              <a:spcBef>
                <a:spcPts val="400"/>
              </a:spcBef>
              <a:spcAft>
                <a:spcPts val="0"/>
              </a:spcAft>
              <a:buNone/>
            </a:pPr>
            <a:r>
              <a:rPr lang="en-US" sz="1050">
                <a:latin typeface="Times New Roman"/>
                <a:ea typeface="Times New Roman"/>
                <a:cs typeface="Times New Roman"/>
                <a:sym typeface="Times New Roman"/>
              </a:rPr>
              <a:t>Every setting was chosen on the 17 validation boards; the 12 test boards were scored once.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6" name="Google Shape;206;p2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10</a:t>
            </a:fld>
            <a:endParaRPr/>
          </a:p>
        </p:txBody>
      </p:sp>
      <p:sp>
        <p:nvSpPr>
          <p:cNvPr id="207" name="Google Shape;207;p22"/>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MATH MODEL III: RECOVERABILITY</a:t>
            </a:r>
            <a:endParaRPr sz="1400" b="0" i="0" u="none" strike="noStrike" cap="none" dirty="0">
              <a:solidFill>
                <a:srgbClr val="FF0000"/>
              </a:solidFill>
              <a:sym typeface="Arial"/>
            </a:endParaRPr>
          </a:p>
        </p:txBody>
      </p:sp>
      <p:sp>
        <p:nvSpPr>
          <p:cNvPr id="208" name="Google Shape;208;p22"/>
          <p:cNvSpPr txBox="1"/>
          <p:nvPr/>
        </p:nvSpPr>
        <p:spPr>
          <a:xfrm>
            <a:off x="63572" y="914400"/>
            <a:ext cx="4206240" cy="4572000"/>
          </a:xfrm>
          <a:prstGeom prst="rect">
            <a:avLst/>
          </a:prstGeom>
          <a:noFill/>
          <a:ln>
            <a:noFill/>
          </a:ln>
        </p:spPr>
        <p:txBody>
          <a:bodyPr spcFirstLastPara="1" wrap="square" lIns="91425" tIns="45700" rIns="91425" bIns="45700" anchor="t" anchorCtr="0">
            <a:noAutofit/>
          </a:bodyPr>
          <a:lstStyle/>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1. Union of defects: </a:t>
            </a:r>
            <a:r>
              <a:rPr lang="en-US" sz="1050" dirty="0">
                <a:latin typeface="Times New Roman"/>
                <a:ea typeface="Times New Roman"/>
                <a:cs typeface="Times New Roman"/>
                <a:sym typeface="Times New Roman"/>
              </a:rPr>
              <a:t>A_def = |R_1 U ... U R_n| (overlaps counted once).</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2. Severity: </a:t>
            </a:r>
            <a:r>
              <a:rPr lang="en-US" sz="1050" dirty="0">
                <a:latin typeface="Times New Roman"/>
                <a:ea typeface="Times New Roman"/>
                <a:cs typeface="Times New Roman"/>
                <a:sym typeface="Times New Roman"/>
              </a:rPr>
              <a:t>w_c: Crack 1.00, Dead_Knot 0.60, Live_Knot 0.40, Resin 0.30 (guide's placeholders).</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3. Position: </a:t>
            </a:r>
            <a:r>
              <a:rPr lang="en-US" sz="1050" dirty="0">
                <a:latin typeface="Times New Roman"/>
                <a:ea typeface="Times New Roman"/>
                <a:cs typeface="Times New Roman"/>
                <a:sym typeface="Times New Roman"/>
              </a:rPr>
              <a:t>p_i = 1 - exp(-d_i / 250 px), d_i = distance to the board's side edge (our change).</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4. Influence: </a:t>
            </a:r>
            <a:r>
              <a:rPr lang="en-US" sz="1050" dirty="0">
                <a:latin typeface="Times New Roman"/>
                <a:ea typeface="Times New Roman"/>
                <a:cs typeface="Times New Roman"/>
                <a:sym typeface="Times New Roman"/>
              </a:rPr>
              <a:t>s_i = w_c x conf_i x p_i.</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5. Damage: </a:t>
            </a:r>
            <a:r>
              <a:rPr lang="en-US" sz="1050" dirty="0">
                <a:latin typeface="Times New Roman"/>
                <a:ea typeface="Times New Roman"/>
                <a:cs typeface="Times New Roman"/>
                <a:sym typeface="Times New Roman"/>
              </a:rPr>
              <a:t>I(x, y) = max_i s_i;  DIS = sum I / A_board (board pixels, our change);  A_rec = A_board (1 - DIS).</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6. Grade: </a:t>
            </a:r>
            <a:r>
              <a:rPr lang="en-US" sz="1050" dirty="0">
                <a:latin typeface="Times New Roman"/>
                <a:ea typeface="Times New Roman"/>
                <a:cs typeface="Times New Roman"/>
                <a:sym typeface="Times New Roman"/>
              </a:rPr>
              <a:t>A / B / C / Reject from thresholds fitted on validation boards with the guide's weighted-kappa calibration.</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Check: </a:t>
            </a:r>
            <a:r>
              <a:rPr lang="en-US" sz="1050" dirty="0">
                <a:latin typeface="Times New Roman"/>
                <a:ea typeface="Times New Roman"/>
                <a:cs typeface="Times New Roman"/>
                <a:sym typeface="Times New Roman"/>
              </a:rPr>
              <a:t>the guide's worked example is reproduced exactly (DIS 0.020860, grade B).</a:t>
            </a:r>
          </a:p>
        </p:txBody>
      </p:sp>
      <p:sp>
        <p:nvSpPr>
          <p:cNvPr id="209" name="Google Shape;209;p2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10" name="Google Shape;210;p22"/>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11" name="Google Shape;211;p22"/>
          <p:cNvPicPr preferRelativeResize="0"/>
          <p:nvPr/>
        </p:nvPicPr>
        <p:blipFill rotWithShape="1">
          <a:blip r:embed="rId5">
            <a:alphaModFix/>
          </a:blip>
          <a:srcRect/>
          <a:stretch/>
        </p:blipFill>
        <p:spPr>
          <a:xfrm>
            <a:off x="8450860" y="2542563"/>
            <a:ext cx="693139" cy="1233357"/>
          </a:xfrm>
          <a:prstGeom prst="rect">
            <a:avLst/>
          </a:prstGeom>
          <a:noFill/>
          <a:ln>
            <a:noFill/>
          </a:ln>
        </p:spPr>
      </p:pic>
      <p:pic>
        <p:nvPicPr>
          <p:cNvPr id="212" name="Google Shape;212;p22"/>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13" name="Google Shape;213;p22"/>
          <p:cNvPicPr preferRelativeResize="0"/>
          <p:nvPr/>
        </p:nvPicPr>
        <p:blipFill rotWithShape="1">
          <a:blip r:embed="rId3">
            <a:alphaModFix/>
          </a:blip>
          <a:srcRect/>
          <a:stretch/>
        </p:blipFill>
        <p:spPr>
          <a:xfrm>
            <a:off x="8450861" y="6157980"/>
            <a:ext cx="680353" cy="703613"/>
          </a:xfrm>
          <a:prstGeom prst="rect">
            <a:avLst/>
          </a:prstGeom>
          <a:noFill/>
          <a:ln>
            <a:noFill/>
          </a:ln>
        </p:spPr>
      </p:pic>
      <p:pic>
        <p:nvPicPr>
          <p:cNvPr id="214" name="Picture 213" descr="bri_geometry.png"/>
          <p:cNvPicPr>
            <a:picLocks noChangeAspect="1"/>
          </p:cNvPicPr>
          <p:nvPr/>
        </p:nvPicPr>
        <p:blipFill>
          <a:blip r:embed="rId6"/>
          <a:stretch>
            <a:fillRect/>
          </a:stretch>
        </p:blipFill>
        <p:spPr>
          <a:xfrm>
            <a:off x="4526280" y="1304653"/>
            <a:ext cx="3657600" cy="1779814"/>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STATISTICAL VALIDATION</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777240"/>
          <a:ext cx="7955280" cy="960120"/>
        </p:xfrm>
        <a:graphic>
          <a:graphicData uri="http://schemas.openxmlformats.org/drawingml/2006/table">
            <a:tbl>
              <a:tblPr firstRow="1" bandRow="1">
                <a:tableStyleId>{5C22544A-7EE6-4342-B048-85BDC9FD1C3A}</a:tableStyleId>
              </a:tblPr>
              <a:tblGrid>
                <a:gridCol w="3222391">
                  <a:extLst>
                    <a:ext uri="{9D8B030D-6E8A-4147-A177-3AD203B41FA5}">
                      <a16:colId xmlns:a16="http://schemas.microsoft.com/office/drawing/2014/main" val="20000"/>
                    </a:ext>
                  </a:extLst>
                </a:gridCol>
                <a:gridCol w="906297">
                  <a:extLst>
                    <a:ext uri="{9D8B030D-6E8A-4147-A177-3AD203B41FA5}">
                      <a16:colId xmlns:a16="http://schemas.microsoft.com/office/drawing/2014/main" val="20001"/>
                    </a:ext>
                  </a:extLst>
                </a:gridCol>
                <a:gridCol w="1611195">
                  <a:extLst>
                    <a:ext uri="{9D8B030D-6E8A-4147-A177-3AD203B41FA5}">
                      <a16:colId xmlns:a16="http://schemas.microsoft.com/office/drawing/2014/main" val="20002"/>
                    </a:ext>
                  </a:extLst>
                </a:gridCol>
                <a:gridCol w="1309096">
                  <a:extLst>
                    <a:ext uri="{9D8B030D-6E8A-4147-A177-3AD203B41FA5}">
                      <a16:colId xmlns:a16="http://schemas.microsoft.com/office/drawing/2014/main" val="20003"/>
                    </a:ext>
                  </a:extLst>
                </a:gridCol>
                <a:gridCol w="906297">
                  <a:extLst>
                    <a:ext uri="{9D8B030D-6E8A-4147-A177-3AD203B41FA5}">
                      <a16:colId xmlns:a16="http://schemas.microsoft.com/office/drawing/2014/main" val="20004"/>
                    </a:ext>
                  </a:extLst>
                </a:gridCol>
              </a:tblGrid>
              <a:tr h="256032">
                <a:tc>
                  <a:txBody>
                    <a:bodyPr/>
                    <a:lstStyle/>
                    <a:p>
                      <a:pPr algn="l"/>
                      <a:r>
                        <a:rPr sz="900" b="1" dirty="0">
                          <a:solidFill>
                            <a:srgbClr val="FFFFFF"/>
                          </a:solidFill>
                          <a:latin typeface="Times New Roman"/>
                        </a:rPr>
                        <a:t>Comparison (test, 12 boards)</a:t>
                      </a:r>
                    </a:p>
                  </a:txBody>
                  <a:tcPr marL="36576" marR="36576" marT="18288" marB="18288">
                    <a:solidFill>
                      <a:srgbClr val="41534B"/>
                    </a:solidFill>
                  </a:tcPr>
                </a:tc>
                <a:tc>
                  <a:txBody>
                    <a:bodyPr/>
                    <a:lstStyle/>
                    <a:p>
                      <a:pPr algn="ctr"/>
                      <a:r>
                        <a:rPr sz="900" b="1">
                          <a:solidFill>
                            <a:srgbClr val="FFFFFF"/>
                          </a:solidFill>
                          <a:latin typeface="Times New Roman"/>
                        </a:rPr>
                        <a:t>mAP50 diff</a:t>
                      </a:r>
                    </a:p>
                  </a:txBody>
                  <a:tcPr marL="36576" marR="36576" marT="18288" marB="18288">
                    <a:solidFill>
                      <a:srgbClr val="41534B"/>
                    </a:solidFill>
                  </a:tcPr>
                </a:tc>
                <a:tc>
                  <a:txBody>
                    <a:bodyPr/>
                    <a:lstStyle/>
                    <a:p>
                      <a:pPr algn="ctr"/>
                      <a:r>
                        <a:rPr sz="900" b="1">
                          <a:solidFill>
                            <a:srgbClr val="FFFFFF"/>
                          </a:solidFill>
                          <a:latin typeface="Times New Roman"/>
                        </a:rPr>
                        <a:t>95% CI (board bootstrap)</a:t>
                      </a:r>
                    </a:p>
                  </a:txBody>
                  <a:tcPr marL="36576" marR="36576" marT="18288" marB="18288">
                    <a:solidFill>
                      <a:srgbClr val="41534B"/>
                    </a:solidFill>
                  </a:tcPr>
                </a:tc>
                <a:tc>
                  <a:txBody>
                    <a:bodyPr/>
                    <a:lstStyle/>
                    <a:p>
                      <a:pPr algn="ctr"/>
                      <a:r>
                        <a:rPr sz="900" b="1">
                          <a:solidFill>
                            <a:srgbClr val="FFFFFF"/>
                          </a:solidFill>
                          <a:latin typeface="Times New Roman"/>
                        </a:rPr>
                        <a:t>Boards better / worse</a:t>
                      </a:r>
                    </a:p>
                  </a:txBody>
                  <a:tcPr marL="36576" marR="36576" marT="18288" marB="18288">
                    <a:solidFill>
                      <a:srgbClr val="41534B"/>
                    </a:solidFill>
                  </a:tcPr>
                </a:tc>
                <a:tc>
                  <a:txBody>
                    <a:bodyPr/>
                    <a:lstStyle/>
                    <a:p>
                      <a:pPr algn="ctr"/>
                      <a:r>
                        <a:rPr sz="900" b="1">
                          <a:solidFill>
                            <a:srgbClr val="FFFFFF"/>
                          </a:solidFill>
                          <a:latin typeface="Times New Roman"/>
                        </a:rPr>
                        <a:t>Wilcoxon p</a:t>
                      </a:r>
                    </a:p>
                  </a:txBody>
                  <a:tcPr marL="36576" marR="36576" marT="18288" marB="18288">
                    <a:solidFill>
                      <a:srgbClr val="41534B"/>
                    </a:solidFill>
                  </a:tcPr>
                </a:tc>
                <a:extLst>
                  <a:ext uri="{0D108BD9-81ED-4DB2-BD59-A6C34878D82A}">
                    <a16:rowId xmlns:a16="http://schemas.microsoft.com/office/drawing/2014/main" val="10000"/>
                  </a:ext>
                </a:extLst>
              </a:tr>
              <a:tr h="256032">
                <a:tc>
                  <a:txBody>
                    <a:bodyPr/>
                    <a:lstStyle/>
                    <a:p>
                      <a:pPr algn="l"/>
                      <a:r>
                        <a:rPr sz="900" b="0" dirty="0">
                          <a:latin typeface="Times New Roman"/>
                        </a:rPr>
                        <a:t>Final detector (expanded data) - four-model fusion</a:t>
                      </a:r>
                    </a:p>
                  </a:txBody>
                  <a:tcPr marL="36576" marR="36576" marT="18288" marB="18288">
                    <a:solidFill>
                      <a:srgbClr val="F7F3EC"/>
                    </a:solidFill>
                  </a:tcPr>
                </a:tc>
                <a:tc>
                  <a:txBody>
                    <a:bodyPr/>
                    <a:lstStyle/>
                    <a:p>
                      <a:pPr algn="ctr"/>
                      <a:r>
                        <a:rPr sz="900" b="0">
                          <a:latin typeface="Times New Roman"/>
                        </a:rPr>
                        <a:t>+2.2</a:t>
                      </a:r>
                    </a:p>
                  </a:txBody>
                  <a:tcPr marL="36576" marR="36576" marT="18288" marB="18288">
                    <a:solidFill>
                      <a:srgbClr val="F7F3EC"/>
                    </a:solidFill>
                  </a:tcPr>
                </a:tc>
                <a:tc>
                  <a:txBody>
                    <a:bodyPr/>
                    <a:lstStyle/>
                    <a:p>
                      <a:pPr algn="ctr"/>
                      <a:r>
                        <a:rPr sz="900" b="0">
                          <a:latin typeface="Times New Roman"/>
                        </a:rPr>
                        <a:t>[+0.5, +4.3]</a:t>
                      </a:r>
                    </a:p>
                  </a:txBody>
                  <a:tcPr marL="36576" marR="36576" marT="18288" marB="18288">
                    <a:solidFill>
                      <a:srgbClr val="F7F3EC"/>
                    </a:solidFill>
                  </a:tcPr>
                </a:tc>
                <a:tc>
                  <a:txBody>
                    <a:bodyPr/>
                    <a:lstStyle/>
                    <a:p>
                      <a:pPr algn="ctr"/>
                      <a:r>
                        <a:rPr sz="900" b="0">
                          <a:latin typeface="Times New Roman"/>
                        </a:rPr>
                        <a:t>8 / 4</a:t>
                      </a:r>
                    </a:p>
                  </a:txBody>
                  <a:tcPr marL="36576" marR="36576" marT="18288" marB="18288">
                    <a:solidFill>
                      <a:srgbClr val="F7F3EC"/>
                    </a:solidFill>
                  </a:tcPr>
                </a:tc>
                <a:tc>
                  <a:txBody>
                    <a:bodyPr/>
                    <a:lstStyle/>
                    <a:p>
                      <a:pPr algn="ctr"/>
                      <a:r>
                        <a:rPr sz="900" b="0">
                          <a:latin typeface="Times New Roman"/>
                        </a:rPr>
                        <a:t>0.30</a:t>
                      </a:r>
                    </a:p>
                  </a:txBody>
                  <a:tcPr marL="36576" marR="36576" marT="18288" marB="18288">
                    <a:solidFill>
                      <a:srgbClr val="F7F3EC"/>
                    </a:solidFill>
                  </a:tcPr>
                </a:tc>
                <a:extLst>
                  <a:ext uri="{0D108BD9-81ED-4DB2-BD59-A6C34878D82A}">
                    <a16:rowId xmlns:a16="http://schemas.microsoft.com/office/drawing/2014/main" val="10001"/>
                  </a:ext>
                </a:extLst>
              </a:tr>
              <a:tr h="256032">
                <a:tc>
                  <a:txBody>
                    <a:bodyPr/>
                    <a:lstStyle/>
                    <a:p>
                      <a:pPr algn="l"/>
                      <a:r>
                        <a:rPr sz="900" b="0" dirty="0">
                          <a:latin typeface="Times New Roman"/>
                        </a:rPr>
                        <a:t>Four-model fusion (4 cls) - best single 4-class model</a:t>
                      </a:r>
                    </a:p>
                  </a:txBody>
                  <a:tcPr marL="36576" marR="36576" marT="18288" marB="18288">
                    <a:solidFill>
                      <a:srgbClr val="FFFFFF"/>
                    </a:solidFill>
                  </a:tcPr>
                </a:tc>
                <a:tc>
                  <a:txBody>
                    <a:bodyPr/>
                    <a:lstStyle/>
                    <a:p>
                      <a:pPr algn="ctr"/>
                      <a:r>
                        <a:rPr sz="900" b="0">
                          <a:latin typeface="Times New Roman"/>
                        </a:rPr>
                        <a:t>+5.5</a:t>
                      </a:r>
                    </a:p>
                  </a:txBody>
                  <a:tcPr marL="36576" marR="36576" marT="18288" marB="18288">
                    <a:solidFill>
                      <a:srgbClr val="FFFFFF"/>
                    </a:solidFill>
                  </a:tcPr>
                </a:tc>
                <a:tc>
                  <a:txBody>
                    <a:bodyPr/>
                    <a:lstStyle/>
                    <a:p>
                      <a:pPr algn="ctr"/>
                      <a:r>
                        <a:rPr sz="900" b="0">
                          <a:latin typeface="Times New Roman"/>
                        </a:rPr>
                        <a:t>[+2.7, +7.1]</a:t>
                      </a:r>
                    </a:p>
                  </a:txBody>
                  <a:tcPr marL="36576" marR="36576" marT="18288" marB="18288">
                    <a:solidFill>
                      <a:srgbClr val="FFFFFF"/>
                    </a:solidFill>
                  </a:tcPr>
                </a:tc>
                <a:tc>
                  <a:txBody>
                    <a:bodyPr/>
                    <a:lstStyle/>
                    <a:p>
                      <a:pPr algn="ctr"/>
                      <a:r>
                        <a:rPr sz="900" b="0">
                          <a:latin typeface="Times New Roman"/>
                        </a:rPr>
                        <a:t>10 / 2</a:t>
                      </a:r>
                    </a:p>
                  </a:txBody>
                  <a:tcPr marL="36576" marR="36576" marT="18288" marB="18288">
                    <a:solidFill>
                      <a:srgbClr val="FFFFFF"/>
                    </a:solidFill>
                  </a:tcPr>
                </a:tc>
                <a:tc>
                  <a:txBody>
                    <a:bodyPr/>
                    <a:lstStyle/>
                    <a:p>
                      <a:pPr algn="ctr"/>
                      <a:r>
                        <a:rPr sz="900" b="0">
                          <a:latin typeface="Times New Roman"/>
                        </a:rPr>
                        <a:t>0.042</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00" b="0" dirty="0">
                          <a:latin typeface="Times New Roman"/>
                        </a:rPr>
                        <a:t>Fusion (YOLO11m + YOLO11s) - YOLO11s, mAP50</a:t>
                      </a:r>
                    </a:p>
                  </a:txBody>
                  <a:tcPr marL="36576" marR="36576" marT="18288" marB="18288">
                    <a:solidFill>
                      <a:srgbClr val="FFFFFF"/>
                    </a:solidFill>
                  </a:tcPr>
                </a:tc>
                <a:tc>
                  <a:txBody>
                    <a:bodyPr/>
                    <a:lstStyle/>
                    <a:p>
                      <a:pPr algn="ctr"/>
                      <a:r>
                        <a:rPr sz="900" b="0">
                          <a:latin typeface="Times New Roman"/>
                        </a:rPr>
                        <a:t>+1.1</a:t>
                      </a:r>
                    </a:p>
                  </a:txBody>
                  <a:tcPr marL="36576" marR="36576" marT="18288" marB="18288">
                    <a:solidFill>
                      <a:srgbClr val="FFFFFF"/>
                    </a:solidFill>
                  </a:tcPr>
                </a:tc>
                <a:tc>
                  <a:txBody>
                    <a:bodyPr/>
                    <a:lstStyle/>
                    <a:p>
                      <a:pPr algn="ctr"/>
                      <a:r>
                        <a:rPr sz="900" b="0">
                          <a:latin typeface="Times New Roman"/>
                        </a:rPr>
                        <a:t>[-0.5, +2.7]</a:t>
                      </a:r>
                    </a:p>
                  </a:txBody>
                  <a:tcPr marL="36576" marR="36576" marT="18288" marB="18288">
                    <a:solidFill>
                      <a:srgbClr val="FFFFFF"/>
                    </a:solidFill>
                  </a:tcPr>
                </a:tc>
                <a:tc>
                  <a:txBody>
                    <a:bodyPr/>
                    <a:lstStyle/>
                    <a:p>
                      <a:pPr algn="ctr"/>
                      <a:r>
                        <a:rPr sz="900" b="0">
                          <a:latin typeface="Times New Roman"/>
                        </a:rPr>
                        <a:t>7 / 5</a:t>
                      </a:r>
                    </a:p>
                  </a:txBody>
                  <a:tcPr marL="36576" marR="36576" marT="18288" marB="18288">
                    <a:solidFill>
                      <a:srgbClr val="FFFFFF"/>
                    </a:solidFill>
                  </a:tcPr>
                </a:tc>
                <a:tc>
                  <a:txBody>
                    <a:bodyPr/>
                    <a:lstStyle/>
                    <a:p>
                      <a:pPr algn="ctr"/>
                      <a:r>
                        <a:rPr sz="900" b="0">
                          <a:latin typeface="Times New Roman"/>
                        </a:rPr>
                        <a:t>0.52</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00" b="0" dirty="0">
                          <a:latin typeface="Times New Roman"/>
                        </a:rPr>
                        <a:t>Fusion - YOLO11s, mAP50-95</a:t>
                      </a:r>
                    </a:p>
                  </a:txBody>
                  <a:tcPr marL="36576" marR="36576" marT="18288" marB="18288">
                    <a:solidFill>
                      <a:srgbClr val="FFFFFF"/>
                    </a:solidFill>
                  </a:tcPr>
                </a:tc>
                <a:tc>
                  <a:txBody>
                    <a:bodyPr/>
                    <a:lstStyle/>
                    <a:p>
                      <a:pPr algn="ctr"/>
                      <a:r>
                        <a:rPr sz="900" b="0">
                          <a:latin typeface="Times New Roman"/>
                        </a:rPr>
                        <a:t>+2.4</a:t>
                      </a:r>
                    </a:p>
                  </a:txBody>
                  <a:tcPr marL="36576" marR="36576" marT="18288" marB="18288">
                    <a:solidFill>
                      <a:srgbClr val="FFFFFF"/>
                    </a:solidFill>
                  </a:tcPr>
                </a:tc>
                <a:tc>
                  <a:txBody>
                    <a:bodyPr/>
                    <a:lstStyle/>
                    <a:p>
                      <a:pPr algn="ctr"/>
                      <a:r>
                        <a:rPr sz="900" b="0">
                          <a:latin typeface="Times New Roman"/>
                        </a:rPr>
                        <a:t>[+1.6, +3.2]</a:t>
                      </a:r>
                    </a:p>
                  </a:txBody>
                  <a:tcPr marL="36576" marR="36576" marT="18288" marB="18288">
                    <a:solidFill>
                      <a:srgbClr val="FFFFFF"/>
                    </a:solidFill>
                  </a:tcPr>
                </a:tc>
                <a:tc>
                  <a:txBody>
                    <a:bodyPr/>
                    <a:lstStyle/>
                    <a:p>
                      <a:pPr algn="ctr"/>
                      <a:r>
                        <a:rPr sz="900" b="0">
                          <a:latin typeface="Times New Roman"/>
                        </a:rPr>
                        <a:t>-</a:t>
                      </a:r>
                    </a:p>
                  </a:txBody>
                  <a:tcPr marL="36576" marR="36576" marT="18288" marB="18288">
                    <a:solidFill>
                      <a:srgbClr val="FFFFFF"/>
                    </a:solidFill>
                  </a:tcPr>
                </a:tc>
                <a:tc>
                  <a:txBody>
                    <a:bodyPr/>
                    <a:lstStyle/>
                    <a:p>
                      <a:pPr algn="ctr"/>
                      <a:r>
                        <a:rPr sz="900" b="0">
                          <a:latin typeface="Times New Roman"/>
                        </a:rPr>
                        <a:t>-</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00" b="0" dirty="0">
                          <a:latin typeface="Times New Roman"/>
                        </a:rPr>
                        <a:t>Partial balance - no balancing (4 cls)</a:t>
                      </a:r>
                    </a:p>
                  </a:txBody>
                  <a:tcPr marL="36576" marR="36576" marT="18288" marB="18288">
                    <a:solidFill>
                      <a:srgbClr val="FFFFFF"/>
                    </a:solidFill>
                  </a:tcPr>
                </a:tc>
                <a:tc>
                  <a:txBody>
                    <a:bodyPr/>
                    <a:lstStyle/>
                    <a:p>
                      <a:pPr algn="ctr"/>
                      <a:r>
                        <a:rPr sz="900" b="0">
                          <a:latin typeface="Times New Roman"/>
                        </a:rPr>
                        <a:t>-2.6</a:t>
                      </a:r>
                    </a:p>
                  </a:txBody>
                  <a:tcPr marL="36576" marR="36576" marT="18288" marB="18288">
                    <a:solidFill>
                      <a:srgbClr val="FFFFFF"/>
                    </a:solidFill>
                  </a:tcPr>
                </a:tc>
                <a:tc>
                  <a:txBody>
                    <a:bodyPr/>
                    <a:lstStyle/>
                    <a:p>
                      <a:pPr algn="ctr"/>
                      <a:r>
                        <a:rPr sz="900" b="0">
                          <a:latin typeface="Times New Roman"/>
                        </a:rPr>
                        <a:t>[-4.6, +0.3]</a:t>
                      </a:r>
                    </a:p>
                  </a:txBody>
                  <a:tcPr marL="36576" marR="36576" marT="18288" marB="18288">
                    <a:solidFill>
                      <a:srgbClr val="FFFFFF"/>
                    </a:solidFill>
                  </a:tcPr>
                </a:tc>
                <a:tc>
                  <a:txBody>
                    <a:bodyPr/>
                    <a:lstStyle/>
                    <a:p>
                      <a:pPr algn="ctr"/>
                      <a:r>
                        <a:rPr sz="900" b="0">
                          <a:latin typeface="Times New Roman"/>
                        </a:rPr>
                        <a:t>4 / 8</a:t>
                      </a:r>
                    </a:p>
                  </a:txBody>
                  <a:tcPr marL="36576" marR="36576" marT="18288" marB="18288">
                    <a:solidFill>
                      <a:srgbClr val="FFFFFF"/>
                    </a:solidFill>
                  </a:tcPr>
                </a:tc>
                <a:tc>
                  <a:txBody>
                    <a:bodyPr/>
                    <a:lstStyle/>
                    <a:p>
                      <a:pPr algn="ctr"/>
                      <a:r>
                        <a:rPr sz="900" b="0">
                          <a:latin typeface="Times New Roman"/>
                        </a:rPr>
                        <a:t>0.57</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00" b="0" dirty="0">
                          <a:latin typeface="Times New Roman"/>
                        </a:rPr>
                        <a:t>Partial balance - 8-class model (4 cls)</a:t>
                      </a:r>
                    </a:p>
                  </a:txBody>
                  <a:tcPr marL="36576" marR="36576" marT="18288" marB="18288">
                    <a:solidFill>
                      <a:srgbClr val="FFFFFF"/>
                    </a:solidFill>
                  </a:tcPr>
                </a:tc>
                <a:tc>
                  <a:txBody>
                    <a:bodyPr/>
                    <a:lstStyle/>
                    <a:p>
                      <a:pPr algn="ctr"/>
                      <a:r>
                        <a:rPr sz="900" b="0">
                          <a:latin typeface="Times New Roman"/>
                        </a:rPr>
                        <a:t>-0.4</a:t>
                      </a:r>
                    </a:p>
                  </a:txBody>
                  <a:tcPr marL="36576" marR="36576" marT="18288" marB="18288">
                    <a:solidFill>
                      <a:srgbClr val="FFFFFF"/>
                    </a:solidFill>
                  </a:tcPr>
                </a:tc>
                <a:tc>
                  <a:txBody>
                    <a:bodyPr/>
                    <a:lstStyle/>
                    <a:p>
                      <a:pPr algn="ctr"/>
                      <a:r>
                        <a:rPr sz="900" b="0">
                          <a:latin typeface="Times New Roman"/>
                        </a:rPr>
                        <a:t>[-2.8, +1.9]</a:t>
                      </a:r>
                    </a:p>
                  </a:txBody>
                  <a:tcPr marL="36576" marR="36576" marT="18288" marB="18288">
                    <a:solidFill>
                      <a:srgbClr val="FFFFFF"/>
                    </a:solidFill>
                  </a:tcPr>
                </a:tc>
                <a:tc>
                  <a:txBody>
                    <a:bodyPr/>
                    <a:lstStyle/>
                    <a:p>
                      <a:pPr algn="ctr"/>
                      <a:r>
                        <a:rPr sz="900" b="0">
                          <a:latin typeface="Times New Roman"/>
                        </a:rPr>
                        <a:t>5 / 7</a:t>
                      </a:r>
                    </a:p>
                  </a:txBody>
                  <a:tcPr marL="36576" marR="36576" marT="18288" marB="18288">
                    <a:solidFill>
                      <a:srgbClr val="FFFFFF"/>
                    </a:solidFill>
                  </a:tcPr>
                </a:tc>
                <a:tc>
                  <a:txBody>
                    <a:bodyPr/>
                    <a:lstStyle/>
                    <a:p>
                      <a:pPr algn="ctr"/>
                      <a:r>
                        <a:rPr sz="900" b="0">
                          <a:latin typeface="Times New Roman"/>
                        </a:rPr>
                        <a:t>0.73</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00" b="0" dirty="0">
                          <a:latin typeface="Times New Roman"/>
                        </a:rPr>
                        <a:t>No balancing - 8-class model (4 cls)</a:t>
                      </a:r>
                    </a:p>
                  </a:txBody>
                  <a:tcPr marL="36576" marR="36576" marT="18288" marB="18288">
                    <a:solidFill>
                      <a:srgbClr val="FFFFFF"/>
                    </a:solidFill>
                  </a:tcPr>
                </a:tc>
                <a:tc>
                  <a:txBody>
                    <a:bodyPr/>
                    <a:lstStyle/>
                    <a:p>
                      <a:pPr algn="ctr"/>
                      <a:r>
                        <a:rPr sz="900" b="0">
                          <a:latin typeface="Times New Roman"/>
                        </a:rPr>
                        <a:t>+2.2</a:t>
                      </a:r>
                    </a:p>
                  </a:txBody>
                  <a:tcPr marL="36576" marR="36576" marT="18288" marB="18288">
                    <a:solidFill>
                      <a:srgbClr val="FFFFFF"/>
                    </a:solidFill>
                  </a:tcPr>
                </a:tc>
                <a:tc>
                  <a:txBody>
                    <a:bodyPr/>
                    <a:lstStyle/>
                    <a:p>
                      <a:pPr algn="ctr"/>
                      <a:r>
                        <a:rPr sz="900" b="0">
                          <a:latin typeface="Times New Roman"/>
                        </a:rPr>
                        <a:t>[-1.4, +4.4]</a:t>
                      </a:r>
                    </a:p>
                  </a:txBody>
                  <a:tcPr marL="36576" marR="36576" marT="18288" marB="18288">
                    <a:solidFill>
                      <a:srgbClr val="FFFFFF"/>
                    </a:solidFill>
                  </a:tcPr>
                </a:tc>
                <a:tc>
                  <a:txBody>
                    <a:bodyPr/>
                    <a:lstStyle/>
                    <a:p>
                      <a:pPr algn="ctr"/>
                      <a:r>
                        <a:rPr sz="900" b="0">
                          <a:latin typeface="Times New Roman"/>
                        </a:rPr>
                        <a:t>6 / 6</a:t>
                      </a:r>
                    </a:p>
                  </a:txBody>
                  <a:tcPr marL="36576" marR="36576" marT="18288" marB="18288">
                    <a:solidFill>
                      <a:srgbClr val="FFFFFF"/>
                    </a:solidFill>
                  </a:tcPr>
                </a:tc>
                <a:tc>
                  <a:txBody>
                    <a:bodyPr/>
                    <a:lstStyle/>
                    <a:p>
                      <a:pPr algn="ctr"/>
                      <a:r>
                        <a:rPr sz="900" b="0">
                          <a:latin typeface="Times New Roman"/>
                        </a:rPr>
                        <a:t>0.62</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graphicFrame>
        <p:nvGraphicFramePr>
          <p:cNvPr id="300" name="Table 299"/>
          <p:cNvGraphicFramePr>
            <a:graphicFrameLocks noGrp="1"/>
          </p:cNvGraphicFramePr>
          <p:nvPr>
            <p:extLst>
              <p:ext uri="{D42A27DB-BD31-4B8C-83A1-F6EECF244321}">
                <p14:modId xmlns:p14="http://schemas.microsoft.com/office/powerpoint/2010/main" val="435854719"/>
              </p:ext>
            </p:extLst>
          </p:nvPr>
        </p:nvGraphicFramePr>
        <p:xfrm>
          <a:off x="173353" y="3099816"/>
          <a:ext cx="4572000" cy="3108960"/>
        </p:xfrm>
        <a:graphic>
          <a:graphicData uri="http://schemas.openxmlformats.org/drawingml/2006/table">
            <a:tbl>
              <a:tblPr firstRow="1" bandRow="1">
                <a:tableStyleId>{5C22544A-7EE6-4342-B048-85BDC9FD1C3A}</a:tableStyleId>
              </a:tblPr>
              <a:tblGrid>
                <a:gridCol w="4921736">
                  <a:extLst>
                    <a:ext uri="{9D8B030D-6E8A-4147-A177-3AD203B41FA5}">
                      <a16:colId xmlns:a16="http://schemas.microsoft.com/office/drawing/2014/main" val="20000"/>
                    </a:ext>
                  </a:extLst>
                </a:gridCol>
                <a:gridCol w="3281157">
                  <a:extLst>
                    <a:ext uri="{9D8B030D-6E8A-4147-A177-3AD203B41FA5}">
                      <a16:colId xmlns:a16="http://schemas.microsoft.com/office/drawing/2014/main" val="20001"/>
                    </a:ext>
                  </a:extLst>
                </a:gridCol>
              </a:tblGrid>
              <a:tr h="256032">
                <a:tc>
                  <a:txBody>
                    <a:bodyPr/>
                    <a:lstStyle/>
                    <a:p>
                      <a:pPr algn="l"/>
                      <a:r>
                        <a:rPr sz="900" b="1" dirty="0">
                          <a:solidFill>
                            <a:srgbClr val="FFFFFF"/>
                          </a:solidFill>
                          <a:latin typeface="Times New Roman"/>
                        </a:rPr>
                        <a:t>Run-to-run spread (final setup, validation)</a:t>
                      </a:r>
                    </a:p>
                  </a:txBody>
                  <a:tcPr marL="36576" marR="36576" marT="18288" marB="18288">
                    <a:solidFill>
                      <a:srgbClr val="41534B"/>
                    </a:solidFill>
                  </a:tcPr>
                </a:tc>
                <a:tc>
                  <a:txBody>
                    <a:bodyPr/>
                    <a:lstStyle/>
                    <a:p>
                      <a:pPr algn="ctr"/>
                      <a:r>
                        <a:rPr sz="900" b="1">
                          <a:solidFill>
                            <a:srgbClr val="FFFFFF"/>
                          </a:solidFill>
                          <a:latin typeface="Times New Roman"/>
                        </a:rPr>
                        <a:t>Value</a:t>
                      </a:r>
                    </a:p>
                  </a:txBody>
                  <a:tcPr marL="36576" marR="36576" marT="18288" marB="18288">
                    <a:solidFill>
                      <a:srgbClr val="41534B"/>
                    </a:solidFill>
                  </a:tcPr>
                </a:tc>
                <a:extLst>
                  <a:ext uri="{0D108BD9-81ED-4DB2-BD59-A6C34878D82A}">
                    <a16:rowId xmlns:a16="http://schemas.microsoft.com/office/drawing/2014/main" val="10000"/>
                  </a:ext>
                </a:extLst>
              </a:tr>
              <a:tr h="256032">
                <a:tc>
                  <a:txBody>
                    <a:bodyPr/>
                    <a:lstStyle/>
                    <a:p>
                      <a:pPr algn="l"/>
                      <a:r>
                        <a:rPr sz="900" b="0">
                          <a:latin typeface="Times New Roman"/>
                        </a:rPr>
                        <a:t>Val mAP50, seeds 42 / 1 / 2</a:t>
                      </a:r>
                    </a:p>
                  </a:txBody>
                  <a:tcPr marL="36576" marR="36576" marT="18288" marB="18288">
                    <a:solidFill>
                      <a:srgbClr val="F7F3EC"/>
                    </a:solidFill>
                  </a:tcPr>
                </a:tc>
                <a:tc>
                  <a:txBody>
                    <a:bodyPr/>
                    <a:lstStyle/>
                    <a:p>
                      <a:pPr algn="ctr"/>
                      <a:r>
                        <a:rPr sz="900" b="0">
                          <a:latin typeface="Times New Roman"/>
                        </a:rPr>
                        <a:t>75.3 / 74.8 / 75.6</a:t>
                      </a:r>
                    </a:p>
                  </a:txBody>
                  <a:tcPr marL="36576" marR="36576" marT="18288" marB="18288">
                    <a:solidFill>
                      <a:srgbClr val="F7F3EC"/>
                    </a:solidFill>
                  </a:tcPr>
                </a:tc>
                <a:extLst>
                  <a:ext uri="{0D108BD9-81ED-4DB2-BD59-A6C34878D82A}">
                    <a16:rowId xmlns:a16="http://schemas.microsoft.com/office/drawing/2014/main" val="10001"/>
                  </a:ext>
                </a:extLst>
              </a:tr>
              <a:tr h="256032">
                <a:tc>
                  <a:txBody>
                    <a:bodyPr/>
                    <a:lstStyle/>
                    <a:p>
                      <a:pPr algn="l"/>
                      <a:r>
                        <a:rPr sz="900" b="0">
                          <a:latin typeface="Times New Roman"/>
                        </a:rPr>
                        <a:t>Spread (max - min)</a:t>
                      </a:r>
                    </a:p>
                  </a:txBody>
                  <a:tcPr marL="36576" marR="36576" marT="18288" marB="18288">
                    <a:solidFill>
                      <a:srgbClr val="FFFFFF"/>
                    </a:solidFill>
                  </a:tcPr>
                </a:tc>
                <a:tc>
                  <a:txBody>
                    <a:bodyPr/>
                    <a:lstStyle/>
                    <a:p>
                      <a:pPr algn="ctr"/>
                      <a:r>
                        <a:rPr sz="900" b="0">
                          <a:latin typeface="Times New Roman"/>
                        </a:rPr>
                        <a:t>0.8</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sp>
        <p:nvSpPr>
          <p:cNvPr id="301" name="TextBox 300"/>
          <p:cNvSpPr txBox="1"/>
          <p:nvPr/>
        </p:nvSpPr>
        <p:spPr>
          <a:xfrm>
            <a:off x="274320" y="4105656"/>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Board-level bootstrap: the 12 test boards are resampled 1,000 times with replacement, so the interval reflects board-to-board variation [20]; exact Wilcoxon signed-rank test on per-board AP50 differences [21].</a:t>
            </a:r>
          </a:p>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Only the fusion and data-expansion gains have intervals that exclude zero; the four-model fusion is also significant by the Wilcoxon test. Differences of 2-3 mAP50 points between single models are within the noise of a 12-board test set.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GRADING VALIDATION (BRI)</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777240"/>
          <a:ext cx="5303520" cy="9601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256032">
                <a:tc>
                  <a:txBody>
                    <a:bodyPr/>
                    <a:lstStyle/>
                    <a:p>
                      <a:pPr algn="l"/>
                      <a:r>
                        <a:rPr sz="950" b="1" dirty="0">
                          <a:solidFill>
                            <a:srgbClr val="FFFFFF"/>
                          </a:solidFill>
                          <a:latin typeface="Times New Roman"/>
                        </a:rPr>
                        <a:t>Agreement with annotation-based grade</a:t>
                      </a:r>
                    </a:p>
                  </a:txBody>
                  <a:tcPr marL="36576" marR="36576" marT="18288" marB="18288">
                    <a:solidFill>
                      <a:srgbClr val="41534B"/>
                    </a:solidFill>
                  </a:tcPr>
                </a:tc>
                <a:tc>
                  <a:txBody>
                    <a:bodyPr/>
                    <a:lstStyle/>
                    <a:p>
                      <a:pPr algn="ctr"/>
                      <a:r>
                        <a:rPr sz="950" b="1">
                          <a:solidFill>
                            <a:srgbClr val="FFFFFF"/>
                          </a:solidFill>
                          <a:latin typeface="Times New Roman"/>
                        </a:rPr>
                        <a:t>Per image (469)</a:t>
                      </a:r>
                    </a:p>
                  </a:txBody>
                  <a:tcPr marL="36576" marR="36576" marT="18288" marB="18288">
                    <a:solidFill>
                      <a:srgbClr val="41534B"/>
                    </a:solidFill>
                  </a:tcPr>
                </a:tc>
                <a:tc>
                  <a:txBody>
                    <a:bodyPr/>
                    <a:lstStyle/>
                    <a:p>
                      <a:pPr algn="ctr"/>
                      <a:r>
                        <a:rPr sz="950" b="1">
                          <a:solidFill>
                            <a:srgbClr val="FFFFFF"/>
                          </a:solidFill>
                          <a:latin typeface="Times New Roman"/>
                        </a:rPr>
                        <a:t>Per board (12)</a:t>
                      </a:r>
                    </a:p>
                  </a:txBody>
                  <a:tcPr marL="36576" marR="36576" marT="18288" marB="18288">
                    <a:solidFill>
                      <a:srgbClr val="41534B"/>
                    </a:solidFill>
                  </a:tcPr>
                </a:tc>
                <a:extLst>
                  <a:ext uri="{0D108BD9-81ED-4DB2-BD59-A6C34878D82A}">
                    <a16:rowId xmlns:a16="http://schemas.microsoft.com/office/drawing/2014/main" val="10000"/>
                  </a:ext>
                </a:extLst>
              </a:tr>
              <a:tr h="256032">
                <a:tc>
                  <a:txBody>
                    <a:bodyPr/>
                    <a:lstStyle/>
                    <a:p>
                      <a:pPr algn="l"/>
                      <a:r>
                        <a:rPr sz="950" b="0" dirty="0">
                          <a:latin typeface="Times New Roman"/>
                        </a:rPr>
                        <a:t>Exact grade</a:t>
                      </a:r>
                    </a:p>
                  </a:txBody>
                  <a:tcPr marL="36576" marR="36576" marT="18288" marB="18288">
                    <a:solidFill>
                      <a:srgbClr val="F7F3EC"/>
                    </a:solidFill>
                  </a:tcPr>
                </a:tc>
                <a:tc>
                  <a:txBody>
                    <a:bodyPr/>
                    <a:lstStyle/>
                    <a:p>
                      <a:pPr algn="ctr"/>
                      <a:r>
                        <a:rPr sz="950" b="0">
                          <a:latin typeface="Times New Roman"/>
                        </a:rPr>
                        <a:t>78.3 %</a:t>
                      </a:r>
                    </a:p>
                  </a:txBody>
                  <a:tcPr marL="36576" marR="36576" marT="18288" marB="18288">
                    <a:solidFill>
                      <a:srgbClr val="F7F3EC"/>
                    </a:solidFill>
                  </a:tcPr>
                </a:tc>
                <a:tc>
                  <a:txBody>
                    <a:bodyPr/>
                    <a:lstStyle/>
                    <a:p>
                      <a:pPr algn="ctr"/>
                      <a:r>
                        <a:rPr sz="950" b="0">
                          <a:latin typeface="Times New Roman"/>
                        </a:rPr>
                        <a:t>83.3 %</a:t>
                      </a:r>
                    </a:p>
                  </a:txBody>
                  <a:tcPr marL="36576" marR="36576" marT="18288" marB="18288">
                    <a:solidFill>
                      <a:srgbClr val="F7F3EC"/>
                    </a:solidFill>
                  </a:tcPr>
                </a:tc>
                <a:extLst>
                  <a:ext uri="{0D108BD9-81ED-4DB2-BD59-A6C34878D82A}">
                    <a16:rowId xmlns:a16="http://schemas.microsoft.com/office/drawing/2014/main" val="10001"/>
                  </a:ext>
                </a:extLst>
              </a:tr>
              <a:tr h="256032">
                <a:tc>
                  <a:txBody>
                    <a:bodyPr/>
                    <a:lstStyle/>
                    <a:p>
                      <a:pPr algn="l"/>
                      <a:r>
                        <a:rPr sz="950" b="0" dirty="0">
                          <a:latin typeface="Times New Roman"/>
                        </a:rPr>
                        <a:t>Within one grade</a:t>
                      </a:r>
                    </a:p>
                  </a:txBody>
                  <a:tcPr marL="36576" marR="36576" marT="18288" marB="18288">
                    <a:solidFill>
                      <a:srgbClr val="FFFFFF"/>
                    </a:solidFill>
                  </a:tcPr>
                </a:tc>
                <a:tc>
                  <a:txBody>
                    <a:bodyPr/>
                    <a:lstStyle/>
                    <a:p>
                      <a:pPr algn="ctr"/>
                      <a:r>
                        <a:rPr sz="950" b="0">
                          <a:latin typeface="Times New Roman"/>
                        </a:rPr>
                        <a:t>97.4 %</a:t>
                      </a:r>
                    </a:p>
                  </a:txBody>
                  <a:tcPr marL="36576" marR="36576" marT="18288" marB="18288">
                    <a:solidFill>
                      <a:srgbClr val="FFFFFF"/>
                    </a:solidFill>
                  </a:tcPr>
                </a:tc>
                <a:tc>
                  <a:txBody>
                    <a:bodyPr/>
                    <a:lstStyle/>
                    <a:p>
                      <a:pPr algn="ctr"/>
                      <a:r>
                        <a:rPr sz="950" b="0">
                          <a:latin typeface="Times New Roman"/>
                        </a:rPr>
                        <a:t>100.0 %</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50" b="0" dirty="0">
                          <a:latin typeface="Times New Roman"/>
                        </a:rPr>
                        <a:t>Quadratic weighted kappa [19]</a:t>
                      </a:r>
                    </a:p>
                  </a:txBody>
                  <a:tcPr marL="36576" marR="36576" marT="18288" marB="18288">
                    <a:solidFill>
                      <a:srgbClr val="FFFFFF"/>
                    </a:solidFill>
                  </a:tcPr>
                </a:tc>
                <a:tc>
                  <a:txBody>
                    <a:bodyPr/>
                    <a:lstStyle/>
                    <a:p>
                      <a:pPr algn="ctr"/>
                      <a:r>
                        <a:rPr sz="950" b="0">
                          <a:latin typeface="Times New Roman"/>
                        </a:rPr>
                        <a:t>0.87</a:t>
                      </a:r>
                    </a:p>
                  </a:txBody>
                  <a:tcPr marL="36576" marR="36576" marT="18288" marB="18288">
                    <a:solidFill>
                      <a:srgbClr val="FFFFFF"/>
                    </a:solidFill>
                  </a:tcPr>
                </a:tc>
                <a:tc>
                  <a:txBody>
                    <a:bodyPr/>
                    <a:lstStyle/>
                    <a:p>
                      <a:pPr algn="ctr"/>
                      <a:r>
                        <a:rPr sz="950" b="0">
                          <a:latin typeface="Times New Roman"/>
                        </a:rPr>
                        <a:t>0.73</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50" b="0" dirty="0">
                          <a:latin typeface="Times New Roman"/>
                        </a:rPr>
                        <a:t>Spearman correlation of damage scores</a:t>
                      </a:r>
                    </a:p>
                  </a:txBody>
                  <a:tcPr marL="36576" marR="36576" marT="18288" marB="18288">
                    <a:solidFill>
                      <a:srgbClr val="FFFFFF"/>
                    </a:solidFill>
                  </a:tcPr>
                </a:tc>
                <a:tc>
                  <a:txBody>
                    <a:bodyPr/>
                    <a:lstStyle/>
                    <a:p>
                      <a:pPr algn="ctr"/>
                      <a:r>
                        <a:rPr sz="950" b="0">
                          <a:latin typeface="Times New Roman"/>
                        </a:rPr>
                        <a:t>0.90</a:t>
                      </a:r>
                    </a:p>
                  </a:txBody>
                  <a:tcPr marL="36576" marR="36576" marT="18288" marB="18288">
                    <a:solidFill>
                      <a:srgbClr val="FFFFFF"/>
                    </a:solidFill>
                  </a:tcPr>
                </a:tc>
                <a:tc>
                  <a:txBody>
                    <a:bodyPr/>
                    <a:lstStyle/>
                    <a:p>
                      <a:pPr algn="ctr"/>
                      <a:r>
                        <a:rPr sz="950" b="0">
                          <a:latin typeface="Times New Roman"/>
                        </a:rPr>
                        <a:t>0.80</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50" b="0" dirty="0">
                          <a:latin typeface="Times New Roman"/>
                        </a:rPr>
                        <a:t>Mean abs. error, recoverable area</a:t>
                      </a:r>
                    </a:p>
                  </a:txBody>
                  <a:tcPr marL="36576" marR="36576" marT="18288" marB="18288">
                    <a:solidFill>
                      <a:srgbClr val="FFFFFF"/>
                    </a:solidFill>
                  </a:tcPr>
                </a:tc>
                <a:tc>
                  <a:txBody>
                    <a:bodyPr/>
                    <a:lstStyle/>
                    <a:p>
                      <a:pPr algn="ctr"/>
                      <a:r>
                        <a:rPr sz="950" b="0">
                          <a:latin typeface="Times New Roman"/>
                        </a:rPr>
                        <a:t>0.40 pts</a:t>
                      </a:r>
                    </a:p>
                  </a:txBody>
                  <a:tcPr marL="36576" marR="36576" marT="18288" marB="18288">
                    <a:solidFill>
                      <a:srgbClr val="FFFFFF"/>
                    </a:solidFill>
                  </a:tcPr>
                </a:tc>
                <a:tc>
                  <a:txBody>
                    <a:bodyPr/>
                    <a:lstStyle/>
                    <a:p>
                      <a:pPr algn="ctr"/>
                      <a:r>
                        <a:rPr sz="950" b="0">
                          <a:latin typeface="Times New Roman"/>
                        </a:rPr>
                        <a:t>0.36 pts</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graphicFrame>
        <p:nvGraphicFramePr>
          <p:cNvPr id="300" name="Table 299"/>
          <p:cNvGraphicFramePr>
            <a:graphicFrameLocks noGrp="1"/>
          </p:cNvGraphicFramePr>
          <p:nvPr>
            <p:extLst>
              <p:ext uri="{D42A27DB-BD31-4B8C-83A1-F6EECF244321}">
                <p14:modId xmlns:p14="http://schemas.microsoft.com/office/powerpoint/2010/main" val="435854719"/>
              </p:ext>
            </p:extLst>
          </p:nvPr>
        </p:nvGraphicFramePr>
        <p:xfrm>
          <a:off x="173353" y="2587752"/>
          <a:ext cx="4389120" cy="3108960"/>
        </p:xfrm>
        <a:graphic>
          <a:graphicData uri="http://schemas.openxmlformats.org/drawingml/2006/table">
            <a:tbl>
              <a:tblPr firstRow="1" bandRow="1">
                <a:tableStyleId>{5C22544A-7EE6-4342-B048-85BDC9FD1C3A}</a:tableStyleId>
              </a:tblPr>
              <a:tblGrid>
                <a:gridCol w="2734297">
                  <a:extLst>
                    <a:ext uri="{9D8B030D-6E8A-4147-A177-3AD203B41FA5}">
                      <a16:colId xmlns:a16="http://schemas.microsoft.com/office/drawing/2014/main" val="20000"/>
                    </a:ext>
                  </a:extLst>
                </a:gridCol>
                <a:gridCol w="1367148">
                  <a:extLst>
                    <a:ext uri="{9D8B030D-6E8A-4147-A177-3AD203B41FA5}">
                      <a16:colId xmlns:a16="http://schemas.microsoft.com/office/drawing/2014/main" val="20001"/>
                    </a:ext>
                  </a:extLst>
                </a:gridCol>
                <a:gridCol w="1367148">
                  <a:extLst>
                    <a:ext uri="{9D8B030D-6E8A-4147-A177-3AD203B41FA5}">
                      <a16:colId xmlns:a16="http://schemas.microsoft.com/office/drawing/2014/main" val="20002"/>
                    </a:ext>
                  </a:extLst>
                </a:gridCol>
                <a:gridCol w="1367148">
                  <a:extLst>
                    <a:ext uri="{9D8B030D-6E8A-4147-A177-3AD203B41FA5}">
                      <a16:colId xmlns:a16="http://schemas.microsoft.com/office/drawing/2014/main" val="20003"/>
                    </a:ext>
                  </a:extLst>
                </a:gridCol>
                <a:gridCol w="1367148">
                  <a:extLst>
                    <a:ext uri="{9D8B030D-6E8A-4147-A177-3AD203B41FA5}">
                      <a16:colId xmlns:a16="http://schemas.microsoft.com/office/drawing/2014/main" val="20004"/>
                    </a:ext>
                  </a:extLst>
                </a:gridCol>
              </a:tblGrid>
              <a:tr h="256032">
                <a:tc>
                  <a:txBody>
                    <a:bodyPr/>
                    <a:lstStyle/>
                    <a:p>
                      <a:pPr algn="l"/>
                      <a:r>
                        <a:rPr sz="950" b="1" dirty="0">
                          <a:solidFill>
                            <a:srgbClr val="FFFFFF"/>
                          </a:solidFill>
                          <a:latin typeface="Times New Roman"/>
                        </a:rPr>
                        <a:t>Reference \ Model</a:t>
                      </a:r>
                    </a:p>
                  </a:txBody>
                  <a:tcPr marL="36576" marR="36576" marT="18288" marB="18288">
                    <a:solidFill>
                      <a:srgbClr val="41534B"/>
                    </a:solidFill>
                  </a:tcPr>
                </a:tc>
                <a:tc>
                  <a:txBody>
                    <a:bodyPr/>
                    <a:lstStyle/>
                    <a:p>
                      <a:pPr algn="ctr"/>
                      <a:r>
                        <a:rPr sz="950" b="1">
                          <a:solidFill>
                            <a:srgbClr val="FFFFFF"/>
                          </a:solidFill>
                          <a:latin typeface="Times New Roman"/>
                        </a:rPr>
                        <a:t>A</a:t>
                      </a:r>
                    </a:p>
                  </a:txBody>
                  <a:tcPr marL="36576" marR="36576" marT="18288" marB="18288">
                    <a:solidFill>
                      <a:srgbClr val="41534B"/>
                    </a:solidFill>
                  </a:tcPr>
                </a:tc>
                <a:tc>
                  <a:txBody>
                    <a:bodyPr/>
                    <a:lstStyle/>
                    <a:p>
                      <a:pPr algn="ctr"/>
                      <a:r>
                        <a:rPr sz="950" b="1">
                          <a:solidFill>
                            <a:srgbClr val="FFFFFF"/>
                          </a:solidFill>
                          <a:latin typeface="Times New Roman"/>
                        </a:rPr>
                        <a:t>B</a:t>
                      </a:r>
                    </a:p>
                  </a:txBody>
                  <a:tcPr marL="36576" marR="36576" marT="18288" marB="18288">
                    <a:solidFill>
                      <a:srgbClr val="41534B"/>
                    </a:solidFill>
                  </a:tcPr>
                </a:tc>
                <a:tc>
                  <a:txBody>
                    <a:bodyPr/>
                    <a:lstStyle/>
                    <a:p>
                      <a:pPr algn="ctr"/>
                      <a:r>
                        <a:rPr sz="950" b="1">
                          <a:solidFill>
                            <a:srgbClr val="FFFFFF"/>
                          </a:solidFill>
                          <a:latin typeface="Times New Roman"/>
                        </a:rPr>
                        <a:t>C</a:t>
                      </a:r>
                    </a:p>
                  </a:txBody>
                  <a:tcPr marL="36576" marR="36576" marT="18288" marB="18288">
                    <a:solidFill>
                      <a:srgbClr val="41534B"/>
                    </a:solidFill>
                  </a:tcPr>
                </a:tc>
                <a:tc>
                  <a:txBody>
                    <a:bodyPr/>
                    <a:lstStyle/>
                    <a:p>
                      <a:pPr algn="ctr"/>
                      <a:r>
                        <a:rPr sz="950" b="1">
                          <a:solidFill>
                            <a:srgbClr val="FFFFFF"/>
                          </a:solidFill>
                          <a:latin typeface="Times New Roman"/>
                        </a:rPr>
                        <a:t>Reject</a:t>
                      </a:r>
                    </a:p>
                  </a:txBody>
                  <a:tcPr marL="36576" marR="36576" marT="18288" marB="18288">
                    <a:solidFill>
                      <a:srgbClr val="41534B"/>
                    </a:solidFill>
                  </a:tcPr>
                </a:tc>
                <a:extLst>
                  <a:ext uri="{0D108BD9-81ED-4DB2-BD59-A6C34878D82A}">
                    <a16:rowId xmlns:a16="http://schemas.microsoft.com/office/drawing/2014/main" val="10000"/>
                  </a:ext>
                </a:extLst>
              </a:tr>
              <a:tr h="256032">
                <a:tc>
                  <a:txBody>
                    <a:bodyPr/>
                    <a:lstStyle/>
                    <a:p>
                      <a:pPr algn="l"/>
                      <a:r>
                        <a:rPr sz="950" b="0">
                          <a:latin typeface="Times New Roman"/>
                        </a:rPr>
                        <a:t>A (175)</a:t>
                      </a:r>
                    </a:p>
                  </a:txBody>
                  <a:tcPr marL="36576" marR="36576" marT="18288" marB="18288">
                    <a:solidFill>
                      <a:srgbClr val="F7F3EC"/>
                    </a:solidFill>
                  </a:tcPr>
                </a:tc>
                <a:tc>
                  <a:txBody>
                    <a:bodyPr/>
                    <a:lstStyle/>
                    <a:p>
                      <a:pPr algn="ctr"/>
                      <a:r>
                        <a:rPr sz="950" b="0">
                          <a:latin typeface="Times New Roman"/>
                        </a:rPr>
                        <a:t>155</a:t>
                      </a:r>
                    </a:p>
                  </a:txBody>
                  <a:tcPr marL="36576" marR="36576" marT="18288" marB="18288">
                    <a:solidFill>
                      <a:srgbClr val="F7F3EC"/>
                    </a:solidFill>
                  </a:tcPr>
                </a:tc>
                <a:tc>
                  <a:txBody>
                    <a:bodyPr/>
                    <a:lstStyle/>
                    <a:p>
                      <a:pPr algn="ctr"/>
                      <a:r>
                        <a:rPr sz="950" b="0">
                          <a:latin typeface="Times New Roman"/>
                        </a:rPr>
                        <a:t>17</a:t>
                      </a:r>
                    </a:p>
                  </a:txBody>
                  <a:tcPr marL="36576" marR="36576" marT="18288" marB="18288">
                    <a:solidFill>
                      <a:srgbClr val="F7F3EC"/>
                    </a:solidFill>
                  </a:tcPr>
                </a:tc>
                <a:tc>
                  <a:txBody>
                    <a:bodyPr/>
                    <a:lstStyle/>
                    <a:p>
                      <a:pPr algn="ctr"/>
                      <a:r>
                        <a:rPr sz="950" b="0">
                          <a:latin typeface="Times New Roman"/>
                        </a:rPr>
                        <a:t>2</a:t>
                      </a:r>
                    </a:p>
                  </a:txBody>
                  <a:tcPr marL="36576" marR="36576" marT="18288" marB="18288">
                    <a:solidFill>
                      <a:srgbClr val="F7F3EC"/>
                    </a:solidFill>
                  </a:tcPr>
                </a:tc>
                <a:tc>
                  <a:txBody>
                    <a:bodyPr/>
                    <a:lstStyle/>
                    <a:p>
                      <a:pPr algn="ctr"/>
                      <a:r>
                        <a:rPr sz="950" b="0">
                          <a:latin typeface="Times New Roman"/>
                        </a:rPr>
                        <a:t>1</a:t>
                      </a:r>
                    </a:p>
                  </a:txBody>
                  <a:tcPr marL="36576" marR="36576" marT="18288" marB="18288">
                    <a:solidFill>
                      <a:srgbClr val="F7F3EC"/>
                    </a:solidFill>
                  </a:tcPr>
                </a:tc>
                <a:extLst>
                  <a:ext uri="{0D108BD9-81ED-4DB2-BD59-A6C34878D82A}">
                    <a16:rowId xmlns:a16="http://schemas.microsoft.com/office/drawing/2014/main" val="10001"/>
                  </a:ext>
                </a:extLst>
              </a:tr>
              <a:tr h="256032">
                <a:tc>
                  <a:txBody>
                    <a:bodyPr/>
                    <a:lstStyle/>
                    <a:p>
                      <a:pPr algn="l"/>
                      <a:r>
                        <a:rPr sz="950" b="0">
                          <a:latin typeface="Times New Roman"/>
                        </a:rPr>
                        <a:t>B (113)</a:t>
                      </a:r>
                    </a:p>
                  </a:txBody>
                  <a:tcPr marL="36576" marR="36576" marT="18288" marB="18288">
                    <a:solidFill>
                      <a:srgbClr val="FFFFFF"/>
                    </a:solidFill>
                  </a:tcPr>
                </a:tc>
                <a:tc>
                  <a:txBody>
                    <a:bodyPr/>
                    <a:lstStyle/>
                    <a:p>
                      <a:pPr algn="ctr"/>
                      <a:r>
                        <a:rPr sz="950" b="0">
                          <a:latin typeface="Times New Roman"/>
                        </a:rPr>
                        <a:t>17</a:t>
                      </a:r>
                    </a:p>
                  </a:txBody>
                  <a:tcPr marL="36576" marR="36576" marT="18288" marB="18288">
                    <a:solidFill>
                      <a:srgbClr val="FFFFFF"/>
                    </a:solidFill>
                  </a:tcPr>
                </a:tc>
                <a:tc>
                  <a:txBody>
                    <a:bodyPr/>
                    <a:lstStyle/>
                    <a:p>
                      <a:pPr algn="ctr"/>
                      <a:r>
                        <a:rPr sz="950" b="0">
                          <a:latin typeface="Times New Roman"/>
                        </a:rPr>
                        <a:t>74</a:t>
                      </a:r>
                    </a:p>
                  </a:txBody>
                  <a:tcPr marL="36576" marR="36576" marT="18288" marB="18288">
                    <a:solidFill>
                      <a:srgbClr val="FFFFFF"/>
                    </a:solidFill>
                  </a:tcPr>
                </a:tc>
                <a:tc>
                  <a:txBody>
                    <a:bodyPr/>
                    <a:lstStyle/>
                    <a:p>
                      <a:pPr algn="ctr"/>
                      <a:r>
                        <a:rPr sz="950" b="0">
                          <a:latin typeface="Times New Roman"/>
                        </a:rPr>
                        <a:t>20</a:t>
                      </a:r>
                    </a:p>
                  </a:txBody>
                  <a:tcPr marL="36576" marR="36576" marT="18288" marB="18288">
                    <a:solidFill>
                      <a:srgbClr val="FFFFFF"/>
                    </a:solidFill>
                  </a:tcPr>
                </a:tc>
                <a:tc>
                  <a:txBody>
                    <a:bodyPr/>
                    <a:lstStyle/>
                    <a:p>
                      <a:pPr algn="ctr"/>
                      <a:r>
                        <a:rPr sz="950" b="0">
                          <a:latin typeface="Times New Roman"/>
                        </a:rPr>
                        <a:t>2</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50" b="0">
                          <a:latin typeface="Times New Roman"/>
                        </a:rPr>
                        <a:t>C (109)</a:t>
                      </a:r>
                    </a:p>
                  </a:txBody>
                  <a:tcPr marL="36576" marR="36576" marT="18288" marB="18288">
                    <a:solidFill>
                      <a:srgbClr val="F7F3EC"/>
                    </a:solidFill>
                  </a:tcPr>
                </a:tc>
                <a:tc>
                  <a:txBody>
                    <a:bodyPr/>
                    <a:lstStyle/>
                    <a:p>
                      <a:pPr algn="ctr"/>
                      <a:r>
                        <a:rPr sz="950" b="0">
                          <a:latin typeface="Times New Roman"/>
                        </a:rPr>
                        <a:t>4</a:t>
                      </a:r>
                    </a:p>
                  </a:txBody>
                  <a:tcPr marL="36576" marR="36576" marT="18288" marB="18288">
                    <a:solidFill>
                      <a:srgbClr val="F7F3EC"/>
                    </a:solidFill>
                  </a:tcPr>
                </a:tc>
                <a:tc>
                  <a:txBody>
                    <a:bodyPr/>
                    <a:lstStyle/>
                    <a:p>
                      <a:pPr algn="ctr"/>
                      <a:r>
                        <a:rPr sz="950" b="0">
                          <a:latin typeface="Times New Roman"/>
                        </a:rPr>
                        <a:t>7</a:t>
                      </a:r>
                    </a:p>
                  </a:txBody>
                  <a:tcPr marL="36576" marR="36576" marT="18288" marB="18288">
                    <a:solidFill>
                      <a:srgbClr val="F7F3EC"/>
                    </a:solidFill>
                  </a:tcPr>
                </a:tc>
                <a:tc>
                  <a:txBody>
                    <a:bodyPr/>
                    <a:lstStyle/>
                    <a:p>
                      <a:pPr algn="ctr"/>
                      <a:r>
                        <a:rPr sz="950" b="0">
                          <a:latin typeface="Times New Roman"/>
                        </a:rPr>
                        <a:t>76</a:t>
                      </a:r>
                    </a:p>
                  </a:txBody>
                  <a:tcPr marL="36576" marR="36576" marT="18288" marB="18288">
                    <a:solidFill>
                      <a:srgbClr val="F7F3EC"/>
                    </a:solidFill>
                  </a:tcPr>
                </a:tc>
                <a:tc>
                  <a:txBody>
                    <a:bodyPr/>
                    <a:lstStyle/>
                    <a:p>
                      <a:pPr algn="ctr"/>
                      <a:r>
                        <a:rPr sz="950" b="0">
                          <a:latin typeface="Times New Roman"/>
                        </a:rPr>
                        <a:t>22</a:t>
                      </a:r>
                    </a:p>
                  </a:txBody>
                  <a:tcPr marL="36576" marR="36576" marT="18288" marB="18288">
                    <a:solidFill>
                      <a:srgbClr val="F7F3EC"/>
                    </a:solidFill>
                  </a:tcPr>
                </a:tc>
                <a:extLst>
                  <a:ext uri="{0D108BD9-81ED-4DB2-BD59-A6C34878D82A}">
                    <a16:rowId xmlns:a16="http://schemas.microsoft.com/office/drawing/2014/main" val="10003"/>
                  </a:ext>
                </a:extLst>
              </a:tr>
              <a:tr h="256032">
                <a:tc>
                  <a:txBody>
                    <a:bodyPr/>
                    <a:lstStyle/>
                    <a:p>
                      <a:pPr algn="l"/>
                      <a:r>
                        <a:rPr sz="950" b="0">
                          <a:latin typeface="Times New Roman"/>
                        </a:rPr>
                        <a:t>Reject (72)</a:t>
                      </a:r>
                    </a:p>
                  </a:txBody>
                  <a:tcPr marL="36576" marR="36576" marT="18288" marB="18288">
                    <a:solidFill>
                      <a:srgbClr val="FFFFFF"/>
                    </a:solidFill>
                  </a:tcPr>
                </a:tc>
                <a:tc>
                  <a:txBody>
                    <a:bodyPr/>
                    <a:lstStyle/>
                    <a:p>
                      <a:pPr algn="ctr"/>
                      <a:r>
                        <a:rPr sz="950" b="0">
                          <a:latin typeface="Times New Roman"/>
                        </a:rPr>
                        <a:t>3</a:t>
                      </a:r>
                    </a:p>
                  </a:txBody>
                  <a:tcPr marL="36576" marR="36576" marT="18288" marB="18288">
                    <a:solidFill>
                      <a:srgbClr val="FFFFFF"/>
                    </a:solidFill>
                  </a:tcPr>
                </a:tc>
                <a:tc>
                  <a:txBody>
                    <a:bodyPr/>
                    <a:lstStyle/>
                    <a:p>
                      <a:pPr algn="ctr"/>
                      <a:r>
                        <a:rPr sz="950" b="0">
                          <a:latin typeface="Times New Roman"/>
                        </a:rPr>
                        <a:t>0</a:t>
                      </a:r>
                    </a:p>
                  </a:txBody>
                  <a:tcPr marL="36576" marR="36576" marT="18288" marB="18288">
                    <a:solidFill>
                      <a:srgbClr val="FFFFFF"/>
                    </a:solidFill>
                  </a:tcPr>
                </a:tc>
                <a:tc>
                  <a:txBody>
                    <a:bodyPr/>
                    <a:lstStyle/>
                    <a:p>
                      <a:pPr algn="ctr"/>
                      <a:r>
                        <a:rPr sz="950" b="0">
                          <a:latin typeface="Times New Roman"/>
                        </a:rPr>
                        <a:t>7</a:t>
                      </a:r>
                    </a:p>
                  </a:txBody>
                  <a:tcPr marL="36576" marR="36576" marT="18288" marB="18288">
                    <a:solidFill>
                      <a:srgbClr val="FFFFFF"/>
                    </a:solidFill>
                  </a:tcPr>
                </a:tc>
                <a:tc>
                  <a:txBody>
                    <a:bodyPr/>
                    <a:lstStyle/>
                    <a:p>
                      <a:pPr algn="ctr"/>
                      <a:r>
                        <a:rPr sz="950" b="0">
                          <a:latin typeface="Times New Roman"/>
                        </a:rPr>
                        <a:t>62</a:t>
                      </a:r>
                    </a:p>
                  </a:txBody>
                  <a:tcPr marL="36576" marR="36576" marT="18288" marB="18288">
                    <a:solidFill>
                      <a:srgbClr val="FFFFFF"/>
                    </a:solidFill>
                  </a:tcPr>
                </a:tc>
                <a:extLst>
                  <a:ext uri="{0D108BD9-81ED-4DB2-BD59-A6C34878D82A}">
                    <a16:rowId xmlns:a16="http://schemas.microsoft.com/office/drawing/2014/main" val="10004"/>
                  </a:ext>
                </a:extLst>
              </a:tr>
            </a:tbl>
          </a:graphicData>
        </a:graphic>
      </p:graphicFrame>
      <p:sp>
        <p:nvSpPr>
          <p:cNvPr id="301" name="TextBox 300"/>
          <p:cNvSpPr txBox="1"/>
          <p:nvPr/>
        </p:nvSpPr>
        <p:spPr>
          <a:xfrm>
            <a:off x="274320" y="4050792"/>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Reference grade = BRI on the annotators' boxes, thresholds at the 40th / 70th / 90th percentiles of validation damage scores (0.0020, 0.0062, 0.0179).</a:t>
            </a:r>
          </a:p>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Model grade = BRI on the detector's boxes, thresholds fitted on validation with the guide's calibration (0.0012, 0.0032, 0.0099); test boards never used for fitting.</a:t>
            </a:r>
          </a:p>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Next step agreed with the guide: blind expert grading of 30-50 boards to calibrate severity weights and thresholds.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IMAGE ENHANCEMENT STUDY (H1)</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914400"/>
          <a:ext cx="5486400" cy="96012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tblGrid>
              <a:tr h="274320">
                <a:tc>
                  <a:txBody>
                    <a:bodyPr/>
                    <a:lstStyle/>
                    <a:p>
                      <a:pPr algn="l"/>
                      <a:r>
                        <a:rPr sz="1000" b="1" dirty="0">
                          <a:solidFill>
                            <a:srgbClr val="FFFFFF"/>
                          </a:solidFill>
                          <a:latin typeface="Times New Roman"/>
                        </a:rPr>
                        <a:t>Condition (validation, mAP50)</a:t>
                      </a:r>
                    </a:p>
                  </a:txBody>
                  <a:tcPr marL="36576" marR="36576" marT="18288" marB="18288">
                    <a:solidFill>
                      <a:srgbClr val="41534B"/>
                    </a:solidFill>
                  </a:tcPr>
                </a:tc>
                <a:tc>
                  <a:txBody>
                    <a:bodyPr/>
                    <a:lstStyle/>
                    <a:p>
                      <a:pPr algn="ctr"/>
                      <a:r>
                        <a:rPr sz="1000" b="1">
                          <a:solidFill>
                            <a:srgbClr val="FFFFFF"/>
                          </a:solidFill>
                          <a:latin typeface="Times New Roman"/>
                        </a:rPr>
                        <a:t>Raw</a:t>
                      </a:r>
                    </a:p>
                  </a:txBody>
                  <a:tcPr marL="36576" marR="36576" marT="18288" marB="18288">
                    <a:solidFill>
                      <a:srgbClr val="41534B"/>
                    </a:solidFill>
                  </a:tcPr>
                </a:tc>
                <a:tc>
                  <a:txBody>
                    <a:bodyPr/>
                    <a:lstStyle/>
                    <a:p>
                      <a:pPr algn="ctr"/>
                      <a:r>
                        <a:rPr sz="1000" b="1">
                          <a:solidFill>
                            <a:srgbClr val="FFFFFF"/>
                          </a:solidFill>
                          <a:latin typeface="Times New Roman"/>
                        </a:rPr>
                        <a:t>CLAHE [22]</a:t>
                      </a:r>
                    </a:p>
                  </a:txBody>
                  <a:tcPr marL="36576" marR="36576" marT="18288" marB="18288">
                    <a:solidFill>
                      <a:srgbClr val="41534B"/>
                    </a:solidFill>
                  </a:tcPr>
                </a:tc>
                <a:tc>
                  <a:txBody>
                    <a:bodyPr/>
                    <a:lstStyle/>
                    <a:p>
                      <a:pPr algn="ctr"/>
                      <a:r>
                        <a:rPr sz="1000" b="1">
                          <a:solidFill>
                            <a:srgbClr val="FFFFFF"/>
                          </a:solidFill>
                          <a:latin typeface="Times New Roman"/>
                        </a:rPr>
                        <a:t>Denoise</a:t>
                      </a:r>
                    </a:p>
                  </a:txBody>
                  <a:tcPr marL="36576" marR="36576" marT="18288" marB="18288">
                    <a:solidFill>
                      <a:srgbClr val="41534B"/>
                    </a:solidFill>
                  </a:tcPr>
                </a:tc>
                <a:tc>
                  <a:txBody>
                    <a:bodyPr/>
                    <a:lstStyle/>
                    <a:p>
                      <a:pPr algn="ctr"/>
                      <a:r>
                        <a:rPr sz="1000" b="1">
                          <a:solidFill>
                            <a:srgbClr val="FFFFFF"/>
                          </a:solidFill>
                          <a:latin typeface="Times New Roman"/>
                        </a:rPr>
                        <a:t>Sharpen</a:t>
                      </a:r>
                    </a:p>
                  </a:txBody>
                  <a:tcPr marL="36576" marR="36576" marT="18288" marB="18288">
                    <a:solidFill>
                      <a:srgbClr val="41534B"/>
                    </a:solidFill>
                  </a:tcPr>
                </a:tc>
                <a:extLst>
                  <a:ext uri="{0D108BD9-81ED-4DB2-BD59-A6C34878D82A}">
                    <a16:rowId xmlns:a16="http://schemas.microsoft.com/office/drawing/2014/main" val="10000"/>
                  </a:ext>
                </a:extLst>
              </a:tr>
              <a:tr h="274320">
                <a:tc>
                  <a:txBody>
                    <a:bodyPr/>
                    <a:lstStyle/>
                    <a:p>
                      <a:pPr algn="l"/>
                      <a:r>
                        <a:rPr sz="1000" b="0" dirty="0">
                          <a:latin typeface="Times New Roman"/>
                        </a:rPr>
                        <a:t>Normal</a:t>
                      </a:r>
                    </a:p>
                  </a:txBody>
                  <a:tcPr marL="36576" marR="36576" marT="18288" marB="18288">
                    <a:solidFill>
                      <a:srgbClr val="F7F3EC"/>
                    </a:solidFill>
                  </a:tcPr>
                </a:tc>
                <a:tc>
                  <a:txBody>
                    <a:bodyPr/>
                    <a:lstStyle/>
                    <a:p>
                      <a:pPr algn="ctr"/>
                      <a:r>
                        <a:rPr sz="1000" b="0">
                          <a:latin typeface="Times New Roman"/>
                        </a:rPr>
                        <a:t>74.8</a:t>
                      </a:r>
                    </a:p>
                  </a:txBody>
                  <a:tcPr marL="36576" marR="36576" marT="18288" marB="18288">
                    <a:solidFill>
                      <a:srgbClr val="F7F3EC"/>
                    </a:solidFill>
                  </a:tcPr>
                </a:tc>
                <a:tc>
                  <a:txBody>
                    <a:bodyPr/>
                    <a:lstStyle/>
                    <a:p>
                      <a:pPr algn="ctr"/>
                      <a:r>
                        <a:rPr sz="1000" b="0">
                          <a:latin typeface="Times New Roman"/>
                        </a:rPr>
                        <a:t>65.8</a:t>
                      </a:r>
                    </a:p>
                  </a:txBody>
                  <a:tcPr marL="36576" marR="36576" marT="18288" marB="18288">
                    <a:solidFill>
                      <a:srgbClr val="F7F3EC"/>
                    </a:solidFill>
                  </a:tcPr>
                </a:tc>
                <a:tc>
                  <a:txBody>
                    <a:bodyPr/>
                    <a:lstStyle/>
                    <a:p>
                      <a:pPr algn="ctr"/>
                      <a:r>
                        <a:rPr sz="1000" b="0">
                          <a:latin typeface="Times New Roman"/>
                        </a:rPr>
                        <a:t>75.3</a:t>
                      </a:r>
                    </a:p>
                  </a:txBody>
                  <a:tcPr marL="36576" marR="36576" marT="18288" marB="18288">
                    <a:solidFill>
                      <a:srgbClr val="F7F3EC"/>
                    </a:solidFill>
                  </a:tcPr>
                </a:tc>
                <a:tc>
                  <a:txBody>
                    <a:bodyPr/>
                    <a:lstStyle/>
                    <a:p>
                      <a:pPr algn="ctr"/>
                      <a:r>
                        <a:rPr sz="1000" b="0">
                          <a:latin typeface="Times New Roman"/>
                        </a:rPr>
                        <a:t>73.8</a:t>
                      </a:r>
                    </a:p>
                  </a:txBody>
                  <a:tcPr marL="36576" marR="36576" marT="18288" marB="18288">
                    <a:solidFill>
                      <a:srgbClr val="F7F3EC"/>
                    </a:solidFill>
                  </a:tcPr>
                </a:tc>
                <a:extLst>
                  <a:ext uri="{0D108BD9-81ED-4DB2-BD59-A6C34878D82A}">
                    <a16:rowId xmlns:a16="http://schemas.microsoft.com/office/drawing/2014/main" val="10001"/>
                  </a:ext>
                </a:extLst>
              </a:tr>
              <a:tr h="274320">
                <a:tc>
                  <a:txBody>
                    <a:bodyPr/>
                    <a:lstStyle/>
                    <a:p>
                      <a:pPr algn="l"/>
                      <a:r>
                        <a:rPr sz="1000" b="0" dirty="0">
                          <a:latin typeface="Times New Roman"/>
                        </a:rPr>
                        <a:t>Low light</a:t>
                      </a:r>
                    </a:p>
                  </a:txBody>
                  <a:tcPr marL="36576" marR="36576" marT="18288" marB="18288">
                    <a:solidFill>
                      <a:srgbClr val="FFFFFF"/>
                    </a:solidFill>
                  </a:tcPr>
                </a:tc>
                <a:tc>
                  <a:txBody>
                    <a:bodyPr/>
                    <a:lstStyle/>
                    <a:p>
                      <a:pPr algn="ctr"/>
                      <a:r>
                        <a:rPr sz="1000" b="0">
                          <a:latin typeface="Times New Roman"/>
                        </a:rPr>
                        <a:t>50.0</a:t>
                      </a:r>
                    </a:p>
                  </a:txBody>
                  <a:tcPr marL="36576" marR="36576" marT="18288" marB="18288">
                    <a:solidFill>
                      <a:srgbClr val="FFFFFF"/>
                    </a:solidFill>
                  </a:tcPr>
                </a:tc>
                <a:tc>
                  <a:txBody>
                    <a:bodyPr/>
                    <a:lstStyle/>
                    <a:p>
                      <a:pPr algn="ctr"/>
                      <a:r>
                        <a:rPr sz="1000" b="0">
                          <a:latin typeface="Times New Roman"/>
                        </a:rPr>
                        <a:t>27.7</a:t>
                      </a:r>
                    </a:p>
                  </a:txBody>
                  <a:tcPr marL="36576" marR="36576" marT="18288" marB="18288">
                    <a:solidFill>
                      <a:srgbClr val="FFFFFF"/>
                    </a:solidFill>
                  </a:tcPr>
                </a:tc>
                <a:tc>
                  <a:txBody>
                    <a:bodyPr/>
                    <a:lstStyle/>
                    <a:p>
                      <a:pPr algn="ctr"/>
                      <a:r>
                        <a:rPr sz="1000" b="0">
                          <a:latin typeface="Times New Roman"/>
                        </a:rPr>
                        <a:t>48.0</a:t>
                      </a:r>
                    </a:p>
                  </a:txBody>
                  <a:tcPr marL="36576" marR="36576" marT="18288" marB="18288">
                    <a:solidFill>
                      <a:srgbClr val="FFFFFF"/>
                    </a:solidFill>
                  </a:tcPr>
                </a:tc>
                <a:tc>
                  <a:txBody>
                    <a:bodyPr/>
                    <a:lstStyle/>
                    <a:p>
                      <a:pPr algn="ctr"/>
                      <a:r>
                        <a:rPr sz="1000" b="0">
                          <a:latin typeface="Times New Roman"/>
                        </a:rPr>
                        <a:t>49.3</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Over-exposed</a:t>
                      </a:r>
                    </a:p>
                  </a:txBody>
                  <a:tcPr marL="36576" marR="36576" marT="18288" marB="18288">
                    <a:solidFill>
                      <a:srgbClr val="FFFFFF"/>
                    </a:solidFill>
                  </a:tcPr>
                </a:tc>
                <a:tc>
                  <a:txBody>
                    <a:bodyPr/>
                    <a:lstStyle/>
                    <a:p>
                      <a:pPr algn="ctr"/>
                      <a:r>
                        <a:rPr sz="1000" b="0">
                          <a:latin typeface="Times New Roman"/>
                        </a:rPr>
                        <a:t>58.2</a:t>
                      </a:r>
                    </a:p>
                  </a:txBody>
                  <a:tcPr marL="36576" marR="36576" marT="18288" marB="18288">
                    <a:solidFill>
                      <a:srgbClr val="FFFFFF"/>
                    </a:solidFill>
                  </a:tcPr>
                </a:tc>
                <a:tc>
                  <a:txBody>
                    <a:bodyPr/>
                    <a:lstStyle/>
                    <a:p>
                      <a:pPr algn="ctr"/>
                      <a:r>
                        <a:rPr sz="1000" b="0">
                          <a:latin typeface="Times New Roman"/>
                        </a:rPr>
                        <a:t>47.9</a:t>
                      </a:r>
                    </a:p>
                  </a:txBody>
                  <a:tcPr marL="36576" marR="36576" marT="18288" marB="18288">
                    <a:solidFill>
                      <a:srgbClr val="FFFFFF"/>
                    </a:solidFill>
                  </a:tcPr>
                </a:tc>
                <a:tc>
                  <a:txBody>
                    <a:bodyPr/>
                    <a:lstStyle/>
                    <a:p>
                      <a:pPr algn="ctr"/>
                      <a:r>
                        <a:rPr sz="1000" b="0">
                          <a:latin typeface="Times New Roman"/>
                        </a:rPr>
                        <a:t>58.2</a:t>
                      </a:r>
                    </a:p>
                  </a:txBody>
                  <a:tcPr marL="36576" marR="36576" marT="18288" marB="18288">
                    <a:solidFill>
                      <a:srgbClr val="FFFFFF"/>
                    </a:solidFill>
                  </a:tcPr>
                </a:tc>
                <a:tc>
                  <a:txBody>
                    <a:bodyPr/>
                    <a:lstStyle/>
                    <a:p>
                      <a:pPr algn="ctr"/>
                      <a:r>
                        <a:rPr sz="1000" b="0">
                          <a:latin typeface="Times New Roman"/>
                        </a:rPr>
                        <a:t>57.7</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Blur</a:t>
                      </a:r>
                    </a:p>
                  </a:txBody>
                  <a:tcPr marL="36576" marR="36576" marT="18288" marB="18288">
                    <a:solidFill>
                      <a:srgbClr val="FFFFFF"/>
                    </a:solidFill>
                  </a:tcPr>
                </a:tc>
                <a:tc>
                  <a:txBody>
                    <a:bodyPr/>
                    <a:lstStyle/>
                    <a:p>
                      <a:pPr algn="ctr"/>
                      <a:r>
                        <a:rPr sz="1000" b="0">
                          <a:latin typeface="Times New Roman"/>
                        </a:rPr>
                        <a:t>73.3</a:t>
                      </a:r>
                    </a:p>
                  </a:txBody>
                  <a:tcPr marL="36576" marR="36576" marT="18288" marB="18288">
                    <a:solidFill>
                      <a:srgbClr val="FFFFFF"/>
                    </a:solidFill>
                  </a:tcPr>
                </a:tc>
                <a:tc>
                  <a:txBody>
                    <a:bodyPr/>
                    <a:lstStyle/>
                    <a:p>
                      <a:pPr algn="ctr"/>
                      <a:r>
                        <a:rPr sz="1000" b="0">
                          <a:latin typeface="Times New Roman"/>
                        </a:rPr>
                        <a:t>62.2</a:t>
                      </a:r>
                    </a:p>
                  </a:txBody>
                  <a:tcPr marL="36576" marR="36576" marT="18288" marB="18288">
                    <a:solidFill>
                      <a:srgbClr val="FFFFFF"/>
                    </a:solidFill>
                  </a:tcPr>
                </a:tc>
                <a:tc>
                  <a:txBody>
                    <a:bodyPr/>
                    <a:lstStyle/>
                    <a:p>
                      <a:pPr algn="ctr"/>
                      <a:r>
                        <a:rPr sz="1000" b="0">
                          <a:latin typeface="Times New Roman"/>
                        </a:rPr>
                        <a:t>72.9</a:t>
                      </a:r>
                    </a:p>
                  </a:txBody>
                  <a:tcPr marL="36576" marR="36576" marT="18288" marB="18288">
                    <a:solidFill>
                      <a:srgbClr val="FFFFFF"/>
                    </a:solidFill>
                  </a:tcPr>
                </a:tc>
                <a:tc>
                  <a:txBody>
                    <a:bodyPr/>
                    <a:lstStyle/>
                    <a:p>
                      <a:pPr algn="ctr"/>
                      <a:r>
                        <a:rPr sz="1000" b="0">
                          <a:latin typeface="Times New Roman"/>
                        </a:rPr>
                        <a:t>75.1</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Noise</a:t>
                      </a:r>
                    </a:p>
                  </a:txBody>
                  <a:tcPr marL="36576" marR="36576" marT="18288" marB="18288">
                    <a:solidFill>
                      <a:srgbClr val="FFFFFF"/>
                    </a:solidFill>
                  </a:tcPr>
                </a:tc>
                <a:tc>
                  <a:txBody>
                    <a:bodyPr/>
                    <a:lstStyle/>
                    <a:p>
                      <a:pPr algn="ctr"/>
                      <a:r>
                        <a:rPr sz="1000" b="0">
                          <a:latin typeface="Times New Roman"/>
                        </a:rPr>
                        <a:t>67.8</a:t>
                      </a:r>
                    </a:p>
                  </a:txBody>
                  <a:tcPr marL="36576" marR="36576" marT="18288" marB="18288">
                    <a:solidFill>
                      <a:srgbClr val="FFFFFF"/>
                    </a:solidFill>
                  </a:tcPr>
                </a:tc>
                <a:tc>
                  <a:txBody>
                    <a:bodyPr/>
                    <a:lstStyle/>
                    <a:p>
                      <a:pPr algn="ctr"/>
                      <a:r>
                        <a:rPr sz="1000" b="0">
                          <a:latin typeface="Times New Roman"/>
                        </a:rPr>
                        <a:t>56.5</a:t>
                      </a:r>
                    </a:p>
                  </a:txBody>
                  <a:tcPr marL="36576" marR="36576" marT="18288" marB="18288">
                    <a:solidFill>
                      <a:srgbClr val="FFFFFF"/>
                    </a:solidFill>
                  </a:tcPr>
                </a:tc>
                <a:tc>
                  <a:txBody>
                    <a:bodyPr/>
                    <a:lstStyle/>
                    <a:p>
                      <a:pPr algn="ctr"/>
                      <a:r>
                        <a:rPr sz="1000" b="0">
                          <a:latin typeface="Times New Roman"/>
                        </a:rPr>
                        <a:t>73.0</a:t>
                      </a:r>
                    </a:p>
                  </a:txBody>
                  <a:tcPr marL="36576" marR="36576" marT="18288" marB="18288">
                    <a:solidFill>
                      <a:srgbClr val="FFFFFF"/>
                    </a:solidFill>
                  </a:tcPr>
                </a:tc>
                <a:tc>
                  <a:txBody>
                    <a:bodyPr/>
                    <a:lstStyle/>
                    <a:p>
                      <a:pPr algn="ctr"/>
                      <a:r>
                        <a:rPr sz="1000" b="0">
                          <a:latin typeface="Times New Roman"/>
                        </a:rPr>
                        <a:t>57.0</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Low contrast</a:t>
                      </a:r>
                    </a:p>
                  </a:txBody>
                  <a:tcPr marL="36576" marR="36576" marT="18288" marB="18288">
                    <a:solidFill>
                      <a:srgbClr val="FFFFFF"/>
                    </a:solidFill>
                  </a:tcPr>
                </a:tc>
                <a:tc>
                  <a:txBody>
                    <a:bodyPr/>
                    <a:lstStyle/>
                    <a:p>
                      <a:pPr algn="ctr"/>
                      <a:r>
                        <a:rPr sz="1000" b="0">
                          <a:latin typeface="Times New Roman"/>
                        </a:rPr>
                        <a:t>61.3</a:t>
                      </a:r>
                    </a:p>
                  </a:txBody>
                  <a:tcPr marL="36576" marR="36576" marT="18288" marB="18288">
                    <a:solidFill>
                      <a:srgbClr val="FFFFFF"/>
                    </a:solidFill>
                  </a:tcPr>
                </a:tc>
                <a:tc>
                  <a:txBody>
                    <a:bodyPr/>
                    <a:lstStyle/>
                    <a:p>
                      <a:pPr algn="ctr"/>
                      <a:r>
                        <a:rPr sz="1000" b="0">
                          <a:latin typeface="Times New Roman"/>
                        </a:rPr>
                        <a:t>62.6</a:t>
                      </a:r>
                    </a:p>
                  </a:txBody>
                  <a:tcPr marL="36576" marR="36576" marT="18288" marB="18288">
                    <a:solidFill>
                      <a:srgbClr val="FFFFFF"/>
                    </a:solidFill>
                  </a:tcPr>
                </a:tc>
                <a:tc>
                  <a:txBody>
                    <a:bodyPr/>
                    <a:lstStyle/>
                    <a:p>
                      <a:pPr algn="ctr"/>
                      <a:r>
                        <a:rPr sz="1000" b="0">
                          <a:latin typeface="Times New Roman"/>
                        </a:rPr>
                        <a:t>61.6</a:t>
                      </a:r>
                    </a:p>
                  </a:txBody>
                  <a:tcPr marL="36576" marR="36576" marT="18288" marB="18288">
                    <a:solidFill>
                      <a:srgbClr val="FFFFFF"/>
                    </a:solidFill>
                  </a:tcPr>
                </a:tc>
                <a:tc>
                  <a:txBody>
                    <a:bodyPr/>
                    <a:lstStyle/>
                    <a:p>
                      <a:pPr algn="ctr"/>
                      <a:r>
                        <a:rPr sz="1000" b="0">
                          <a:latin typeface="Times New Roman"/>
                        </a:rPr>
                        <a:t>62.6</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sp>
        <p:nvSpPr>
          <p:cNvPr id="301" name="TextBox 300"/>
          <p:cNvSpPr txBox="1"/>
          <p:nvPr/>
        </p:nvSpPr>
        <p:spPr>
          <a:xfrm>
            <a:off x="274320" y="3063240"/>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H1 rejected for raw images: </a:t>
            </a:r>
            <a:r>
              <a:rPr lang="en-US" sz="1050">
                <a:latin typeface="Times New Roman"/>
                <a:ea typeface="Times New Roman"/>
                <a:cs typeface="Times New Roman"/>
                <a:sym typeface="Times New Roman"/>
              </a:rPr>
              <a:t>CLAHE lowers mAP50 significantly in 5 of 6 conditions (Wilcoxon p &lt;= 0.006); sharpening gives no significant gain.</a:t>
            </a:r>
          </a:p>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Denoising helps only on noisy images: </a:t>
            </a:r>
            <a:r>
              <a:rPr lang="en-US" sz="1050">
                <a:latin typeface="Times New Roman"/>
                <a:ea typeface="Times New Roman"/>
                <a:cs typeface="Times New Roman"/>
                <a:sym typeface="Times New Roman"/>
              </a:rPr>
              <a:t>+3.2 to +7.2 mAP50 (95% CI), p = 0.006; recommended only for a noisy camera.</a:t>
            </a:r>
          </a:p>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Imaging conditions matter more than enhancement: </a:t>
            </a:r>
            <a:r>
              <a:rPr lang="en-US" sz="1050">
                <a:latin typeface="Times New Roman"/>
                <a:ea typeface="Times New Roman"/>
                <a:cs typeface="Times New Roman"/>
                <a:sym typeface="Times New Roman"/>
              </a:rPr>
              <a:t>low light costs about 25 points, so controlled lighting is the main requirement for deployment.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6" name="Google Shape;206;p2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10</a:t>
            </a:fld>
            <a:endParaRPr/>
          </a:p>
        </p:txBody>
      </p:sp>
      <p:sp>
        <p:nvSpPr>
          <p:cNvPr id="207" name="Google Shape;207;p22"/>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CONCLUSION AND FUTURE WORK</a:t>
            </a:r>
            <a:endParaRPr sz="1400" b="0" i="0" u="none" strike="noStrike" cap="none" dirty="0">
              <a:solidFill>
                <a:srgbClr val="FF0000"/>
              </a:solidFill>
              <a:sym typeface="Arial"/>
            </a:endParaRPr>
          </a:p>
        </p:txBody>
      </p:sp>
      <p:sp>
        <p:nvSpPr>
          <p:cNvPr id="208" name="Google Shape;208;p22"/>
          <p:cNvSpPr txBox="1"/>
          <p:nvPr/>
        </p:nvSpPr>
        <p:spPr>
          <a:xfrm>
            <a:off x="63572" y="735150"/>
            <a:ext cx="8199000" cy="6381600"/>
          </a:xfrm>
          <a:prstGeom prst="rect">
            <a:avLst/>
          </a:prstGeom>
          <a:noFill/>
          <a:ln>
            <a:noFill/>
          </a:ln>
        </p:spPr>
        <p:txBody>
          <a:bodyPr spcFirstLastPara="1" wrap="square" lIns="91425" tIns="45700" rIns="91425" bIns="45700" anchor="t" anchorCtr="0">
            <a:noAutofit/>
          </a:bodyPr>
          <a:lstStyle/>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Clean evaluation: </a:t>
            </a:r>
            <a:r>
              <a:rPr lang="en-US" sz="1050" dirty="0">
                <a:latin typeface="Times New Roman"/>
                <a:ea typeface="Times New Roman"/>
                <a:cs typeface="Times New Roman"/>
                <a:sym typeface="Times New Roman"/>
              </a:rPr>
              <a:t>a board-level split and rectangular high-resolution input give a reproducible baseline of 63-65 mAP50 over 8 classes on 12 unseen boards; YOLO11s matches YOLO11m at 2.8x the speed.</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Mathematical model: </a:t>
            </a:r>
            <a:r>
              <a:rPr lang="en-US" sz="1050" dirty="0">
                <a:latin typeface="Times New Roman"/>
                <a:ea typeface="Times New Roman"/>
                <a:cs typeface="Times New Roman"/>
                <a:sym typeface="Times New Roman"/>
              </a:rPr>
              <a:t>weighted box fusion of four balanced / high-resolution YOLO11s models raises test mAP50 from 69.2 to 74.7 (significant, 10 of 12 boards better); balancing or 1280 px alone, Wise-IoU and per-class thresholds gave no significant gain.</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Data engineering: </a:t>
            </a:r>
            <a:r>
              <a:rPr lang="en-US" sz="1050" dirty="0">
                <a:latin typeface="Times New Roman"/>
                <a:ea typeface="Times New Roman"/>
                <a:cs typeface="Times New Roman"/>
                <a:sym typeface="Times New Roman"/>
              </a:rPr>
              <a:t>the same recipe on the expanded 20,276-image data lifts the final detector to 76.9 mAP50 on the original test boards (+2.2, CI excludes zero) and 81.3 / 44.1 on 51 unseen boards; Crack reaches 67.4.</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Quality assessment: </a:t>
            </a:r>
            <a:r>
              <a:rPr lang="en-US" sz="1050" dirty="0">
                <a:latin typeface="Times New Roman"/>
                <a:ea typeface="Times New Roman"/>
                <a:cs typeface="Times New Roman"/>
                <a:sym typeface="Times New Roman"/>
              </a:rPr>
              <a:t>the guide's Board Recoverability Index, adapted to line-scan geometry, reproduces annotation-based grades (weighted kappa 0.87 per image with the deployed detector) and drives a market-value estimate.</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Deliverable: </a:t>
            </a:r>
            <a:r>
              <a:rPr lang="en-US" sz="1050" dirty="0">
                <a:latin typeface="Times New Roman"/>
                <a:ea typeface="Times New Roman"/>
                <a:cs typeface="Times New Roman"/>
                <a:sym typeface="Times New Roman"/>
              </a:rPr>
              <a:t>a CPU web application that shows defects, grade, recoverable area and value for an uploaded board image.</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Future work: </a:t>
            </a:r>
            <a:r>
              <a:rPr lang="en-US" sz="1050" dirty="0">
                <a:latin typeface="Times New Roman"/>
                <a:ea typeface="Times New Roman"/>
                <a:cs typeface="Times New Roman"/>
                <a:sym typeface="Times New Roman"/>
              </a:rPr>
              <a:t>sandalwood: collect and label sandalwood board images and retrain (the pipeline is species-independent); blind expert grading to calibrate severity weights and thresholds; k-fold validation over boards; more rare-class data; segmentation masks for tighter defect area; CondConv / BiFormer (full CWB) architecture; plywood images and field cameras.</a:t>
            </a:r>
          </a:p>
        </p:txBody>
      </p:sp>
      <p:sp>
        <p:nvSpPr>
          <p:cNvPr id="209" name="Google Shape;209;p2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10" name="Google Shape;210;p22"/>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11" name="Google Shape;211;p22"/>
          <p:cNvPicPr preferRelativeResize="0"/>
          <p:nvPr/>
        </p:nvPicPr>
        <p:blipFill rotWithShape="1">
          <a:blip r:embed="rId5">
            <a:alphaModFix/>
          </a:blip>
          <a:srcRect/>
          <a:stretch/>
        </p:blipFill>
        <p:spPr>
          <a:xfrm>
            <a:off x="8450860" y="2542563"/>
            <a:ext cx="693139" cy="1233357"/>
          </a:xfrm>
          <a:prstGeom prst="rect">
            <a:avLst/>
          </a:prstGeom>
          <a:noFill/>
          <a:ln>
            <a:noFill/>
          </a:ln>
        </p:spPr>
      </p:pic>
      <p:pic>
        <p:nvPicPr>
          <p:cNvPr id="212" name="Google Shape;212;p22"/>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13" name="Google Shape;213;p22"/>
          <p:cNvPicPr preferRelativeResize="0"/>
          <p:nvPr/>
        </p:nvPicPr>
        <p:blipFill rotWithShape="1">
          <a:blip r:embed="rId3">
            <a:alphaModFix/>
          </a:blip>
          <a:srcRect/>
          <a:stretch/>
        </p:blipFill>
        <p:spPr>
          <a:xfrm>
            <a:off x="8450861" y="6157980"/>
            <a:ext cx="680353" cy="703613"/>
          </a:xfrm>
          <a:prstGeom prst="rect">
            <a:avLst/>
          </a:prstGeom>
          <a:noFill/>
          <a:ln>
            <a:noFill/>
          </a:ln>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27" name="Google Shape;327;p32"/>
          <p:cNvSpPr txBox="1"/>
          <p:nvPr/>
        </p:nvSpPr>
        <p:spPr>
          <a:xfrm>
            <a:off x="395605" y="131445"/>
            <a:ext cx="8054400" cy="53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rgbClr val="41534B"/>
                </a:solidFill>
                <a:latin typeface="Times New Roman"/>
                <a:ea typeface="Times New Roman"/>
                <a:cs typeface="Times New Roman"/>
                <a:sym typeface="Times New Roman"/>
              </a:rPr>
              <a:t>REFERENCES (contd.)</a:t>
            </a:r>
            <a:endParaRPr sz="1400" b="0" i="0" u="none" strike="noStrike" cap="none" dirty="0">
              <a:solidFill>
                <a:srgbClr val="000000"/>
              </a:solidFill>
              <a:latin typeface="Arial"/>
              <a:ea typeface="Arial"/>
              <a:cs typeface="Arial"/>
              <a:sym typeface="Arial"/>
            </a:endParaRP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[12] P. Kodytek, A. Bodzas, and P. Bilik, “A large-scale image dataset of wood surface defects for automated vision-based quality control processes,” F1000Research, vol. 10, p. 581, 2022, doi: 10.12688/f1000research.52903.2.</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[13] G. Jocher and J. Qiu, “Ultralytics YOLO11,” version 11.0.0, 2024. [Online]. Available: https://github.com/ultralytics/ultralytics</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[14] Y. Cui, M. Jia, T.-Y. Lin, Y. Song, and S. Belongie, “Class-balanced loss based on effective number of samples,” in Proc. IEEE/CVF CVPR, 2019, pp. 9268–9277.</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[15] A. Gupta, P. Dollár, and R. Girshick, “LVIS: A dataset for large vocabulary instance segmentation,” in Proc. IEEE/CVF CVPR, 2019, pp. 5356–5364.</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[16] D. Dwibedi, I. Misra, and M. Hebert, “Cut, paste and learn: Surprisingly easy synthesis for instance detection,” in Proc. IEEE ICCV, 2017, pp. 1301–1310.</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[17] R. Solovyev, W. Wang, and T. Gabruseva, “Weighted boxes fusion: Ensembling boxes from different object detection models,” Image and Vision Computing, vol. 107, Art. no. 104117, 2021.</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[18] Z. Tong, Y. Chen, Z. Xu, and R. Yu, “Wise-IoU: Bounding box regression loss with dynamic focusing mechanism,” arXiv:2301.10051, 2023.</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[19] J. Cohen, “Weighted kappa: Nominal scale agreement provision for scaled disagreement or partial credit,” Psychological Bulletin, vol. 70, no. 4, pp. 213–220, 1968.</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[20] B. Efron and R. J. Tibshirani, An Introduction to the Bootstrap. New York, NY, USA: Chapman &amp; Hall, 1993.</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[21] F. Wilcoxon, “Individual comparisons by ranking methods,” Biometrics Bulletin, vol. 1, no. 6, pp. 80–83, 1945.</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[22] K. Zuiderveld, “Contrast limited adaptive histogram equalization,” in Graphics Gems IV, P. S. Heckbert, Ed. San Diego, CA, USA: Academic Press, 1994, pp. 474–485.</a:t>
            </a:r>
          </a:p>
        </p:txBody>
      </p:sp>
      <p:sp>
        <p:nvSpPr>
          <p:cNvPr id="328" name="Google Shape;328;p32"/>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24</a:t>
            </a:fld>
            <a:endParaRPr/>
          </a:p>
        </p:txBody>
      </p:sp>
      <p:pic>
        <p:nvPicPr>
          <p:cNvPr id="329" name="Google Shape;329;p32"/>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30" name="Google Shape;330;p32"/>
          <p:cNvPicPr preferRelativeResize="0"/>
          <p:nvPr/>
        </p:nvPicPr>
        <p:blipFill rotWithShape="1">
          <a:blip r:embed="rId15">
            <a:alphaModFix/>
          </a:blip>
          <a:srcRect/>
          <a:stretch/>
        </p:blipFill>
        <p:spPr>
          <a:xfrm>
            <a:off x="8450861" y="6157980"/>
            <a:ext cx="680353" cy="703613"/>
          </a:xfrm>
          <a:prstGeom prst="rect">
            <a:avLst/>
          </a:prstGeom>
          <a:noFill/>
          <a:ln>
            <a:noFill/>
          </a:ln>
        </p:spPr>
      </p:pic>
      <p:pic>
        <p:nvPicPr>
          <p:cNvPr id="331" name="Google Shape;331;p32"/>
          <p:cNvPicPr preferRelativeResize="0"/>
          <p:nvPr/>
        </p:nvPicPr>
        <p:blipFill rotWithShape="1">
          <a:blip r:embed="rId11">
            <a:alphaModFix/>
          </a:blip>
          <a:srcRect/>
          <a:stretch/>
        </p:blipFill>
        <p:spPr>
          <a:xfrm>
            <a:off x="8450861" y="3740295"/>
            <a:ext cx="695325" cy="1704975"/>
          </a:xfrm>
          <a:prstGeom prst="rect">
            <a:avLst/>
          </a:prstGeom>
          <a:noFill/>
          <a:ln>
            <a:noFill/>
          </a:ln>
        </p:spPr>
      </p:pic>
      <p:pic>
        <p:nvPicPr>
          <p:cNvPr id="332" name="Google Shape;332;p32"/>
          <p:cNvPicPr preferRelativeResize="0"/>
          <p:nvPr/>
        </p:nvPicPr>
        <p:blipFill rotWithShape="1">
          <a:blip r:embed="rId7">
            <a:alphaModFix/>
          </a:blip>
          <a:srcRect/>
          <a:stretch/>
        </p:blipFill>
        <p:spPr>
          <a:xfrm>
            <a:off x="8450860" y="2542563"/>
            <a:ext cx="693139" cy="1233357"/>
          </a:xfrm>
          <a:prstGeom prst="rect">
            <a:avLst/>
          </a:prstGeom>
          <a:noFill/>
          <a:ln>
            <a:noFill/>
          </a:ln>
        </p:spPr>
      </p:pic>
      <p:sp>
        <p:nvSpPr>
          <p:cNvPr id="333" name="Google Shape;333;p3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DATA ENGINEERING AND EXPANSION</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777240"/>
          <a:ext cx="6583680" cy="960120"/>
        </p:xfrm>
        <a:graphic>
          <a:graphicData uri="http://schemas.openxmlformats.org/drawingml/2006/table">
            <a:tbl>
              <a:tblPr firstRow="1" bandRow="1">
                <a:tableStyleId>{5C22544A-7EE6-4342-B048-85BDC9FD1C3A}</a:tableStyleId>
              </a:tblPr>
              <a:tblGrid>
                <a:gridCol w="2872740">
                  <a:extLst>
                    <a:ext uri="{9D8B030D-6E8A-4147-A177-3AD203B41FA5}">
                      <a16:colId xmlns:a16="http://schemas.microsoft.com/office/drawing/2014/main" val="20000"/>
                    </a:ext>
                  </a:extLst>
                </a:gridCol>
                <a:gridCol w="1878330">
                  <a:extLst>
                    <a:ext uri="{9D8B030D-6E8A-4147-A177-3AD203B41FA5}">
                      <a16:colId xmlns:a16="http://schemas.microsoft.com/office/drawing/2014/main" val="20001"/>
                    </a:ext>
                  </a:extLst>
                </a:gridCol>
                <a:gridCol w="3204210">
                  <a:extLst>
                    <a:ext uri="{9D8B030D-6E8A-4147-A177-3AD203B41FA5}">
                      <a16:colId xmlns:a16="http://schemas.microsoft.com/office/drawing/2014/main" val="20002"/>
                    </a:ext>
                  </a:extLst>
                </a:gridCol>
              </a:tblGrid>
              <a:tr h="237744">
                <a:tc>
                  <a:txBody>
                    <a:bodyPr/>
                    <a:lstStyle/>
                    <a:p>
                      <a:pPr algn="l"/>
                      <a:r>
                        <a:rPr sz="900" b="1" dirty="0">
                          <a:solidFill>
                            <a:srgbClr val="FFFFFF"/>
                          </a:solidFill>
                          <a:latin typeface="Times New Roman"/>
                        </a:rPr>
                        <a:t/>
                      </a:r>
                    </a:p>
                  </a:txBody>
                  <a:tcPr marL="36576" marR="36576" marT="18288" marB="18288">
                    <a:solidFill>
                      <a:srgbClr val="41534B"/>
                    </a:solidFill>
                  </a:tcPr>
                </a:tc>
                <a:tc>
                  <a:txBody>
                    <a:bodyPr/>
                    <a:lstStyle/>
                    <a:p>
                      <a:pPr algn="ctr"/>
                      <a:r>
                        <a:rPr sz="900" b="1">
                          <a:solidFill>
                            <a:srgbClr val="FFFFFF"/>
                          </a:solidFill>
                          <a:latin typeface="Times New Roman"/>
                        </a:rPr>
                        <a:t>50% review</a:t>
                      </a:r>
                    </a:p>
                  </a:txBody>
                  <a:tcPr marL="36576" marR="36576" marT="18288" marB="18288">
                    <a:solidFill>
                      <a:srgbClr val="41534B"/>
                    </a:solidFill>
                  </a:tcPr>
                </a:tc>
                <a:tc>
                  <a:txBody>
                    <a:bodyPr/>
                    <a:lstStyle/>
                    <a:p>
                      <a:pPr algn="ctr"/>
                      <a:r>
                        <a:rPr sz="900" b="1">
                          <a:solidFill>
                            <a:srgbClr val="FFFFFF"/>
                          </a:solidFill>
                          <a:latin typeface="Times New Roman"/>
                        </a:rPr>
                        <a:t>Final</a:t>
                      </a:r>
                    </a:p>
                  </a:txBody>
                  <a:tcPr marL="36576" marR="36576" marT="18288" marB="18288">
                    <a:solidFill>
                      <a:srgbClr val="41534B"/>
                    </a:solidFill>
                  </a:tcPr>
                </a:tc>
                <a:extLst>
                  <a:ext uri="{0D108BD9-81ED-4DB2-BD59-A6C34878D82A}">
                    <a16:rowId xmlns:a16="http://schemas.microsoft.com/office/drawing/2014/main" val="10000"/>
                  </a:ext>
                </a:extLst>
              </a:tr>
              <a:tr h="237744">
                <a:tc>
                  <a:txBody>
                    <a:bodyPr/>
                    <a:lstStyle/>
                    <a:p>
                      <a:pPr algn="l"/>
                      <a:r>
                        <a:rPr sz="900" b="0" dirty="0">
                          <a:latin typeface="Times New Roman"/>
                        </a:rPr>
                        <a:t>Images / physical boards</a:t>
                      </a:r>
                    </a:p>
                  </a:txBody>
                  <a:tcPr marL="36576" marR="36576" marT="18288" marB="18288">
                    <a:solidFill>
                      <a:srgbClr val="F7F3EC"/>
                    </a:solidFill>
                  </a:tcPr>
                </a:tc>
                <a:tc>
                  <a:txBody>
                    <a:bodyPr/>
                    <a:lstStyle/>
                    <a:p>
                      <a:pPr algn="ctr"/>
                      <a:r>
                        <a:rPr sz="900" b="0">
                          <a:latin typeface="Times New Roman"/>
                        </a:rPr>
                        <a:t>4,000 / 81</a:t>
                      </a:r>
                    </a:p>
                  </a:txBody>
                  <a:tcPr marL="36576" marR="36576" marT="18288" marB="18288">
                    <a:solidFill>
                      <a:srgbClr val="F7F3EC"/>
                    </a:solidFill>
                  </a:tcPr>
                </a:tc>
                <a:tc>
                  <a:txBody>
                    <a:bodyPr/>
                    <a:lstStyle/>
                    <a:p>
                      <a:pPr algn="ctr"/>
                      <a:r>
                        <a:rPr sz="900" b="0">
                          <a:latin typeface="Times New Roman"/>
                        </a:rPr>
                        <a:t>20,276 / 407 (complete industrial release [12])</a:t>
                      </a:r>
                    </a:p>
                  </a:txBody>
                  <a:tcPr marL="36576" marR="36576" marT="18288" marB="18288">
                    <a:solidFill>
                      <a:srgbClr val="F7F3EC"/>
                    </a:solidFill>
                  </a:tcPr>
                </a:tc>
                <a:extLst>
                  <a:ext uri="{0D108BD9-81ED-4DB2-BD59-A6C34878D82A}">
                    <a16:rowId xmlns:a16="http://schemas.microsoft.com/office/drawing/2014/main" val="10001"/>
                  </a:ext>
                </a:extLst>
              </a:tr>
              <a:tr h="237744">
                <a:tc>
                  <a:txBody>
                    <a:bodyPr/>
                    <a:lstStyle/>
                    <a:p>
                      <a:pPr algn="l"/>
                      <a:r>
                        <a:rPr sz="900" b="0" dirty="0">
                          <a:latin typeface="Times New Roman"/>
                        </a:rPr>
                        <a:t>Boards train / val / test</a:t>
                      </a:r>
                    </a:p>
                  </a:txBody>
                  <a:tcPr marL="36576" marR="36576" marT="18288" marB="18288">
                    <a:solidFill>
                      <a:srgbClr val="FFFFFF"/>
                    </a:solidFill>
                  </a:tcPr>
                </a:tc>
                <a:tc>
                  <a:txBody>
                    <a:bodyPr/>
                    <a:lstStyle/>
                    <a:p>
                      <a:pPr algn="ctr"/>
                      <a:r>
                        <a:rPr sz="900" b="0">
                          <a:latin typeface="Times New Roman"/>
                        </a:rPr>
                        <a:t>52 / 17 / 12</a:t>
                      </a:r>
                    </a:p>
                  </a:txBody>
                  <a:tcPr marL="36576" marR="36576" marT="18288" marB="18288">
                    <a:solidFill>
                      <a:srgbClr val="FFFFFF"/>
                    </a:solidFill>
                  </a:tcPr>
                </a:tc>
                <a:tc>
                  <a:txBody>
                    <a:bodyPr/>
                    <a:lstStyle/>
                    <a:p>
                      <a:pPr algn="ctr"/>
                      <a:r>
                        <a:rPr sz="900" b="0">
                          <a:latin typeface="Times New Roman"/>
                        </a:rPr>
                        <a:t>280 / 76 / 51 (original test boards kept fixed)</a:t>
                      </a:r>
                    </a:p>
                  </a:txBody>
                  <a:tcPr marL="36576" marR="36576" marT="18288" marB="18288">
                    <a:solidFill>
                      <a:srgbClr val="FFFFFF"/>
                    </a:solidFill>
                  </a:tcPr>
                </a:tc>
                <a:extLst>
                  <a:ext uri="{0D108BD9-81ED-4DB2-BD59-A6C34878D82A}">
                    <a16:rowId xmlns:a16="http://schemas.microsoft.com/office/drawing/2014/main" val="10002"/>
                  </a:ext>
                </a:extLst>
              </a:tr>
              <a:tr h="237744">
                <a:tc>
                  <a:txBody>
                    <a:bodyPr/>
                    <a:lstStyle/>
                    <a:p>
                      <a:pPr algn="l"/>
                      <a:r>
                        <a:rPr sz="900" b="0" dirty="0">
                          <a:latin typeface="Times New Roman"/>
                        </a:rPr>
                        <a:t>4-class training boxes incl. our synthetic copy-paste data</a:t>
                      </a:r>
                    </a:p>
                  </a:txBody>
                  <a:tcPr marL="36576" marR="36576" marT="18288" marB="18288">
                    <a:solidFill>
                      <a:srgbClr val="FFFFFF"/>
                    </a:solidFill>
                  </a:tcPr>
                </a:tc>
                <a:tc>
                  <a:txBody>
                    <a:bodyPr/>
                    <a:lstStyle/>
                    <a:p>
                      <a:pPr algn="ctr"/>
                      <a:r>
                        <a:rPr sz="900" b="0">
                          <a:latin typeface="Times New Roman"/>
                        </a:rPr>
                        <a:t>7,502</a:t>
                      </a:r>
                    </a:p>
                  </a:txBody>
                  <a:tcPr marL="36576" marR="36576" marT="18288" marB="18288">
                    <a:solidFill>
                      <a:srgbClr val="FFFFFF"/>
                    </a:solidFill>
                  </a:tcPr>
                </a:tc>
                <a:tc>
                  <a:txBody>
                    <a:bodyPr/>
                    <a:lstStyle/>
                    <a:p>
                      <a:pPr algn="ctr"/>
                      <a:r>
                        <a:rPr sz="900" b="0">
                          <a:latin typeface="Times New Roman"/>
                        </a:rPr>
                        <a:t>36,165</a:t>
                      </a:r>
                    </a:p>
                  </a:txBody>
                  <a:tcPr marL="36576" marR="36576" marT="18288" marB="18288">
                    <a:solidFill>
                      <a:srgbClr val="FFFFFF"/>
                    </a:solidFill>
                  </a:tcPr>
                </a:tc>
                <a:extLst>
                  <a:ext uri="{0D108BD9-81ED-4DB2-BD59-A6C34878D82A}">
                    <a16:rowId xmlns:a16="http://schemas.microsoft.com/office/drawing/2014/main" val="10002"/>
                  </a:ext>
                </a:extLst>
              </a:tr>
              <a:tr h="237744">
                <a:tc>
                  <a:txBody>
                    <a:bodyPr/>
                    <a:lstStyle/>
                    <a:p>
                      <a:pPr algn="l"/>
                      <a:r>
                        <a:rPr sz="900" b="0" dirty="0">
                          <a:latin typeface="Times New Roman"/>
                        </a:rPr>
                        <a:t>Crack training boxes (rarest, most severe)</a:t>
                      </a:r>
                    </a:p>
                  </a:txBody>
                  <a:tcPr marL="36576" marR="36576" marT="18288" marB="18288">
                    <a:solidFill>
                      <a:srgbClr val="FFFFFF"/>
                    </a:solidFill>
                  </a:tcPr>
                </a:tc>
                <a:tc>
                  <a:txBody>
                    <a:bodyPr/>
                    <a:lstStyle/>
                    <a:p>
                      <a:pPr algn="ctr"/>
                      <a:r>
                        <a:rPr sz="900" b="0">
                          <a:latin typeface="Times New Roman"/>
                        </a:rPr>
                        <a:t>942</a:t>
                      </a:r>
                    </a:p>
                  </a:txBody>
                  <a:tcPr marL="36576" marR="36576" marT="18288" marB="18288">
                    <a:solidFill>
                      <a:srgbClr val="FFFFFF"/>
                    </a:solidFill>
                  </a:tcPr>
                </a:tc>
                <a:tc>
                  <a:txBody>
                    <a:bodyPr/>
                    <a:lstStyle/>
                    <a:p>
                      <a:pPr algn="ctr"/>
                      <a:r>
                        <a:rPr sz="900" b="0">
                          <a:latin typeface="Times New Roman"/>
                        </a:rPr>
                        <a:t>4,612</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graphicFrame>
        <p:nvGraphicFramePr>
          <p:cNvPr id="300" name="Table 299"/>
          <p:cNvGraphicFramePr>
            <a:graphicFrameLocks noGrp="1"/>
          </p:cNvGraphicFramePr>
          <p:nvPr>
            <p:extLst>
              <p:ext uri="{D42A27DB-BD31-4B8C-83A1-F6EECF244321}">
                <p14:modId xmlns:p14="http://schemas.microsoft.com/office/powerpoint/2010/main" val="435854719"/>
              </p:ext>
            </p:extLst>
          </p:nvPr>
        </p:nvGraphicFramePr>
        <p:xfrm>
          <a:off x="173353" y="2194560"/>
          <a:ext cx="6675120" cy="3108960"/>
        </p:xfrm>
        <a:graphic>
          <a:graphicData uri="http://schemas.openxmlformats.org/drawingml/2006/table">
            <a:tbl>
              <a:tblPr firstRow="1" bandRow="1">
                <a:tableStyleId>{5C22544A-7EE6-4342-B048-85BDC9FD1C3A}</a:tableStyleId>
              </a:tblPr>
              <a:tblGrid>
                <a:gridCol w="2809210">
                  <a:extLst>
                    <a:ext uri="{9D8B030D-6E8A-4147-A177-3AD203B41FA5}">
                      <a16:colId xmlns:a16="http://schemas.microsoft.com/office/drawing/2014/main" val="20000"/>
                    </a:ext>
                  </a:extLst>
                </a:gridCol>
                <a:gridCol w="1797894">
                  <a:extLst>
                    <a:ext uri="{9D8B030D-6E8A-4147-A177-3AD203B41FA5}">
                      <a16:colId xmlns:a16="http://schemas.microsoft.com/office/drawing/2014/main" val="20001"/>
                    </a:ext>
                  </a:extLst>
                </a:gridCol>
                <a:gridCol w="1797894">
                  <a:extLst>
                    <a:ext uri="{9D8B030D-6E8A-4147-A177-3AD203B41FA5}">
                      <a16:colId xmlns:a16="http://schemas.microsoft.com/office/drawing/2014/main" val="20002"/>
                    </a:ext>
                  </a:extLst>
                </a:gridCol>
                <a:gridCol w="1797894">
                  <a:extLst>
                    <a:ext uri="{9D8B030D-6E8A-4147-A177-3AD203B41FA5}">
                      <a16:colId xmlns:a16="http://schemas.microsoft.com/office/drawing/2014/main" val="20003"/>
                    </a:ext>
                  </a:extLst>
                </a:gridCol>
              </a:tblGrid>
              <a:tr h="237744">
                <a:tc>
                  <a:txBody>
                    <a:bodyPr/>
                    <a:lstStyle/>
                    <a:p>
                      <a:pPr algn="l"/>
                      <a:r>
                        <a:rPr sz="900" b="1" dirty="0">
                          <a:solidFill>
                            <a:srgbClr val="FFFFFF"/>
                          </a:solidFill>
                          <a:latin typeface="Times New Roman"/>
                        </a:rPr>
                        <a:t>mAP50 / mAP50-95</a:t>
                      </a:r>
                    </a:p>
                  </a:txBody>
                  <a:tcPr marL="36576" marR="36576" marT="18288" marB="18288">
                    <a:solidFill>
                      <a:srgbClr val="41534B"/>
                    </a:solidFill>
                  </a:tcPr>
                </a:tc>
                <a:tc>
                  <a:txBody>
                    <a:bodyPr/>
                    <a:lstStyle/>
                    <a:p>
                      <a:pPr algn="ctr"/>
                      <a:r>
                        <a:rPr sz="900" b="1">
                          <a:solidFill>
                            <a:srgbClr val="FFFFFF"/>
                          </a:solidFill>
                          <a:latin typeface="Times New Roman"/>
                        </a:rPr>
                        <a:t>Val, 714 original images</a:t>
                      </a:r>
                    </a:p>
                  </a:txBody>
                  <a:tcPr marL="36576" marR="36576" marT="18288" marB="18288">
                    <a:solidFill>
                      <a:srgbClr val="41534B"/>
                    </a:solidFill>
                  </a:tcPr>
                </a:tc>
                <a:tc>
                  <a:txBody>
                    <a:bodyPr/>
                    <a:lstStyle/>
                    <a:p>
                      <a:pPr algn="ctr"/>
                      <a:r>
                        <a:rPr sz="900" b="1">
                          <a:solidFill>
                            <a:srgbClr val="FFFFFF"/>
                          </a:solidFill>
                          <a:latin typeface="Times New Roman"/>
                        </a:rPr>
                        <a:t>Test, 469 original images</a:t>
                      </a:r>
                    </a:p>
                  </a:txBody>
                  <a:tcPr marL="36576" marR="36576" marT="18288" marB="18288">
                    <a:solidFill>
                      <a:srgbClr val="41534B"/>
                    </a:solidFill>
                  </a:tcPr>
                </a:tc>
                <a:tc>
                  <a:txBody>
                    <a:bodyPr/>
                    <a:lstStyle/>
                    <a:p>
                      <a:pPr algn="ctr"/>
                      <a:r>
                        <a:rPr sz="900" b="1">
                          <a:solidFill>
                            <a:srgbClr val="FFFFFF"/>
                          </a:solidFill>
                          <a:latin typeface="Times New Roman"/>
                        </a:rPr>
                        <a:t>Test, 51 further boards (2,488)</a:t>
                      </a:r>
                    </a:p>
                  </a:txBody>
                  <a:tcPr marL="36576" marR="36576" marT="18288" marB="18288">
                    <a:solidFill>
                      <a:srgbClr val="41534B"/>
                    </a:solidFill>
                  </a:tcPr>
                </a:tc>
                <a:extLst>
                  <a:ext uri="{0D108BD9-81ED-4DB2-BD59-A6C34878D82A}">
                    <a16:rowId xmlns:a16="http://schemas.microsoft.com/office/drawing/2014/main" val="10000"/>
                  </a:ext>
                </a:extLst>
              </a:tr>
              <a:tr h="237744">
                <a:tc>
                  <a:txBody>
                    <a:bodyPr/>
                    <a:lstStyle/>
                    <a:p>
                      <a:pPr algn="l"/>
                      <a:r>
                        <a:rPr sz="900" b="0">
                          <a:latin typeface="Times New Roman"/>
                        </a:rPr>
                        <a:t>Four-model fusion (before expansion)</a:t>
                      </a:r>
                    </a:p>
                  </a:txBody>
                  <a:tcPr marL="36576" marR="36576" marT="18288" marB="18288">
                    <a:solidFill>
                      <a:srgbClr val="F7F3EC"/>
                    </a:solidFill>
                  </a:tcPr>
                </a:tc>
                <a:tc>
                  <a:txBody>
                    <a:bodyPr/>
                    <a:lstStyle/>
                    <a:p>
                      <a:pPr algn="ctr"/>
                      <a:r>
                        <a:rPr sz="900" b="0">
                          <a:latin typeface="Times New Roman"/>
                        </a:rPr>
                        <a:t>78.1 / 39.2</a:t>
                      </a:r>
                    </a:p>
                  </a:txBody>
                  <a:tcPr marL="36576" marR="36576" marT="18288" marB="18288">
                    <a:solidFill>
                      <a:srgbClr val="F7F3EC"/>
                    </a:solidFill>
                  </a:tcPr>
                </a:tc>
                <a:tc>
                  <a:txBody>
                    <a:bodyPr/>
                    <a:lstStyle/>
                    <a:p>
                      <a:pPr algn="ctr"/>
                      <a:r>
                        <a:rPr sz="900" b="0">
                          <a:latin typeface="Times New Roman"/>
                        </a:rPr>
                        <a:t>74.7 / 36.7</a:t>
                      </a:r>
                    </a:p>
                  </a:txBody>
                  <a:tcPr marL="36576" marR="36576" marT="18288" marB="18288">
                    <a:solidFill>
                      <a:srgbClr val="F7F3EC"/>
                    </a:solidFill>
                  </a:tcPr>
                </a:tc>
                <a:tc>
                  <a:txBody>
                    <a:bodyPr/>
                    <a:lstStyle/>
                    <a:p>
                      <a:pPr algn="ctr"/>
                      <a:r>
                        <a:rPr sz="900" b="0">
                          <a:latin typeface="Times New Roman"/>
                        </a:rPr>
                        <a:t>-</a:t>
                      </a:r>
                    </a:p>
                  </a:txBody>
                  <a:tcPr marL="36576" marR="36576" marT="18288" marB="18288">
                    <a:solidFill>
                      <a:srgbClr val="F7F3EC"/>
                    </a:solidFill>
                  </a:tcPr>
                </a:tc>
                <a:extLst>
                  <a:ext uri="{0D108BD9-81ED-4DB2-BD59-A6C34878D82A}">
                    <a16:rowId xmlns:a16="http://schemas.microsoft.com/office/drawing/2014/main" val="10001"/>
                  </a:ext>
                </a:extLst>
              </a:tr>
              <a:tr h="237744">
                <a:tc>
                  <a:txBody>
                    <a:bodyPr/>
                    <a:lstStyle/>
                    <a:p>
                      <a:pPr algn="l"/>
                      <a:r>
                        <a:rPr sz="900" b="0">
                          <a:latin typeface="Times New Roman"/>
                        </a:rPr>
                        <a:t>YOLO11s expanded data, 1024 px</a:t>
                      </a:r>
                    </a:p>
                  </a:txBody>
                  <a:tcPr marL="36576" marR="36576" marT="18288" marB="18288">
                    <a:solidFill>
                      <a:srgbClr val="FFFFFF"/>
                    </a:solidFill>
                  </a:tcPr>
                </a:tc>
                <a:tc>
                  <a:txBody>
                    <a:bodyPr/>
                    <a:lstStyle/>
                    <a:p>
                      <a:pPr algn="ctr"/>
                      <a:r>
                        <a:rPr sz="900" b="0">
                          <a:latin typeface="Times New Roman"/>
                        </a:rPr>
                        <a:t>79.1 / 39.9</a:t>
                      </a:r>
                    </a:p>
                  </a:txBody>
                  <a:tcPr marL="36576" marR="36576" marT="18288" marB="18288">
                    <a:solidFill>
                      <a:srgbClr val="FFFFFF"/>
                    </a:solidFill>
                  </a:tcPr>
                </a:tc>
                <a:tc>
                  <a:txBody>
                    <a:bodyPr/>
                    <a:lstStyle/>
                    <a:p>
                      <a:pPr algn="ctr"/>
                      <a:r>
                        <a:rPr sz="900" b="0">
                          <a:latin typeface="Times New Roman"/>
                        </a:rPr>
                        <a:t>75.7 / 37.9</a:t>
                      </a:r>
                    </a:p>
                  </a:txBody>
                  <a:tcPr marL="36576" marR="36576" marT="18288" marB="18288">
                    <a:solidFill>
                      <a:srgbClr val="FFFFFF"/>
                    </a:solidFill>
                  </a:tcPr>
                </a:tc>
                <a:tc>
                  <a:txBody>
                    <a:bodyPr/>
                    <a:lstStyle/>
                    <a:p>
                      <a:pPr algn="ctr"/>
                      <a:r>
                        <a:rPr sz="900" b="0">
                          <a:latin typeface="Times New Roman"/>
                        </a:rPr>
                        <a:t>80.5 / 42.8</a:t>
                      </a:r>
                    </a:p>
                  </a:txBody>
                  <a:tcPr marL="36576" marR="36576" marT="18288" marB="18288">
                    <a:solidFill>
                      <a:srgbClr val="FFFFFF"/>
                    </a:solidFill>
                  </a:tcPr>
                </a:tc>
                <a:extLst>
                  <a:ext uri="{0D108BD9-81ED-4DB2-BD59-A6C34878D82A}">
                    <a16:rowId xmlns:a16="http://schemas.microsoft.com/office/drawing/2014/main" val="10002"/>
                  </a:ext>
                </a:extLst>
              </a:tr>
              <a:tr h="237744">
                <a:tc>
                  <a:txBody>
                    <a:bodyPr/>
                    <a:lstStyle/>
                    <a:p>
                      <a:pPr algn="l"/>
                      <a:r>
                        <a:rPr sz="900" b="0">
                          <a:latin typeface="Times New Roman"/>
                        </a:rPr>
                        <a:t>YOLO11s expanded data, 1280 px</a:t>
                      </a:r>
                    </a:p>
                  </a:txBody>
                  <a:tcPr marL="36576" marR="36576" marT="18288" marB="18288">
                    <a:solidFill>
                      <a:srgbClr val="F7F3EC"/>
                    </a:solidFill>
                  </a:tcPr>
                </a:tc>
                <a:tc>
                  <a:txBody>
                    <a:bodyPr/>
                    <a:lstStyle/>
                    <a:p>
                      <a:pPr algn="ctr"/>
                      <a:r>
                        <a:rPr sz="900" b="0">
                          <a:latin typeface="Times New Roman"/>
                        </a:rPr>
                        <a:t>79.9 / 40.5</a:t>
                      </a:r>
                    </a:p>
                  </a:txBody>
                  <a:tcPr marL="36576" marR="36576" marT="18288" marB="18288">
                    <a:solidFill>
                      <a:srgbClr val="F7F3EC"/>
                    </a:solidFill>
                  </a:tcPr>
                </a:tc>
                <a:tc>
                  <a:txBody>
                    <a:bodyPr/>
                    <a:lstStyle/>
                    <a:p>
                      <a:pPr algn="ctr"/>
                      <a:r>
                        <a:rPr sz="900" b="0">
                          <a:latin typeface="Times New Roman"/>
                        </a:rPr>
                        <a:t>76.1 / 38.8</a:t>
                      </a:r>
                    </a:p>
                  </a:txBody>
                  <a:tcPr marL="36576" marR="36576" marT="18288" marB="18288">
                    <a:solidFill>
                      <a:srgbClr val="F7F3EC"/>
                    </a:solidFill>
                  </a:tcPr>
                </a:tc>
                <a:tc>
                  <a:txBody>
                    <a:bodyPr/>
                    <a:lstStyle/>
                    <a:p>
                      <a:pPr algn="ctr"/>
                      <a:r>
                        <a:rPr sz="900" b="0">
                          <a:latin typeface="Times New Roman"/>
                        </a:rPr>
                        <a:t>80.1 / 43.0</a:t>
                      </a:r>
                    </a:p>
                  </a:txBody>
                  <a:tcPr marL="36576" marR="36576" marT="18288" marB="18288">
                    <a:solidFill>
                      <a:srgbClr val="F7F3EC"/>
                    </a:solidFill>
                  </a:tcPr>
                </a:tc>
                <a:extLst>
                  <a:ext uri="{0D108BD9-81ED-4DB2-BD59-A6C34878D82A}">
                    <a16:rowId xmlns:a16="http://schemas.microsoft.com/office/drawing/2014/main" val="10003"/>
                  </a:ext>
                </a:extLst>
              </a:tr>
              <a:tr h="237744">
                <a:tc>
                  <a:txBody>
                    <a:bodyPr/>
                    <a:lstStyle/>
                    <a:p>
                      <a:pPr algn="l"/>
                      <a:r>
                        <a:rPr sz="900" b="1">
                          <a:latin typeface="Times New Roman"/>
                        </a:rPr>
                        <a:t>Fusion of the two (final detector)</a:t>
                      </a:r>
                    </a:p>
                  </a:txBody>
                  <a:tcPr marL="36576" marR="36576" marT="18288" marB="18288">
                    <a:solidFill>
                      <a:srgbClr val="FFFFFF"/>
                    </a:solidFill>
                  </a:tcPr>
                </a:tc>
                <a:tc>
                  <a:txBody>
                    <a:bodyPr/>
                    <a:lstStyle/>
                    <a:p>
                      <a:pPr algn="ctr"/>
                      <a:r>
                        <a:rPr sz="900" b="1">
                          <a:latin typeface="Times New Roman"/>
                        </a:rPr>
                        <a:t>80.2 / 41.7</a:t>
                      </a:r>
                    </a:p>
                  </a:txBody>
                  <a:tcPr marL="36576" marR="36576" marT="18288" marB="18288">
                    <a:solidFill>
                      <a:srgbClr val="FFFFFF"/>
                    </a:solidFill>
                  </a:tcPr>
                </a:tc>
                <a:tc>
                  <a:txBody>
                    <a:bodyPr/>
                    <a:lstStyle/>
                    <a:p>
                      <a:pPr algn="ctr"/>
                      <a:r>
                        <a:rPr sz="900" b="1">
                          <a:latin typeface="Times New Roman"/>
                        </a:rPr>
                        <a:t>76.9 / 39.3</a:t>
                      </a:r>
                    </a:p>
                  </a:txBody>
                  <a:tcPr marL="36576" marR="36576" marT="18288" marB="18288">
                    <a:solidFill>
                      <a:srgbClr val="FFFFFF"/>
                    </a:solidFill>
                  </a:tcPr>
                </a:tc>
                <a:tc>
                  <a:txBody>
                    <a:bodyPr/>
                    <a:lstStyle/>
                    <a:p>
                      <a:pPr algn="ctr"/>
                      <a:r>
                        <a:rPr sz="900" b="1">
                          <a:latin typeface="Times New Roman"/>
                        </a:rPr>
                        <a:t>81.3 / 44.1</a:t>
                      </a:r>
                    </a:p>
                  </a:txBody>
                  <a:tcPr marL="36576" marR="36576" marT="18288" marB="18288">
                    <a:solidFill>
                      <a:srgbClr val="FFFFFF"/>
                    </a:solidFill>
                  </a:tcPr>
                </a:tc>
                <a:extLst>
                  <a:ext uri="{0D108BD9-81ED-4DB2-BD59-A6C34878D82A}">
                    <a16:rowId xmlns:a16="http://schemas.microsoft.com/office/drawing/2014/main" val="10004"/>
                  </a:ext>
                </a:extLst>
              </a:tr>
            </a:tbl>
          </a:graphicData>
        </a:graphic>
      </p:graphicFrame>
      <p:sp>
        <p:nvSpPr>
          <p:cNvPr id="301" name="TextBox 300"/>
          <p:cNvSpPr txBox="1"/>
          <p:nvPr/>
        </p:nvSpPr>
        <p:spPr>
          <a:xfrm>
            <a:off x="274320" y="3566160"/>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00" b="1">
                <a:latin typeface="Times New Roman"/>
                <a:ea typeface="Times New Roman"/>
                <a:cs typeface="Times New Roman"/>
                <a:sym typeface="Times New Roman"/>
              </a:rPr>
              <a:t>Our data work: </a:t>
            </a:r>
            <a:r>
              <a:rPr lang="en-US" sz="1000">
                <a:latin typeface="Times New Roman"/>
                <a:ea typeface="Times New Roman"/>
                <a:cs typeface="Times New Roman"/>
                <a:sym typeface="Times New Roman"/>
              </a:rPr>
              <a:t>verified the copy we trained on against the original archive (43,974 boxes identical), fixed label-format errors, removed zero-size boxes, generated grain-aware synthetic defects inside the board mask, and photographed wood surfaces on campus for real-world testing.</a:t>
            </a:r>
          </a:p>
          <a:p>
            <a:pPr marL="0" lvl="0" indent="0" algn="l">
              <a:lnSpc>
                <a:spcPct val="105000"/>
              </a:lnSpc>
              <a:spcBef>
                <a:spcPts val="400"/>
              </a:spcBef>
              <a:spcAft>
                <a:spcPts val="0"/>
              </a:spcAft>
              <a:buNone/>
            </a:pPr>
            <a:r>
              <a:rPr lang="en-US" sz="1000" b="1">
                <a:latin typeface="Times New Roman"/>
                <a:ea typeface="Times New Roman"/>
                <a:cs typeface="Times New Roman"/>
                <a:sym typeface="Times New Roman"/>
              </a:rPr>
              <a:t>Why: </a:t>
            </a:r>
            <a:r>
              <a:rPr lang="en-US" sz="1000">
                <a:latin typeface="Times New Roman"/>
                <a:ea typeface="Times New Roman"/>
                <a:cs typeface="Times New Roman"/>
                <a:sym typeface="Times New Roman"/>
              </a:rPr>
              <a:t>rare classes limited accuracy at mid-term; sandalwood, the target, has no public labelled dataset, so the method is built to be species-independent.</a:t>
            </a:r>
          </a:p>
          <a:p>
            <a:pPr marL="0" lvl="0" indent="0" algn="l">
              <a:lnSpc>
                <a:spcPct val="105000"/>
              </a:lnSpc>
              <a:spcBef>
                <a:spcPts val="400"/>
              </a:spcBef>
              <a:spcAft>
                <a:spcPts val="0"/>
              </a:spcAft>
              <a:buNone/>
            </a:pPr>
            <a:r>
              <a:rPr lang="en-US" sz="1000" b="1">
                <a:latin typeface="Times New Roman"/>
                <a:ea typeface="Times New Roman"/>
                <a:cs typeface="Times New Roman"/>
                <a:sym typeface="Times New Roman"/>
              </a:rPr>
              <a:t>Effect: </a:t>
            </a:r>
            <a:r>
              <a:rPr lang="en-US" sz="1000">
                <a:latin typeface="Times New Roman"/>
                <a:ea typeface="Times New Roman"/>
                <a:cs typeface="Times New Roman"/>
                <a:sym typeface="Times New Roman"/>
              </a:rPr>
              <a:t>+2.2 mAP50 on the same test boards (95% CI +0.5 to +4.3) with 2 models instead of 4; rule fixed before training (80.2 &gt; 78.1 on validation).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FEEDBACK RECEIVED AND ACTIONS TAKEN</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914400"/>
          <a:ext cx="7955280" cy="960120"/>
        </p:xfrm>
        <a:graphic>
          <a:graphicData uri="http://schemas.openxmlformats.org/drawingml/2006/table">
            <a:tbl>
              <a:tblPr firstRow="1" bandRow="1">
                <a:tableStyleId>{5C22544A-7EE6-4342-B048-85BDC9FD1C3A}</a:tableStyleId>
              </a:tblPr>
              <a:tblGrid>
                <a:gridCol w="2152605">
                  <a:extLst>
                    <a:ext uri="{9D8B030D-6E8A-4147-A177-3AD203B41FA5}">
                      <a16:colId xmlns:a16="http://schemas.microsoft.com/office/drawing/2014/main" val="20000"/>
                    </a:ext>
                  </a:extLst>
                </a:gridCol>
                <a:gridCol w="3369295">
                  <a:extLst>
                    <a:ext uri="{9D8B030D-6E8A-4147-A177-3AD203B41FA5}">
                      <a16:colId xmlns:a16="http://schemas.microsoft.com/office/drawing/2014/main" val="20001"/>
                    </a:ext>
                  </a:extLst>
                </a:gridCol>
                <a:gridCol w="2433379">
                  <a:extLst>
                    <a:ext uri="{9D8B030D-6E8A-4147-A177-3AD203B41FA5}">
                      <a16:colId xmlns:a16="http://schemas.microsoft.com/office/drawing/2014/main" val="20002"/>
                    </a:ext>
                  </a:extLst>
                </a:gridCol>
              </a:tblGrid>
              <a:tr h="384048">
                <a:tc>
                  <a:txBody>
                    <a:bodyPr/>
                    <a:lstStyle/>
                    <a:p>
                      <a:pPr algn="l"/>
                      <a:r>
                        <a:rPr sz="900" b="1" dirty="0">
                          <a:solidFill>
                            <a:srgbClr val="FFFFFF"/>
                          </a:solidFill>
                          <a:latin typeface="Times New Roman"/>
                        </a:rPr>
                        <a:t>Feedback at the 50% review</a:t>
                      </a:r>
                    </a:p>
                  </a:txBody>
                  <a:tcPr marL="36576" marR="36576" marT="18288" marB="18288">
                    <a:solidFill>
                      <a:srgbClr val="41534B"/>
                    </a:solidFill>
                  </a:tcPr>
                </a:tc>
                <a:tc>
                  <a:txBody>
                    <a:bodyPr/>
                    <a:lstStyle/>
                    <a:p>
                      <a:pPr algn="ctr"/>
                      <a:r>
                        <a:rPr sz="900" b="1">
                          <a:solidFill>
                            <a:srgbClr val="FFFFFF"/>
                          </a:solidFill>
                          <a:latin typeface="Times New Roman"/>
                        </a:rPr>
                        <a:t>What we did</a:t>
                      </a:r>
                    </a:p>
                  </a:txBody>
                  <a:tcPr marL="36576" marR="36576" marT="18288" marB="18288">
                    <a:solidFill>
                      <a:srgbClr val="41534B"/>
                    </a:solidFill>
                  </a:tcPr>
                </a:tc>
                <a:tc>
                  <a:txBody>
                    <a:bodyPr/>
                    <a:lstStyle/>
                    <a:p>
                      <a:pPr algn="ctr"/>
                      <a:r>
                        <a:rPr sz="900" b="1">
                          <a:solidFill>
                            <a:srgbClr val="FFFFFF"/>
                          </a:solidFill>
                          <a:latin typeface="Times New Roman"/>
                        </a:rPr>
                        <a:t>Outcome</a:t>
                      </a:r>
                    </a:p>
                  </a:txBody>
                  <a:tcPr marL="36576" marR="36576" marT="18288" marB="18288">
                    <a:solidFill>
                      <a:srgbClr val="41534B"/>
                    </a:solidFill>
                  </a:tcPr>
                </a:tc>
                <a:extLst>
                  <a:ext uri="{0D108BD9-81ED-4DB2-BD59-A6C34878D82A}">
                    <a16:rowId xmlns:a16="http://schemas.microsoft.com/office/drawing/2014/main" val="10000"/>
                  </a:ext>
                </a:extLst>
              </a:tr>
              <a:tr h="384048">
                <a:tc>
                  <a:txBody>
                    <a:bodyPr/>
                    <a:lstStyle/>
                    <a:p>
                      <a:pPr algn="l"/>
                      <a:r>
                        <a:rPr sz="900" b="0" dirty="0">
                          <a:latin typeface="Times New Roman"/>
                        </a:rPr>
                        <a:t>Improve accuracy with a mathematical model</a:t>
                      </a:r>
                    </a:p>
                  </a:txBody>
                  <a:tcPr marL="36576" marR="36576" marT="18288" marB="18288">
                    <a:solidFill>
                      <a:srgbClr val="F7F3EC"/>
                    </a:solidFill>
                  </a:tcPr>
                </a:tc>
                <a:tc>
                  <a:txBody>
                    <a:bodyPr/>
                    <a:lstStyle/>
                    <a:p>
                      <a:pPr algn="ctr"/>
                      <a:r>
                        <a:rPr sz="900" b="0">
                          <a:latin typeface="Times New Roman"/>
                        </a:rPr>
                        <a:t>Class-balancing rule, weighted box fusion, Wise-IoU, per-class thresholds, statistical tests</a:t>
                      </a:r>
                    </a:p>
                  </a:txBody>
                  <a:tcPr marL="36576" marR="36576" marT="18288" marB="18288">
                    <a:solidFill>
                      <a:srgbClr val="F7F3EC"/>
                    </a:solidFill>
                  </a:tcPr>
                </a:tc>
                <a:tc>
                  <a:txBody>
                    <a:bodyPr/>
                    <a:lstStyle/>
                    <a:p>
                      <a:pPr algn="ctr"/>
                      <a:r>
                        <a:rPr sz="900" b="0">
                          <a:latin typeface="Times New Roman"/>
                        </a:rPr>
                        <a:t>Fusion adopted: +2.7 to +7.1 mAP50 (95% CI)</a:t>
                      </a:r>
                    </a:p>
                  </a:txBody>
                  <a:tcPr marL="36576" marR="36576" marT="18288" marB="18288">
                    <a:solidFill>
                      <a:srgbClr val="F7F3EC"/>
                    </a:solidFill>
                  </a:tcPr>
                </a:tc>
                <a:extLst>
                  <a:ext uri="{0D108BD9-81ED-4DB2-BD59-A6C34878D82A}">
                    <a16:rowId xmlns:a16="http://schemas.microsoft.com/office/drawing/2014/main" val="10001"/>
                  </a:ext>
                </a:extLst>
              </a:tr>
              <a:tr h="384048">
                <a:tc>
                  <a:txBody>
                    <a:bodyPr/>
                    <a:lstStyle/>
                    <a:p>
                      <a:pPr algn="l"/>
                      <a:r>
                        <a:rPr sz="900" b="0" dirty="0">
                          <a:latin typeface="Times New Roman"/>
                        </a:rPr>
                        <a:t>Rare defect classes have too little data</a:t>
                      </a:r>
                    </a:p>
                  </a:txBody>
                  <a:tcPr marL="36576" marR="36576" marT="18288" marB="18288">
                    <a:solidFill>
                      <a:srgbClr val="FFFFFF"/>
                    </a:solidFill>
                  </a:tcPr>
                </a:tc>
                <a:tc>
                  <a:txBody>
                    <a:bodyPr/>
                    <a:lstStyle/>
                    <a:p>
                      <a:pPr algn="ctr"/>
                      <a:r>
                        <a:rPr sz="900" b="0">
                          <a:latin typeface="Times New Roman"/>
                        </a:rPr>
                        <a:t>Expanded to 20,276 images from 407 boards; synthetic copy-paste balancing</a:t>
                      </a:r>
                    </a:p>
                  </a:txBody>
                  <a:tcPr marL="36576" marR="36576" marT="18288" marB="18288">
                    <a:solidFill>
                      <a:srgbClr val="FFFFFF"/>
                    </a:solidFill>
                  </a:tcPr>
                </a:tc>
                <a:tc>
                  <a:txBody>
                    <a:bodyPr/>
                    <a:lstStyle/>
                    <a:p>
                      <a:pPr algn="ctr"/>
                      <a:r>
                        <a:rPr sz="900" b="0">
                          <a:latin typeface="Times New Roman"/>
                        </a:rPr>
                        <a:t>Crack training boxes 306 -&gt; 4,612</a:t>
                      </a:r>
                    </a:p>
                  </a:txBody>
                  <a:tcPr marL="36576" marR="36576" marT="18288" marB="18288">
                    <a:solidFill>
                      <a:srgbClr val="FFFFFF"/>
                    </a:solidFill>
                  </a:tcPr>
                </a:tc>
                <a:extLst>
                  <a:ext uri="{0D108BD9-81ED-4DB2-BD59-A6C34878D82A}">
                    <a16:rowId xmlns:a16="http://schemas.microsoft.com/office/drawing/2014/main" val="10002"/>
                  </a:ext>
                </a:extLst>
              </a:tr>
              <a:tr h="384048">
                <a:tc>
                  <a:txBody>
                    <a:bodyPr/>
                    <a:lstStyle/>
                    <a:p>
                      <a:pPr algn="l"/>
                      <a:r>
                        <a:rPr sz="900" b="0" dirty="0">
                          <a:latin typeface="Times New Roman"/>
                        </a:rPr>
                        <a:t>Quality grade, not just detection</a:t>
                      </a:r>
                    </a:p>
                  </a:txBody>
                  <a:tcPr marL="36576" marR="36576" marT="18288" marB="18288">
                    <a:solidFill>
                      <a:srgbClr val="FFFFFF"/>
                    </a:solidFill>
                  </a:tcPr>
                </a:tc>
                <a:tc>
                  <a:txBody>
                    <a:bodyPr/>
                    <a:lstStyle/>
                    <a:p>
                      <a:pPr algn="ctr"/>
                      <a:r>
                        <a:rPr sz="900" b="0">
                          <a:latin typeface="Times New Roman"/>
                        </a:rPr>
                        <a:t>Implemented the guide's Board Recoverability Index, adapted and validated</a:t>
                      </a:r>
                    </a:p>
                  </a:txBody>
                  <a:tcPr marL="36576" marR="36576" marT="18288" marB="18288">
                    <a:solidFill>
                      <a:srgbClr val="FFFFFF"/>
                    </a:solidFill>
                  </a:tcPr>
                </a:tc>
                <a:tc>
                  <a:txBody>
                    <a:bodyPr/>
                    <a:lstStyle/>
                    <a:p>
                      <a:pPr algn="ctr"/>
                      <a:r>
                        <a:rPr sz="900" b="0">
                          <a:latin typeface="Times New Roman"/>
                        </a:rPr>
                        <a:t>Weighted kappa 0.87</a:t>
                      </a:r>
                    </a:p>
                  </a:txBody>
                  <a:tcPr marL="36576" marR="36576" marT="18288" marB="18288">
                    <a:solidFill>
                      <a:srgbClr val="FFFFFF"/>
                    </a:solidFill>
                  </a:tcPr>
                </a:tc>
                <a:extLst>
                  <a:ext uri="{0D108BD9-81ED-4DB2-BD59-A6C34878D82A}">
                    <a16:rowId xmlns:a16="http://schemas.microsoft.com/office/drawing/2014/main" val="10002"/>
                  </a:ext>
                </a:extLst>
              </a:tr>
              <a:tr h="384048">
                <a:tc>
                  <a:txBody>
                    <a:bodyPr/>
                    <a:lstStyle/>
                    <a:p>
                      <a:pPr algn="l"/>
                      <a:r>
                        <a:rPr sz="900" b="0" dirty="0">
                          <a:latin typeface="Times New Roman"/>
                        </a:rPr>
                        <a:t>Higher resolution, enhancement, CWB-style loss</a:t>
                      </a:r>
                    </a:p>
                  </a:txBody>
                  <a:tcPr marL="36576" marR="36576" marT="18288" marB="18288">
                    <a:solidFill>
                      <a:srgbClr val="FFFFFF"/>
                    </a:solidFill>
                  </a:tcPr>
                </a:tc>
                <a:tc>
                  <a:txBody>
                    <a:bodyPr/>
                    <a:lstStyle/>
                    <a:p>
                      <a:pPr algn="ctr"/>
                      <a:r>
                        <a:rPr sz="900" b="0">
                          <a:latin typeface="Times New Roman"/>
                        </a:rPr>
                        <a:t>1280-px models, CLAHE / denoise / sharpen study, Wise-IoU v3</a:t>
                      </a:r>
                    </a:p>
                  </a:txBody>
                  <a:tcPr marL="36576" marR="36576" marT="18288" marB="18288">
                    <a:solidFill>
                      <a:srgbClr val="FFFFFF"/>
                    </a:solidFill>
                  </a:tcPr>
                </a:tc>
                <a:tc>
                  <a:txBody>
                    <a:bodyPr/>
                    <a:lstStyle/>
                    <a:p>
                      <a:pPr algn="ctr"/>
                      <a:r>
                        <a:rPr sz="900" b="0">
                          <a:latin typeface="Times New Roman"/>
                        </a:rPr>
                        <a:t>Tested with intervals; kept only what helped</a:t>
                      </a:r>
                    </a:p>
                  </a:txBody>
                  <a:tcPr marL="36576" marR="36576" marT="18288" marB="18288">
                    <a:solidFill>
                      <a:srgbClr val="FFFFFF"/>
                    </a:solidFill>
                  </a:tcPr>
                </a:tc>
                <a:extLst>
                  <a:ext uri="{0D108BD9-81ED-4DB2-BD59-A6C34878D82A}">
                    <a16:rowId xmlns:a16="http://schemas.microsoft.com/office/drawing/2014/main" val="10002"/>
                  </a:ext>
                </a:extLst>
              </a:tr>
              <a:tr h="384048">
                <a:tc>
                  <a:txBody>
                    <a:bodyPr/>
                    <a:lstStyle/>
                    <a:p>
                      <a:pPr algn="l"/>
                      <a:r>
                        <a:rPr sz="900" b="0" dirty="0">
                          <a:latin typeface="Times New Roman"/>
                        </a:rPr>
                        <a:t>Show that results are reliable</a:t>
                      </a:r>
                    </a:p>
                  </a:txBody>
                  <a:tcPr marL="36576" marR="36576" marT="18288" marB="18288">
                    <a:solidFill>
                      <a:srgbClr val="FFFFFF"/>
                    </a:solidFill>
                  </a:tcPr>
                </a:tc>
                <a:tc>
                  <a:txBody>
                    <a:bodyPr/>
                    <a:lstStyle/>
                    <a:p>
                      <a:pPr algn="ctr"/>
                      <a:r>
                        <a:rPr sz="900" b="0">
                          <a:latin typeface="Times New Roman"/>
                        </a:rPr>
                        <a:t>Board-level bootstrap and Wilcoxon tests; multi-seed runs; single-shot tests</a:t>
                      </a:r>
                    </a:p>
                  </a:txBody>
                  <a:tcPr marL="36576" marR="36576" marT="18288" marB="18288">
                    <a:solidFill>
                      <a:srgbClr val="FFFFFF"/>
                    </a:solidFill>
                  </a:tcPr>
                </a:tc>
                <a:tc>
                  <a:txBody>
                    <a:bodyPr/>
                    <a:lstStyle/>
                    <a:p>
                      <a:pPr algn="ctr"/>
                      <a:r>
                        <a:rPr sz="900" b="0">
                          <a:latin typeface="Times New Roman"/>
                        </a:rPr>
                        <a:t>Every claim has a confidence interval</a:t>
                      </a:r>
                    </a:p>
                  </a:txBody>
                  <a:tcPr marL="36576" marR="36576" marT="18288" marB="18288">
                    <a:solidFill>
                      <a:srgbClr val="FFFFFF"/>
                    </a:solidFill>
                  </a:tcPr>
                </a:tc>
                <a:extLst>
                  <a:ext uri="{0D108BD9-81ED-4DB2-BD59-A6C34878D82A}">
                    <a16:rowId xmlns:a16="http://schemas.microsoft.com/office/drawing/2014/main" val="10002"/>
                  </a:ext>
                </a:extLst>
              </a:tr>
              <a:tr h="384048">
                <a:tc>
                  <a:txBody>
                    <a:bodyPr/>
                    <a:lstStyle/>
                    <a:p>
                      <a:pPr algn="l"/>
                      <a:r>
                        <a:rPr sz="900" b="0" dirty="0">
                          <a:latin typeface="Times New Roman"/>
                        </a:rPr>
                        <a:t>Usable end product</a:t>
                      </a:r>
                    </a:p>
                  </a:txBody>
                  <a:tcPr marL="36576" marR="36576" marT="18288" marB="18288">
                    <a:solidFill>
                      <a:srgbClr val="FFFFFF"/>
                    </a:solidFill>
                  </a:tcPr>
                </a:tc>
                <a:tc>
                  <a:txBody>
                    <a:bodyPr/>
                    <a:lstStyle/>
                    <a:p>
                      <a:pPr algn="ctr"/>
                      <a:r>
                        <a:rPr sz="900" b="0">
                          <a:latin typeface="Times New Roman"/>
                        </a:rPr>
                        <a:t>Web application with grade, recoverable area, value estimate and report</a:t>
                      </a:r>
                    </a:p>
                  </a:txBody>
                  <a:tcPr marL="36576" marR="36576" marT="18288" marB="18288">
                    <a:solidFill>
                      <a:srgbClr val="FFFFFF"/>
                    </a:solidFill>
                  </a:tcPr>
                </a:tc>
                <a:tc>
                  <a:txBody>
                    <a:bodyPr/>
                    <a:lstStyle/>
                    <a:p>
                      <a:pPr algn="ctr"/>
                      <a:r>
                        <a:rPr sz="900" b="0">
                          <a:latin typeface="Times New Roman"/>
                        </a:rPr>
                        <a:t>Runs on a laptop CPU, ~0.5 s per image</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sp>
        <p:nvSpPr>
          <p:cNvPr id="301" name="TextBox 300"/>
          <p:cNvSpPr txBox="1"/>
          <p:nvPr/>
        </p:nvSpPr>
        <p:spPr>
          <a:xfrm>
            <a:off x="274320" y="4206240"/>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50">
                <a:latin typeface="Times New Roman"/>
                <a:ea typeface="Times New Roman"/>
                <a:cs typeface="Times New Roman"/>
                <a:sym typeface="Times New Roman"/>
              </a:rPr>
              <a:t>Feedback came from the guide and the review panel; every item was implemented and measured on boards never used for training or for any choice of settings.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HOW WE ARRIVED AT THE FINAL MODEL</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868680"/>
          <a:ext cx="7955280" cy="960120"/>
        </p:xfrm>
        <a:graphic>
          <a:graphicData uri="http://schemas.openxmlformats.org/drawingml/2006/table">
            <a:tbl>
              <a:tblPr firstRow="1" bandRow="1">
                <a:tableStyleId>{5C22544A-7EE6-4342-B048-85BDC9FD1C3A}</a:tableStyleId>
              </a:tblPr>
              <a:tblGrid>
                <a:gridCol w="2779555">
                  <a:extLst>
                    <a:ext uri="{9D8B030D-6E8A-4147-A177-3AD203B41FA5}">
                      <a16:colId xmlns:a16="http://schemas.microsoft.com/office/drawing/2014/main" val="20000"/>
                    </a:ext>
                  </a:extLst>
                </a:gridCol>
                <a:gridCol w="958467">
                  <a:extLst>
                    <a:ext uri="{9D8B030D-6E8A-4147-A177-3AD203B41FA5}">
                      <a16:colId xmlns:a16="http://schemas.microsoft.com/office/drawing/2014/main" val="20001"/>
                    </a:ext>
                  </a:extLst>
                </a:gridCol>
                <a:gridCol w="958467">
                  <a:extLst>
                    <a:ext uri="{9D8B030D-6E8A-4147-A177-3AD203B41FA5}">
                      <a16:colId xmlns:a16="http://schemas.microsoft.com/office/drawing/2014/main" val="20002"/>
                    </a:ext>
                  </a:extLst>
                </a:gridCol>
                <a:gridCol w="3258789">
                  <a:extLst>
                    <a:ext uri="{9D8B030D-6E8A-4147-A177-3AD203B41FA5}">
                      <a16:colId xmlns:a16="http://schemas.microsoft.com/office/drawing/2014/main" val="20003"/>
                    </a:ext>
                  </a:extLst>
                </a:gridCol>
              </a:tblGrid>
              <a:tr h="274320">
                <a:tc>
                  <a:txBody>
                    <a:bodyPr/>
                    <a:lstStyle/>
                    <a:p>
                      <a:pPr algn="l"/>
                      <a:r>
                        <a:rPr sz="850" b="1" dirty="0">
                          <a:solidFill>
                            <a:srgbClr val="FFFFFF"/>
                          </a:solidFill>
                          <a:latin typeface="Times New Roman"/>
                        </a:rPr>
                        <a:t>Step (YOLO11s unless stated)</a:t>
                      </a:r>
                    </a:p>
                  </a:txBody>
                  <a:tcPr marL="36576" marR="36576" marT="18288" marB="18288">
                    <a:solidFill>
                      <a:srgbClr val="41534B"/>
                    </a:solidFill>
                  </a:tcPr>
                </a:tc>
                <a:tc>
                  <a:txBody>
                    <a:bodyPr/>
                    <a:lstStyle/>
                    <a:p>
                      <a:pPr algn="ctr"/>
                      <a:r>
                        <a:rPr sz="850" b="1">
                          <a:solidFill>
                            <a:srgbClr val="FFFFFF"/>
                          </a:solidFill>
                          <a:latin typeface="Times New Roman"/>
                        </a:rPr>
                        <a:t>Val mAP50</a:t>
                      </a:r>
                    </a:p>
                  </a:txBody>
                  <a:tcPr marL="36576" marR="36576" marT="18288" marB="18288">
                    <a:solidFill>
                      <a:srgbClr val="41534B"/>
                    </a:solidFill>
                  </a:tcPr>
                </a:tc>
                <a:tc>
                  <a:txBody>
                    <a:bodyPr/>
                    <a:lstStyle/>
                    <a:p>
                      <a:pPr algn="ctr"/>
                      <a:r>
                        <a:rPr sz="850" b="1">
                          <a:solidFill>
                            <a:srgbClr val="FFFFFF"/>
                          </a:solidFill>
                          <a:latin typeface="Times New Roman"/>
                        </a:rPr>
                        <a:t>Test mAP50</a:t>
                      </a:r>
                    </a:p>
                  </a:txBody>
                  <a:tcPr marL="36576" marR="36576" marT="18288" marB="18288">
                    <a:solidFill>
                      <a:srgbClr val="41534B"/>
                    </a:solidFill>
                  </a:tcPr>
                </a:tc>
                <a:tc>
                  <a:txBody>
                    <a:bodyPr/>
                    <a:lstStyle/>
                    <a:p>
                      <a:pPr algn="ctr"/>
                      <a:r>
                        <a:rPr sz="850" b="1">
                          <a:solidFill>
                            <a:srgbClr val="FFFFFF"/>
                          </a:solidFill>
                          <a:latin typeface="Times New Roman"/>
                        </a:rPr>
                        <a:t>Decision and reason</a:t>
                      </a:r>
                    </a:p>
                  </a:txBody>
                  <a:tcPr marL="36576" marR="36576" marT="18288" marB="18288">
                    <a:solidFill>
                      <a:srgbClr val="41534B"/>
                    </a:solidFill>
                  </a:tcPr>
                </a:tc>
                <a:extLst>
                  <a:ext uri="{0D108BD9-81ED-4DB2-BD59-A6C34878D82A}">
                    <a16:rowId xmlns:a16="http://schemas.microsoft.com/office/drawing/2014/main" val="10000"/>
                  </a:ext>
                </a:extLst>
              </a:tr>
              <a:tr h="274320">
                <a:tc>
                  <a:txBody>
                    <a:bodyPr/>
                    <a:lstStyle/>
                    <a:p>
                      <a:pPr algn="l"/>
                      <a:r>
                        <a:rPr sz="850" b="0" dirty="0">
                          <a:latin typeface="Times New Roman"/>
                        </a:rPr>
                        <a:t>8 classes, YOLO11m vs YOLO11s (50% review)</a:t>
                      </a:r>
                    </a:p>
                  </a:txBody>
                  <a:tcPr marL="36576" marR="36576" marT="18288" marB="18288">
                    <a:solidFill>
                      <a:srgbClr val="F7F3EC"/>
                    </a:solidFill>
                  </a:tcPr>
                </a:tc>
                <a:tc>
                  <a:txBody>
                    <a:bodyPr/>
                    <a:lstStyle/>
                    <a:p>
                      <a:pPr algn="ctr"/>
                      <a:r>
                        <a:rPr sz="850" b="0">
                          <a:latin typeface="Times New Roman"/>
                        </a:rPr>
                        <a:t>65.7 / 65.3</a:t>
                      </a:r>
                    </a:p>
                  </a:txBody>
                  <a:tcPr marL="36576" marR="36576" marT="18288" marB="18288">
                    <a:solidFill>
                      <a:srgbClr val="F7F3EC"/>
                    </a:solidFill>
                  </a:tcPr>
                </a:tc>
                <a:tc>
                  <a:txBody>
                    <a:bodyPr/>
                    <a:lstStyle/>
                    <a:p>
                      <a:pPr algn="ctr"/>
                      <a:r>
                        <a:rPr sz="850" b="0">
                          <a:latin typeface="Times New Roman"/>
                        </a:rPr>
                        <a:t>63.0 / 64.6</a:t>
                      </a:r>
                    </a:p>
                  </a:txBody>
                  <a:tcPr marL="36576" marR="36576" marT="18288" marB="18288">
                    <a:solidFill>
                      <a:srgbClr val="F7F3EC"/>
                    </a:solidFill>
                  </a:tcPr>
                </a:tc>
                <a:tc>
                  <a:txBody>
                    <a:bodyPr/>
                    <a:lstStyle/>
                    <a:p>
                      <a:pPr algn="ctr"/>
                      <a:r>
                        <a:rPr sz="850" b="0">
                          <a:latin typeface="Times New Roman"/>
                        </a:rPr>
                        <a:t>Tied: capacity is not the bottleneck</a:t>
                      </a:r>
                    </a:p>
                  </a:txBody>
                  <a:tcPr marL="36576" marR="36576" marT="18288" marB="18288">
                    <a:solidFill>
                      <a:srgbClr val="F7F3EC"/>
                    </a:solidFill>
                  </a:tcPr>
                </a:tc>
                <a:extLst>
                  <a:ext uri="{0D108BD9-81ED-4DB2-BD59-A6C34878D82A}">
                    <a16:rowId xmlns:a16="http://schemas.microsoft.com/office/drawing/2014/main" val="10001"/>
                  </a:ext>
                </a:extLst>
              </a:tr>
              <a:tr h="274320">
                <a:tc>
                  <a:txBody>
                    <a:bodyPr/>
                    <a:lstStyle/>
                    <a:p>
                      <a:pPr algn="l"/>
                      <a:r>
                        <a:rPr sz="850" b="0" dirty="0">
                          <a:latin typeface="Times New Roman"/>
                        </a:rPr>
                        <a:t>Fusion of YOLO11m + YOLO11s, 8 classes</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65.7</a:t>
                      </a:r>
                    </a:p>
                  </a:txBody>
                  <a:tcPr marL="36576" marR="36576" marT="18288" marB="18288">
                    <a:solidFill>
                      <a:srgbClr val="FFFFFF"/>
                    </a:solidFill>
                  </a:tcPr>
                </a:tc>
                <a:tc>
                  <a:txBody>
                    <a:bodyPr/>
                    <a:lstStyle/>
                    <a:p>
                      <a:pPr algn="ctr"/>
                      <a:r>
                        <a:rPr sz="850" b="0">
                          <a:latin typeface="Times New Roman"/>
                        </a:rPr>
                        <a:t>mAP50-95 +2.4 (significant), still limited by rare classes</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850" b="0" dirty="0">
                          <a:latin typeface="Times New Roman"/>
                        </a:rPr>
                        <a:t>4 main classes, no balancing</a:t>
                      </a:r>
                    </a:p>
                  </a:txBody>
                  <a:tcPr marL="36576" marR="36576" marT="18288" marB="18288">
                    <a:solidFill>
                      <a:srgbClr val="FFFFFF"/>
                    </a:solidFill>
                  </a:tcPr>
                </a:tc>
                <a:tc>
                  <a:txBody>
                    <a:bodyPr/>
                    <a:lstStyle/>
                    <a:p>
                      <a:pPr algn="ctr"/>
                      <a:r>
                        <a:rPr sz="850" b="0">
                          <a:latin typeface="Times New Roman"/>
                        </a:rPr>
                        <a:t>73.1</a:t>
                      </a:r>
                    </a:p>
                  </a:txBody>
                  <a:tcPr marL="36576" marR="36576" marT="18288" marB="18288">
                    <a:solidFill>
                      <a:srgbClr val="FFFFFF"/>
                    </a:solidFill>
                  </a:tcPr>
                </a:tc>
                <a:tc>
                  <a:txBody>
                    <a:bodyPr/>
                    <a:lstStyle/>
                    <a:p>
                      <a:pPr algn="ctr"/>
                      <a:r>
                        <a:rPr sz="850" b="0">
                          <a:latin typeface="Times New Roman"/>
                        </a:rPr>
                        <a:t>71.7</a:t>
                      </a:r>
                    </a:p>
                  </a:txBody>
                  <a:tcPr marL="36576" marR="36576" marT="18288" marB="18288">
                    <a:solidFill>
                      <a:srgbClr val="FFFFFF"/>
                    </a:solidFill>
                  </a:tcPr>
                </a:tc>
                <a:tc>
                  <a:txBody>
                    <a:bodyPr/>
                    <a:lstStyle/>
                    <a:p>
                      <a:pPr algn="ctr"/>
                      <a:r>
                        <a:rPr sz="850" b="0">
                          <a:latin typeface="Times New Roman"/>
                        </a:rPr>
                        <a:t>Fair baseline for 4 classes: 69.6 (8-class model)</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850" b="0" dirty="0">
                          <a:latin typeface="Times New Roman"/>
                        </a:rPr>
                        <a:t>+ full balance 1:1</a:t>
                      </a:r>
                    </a:p>
                  </a:txBody>
                  <a:tcPr marL="36576" marR="36576" marT="18288" marB="18288">
                    <a:solidFill>
                      <a:srgbClr val="FFFFFF"/>
                    </a:solidFill>
                  </a:tcPr>
                </a:tc>
                <a:tc>
                  <a:txBody>
                    <a:bodyPr/>
                    <a:lstStyle/>
                    <a:p>
                      <a:pPr algn="ctr"/>
                      <a:r>
                        <a:rPr sz="850" b="0">
                          <a:latin typeface="Times New Roman"/>
                        </a:rPr>
                        <a:t>71.9</a:t>
                      </a:r>
                    </a:p>
                  </a:txBody>
                  <a:tcPr marL="36576" marR="36576" marT="18288" marB="18288">
                    <a:solidFill>
                      <a:srgbClr val="FFFFFF"/>
                    </a:solidFill>
                  </a:tcPr>
                </a:tc>
                <a:tc>
                  <a:txBody>
                    <a:bodyPr/>
                    <a:lstStyle/>
                    <a:p>
                      <a:pPr algn="ctr"/>
                      <a:r>
                        <a:rPr sz="850" b="0">
                          <a:latin typeface="Times New Roman"/>
                        </a:rPr>
                        <a:t>not tested</a:t>
                      </a:r>
                    </a:p>
                  </a:txBody>
                  <a:tcPr marL="36576" marR="36576" marT="18288" marB="18288">
                    <a:solidFill>
                      <a:srgbClr val="FFFFFF"/>
                    </a:solidFill>
                  </a:tcPr>
                </a:tc>
                <a:tc>
                  <a:txBody>
                    <a:bodyPr/>
                    <a:lstStyle/>
                    <a:p>
                      <a:pPr algn="ctr"/>
                      <a:r>
                        <a:rPr sz="850" b="0">
                          <a:latin typeface="Times New Roman"/>
                        </a:rPr>
                        <a:t>Worse on validation: cracks pasted up to 17 times</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850" b="0" dirty="0">
                          <a:latin typeface="Times New Roman"/>
                        </a:rPr>
                        <a:t>+ partial balance sqrt(n_c n_max)</a:t>
                      </a:r>
                    </a:p>
                  </a:txBody>
                  <a:tcPr marL="36576" marR="36576" marT="18288" marB="18288">
                    <a:solidFill>
                      <a:srgbClr val="FFFFFF"/>
                    </a:solidFill>
                  </a:tcPr>
                </a:tc>
                <a:tc>
                  <a:txBody>
                    <a:bodyPr/>
                    <a:lstStyle/>
                    <a:p>
                      <a:pPr algn="ctr"/>
                      <a:r>
                        <a:rPr sz="850" b="0">
                          <a:latin typeface="Times New Roman"/>
                        </a:rPr>
                        <a:t>75.3</a:t>
                      </a:r>
                    </a:p>
                  </a:txBody>
                  <a:tcPr marL="36576" marR="36576" marT="18288" marB="18288">
                    <a:solidFill>
                      <a:srgbClr val="FFFFFF"/>
                    </a:solidFill>
                  </a:tcPr>
                </a:tc>
                <a:tc>
                  <a:txBody>
                    <a:bodyPr/>
                    <a:lstStyle/>
                    <a:p>
                      <a:pPr algn="ctr"/>
                      <a:r>
                        <a:rPr sz="850" b="0">
                          <a:latin typeface="Times New Roman"/>
                        </a:rPr>
                        <a:t>69.2</a:t>
                      </a:r>
                    </a:p>
                  </a:txBody>
                  <a:tcPr marL="36576" marR="36576" marT="18288" marB="18288">
                    <a:solidFill>
                      <a:srgbClr val="FFFFFF"/>
                    </a:solidFill>
                  </a:tcPr>
                </a:tc>
                <a:tc>
                  <a:txBody>
                    <a:bodyPr/>
                    <a:lstStyle/>
                    <a:p>
                      <a:pPr algn="ctr"/>
                      <a:r>
                        <a:rPr sz="850" b="0">
                          <a:latin typeface="Times New Roman"/>
                        </a:rPr>
                        <a:t>Best single on validation; kept as fusion member</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850" b="0" dirty="0">
                          <a:latin typeface="Times New Roman"/>
                        </a:rPr>
                        <a:t>+ 1280 px input</a:t>
                      </a:r>
                    </a:p>
                  </a:txBody>
                  <a:tcPr marL="36576" marR="36576" marT="18288" marB="18288">
                    <a:solidFill>
                      <a:srgbClr val="FFFFFF"/>
                    </a:solidFill>
                  </a:tcPr>
                </a:tc>
                <a:tc>
                  <a:txBody>
                    <a:bodyPr/>
                    <a:lstStyle/>
                    <a:p>
                      <a:pPr algn="ctr"/>
                      <a:r>
                        <a:rPr sz="850" b="0">
                          <a:latin typeface="Times New Roman"/>
                        </a:rPr>
                        <a:t>74.6</a:t>
                      </a:r>
                    </a:p>
                  </a:txBody>
                  <a:tcPr marL="36576" marR="36576" marT="18288" marB="18288">
                    <a:solidFill>
                      <a:srgbClr val="FFFFFF"/>
                    </a:solidFill>
                  </a:tcPr>
                </a:tc>
                <a:tc>
                  <a:txBody>
                    <a:bodyPr/>
                    <a:lstStyle/>
                    <a:p>
                      <a:pPr algn="ctr"/>
                      <a:r>
                        <a:rPr sz="850" b="0">
                          <a:latin typeface="Times New Roman"/>
                        </a:rPr>
                        <a:t>71.6</a:t>
                      </a:r>
                    </a:p>
                  </a:txBody>
                  <a:tcPr marL="36576" marR="36576" marT="18288" marB="18288">
                    <a:solidFill>
                      <a:srgbClr val="FFFFFF"/>
                    </a:solidFill>
                  </a:tcPr>
                </a:tc>
                <a:tc>
                  <a:txBody>
                    <a:bodyPr/>
                    <a:lstStyle/>
                    <a:p>
                      <a:pPr algn="ctr"/>
                      <a:r>
                        <a:rPr sz="850" b="0">
                          <a:latin typeface="Times New Roman"/>
                        </a:rPr>
                        <a:t>Not better alone; adds diversity for fusion</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850" b="0" dirty="0">
                          <a:latin typeface="Times New Roman"/>
                        </a:rPr>
                        <a:t>+ Wise-IoU v3 loss / 3 seeds</a:t>
                      </a:r>
                    </a:p>
                  </a:txBody>
                  <a:tcPr marL="36576" marR="36576" marT="18288" marB="18288">
                    <a:solidFill>
                      <a:srgbClr val="FFFFFF"/>
                    </a:solidFill>
                  </a:tcPr>
                </a:tc>
                <a:tc>
                  <a:txBody>
                    <a:bodyPr/>
                    <a:lstStyle/>
                    <a:p>
                      <a:pPr algn="ctr"/>
                      <a:r>
                        <a:rPr sz="850" b="0">
                          <a:latin typeface="Times New Roman"/>
                        </a:rPr>
                        <a:t>74.6</a:t>
                      </a:r>
                    </a:p>
                  </a:txBody>
                  <a:tcPr marL="36576" marR="36576" marT="18288" marB="18288">
                    <a:solidFill>
                      <a:srgbClr val="FFFFFF"/>
                    </a:solidFill>
                  </a:tcPr>
                </a:tc>
                <a:tc>
                  <a:txBody>
                    <a:bodyPr/>
                    <a:lstStyle/>
                    <a:p>
                      <a:pPr algn="ctr"/>
                      <a:r>
                        <a:rPr sz="850" b="0">
                          <a:latin typeface="Times New Roman"/>
                        </a:rPr>
                        <a:t>not tested</a:t>
                      </a:r>
                    </a:p>
                  </a:txBody>
                  <a:tcPr marL="36576" marR="36576" marT="18288" marB="18288">
                    <a:solidFill>
                      <a:srgbClr val="FFFFFF"/>
                    </a:solidFill>
                  </a:tcPr>
                </a:tc>
                <a:tc>
                  <a:txBody>
                    <a:bodyPr/>
                    <a:lstStyle/>
                    <a:p>
                      <a:pPr algn="ctr"/>
                      <a:r>
                        <a:rPr sz="850" b="0">
                          <a:latin typeface="Times New Roman"/>
                        </a:rPr>
                        <a:t>Within seed spread 0.8: not adopted</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850" b="0" dirty="0">
                          <a:latin typeface="Times New Roman"/>
                        </a:rPr>
                        <a:t>Fusion of four 4-class models</a:t>
                      </a:r>
                    </a:p>
                  </a:txBody>
                  <a:tcPr marL="36576" marR="36576" marT="18288" marB="18288">
                    <a:solidFill>
                      <a:srgbClr val="FFFFFF"/>
                    </a:solidFill>
                  </a:tcPr>
                </a:tc>
                <a:tc>
                  <a:txBody>
                    <a:bodyPr/>
                    <a:lstStyle/>
                    <a:p>
                      <a:pPr algn="ctr"/>
                      <a:r>
                        <a:rPr sz="850" b="0">
                          <a:latin typeface="Times New Roman"/>
                        </a:rPr>
                        <a:t>78.1</a:t>
                      </a:r>
                    </a:p>
                  </a:txBody>
                  <a:tcPr marL="36576" marR="36576" marT="18288" marB="18288">
                    <a:solidFill>
                      <a:srgbClr val="FFFFFF"/>
                    </a:solidFill>
                  </a:tcPr>
                </a:tc>
                <a:tc>
                  <a:txBody>
                    <a:bodyPr/>
                    <a:lstStyle/>
                    <a:p>
                      <a:pPr algn="ctr"/>
                      <a:r>
                        <a:rPr sz="850" b="0">
                          <a:latin typeface="Times New Roman"/>
                        </a:rPr>
                        <a:t>74.7</a:t>
                      </a:r>
                    </a:p>
                  </a:txBody>
                  <a:tcPr marL="36576" marR="36576" marT="18288" marB="18288">
                    <a:solidFill>
                      <a:srgbClr val="FFFFFF"/>
                    </a:solidFill>
                  </a:tcPr>
                </a:tc>
                <a:tc>
                  <a:txBody>
                    <a:bodyPr/>
                    <a:lstStyle/>
                    <a:p>
                      <a:pPr algn="ctr"/>
                      <a:r>
                        <a:rPr sz="850" b="0">
                          <a:latin typeface="Times New Roman"/>
                        </a:rPr>
                        <a:t>Significant gain: adopted</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850" b="1" dirty="0">
                          <a:latin typeface="Times New Roman"/>
                        </a:rPr>
                        <a:t>Same recipe on the expanded data, fused (final)</a:t>
                      </a:r>
                    </a:p>
                  </a:txBody>
                  <a:tcPr marL="36576" marR="36576" marT="18288" marB="18288">
                    <a:solidFill>
                      <a:srgbClr val="FFFFFF"/>
                    </a:solidFill>
                  </a:tcPr>
                </a:tc>
                <a:tc>
                  <a:txBody>
                    <a:bodyPr/>
                    <a:lstStyle/>
                    <a:p>
                      <a:pPr algn="ctr"/>
                      <a:r>
                        <a:rPr sz="850" b="1">
                          <a:latin typeface="Times New Roman"/>
                        </a:rPr>
                        <a:t>80.2</a:t>
                      </a:r>
                    </a:p>
                  </a:txBody>
                  <a:tcPr marL="36576" marR="36576" marT="18288" marB="18288">
                    <a:solidFill>
                      <a:srgbClr val="FFFFFF"/>
                    </a:solidFill>
                  </a:tcPr>
                </a:tc>
                <a:tc>
                  <a:txBody>
                    <a:bodyPr/>
                    <a:lstStyle/>
                    <a:p>
                      <a:pPr algn="ctr"/>
                      <a:r>
                        <a:rPr sz="850" b="1">
                          <a:latin typeface="Times New Roman"/>
                        </a:rPr>
                        <a:t>76.9</a:t>
                      </a:r>
                    </a:p>
                  </a:txBody>
                  <a:tcPr marL="36576" marR="36576" marT="18288" marB="18288">
                    <a:solidFill>
                      <a:srgbClr val="FFFFFF"/>
                    </a:solidFill>
                  </a:tcPr>
                </a:tc>
                <a:tc>
                  <a:txBody>
                    <a:bodyPr/>
                    <a:lstStyle/>
                    <a:p>
                      <a:pPr algn="ctr"/>
                      <a:r>
                        <a:rPr sz="850" b="1">
                          <a:latin typeface="Times New Roman"/>
                        </a:rPr>
                        <a:t>Rule 78.1 on val beaten: final, 2 models</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sp>
        <p:nvSpPr>
          <p:cNvPr id="301" name="TextBox 300"/>
          <p:cNvSpPr txBox="1"/>
          <p:nvPr/>
        </p:nvSpPr>
        <p:spPr>
          <a:xfrm>
            <a:off x="274320" y="3886200"/>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Every decision was taken on validation boards by a rule written down before training; test boards were scored once per candidate.</a:t>
            </a:r>
          </a:p>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What made the final model: balancing and higher resolution give diverse members, fusion combines them, and more data lifts every member.</a:t>
            </a:r>
          </a:p>
        </p:txBody>
      </p:sp>
    </p:spTree>
  </p:cSld>
  <p:clrMapOvr>
    <a:masterClrMapping/>
  </p:clrMapOvr>
</p:sld>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TotalTime>
  <Words>3779</Words>
  <Application>Microsoft Office PowerPoint</Application>
  <PresentationFormat>On-screen Show (4:3)</PresentationFormat>
  <Paragraphs>585</Paragraphs>
  <Slides>25</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Times New Roman</vt:lpstr>
      <vt:lpstr>Balthazar</vt:lpstr>
      <vt:lpstr>Arial</vt:lpstr>
      <vt:lpstr>Calibri</vt:lpstr>
      <vt:lpstr>Lobster</vt:lpstr>
      <vt:lpstr>Cambria</vt:lpstr>
      <vt:lpstr>Adjacency</vt:lpstr>
      <vt:lpstr>AI-Based Wood Quality Assessment</vt:lpstr>
      <vt:lpstr>ORGANIZATION OF THE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Wood Quality Assessment</dc:title>
  <dc:creator>Gayatri Gurugubelli</dc:creator>
  <cp:lastModifiedBy>Prakyat Shetty</cp:lastModifiedBy>
  <cp:revision>8</cp:revision>
  <dcterms:modified xsi:type="dcterms:W3CDTF">2026-09-16T06:09:40Z</dcterms:modified>
</cp:coreProperties>
</file>